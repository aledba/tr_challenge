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and thank you for your time. Today I'll walk you through my feasibility study on automating procedural posture classification for judicial opinions.
The goal of this challenge wasn't to build a production system — it was to characterize performance, understand the data, and make an honest recommendation about whether automation is feasible.
KEY CONCEPT — Procedural Posture: The procedural posture of a case summarizes how the case arrived before the court. It includes the procedural history and any prior decisions under appeal. Business partners currently label these manually and want to know if automation can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exactly is procedural posture? It's essentially the "how did we get here?" of a court case. When a judge writes an opinion, the procedural posture tells you what legal actions led to this point.
For example, a case might be "On Appeal" after a lower court ruling, or involve a "Motion to Dismiss" where one party is asking the court to throw out the case. These labels are critical metadata for legal research — they help lawyers find relevant precedents.
The business need is clear: human labelers currently assign these postures manually, which is expensive and slow. We want to know if machine learning can do part of this job reliably.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walk you through the dataset. We have 18,000 judicial opinions — each is a structured document with sections and paragraphs, totaling over half a million paragraphs. There are 224 unique posture labels, and critically, this is a multi-label problem: nearly half the documents have more than one posture.
KEY CONCEPT — Multi-label Classification: Unlike multi-class classification where each document gets exactly one label, multi-label means each document can have zero, one, or many labels simultaneously. This is harder because the model must make independent yes/no decisions for each possible label.
The mean document length of nearly 3,000 words is a significant engineering challenge, as we'll see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extreme class imbalance we're dealing with. The 27 most common labels cover 91.5% of all label occurrences, while 140 rare labels have fewer than 10 samples each — including 44 labels that appear only once in the entire dataset.
The class imbalance ratio of 9,197x means the most frequent label is over nine thousand times more common than the rarest. For modeling, we filtered to 41 labels with at least 50 samples, which still covers 94.8% of all label occurrences. This is a pragmatic decision — you can't build a reliable classifier on 5 training examples.
KEY CONCEPT — Class Imbalance: When some classes have many more samples than others. Standard ML algorithms tend to predict the majority class and ignore minorities. Solutions include oversampling, class weights, and threshold optimization.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domain complexity is what makes this problem genuinely hard. The labels aren't just arbitrary categories — they encode multiple orthogonal dimensions: the litigation stage (where in the process), the motion type (what action), the proceeding type (what legal domain), and procedural events.
There are also hierarchical relationships. For example, "Motion to Dismiss for Lack of Subject Matter Jurisdiction" IS-A specific type of "Motion to Dismiss." This means some label confusions are less severe than others.
KEY CONCEPT — Cohen's Kappa: An inter-annotator agreement metric that corrects for chance agreement. Kappa = 0 means agreement is no better than random; kappa = 1 means perfect agreement. Our human benchmark range of 0.63–0.93 tells us that some postures are inherently harder to classify, even for trained legal professionals. This range defines our target — a model performing at kappa-equivalent levels could be trusted for automation.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look at how I approached the modeling. I designed a two-model strategy to understand the problem from different angles.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built two models: a TF-IDF baseline and a Legal-Longformer hybrid transformer. The key principle here was to characterize performance, not chase state-of-the-art. The baseline tells us "how well can simple features do?" and the transformer tells us "does deep learning add value?"
KEY CONCEPT — TF-IDF (Term Frequency–Inverse Document Frequency): A way to convert text into numerical features. Each word gets a weight based on two factors: how often it appears in this specific document (TF) and how rare it is across all documents (IDF). Words that are frequent in one document but rare overall get the highest weights — these are the most discriminative features. TF-IDF is fast, interpretable, and surprisingly effective for legal text because legal language has strong keyword signals.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baseline uses TF-IDF features with logistic regression in a OneVsRest configuration. We extract the top 10,000 features using unigrams and bigrams, then train a separate binary classifier for each of the 41 labels.
KEY CONCEPT — OneVsRest (OVR): A strategy for multi-label classification that trains one independent binary classifier per label. Each classifier learns "is this label present: yes or no?" This is simple but effective — each label gets its own decision boundary. The disadvantage is that it doesn't model label correlations.
KEY CONCEPT — Unigrams and Bigrams: Unigrams are single words ("motion", "dismiss"); bigrams are word pairs ("motion to", "to dismiss"). Bigrams capture phrases that single words miss, which is crucial in legal text where "motion to dismiss" means something very different from "motion" alone.
The 70/15/15 split gives us 11,706 training samples, 2,509 for validation, and 2,509 for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critical engineering challenge. BERT, the standard transformer, has a 512-token limit — only 4.1% of our documents fit. Even the Legal-Longformer with its 4,096-token window only covers 65% directly.
KEY CONCEPT — Tokens: The units a transformer processes. Roughly, 1 token ≈ 0.75 words. BERT's 512-token limit means about 384 words — far too short for legal opinions averaging nearly 3,000 words.
KEY CONCEPT — LED (Longformer Encoder-Decoder): A transformer designed for long documents, supporting up to 16,384 tokens using efficient sliding-window attention. We use it as a summarizer: it compresses long documents into summaries that fit the classifier's 4,096-token window.
Our hybrid strategy: documents under 4,096 tokens go directly to the classifier; longer ones get summarized first by Legal-LED, then classified. About 33% of documents needed summarization.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technical architecture. The classifier is lexlms/legal-longformer-base, a transformer pre-trained on legal text with a 4,096-token context window. The summarizer is nsi319/legal-led-base-16384 for documents exceeding the classifier's limit.
KEY CONCEPT — Longformer: A transformer architecture that uses sliding-window attention (each token attends to nearby tokens) plus global attention on special tokens. This makes it efficient for long sequences — O(n) instead of O(n²) — enabling 4,096-token input, which is 8x BERT's limit.
KEY CONCEPT — pos_weight: In PyTorch's binary cross-entropy loss, pos_weight multiplies the loss contribution of positive (minority) examples. If a class has 50 positive and 950 negative samples, setting pos_weight=19 makes the model pay 19x more attention when it misses a positive example. This helps with class imbalance but can cause over-prediction if set too aggressively.
We cached all 5,530 summaries to disk for reproducibility — summarization is expensive and deterministic, so caching avoids redundant computation.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you how the project is organized.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follows a clean separation: all logic lives in reusable Python modules under src/, while notebooks are thin wrappers that call into these modules. This makes the code testable, maintainable, and easy to follow.
Each module has a single responsibility: data_loader.py handles I/O, data_analyzer.py does analysis, model_trainer.py manages the TF-IDF pipeline, model_evaluator.py handles all evaluation metrics, and bert_trainer.py orchestrates the transformer workflow.
The outputs directory contains cached summaries for the 5,530 long documents, model checkpoints, and training history for reproducibility.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key design decisions worth highlighting. The modular pipeline — DataLoader → DataPreparer → Trainer → Evaluator — makes it easy to swap components. The HybridLegalClassifier automatically routes documents through the right path (direct vs summarize-first).
The SummaryCache uses content-based hashing so summaries survive across different runs and data splits. And DeviceManager auto-detects CUDA, MPS, or CPU, making the code portable across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for the results — this is where it gets interesting.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TF-IDF baseline achieved F1 Micro of 0.752 and F1 Macro of 0.533. The gap between micro and macro tells an important story.
KEY CONCEPT — F1 Micro vs F1 Macro: F1 Micro aggregates all true positives, false positives, and false negatives globally across all labels, then computes F1. It's dominated by frequent classes because they contribute more to the totals. F1 Macro computes F1 independently for each class, then averages. It treats rare classes equally with common ones. When micro is much higher than macro (0.75 vs 0.53), it means the model is good at frequent postures but struggles with rare ones.
KEY CONCEPT — Precision vs Recall: Precision answers "of everything the model flagged, how much was correct?" Recall answers "of everything that should have been flagged, how much did the model find?" Our baseline has high recall (0.90) but lower precision (0.65), meaning it catches most positive cases but also generates some false positives.
The top performers — Appellate Review at 0.95, On Appeal at 0.93 — all have large sample sizes. The bottom performers with F1 below 0.25 are rare classes. This sets our baseline — can the transformer do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important slide. At first glance, the transformer with default threshold 0.5 looked like a failure — F1 Micro dropped to 0.63, well below the baseline's 0.75. But look at what happens with threshold optimization.
The problem was over-prediction: at threshold 0.5, the model predicted too many labels (recall 0.94 but precision only 0.48). Per-class threshold optimization — finding the optimal probability cutoff for each label independently on the validation set — fixed this dramatically.
KEY CONCEPT — Threshold Optimization: In multi-label classification, the model outputs a probability for each label. The default is to predict "positive" if probability &gt; 0.5. But for imbalanced problems, 0.5 is rarely optimal. Per-class threshold optimization finds the cutoff per class that maximizes F1 on validation data, then applies those thresholds to test data. Our optimal thresholds ranged from 0.45 to 0.90 with a mean of 0.72 — much higher than the naive 0.5.
The result: LF Per-Class achieves F1 Micro 0.7735 (+2.1% over baseline) and F1 Macro 0.6000 (+6.7% over baseline). The transformer beats the baseline on both metrics, especially on rare classes where the macro improvement is most pronounced.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talk about feasibility. Using the TF-IDF baseline as a conservative reference, 13 out of 41 postures are automatable with F1 at or above the human agreement threshold of 0.63. One posture — Appellate Review — reaches 0.95, which exceeds even the highest human agreement.
KEY CONCEPT — Cohen's Kappa as Benchmark: We use the inter-annotator agreement range (kappa 0.63–0.93) as the benchmark for automation. If a model achieves F1 comparable to human agreement on a posture, that posture is a candidate for automation. Below 0.63, the model is worse than human disagreement; above 0.93, it matches the best human performance.
The tiered deployment strategy is practical: fully automate what's reliable, use the model as an assistant where it's decent, and keep humans in the loop where the model struggles. Critically, ~92% of labeling volume falls in the automatable or review tiers because the most common postures happen to be the easiest to classify.
The per-class threshold model pushes these numbers even higher, with +2.1% F1 Micro and +6.7% F1 Macro improvement over the baseline.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key takeaways. First, sample size dominates performance — this is the single most actionable finding. If you want better models, invest in labeling more data for the rare classes.
Second, per-class threshold optimization was the breakthrough. It turned a seemingly failed transformer into the best model, beating the TF-IDF baseline on all metrics. This is a general lesson: in imbalanced multi-label problems, threshold tuning matters as much as model architecture.
Third, document length is a real engineering constraint. The hybrid summarize-then-classify approach works but adds complexity and some information loss. Future work with even longer-context models could help.
Fourth, the multi-label nature — with labels encoding orthogonal dimensions — adds fundamental complexity that simple models can't fully capture. Hierarchical approaches leveraging the ontology structure could help.
KEY CONCEPT — Hamming Loss: The fraction of incorrect labels across all label-sample pairs, counting both false positives and false negatives. Unlike F1, it penalizes every individual labeling error equally. A Hamming loss of 0.03 means 97% of individual label predictions are correct.
The business recommendation: partial automation is feasible and worth pursuing. A tiered deployment can cover ~92% of labeling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this project continues, there are clear paths for improvement on both the modeling and production sides.
For modeling: GPU training with larger batches, more epochs, and proper hyperparameter search would likely improve the transformer significantly — we only ran 5 epochs on Apple MPS. Hierarchical classification using the ontology structure could leverage the IS-A relationships between postures. Data augmentation and ensemble strategies could boost rare class performance.
For production: a confidence-based routing system would send high-confidence predictions for auto-labeling and uncertain ones to human reviewers. Active learning would use the model's own uncertainty to prioritize which examples humans should label next, creating a virtuous cycle. Monitoring for concept drift is essential — legal language and posture distributions may shift over time.
KEY CONCEPT — Active Learning: A machine learning paradigm where the model identifies the most informative unlabeled examples and asks a human to label them. This is more efficient than random labeling because it focuses human effort where the model is most uncertain, accelerating improvement.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your attention. I'm happy to dive deeper into any aspect of the analysis — the data exploration, the modeling decisions, the evaluation methodology, or the production planning.
The key message: this feasibility study shows that partial automation of procedural posture classification is viable, with the Legal-Longformer achieving F1 Micro 0.77 using per-class threshold optimization. A tiered deployment strategy can cover the vast majority of labeling volume while maintaining quality through human oversight where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596326" y="1316087"/>
            <a:ext cx="5951199" cy="238125"/>
          </a:xfrm>
          <a:prstGeom prst="rect">
            <a:avLst/>
          </a:prstGeom>
          <a:noFill/>
          <a:ln/>
        </p:spPr>
        <p:txBody>
          <a:bodyPr wrap="square" lIns="0" tIns="0" rIns="0" bIns="0" rtlCol="0" anchor="t"/>
          <a:lstStyle/>
          <a:p>
            <a:pPr algn="ctr" indent="0" marL="0">
              <a:spcAft>
                <a:spcPts val="3000"/>
              </a:spcAft>
              <a:buNone/>
            </a:pPr>
            <a:r>
              <a:rPr lang="en-US" sz="1600" dirty="0">
                <a:solidFill>
                  <a:srgbClr val="00B4D8"/>
                </a:solidFill>
                <a:latin typeface="Arial" pitchFamily="34" charset="0"/>
                <a:ea typeface="Arial" pitchFamily="34" charset="-122"/>
                <a:cs typeface="Arial" pitchFamily="34" charset="-120"/>
              </a:rPr>
              <a:t>THOMSON REUTERS DATA SCIENCE CHALLENGE</a:t>
            </a:r>
            <a:endParaRPr lang="en-US" sz="1600" dirty="0"/>
          </a:p>
        </p:txBody>
      </p:sp>
      <p:sp>
        <p:nvSpPr>
          <p:cNvPr id="3" name="Text 1"/>
          <p:cNvSpPr/>
          <p:nvPr/>
        </p:nvSpPr>
        <p:spPr>
          <a:xfrm>
            <a:off x="1248238" y="1935212"/>
            <a:ext cx="6647375" cy="428625"/>
          </a:xfrm>
          <a:prstGeom prst="rect">
            <a:avLst/>
          </a:prstGeom>
          <a:noFill/>
          <a:ln/>
        </p:spPr>
        <p:txBody>
          <a:bodyPr wrap="square" lIns="0" tIns="0" rIns="0" bIns="0" rtlCol="0" anchor="t"/>
          <a:lstStyle/>
          <a:p>
            <a:pPr algn="ctr" indent="0" marL="0">
              <a:spcAft>
                <a:spcPts val="800"/>
              </a:spcAft>
              <a:buNone/>
            </a:pPr>
            <a:r>
              <a:rPr lang="en-US" sz="3000" b="1" dirty="0">
                <a:solidFill>
                  <a:srgbClr val="FFFFFF"/>
                </a:solidFill>
                <a:latin typeface="Arial" pitchFamily="34" charset="0"/>
                <a:ea typeface="Arial" pitchFamily="34" charset="-122"/>
                <a:cs typeface="Arial" pitchFamily="34" charset="-120"/>
              </a:rPr>
              <a:t>Procedural Posture Classification</a:t>
            </a:r>
            <a:endParaRPr lang="en-US" sz="3000" dirty="0"/>
          </a:p>
        </p:txBody>
      </p:sp>
      <p:sp>
        <p:nvSpPr>
          <p:cNvPr id="4" name="Text 2"/>
          <p:cNvSpPr/>
          <p:nvPr/>
        </p:nvSpPr>
        <p:spPr>
          <a:xfrm>
            <a:off x="2917784" y="2465338"/>
            <a:ext cx="3308431" cy="428625"/>
          </a:xfrm>
          <a:prstGeom prst="rect">
            <a:avLst/>
          </a:prstGeom>
          <a:noFill/>
          <a:ln/>
        </p:spPr>
        <p:txBody>
          <a:bodyPr wrap="square" lIns="0" tIns="0" rIns="0" bIns="0" rtlCol="0" anchor="t"/>
          <a:lstStyle/>
          <a:p>
            <a:pPr algn="ctr" indent="0" marL="0">
              <a:spcAft>
                <a:spcPts val="800"/>
              </a:spcAft>
              <a:buNone/>
            </a:pPr>
            <a:r>
              <a:rPr lang="en-US" sz="3000" b="1" dirty="0">
                <a:solidFill>
                  <a:srgbClr val="FFFFFF"/>
                </a:solidFill>
                <a:latin typeface="Arial" pitchFamily="34" charset="0"/>
                <a:ea typeface="Arial" pitchFamily="34" charset="-122"/>
                <a:cs typeface="Arial" pitchFamily="34" charset="-120"/>
              </a:rPr>
              <a:t>Feasibility Study</a:t>
            </a:r>
            <a:endParaRPr lang="en-US" sz="3000" dirty="0"/>
          </a:p>
        </p:txBody>
      </p:sp>
      <p:pic>
        <p:nvPicPr>
          <p:cNvPr id="5" name="Image 0" descr="/Users/alessandrodibari/Ale/projects/TR_hiring_exercise/outputs/pptx_workspace/slides/accent_teal.png">    </p:cNvPr>
          <p:cNvPicPr>
            <a:picLocks noChangeAspect="1"/>
          </p:cNvPicPr>
          <p:nvPr/>
        </p:nvPicPr>
        <p:blipFill>
          <a:blip r:embed="rId2"/>
          <a:stretch>
            <a:fillRect/>
          </a:stretch>
        </p:blipFill>
        <p:spPr>
          <a:xfrm>
            <a:off x="4064050" y="3090714"/>
            <a:ext cx="1015901" cy="38100"/>
          </a:xfrm>
          <a:prstGeom prst="rect">
            <a:avLst/>
          </a:prstGeom>
        </p:spPr>
      </p:pic>
      <p:sp>
        <p:nvSpPr>
          <p:cNvPr id="6" name="Text 3"/>
          <p:cNvSpPr/>
          <p:nvPr/>
        </p:nvSpPr>
        <p:spPr>
          <a:xfrm>
            <a:off x="3821326" y="3414564"/>
            <a:ext cx="1501348" cy="209550"/>
          </a:xfrm>
          <a:prstGeom prst="rect">
            <a:avLst/>
          </a:prstGeom>
          <a:noFill/>
          <a:ln/>
        </p:spPr>
        <p:txBody>
          <a:bodyPr wrap="square" lIns="0" tIns="0" rIns="0" bIns="0" rtlCol="0" anchor="t"/>
          <a:lstStyle/>
          <a:p>
            <a:pPr algn="ctr" indent="0" marL="0">
              <a:spcAft>
                <a:spcPts val="400"/>
              </a:spcAft>
              <a:buNone/>
            </a:pPr>
            <a:r>
              <a:rPr lang="en-US" sz="1400" dirty="0">
                <a:solidFill>
                  <a:srgbClr val="94A3B8"/>
                </a:solidFill>
                <a:latin typeface="Arial" pitchFamily="34" charset="0"/>
                <a:ea typeface="Arial" pitchFamily="34" charset="-122"/>
                <a:cs typeface="Arial" pitchFamily="34" charset="-120"/>
              </a:rPr>
              <a:t>Alessandro Di Bari</a:t>
            </a:r>
            <a:endParaRPr lang="en-US" sz="1400" dirty="0"/>
          </a:p>
        </p:txBody>
      </p:sp>
      <p:sp>
        <p:nvSpPr>
          <p:cNvPr id="7" name="Text 4"/>
          <p:cNvSpPr/>
          <p:nvPr/>
        </p:nvSpPr>
        <p:spPr>
          <a:xfrm>
            <a:off x="4108694" y="3674864"/>
            <a:ext cx="926464" cy="152400"/>
          </a:xfrm>
          <a:prstGeom prst="rect">
            <a:avLst/>
          </a:prstGeom>
          <a:noFill/>
          <a:ln/>
        </p:spPr>
        <p:txBody>
          <a:bodyPr wrap="square" lIns="0" tIns="0" rIns="0" bIns="0" rtlCol="0" anchor="t"/>
          <a:lstStyle/>
          <a:p>
            <a:pPr algn="ctr" indent="0" marL="0">
              <a:buNone/>
            </a:pPr>
            <a:r>
              <a:rPr lang="en-US" sz="1100" dirty="0">
                <a:solidFill>
                  <a:srgbClr val="64748B"/>
                </a:solidFill>
                <a:latin typeface="Arial" pitchFamily="34" charset="0"/>
                <a:ea typeface="Arial" pitchFamily="34" charset="-122"/>
                <a:cs typeface="Arial" pitchFamily="34" charset="-120"/>
              </a:rPr>
              <a:t>February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Users/alessandrodibari/Ale/projects/TR_hiring_exercise/outputs/pptx_workspace/slides/accent_teal.png">    </p:cNvPr>
          <p:cNvPicPr>
            <a:picLocks noChangeAspect="1"/>
          </p:cNvPicPr>
          <p:nvPr/>
        </p:nvPicPr>
        <p:blipFill>
          <a:blip r:embed="rId2"/>
          <a:stretch>
            <a:fillRect/>
          </a:stretch>
        </p:blipFill>
        <p:spPr>
          <a:xfrm>
            <a:off x="0" y="0"/>
            <a:ext cx="9144000" cy="50750"/>
          </a:xfrm>
          <a:prstGeom prst="rect">
            <a:avLst/>
          </a:prstGeom>
        </p:spPr>
      </p:pic>
      <p:sp>
        <p:nvSpPr>
          <p:cNvPr id="3" name="Text 0"/>
          <p:cNvSpPr/>
          <p:nvPr/>
        </p:nvSpPr>
        <p:spPr>
          <a:xfrm>
            <a:off x="457200" y="355550"/>
            <a:ext cx="8394192" cy="323850"/>
          </a:xfrm>
          <a:prstGeom prst="rect">
            <a:avLst/>
          </a:prstGeom>
          <a:noFill/>
          <a:ln/>
        </p:spPr>
        <p:txBody>
          <a:bodyPr wrap="square" lIns="0" tIns="0" rIns="0" bIns="0" rtlCol="0" anchor="t"/>
          <a:lstStyle/>
          <a:p>
            <a:pPr algn="l" indent="0" marL="0">
              <a:spcAft>
                <a:spcPts val="200"/>
              </a:spcAft>
              <a:buNone/>
            </a:pPr>
            <a:r>
              <a:rPr lang="en-US" sz="2200" b="1" dirty="0">
                <a:solidFill>
                  <a:srgbClr val="00B4D8"/>
                </a:solidFill>
                <a:latin typeface="Arial" pitchFamily="34" charset="0"/>
                <a:ea typeface="Arial" pitchFamily="34" charset="-122"/>
                <a:cs typeface="Arial" pitchFamily="34" charset="-120"/>
              </a:rPr>
              <a:t>What is Procedural Posture?</a:t>
            </a:r>
            <a:endParaRPr lang="en-US" sz="2200" dirty="0"/>
          </a:p>
        </p:txBody>
      </p:sp>
      <p:sp>
        <p:nvSpPr>
          <p:cNvPr id="4" name="Text 1"/>
          <p:cNvSpPr/>
          <p:nvPr/>
        </p:nvSpPr>
        <p:spPr>
          <a:xfrm>
            <a:off x="457200" y="907852"/>
            <a:ext cx="3987850" cy="1143000"/>
          </a:xfrm>
          <a:prstGeom prst="rect">
            <a:avLst/>
          </a:prstGeom>
          <a:solidFill>
            <a:srgbClr val="00B4D8">
              <a:alpha val="8000"/>
            </a:srgbClr>
          </a:solidFill>
          <a:ln/>
        </p:spPr>
        <p:txBody>
          <a:bodyPr wrap="square" rtlCol="0" anchor="ctr"/>
          <a:lstStyle/>
          <a:p>
            <a:pPr indent="0" marL="0">
              <a:buNone/>
            </a:pPr>
            <a:endParaRPr lang="en-US" dirty="0"/>
          </a:p>
        </p:txBody>
      </p:sp>
      <p:sp>
        <p:nvSpPr>
          <p:cNvPr id="5" name="Shape 2"/>
          <p:cNvSpPr/>
          <p:nvPr/>
        </p:nvSpPr>
        <p:spPr>
          <a:xfrm>
            <a:off x="481012" y="907852"/>
            <a:ext cx="0" cy="1143000"/>
          </a:xfrm>
          <a:prstGeom prst="line">
            <a:avLst/>
          </a:prstGeom>
          <a:noFill/>
          <a:ln w="47625">
            <a:solidFill>
              <a:srgbClr val="00B4D8"/>
            </a:solidFill>
            <a:prstDash val="solid"/>
          </a:ln>
        </p:spPr>
      </p:sp>
      <p:sp>
        <p:nvSpPr>
          <p:cNvPr id="6" name="Text 3"/>
          <p:cNvSpPr/>
          <p:nvPr/>
        </p:nvSpPr>
        <p:spPr>
          <a:xfrm>
            <a:off x="707975" y="1060252"/>
            <a:ext cx="3604602" cy="838200"/>
          </a:xfrm>
          <a:prstGeom prst="rect">
            <a:avLst/>
          </a:prstGeom>
          <a:noFill/>
          <a:ln/>
        </p:spPr>
        <p:txBody>
          <a:bodyPr wrap="square" lIns="0" tIns="0" rIns="0" bIns="0" rtlCol="0" anchor="t"/>
          <a:lstStyle/>
          <a:p>
            <a:pPr algn="l" indent="0" marL="0">
              <a:lnSpc>
                <a:spcPts val="1650"/>
              </a:lnSpc>
              <a:buNone/>
            </a:pPr>
            <a:r>
              <a:rPr lang="en-US" sz="1100" dirty="0">
                <a:solidFill>
                  <a:srgbClr val="E2E8F0"/>
                </a:solidFill>
                <a:latin typeface="Arial" pitchFamily="34" charset="0"/>
                <a:ea typeface="Arial" pitchFamily="34" charset="-122"/>
                <a:cs typeface="Arial" pitchFamily="34" charset="-120"/>
              </a:rPr>
              <a:t>The </a:t>
            </a:r>
            <a:pPr algn="l" indent="0" marL="0">
              <a:lnSpc>
                <a:spcPts val="1650"/>
              </a:lnSpc>
              <a:buNone/>
            </a:pPr>
            <a:r>
              <a:rPr lang="en-US" sz="1100" b="1" dirty="0">
                <a:solidFill>
                  <a:srgbClr val="E2E8F0"/>
                </a:solidFill>
                <a:latin typeface="Arial" pitchFamily="34" charset="0"/>
                <a:ea typeface="Arial" pitchFamily="34" charset="-122"/>
                <a:cs typeface="Arial" pitchFamily="34" charset="-120"/>
              </a:rPr>
              <a:t>procedural posture</a:t>
            </a:r>
            <a:pPr algn="l" indent="0" marL="0">
              <a:lnSpc>
                <a:spcPts val="1650"/>
              </a:lnSpc>
              <a:buNone/>
            </a:pPr>
            <a:r>
              <a:rPr lang="en-US" sz="1100" dirty="0">
                <a:solidFill>
                  <a:srgbClr val="E2E8F0"/>
                </a:solidFill>
                <a:latin typeface="Arial" pitchFamily="34" charset="0"/>
                <a:ea typeface="Arial" pitchFamily="34" charset="-122"/>
                <a:cs typeface="Arial" pitchFamily="34" charset="-120"/>
              </a:rPr>
              <a:t> of a case is a summary of how the case arrived before the court. It describes the procedural history including any prior decisions under appeal.</a:t>
            </a:r>
            <a:endParaRPr lang="en-US" sz="1100" dirty="0"/>
          </a:p>
        </p:txBody>
      </p:sp>
      <p:sp>
        <p:nvSpPr>
          <p:cNvPr id="7" name="Text 4"/>
          <p:cNvSpPr/>
          <p:nvPr/>
        </p:nvSpPr>
        <p:spPr>
          <a:xfrm>
            <a:off x="457200" y="2228552"/>
            <a:ext cx="4067607" cy="209550"/>
          </a:xfrm>
          <a:prstGeom prst="rect">
            <a:avLst/>
          </a:prstGeom>
          <a:noFill/>
          <a:ln/>
        </p:spPr>
        <p:txBody>
          <a:bodyPr wrap="square" lIns="0" tIns="0" rIns="0" bIns="0" rtlCol="0" anchor="t"/>
          <a:lstStyle/>
          <a:p>
            <a:pPr algn="l" indent="0" marL="0">
              <a:lnSpc>
                <a:spcPts val="1650"/>
              </a:lnSpc>
              <a:spcAft>
                <a:spcPts val="1000"/>
              </a:spcAft>
              <a:buNone/>
            </a:pPr>
            <a:r>
              <a:rPr lang="en-US" sz="1100" dirty="0">
                <a:solidFill>
                  <a:srgbClr val="CBD5E1"/>
                </a:solidFill>
                <a:latin typeface="Arial" pitchFamily="34" charset="0"/>
                <a:ea typeface="Arial" pitchFamily="34" charset="-122"/>
                <a:cs typeface="Arial" pitchFamily="34" charset="-120"/>
              </a:rPr>
              <a:t>Examples of posture labels:</a:t>
            </a:r>
            <a:endParaRPr lang="en-US" sz="1100" dirty="0"/>
          </a:p>
        </p:txBody>
      </p:sp>
      <p:sp>
        <p:nvSpPr>
          <p:cNvPr id="8" name="Text 5"/>
          <p:cNvSpPr/>
          <p:nvPr/>
        </p:nvSpPr>
        <p:spPr>
          <a:xfrm>
            <a:off x="457200" y="2590502"/>
            <a:ext cx="3987850" cy="838200"/>
          </a:xfrm>
          <a:prstGeom prst="rect">
            <a:avLst/>
          </a:prstGeom>
          <a:noFill/>
          <a:ln/>
        </p:spPr>
        <p:txBody>
          <a:bodyPr wrap="square" lIns="190500" tIns="0" rIns="0" bIns="0" rtlCol="0" anchor="t"/>
          <a:lstStyle/>
          <a:p>
            <a:pPr algn="l" indent="0" marL="0">
              <a:buNone/>
            </a:pPr>
            <a:endParaRPr lang="en-US" sz="1200" dirty="0"/>
          </a:p>
        </p:txBody>
      </p:sp>
      <p:sp>
        <p:nvSpPr>
          <p:cNvPr id="9" name="Text 6"/>
          <p:cNvSpPr/>
          <p:nvPr/>
        </p:nvSpPr>
        <p:spPr>
          <a:xfrm>
            <a:off x="838200" y="2590502"/>
            <a:ext cx="3678987" cy="209550"/>
          </a:xfrm>
          <a:prstGeom prst="rect">
            <a:avLst/>
          </a:prstGeom>
          <a:noFill/>
          <a:ln/>
        </p:spPr>
        <p:txBody>
          <a:bodyPr wrap="square" lIns="0" tIns="0" rIns="0" bIns="0" rtlCol="0" anchor="t"/>
          <a:lstStyle/>
          <a:p>
            <a:pPr algn="l" indent="0" marL="0">
              <a:lnSpc>
                <a:spcPts val="1650"/>
              </a:lnSpc>
              <a:buNone/>
            </a:pPr>
            <a:r>
              <a:rPr lang="en-US" sz="1100" dirty="0">
                <a:solidFill>
                  <a:srgbClr val="CBD5E1"/>
                </a:solidFill>
                <a:latin typeface="Arial" pitchFamily="34" charset="0"/>
                <a:ea typeface="Arial" pitchFamily="34" charset="-122"/>
                <a:cs typeface="Arial" pitchFamily="34" charset="-120"/>
              </a:rPr>
              <a:t>On Appeal</a:t>
            </a:r>
            <a:endParaRPr lang="en-US" sz="1100" dirty="0"/>
          </a:p>
        </p:txBody>
      </p:sp>
      <p:sp>
        <p:nvSpPr>
          <p:cNvPr id="10" name="Text 7"/>
          <p:cNvSpPr/>
          <p:nvPr/>
        </p:nvSpPr>
        <p:spPr>
          <a:xfrm>
            <a:off x="838200" y="2800052"/>
            <a:ext cx="3678987" cy="209550"/>
          </a:xfrm>
          <a:prstGeom prst="rect">
            <a:avLst/>
          </a:prstGeom>
          <a:noFill/>
          <a:ln/>
        </p:spPr>
        <p:txBody>
          <a:bodyPr wrap="square" lIns="0" tIns="0" rIns="0" bIns="0" rtlCol="0" anchor="t"/>
          <a:lstStyle/>
          <a:p>
            <a:pPr algn="l" indent="0" marL="0">
              <a:lnSpc>
                <a:spcPts val="1650"/>
              </a:lnSpc>
              <a:buNone/>
            </a:pPr>
            <a:r>
              <a:rPr lang="en-US" sz="1100" dirty="0">
                <a:solidFill>
                  <a:srgbClr val="CBD5E1"/>
                </a:solidFill>
                <a:latin typeface="Arial" pitchFamily="34" charset="0"/>
                <a:ea typeface="Arial" pitchFamily="34" charset="-122"/>
                <a:cs typeface="Arial" pitchFamily="34" charset="-120"/>
              </a:rPr>
              <a:t>Motion to Dismiss</a:t>
            </a:r>
            <a:endParaRPr lang="en-US" sz="1100" dirty="0"/>
          </a:p>
        </p:txBody>
      </p:sp>
      <p:sp>
        <p:nvSpPr>
          <p:cNvPr id="11" name="Text 8"/>
          <p:cNvSpPr/>
          <p:nvPr/>
        </p:nvSpPr>
        <p:spPr>
          <a:xfrm>
            <a:off x="838200" y="3009602"/>
            <a:ext cx="3678987" cy="209550"/>
          </a:xfrm>
          <a:prstGeom prst="rect">
            <a:avLst/>
          </a:prstGeom>
          <a:noFill/>
          <a:ln/>
        </p:spPr>
        <p:txBody>
          <a:bodyPr wrap="square" lIns="0" tIns="0" rIns="0" bIns="0" rtlCol="0" anchor="t"/>
          <a:lstStyle/>
          <a:p>
            <a:pPr algn="l" indent="0" marL="0">
              <a:lnSpc>
                <a:spcPts val="1650"/>
              </a:lnSpc>
              <a:buNone/>
            </a:pPr>
            <a:r>
              <a:rPr lang="en-US" sz="1100" dirty="0">
                <a:solidFill>
                  <a:srgbClr val="CBD5E1"/>
                </a:solidFill>
                <a:latin typeface="Arial" pitchFamily="34" charset="0"/>
                <a:ea typeface="Arial" pitchFamily="34" charset="-122"/>
                <a:cs typeface="Arial" pitchFamily="34" charset="-120"/>
              </a:rPr>
              <a:t>Sentencing Phase Motion</a:t>
            </a:r>
            <a:endParaRPr lang="en-US" sz="1100" dirty="0"/>
          </a:p>
        </p:txBody>
      </p:sp>
      <p:sp>
        <p:nvSpPr>
          <p:cNvPr id="12" name="Text 9"/>
          <p:cNvSpPr/>
          <p:nvPr/>
        </p:nvSpPr>
        <p:spPr>
          <a:xfrm>
            <a:off x="838200" y="3219152"/>
            <a:ext cx="3678987" cy="209550"/>
          </a:xfrm>
          <a:prstGeom prst="rect">
            <a:avLst/>
          </a:prstGeom>
          <a:noFill/>
          <a:ln/>
        </p:spPr>
        <p:txBody>
          <a:bodyPr wrap="square" lIns="0" tIns="0" rIns="0" bIns="0" rtlCol="0" anchor="t"/>
          <a:lstStyle/>
          <a:p>
            <a:pPr algn="l" indent="0" marL="0">
              <a:lnSpc>
                <a:spcPts val="1650"/>
              </a:lnSpc>
              <a:buNone/>
            </a:pPr>
            <a:r>
              <a:rPr lang="en-US" sz="1100" dirty="0">
                <a:solidFill>
                  <a:srgbClr val="CBD5E1"/>
                </a:solidFill>
                <a:latin typeface="Arial" pitchFamily="34" charset="0"/>
                <a:ea typeface="Arial" pitchFamily="34" charset="-122"/>
                <a:cs typeface="Arial" pitchFamily="34" charset="-120"/>
              </a:rPr>
              <a:t>Review of Administrative Decision</a:t>
            </a:r>
            <a:endParaRPr lang="en-US" sz="1100" dirty="0"/>
          </a:p>
        </p:txBody>
      </p:sp>
      <p:sp>
        <p:nvSpPr>
          <p:cNvPr id="13" name="Text 10"/>
          <p:cNvSpPr/>
          <p:nvPr/>
        </p:nvSpPr>
        <p:spPr>
          <a:xfrm>
            <a:off x="4698950" y="907852"/>
            <a:ext cx="4067607" cy="171450"/>
          </a:xfrm>
          <a:prstGeom prst="rect">
            <a:avLst/>
          </a:prstGeom>
          <a:noFill/>
          <a:ln/>
        </p:spPr>
        <p:txBody>
          <a:bodyPr wrap="square" lIns="0" tIns="0" rIns="0" bIns="0" rtlCol="0" anchor="t"/>
          <a:lstStyle/>
          <a:p>
            <a:pPr algn="l" indent="0" marL="0">
              <a:lnSpc>
                <a:spcPts val="1350"/>
              </a:lnSpc>
              <a:spcAft>
                <a:spcPts val="400"/>
              </a:spcAft>
              <a:buNone/>
            </a:pPr>
            <a:r>
              <a:rPr lang="en-US" sz="900" dirty="0">
                <a:solidFill>
                  <a:srgbClr val="94A3B8"/>
                </a:solidFill>
                <a:latin typeface="Arial" pitchFamily="34" charset="0"/>
                <a:ea typeface="Arial" pitchFamily="34" charset="-122"/>
                <a:cs typeface="Arial" pitchFamily="34" charset="-120"/>
              </a:rPr>
              <a:t>BUSINESS NEED</a:t>
            </a:r>
            <a:endParaRPr lang="en-US" sz="900" dirty="0"/>
          </a:p>
        </p:txBody>
      </p:sp>
      <p:sp>
        <p:nvSpPr>
          <p:cNvPr id="14" name="Text 11"/>
          <p:cNvSpPr/>
          <p:nvPr/>
        </p:nvSpPr>
        <p:spPr>
          <a:xfrm>
            <a:off x="4698950" y="1130052"/>
            <a:ext cx="4067607" cy="419100"/>
          </a:xfrm>
          <a:prstGeom prst="rect">
            <a:avLst/>
          </a:prstGeom>
          <a:noFill/>
          <a:ln/>
        </p:spPr>
        <p:txBody>
          <a:bodyPr wrap="square" lIns="0" tIns="0" rIns="0" bIns="0" rtlCol="0" anchor="t"/>
          <a:lstStyle/>
          <a:p>
            <a:pPr algn="l" indent="0" marL="0">
              <a:lnSpc>
                <a:spcPts val="1650"/>
              </a:lnSpc>
              <a:spcAft>
                <a:spcPts val="1000"/>
              </a:spcAft>
              <a:buNone/>
            </a:pPr>
            <a:r>
              <a:rPr lang="en-US" sz="1100" dirty="0">
                <a:solidFill>
                  <a:srgbClr val="CBD5E1"/>
                </a:solidFill>
                <a:latin typeface="Arial" pitchFamily="34" charset="0"/>
                <a:ea typeface="Arial" pitchFamily="34" charset="-122"/>
                <a:cs typeface="Arial" pitchFamily="34" charset="-120"/>
              </a:rPr>
              <a:t>Business partners want to </a:t>
            </a:r>
            <a:pPr algn="l" indent="0" marL="0">
              <a:lnSpc>
                <a:spcPts val="1650"/>
              </a:lnSpc>
              <a:spcAft>
                <a:spcPts val="1000"/>
              </a:spcAft>
              <a:buNone/>
            </a:pPr>
            <a:r>
              <a:rPr lang="en-US" sz="1100" b="1" dirty="0">
                <a:solidFill>
                  <a:srgbClr val="CBD5E1"/>
                </a:solidFill>
                <a:latin typeface="Arial" pitchFamily="34" charset="0"/>
                <a:ea typeface="Arial" pitchFamily="34" charset="-122"/>
                <a:cs typeface="Arial" pitchFamily="34" charset="-120"/>
              </a:rPr>
              <a:t>automate the labeling</a:t>
            </a:r>
            <a:pPr algn="l" indent="0" marL="0">
              <a:lnSpc>
                <a:spcPts val="1650"/>
              </a:lnSpc>
              <a:spcAft>
                <a:spcPts val="1000"/>
              </a:spcAft>
              <a:buNone/>
            </a:pPr>
            <a:r>
              <a:rPr lang="en-US" sz="1100" dirty="0">
                <a:solidFill>
                  <a:srgbClr val="CBD5E1"/>
                </a:solidFill>
                <a:latin typeface="Arial" pitchFamily="34" charset="0"/>
                <a:ea typeface="Arial" pitchFamily="34" charset="-122"/>
                <a:cs typeface="Arial" pitchFamily="34" charset="-120"/>
              </a:rPr>
              <a:t> of judicial opinions with procedural postures for Westlaw.</a:t>
            </a:r>
            <a:endParaRPr lang="en-US" sz="1100" dirty="0"/>
          </a:p>
        </p:txBody>
      </p:sp>
      <p:sp>
        <p:nvSpPr>
          <p:cNvPr id="15" name="Text 12"/>
          <p:cNvSpPr/>
          <p:nvPr/>
        </p:nvSpPr>
        <p:spPr>
          <a:xfrm>
            <a:off x="4698950" y="1676102"/>
            <a:ext cx="4067607" cy="171450"/>
          </a:xfrm>
          <a:prstGeom prst="rect">
            <a:avLst/>
          </a:prstGeom>
          <a:noFill/>
          <a:ln/>
        </p:spPr>
        <p:txBody>
          <a:bodyPr wrap="square" lIns="0" tIns="0" rIns="0" bIns="0" rtlCol="0" anchor="t"/>
          <a:lstStyle/>
          <a:p>
            <a:pPr algn="l" indent="0" marL="0">
              <a:lnSpc>
                <a:spcPts val="1350"/>
              </a:lnSpc>
              <a:spcAft>
                <a:spcPts val="400"/>
              </a:spcAft>
              <a:buNone/>
            </a:pPr>
            <a:r>
              <a:rPr lang="en-US" sz="900" dirty="0">
                <a:solidFill>
                  <a:srgbClr val="94A3B8"/>
                </a:solidFill>
                <a:latin typeface="Arial" pitchFamily="34" charset="0"/>
                <a:ea typeface="Arial" pitchFamily="34" charset="-122"/>
                <a:cs typeface="Arial" pitchFamily="34" charset="-120"/>
              </a:rPr>
              <a:t>OUR TASK</a:t>
            </a:r>
            <a:endParaRPr lang="en-US" sz="900" dirty="0"/>
          </a:p>
        </p:txBody>
      </p:sp>
      <p:sp>
        <p:nvSpPr>
          <p:cNvPr id="16" name="Text 13"/>
          <p:cNvSpPr/>
          <p:nvPr/>
        </p:nvSpPr>
        <p:spPr>
          <a:xfrm>
            <a:off x="4698950" y="1898303"/>
            <a:ext cx="4067607" cy="419100"/>
          </a:xfrm>
          <a:prstGeom prst="rect">
            <a:avLst/>
          </a:prstGeom>
          <a:noFill/>
          <a:ln/>
        </p:spPr>
        <p:txBody>
          <a:bodyPr wrap="square" lIns="0" tIns="0" rIns="0" bIns="0" rtlCol="0" anchor="t"/>
          <a:lstStyle/>
          <a:p>
            <a:pPr algn="l" indent="0" marL="0">
              <a:lnSpc>
                <a:spcPts val="1650"/>
              </a:lnSpc>
              <a:spcAft>
                <a:spcPts val="1000"/>
              </a:spcAft>
              <a:buNone/>
            </a:pPr>
            <a:r>
              <a:rPr lang="en-US" sz="1100" dirty="0">
                <a:solidFill>
                  <a:srgbClr val="CBD5E1"/>
                </a:solidFill>
                <a:latin typeface="Arial" pitchFamily="34" charset="0"/>
                <a:ea typeface="Arial" pitchFamily="34" charset="-122"/>
                <a:cs typeface="Arial" pitchFamily="34" charset="-120"/>
              </a:rPr>
              <a:t>Perform an </a:t>
            </a:r>
            <a:pPr algn="l" indent="0" marL="0">
              <a:lnSpc>
                <a:spcPts val="1650"/>
              </a:lnSpc>
              <a:spcAft>
                <a:spcPts val="1000"/>
              </a:spcAft>
              <a:buNone/>
            </a:pPr>
            <a:r>
              <a:rPr lang="en-US" sz="1100" b="1" dirty="0">
                <a:solidFill>
                  <a:srgbClr val="CBD5E1"/>
                </a:solidFill>
                <a:latin typeface="Arial" pitchFamily="34" charset="0"/>
                <a:ea typeface="Arial" pitchFamily="34" charset="-122"/>
                <a:cs typeface="Arial" pitchFamily="34" charset="-120"/>
              </a:rPr>
              <a:t>initial exploration</a:t>
            </a:r>
            <a:pPr algn="l" indent="0" marL="0">
              <a:lnSpc>
                <a:spcPts val="1650"/>
              </a:lnSpc>
              <a:spcAft>
                <a:spcPts val="1000"/>
              </a:spcAft>
              <a:buNone/>
            </a:pPr>
            <a:r>
              <a:rPr lang="en-US" sz="1100" dirty="0">
                <a:solidFill>
                  <a:srgbClr val="CBD5E1"/>
                </a:solidFill>
                <a:latin typeface="Arial" pitchFamily="34" charset="0"/>
                <a:ea typeface="Arial" pitchFamily="34" charset="-122"/>
                <a:cs typeface="Arial" pitchFamily="34" charset="-120"/>
              </a:rPr>
              <a:t> to inform feasibility. State-of-the-art results are not expected.</a:t>
            </a:r>
            <a:endParaRPr lang="en-US" sz="1100" dirty="0"/>
          </a:p>
        </p:txBody>
      </p:sp>
      <p:sp>
        <p:nvSpPr>
          <p:cNvPr id="17" name="Text 14"/>
          <p:cNvSpPr/>
          <p:nvPr/>
        </p:nvSpPr>
        <p:spPr>
          <a:xfrm>
            <a:off x="4698950" y="2444353"/>
            <a:ext cx="3987850" cy="933450"/>
          </a:xfrm>
          <a:prstGeom prst="rect">
            <a:avLst/>
          </a:prstGeom>
          <a:solidFill>
            <a:srgbClr val="E76F51">
              <a:alpha val="10000"/>
            </a:srgbClr>
          </a:solidFill>
          <a:ln/>
        </p:spPr>
        <p:txBody>
          <a:bodyPr wrap="square" rtlCol="0" anchor="ctr"/>
          <a:lstStyle/>
          <a:p>
            <a:pPr indent="0" marL="0">
              <a:buNone/>
            </a:pPr>
            <a:endParaRPr lang="en-US" dirty="0"/>
          </a:p>
        </p:txBody>
      </p:sp>
      <p:sp>
        <p:nvSpPr>
          <p:cNvPr id="18" name="Shape 15"/>
          <p:cNvSpPr/>
          <p:nvPr/>
        </p:nvSpPr>
        <p:spPr>
          <a:xfrm>
            <a:off x="4722763" y="2444353"/>
            <a:ext cx="0" cy="933450"/>
          </a:xfrm>
          <a:prstGeom prst="line">
            <a:avLst/>
          </a:prstGeom>
          <a:noFill/>
          <a:ln w="47625">
            <a:solidFill>
              <a:srgbClr val="E76F51"/>
            </a:solidFill>
            <a:prstDash val="solid"/>
          </a:ln>
        </p:spPr>
      </p:sp>
      <p:sp>
        <p:nvSpPr>
          <p:cNvPr id="19" name="Text 16"/>
          <p:cNvSpPr/>
          <p:nvPr/>
        </p:nvSpPr>
        <p:spPr>
          <a:xfrm>
            <a:off x="4949726" y="2596753"/>
            <a:ext cx="3604602" cy="628650"/>
          </a:xfrm>
          <a:prstGeom prst="rect">
            <a:avLst/>
          </a:prstGeom>
          <a:noFill/>
          <a:ln/>
        </p:spPr>
        <p:txBody>
          <a:bodyPr wrap="square" lIns="0" tIns="0" rIns="0" bIns="0" rtlCol="0" anchor="t"/>
          <a:lstStyle/>
          <a:p>
            <a:pPr algn="l" indent="0" marL="0">
              <a:lnSpc>
                <a:spcPts val="1650"/>
              </a:lnSpc>
              <a:buNone/>
            </a:pPr>
            <a:r>
              <a:rPr lang="en-US" sz="1100" b="1" dirty="0">
                <a:solidFill>
                  <a:srgbClr val="E2E8F0"/>
                </a:solidFill>
                <a:latin typeface="Arial" pitchFamily="34" charset="0"/>
                <a:ea typeface="Arial" pitchFamily="34" charset="-122"/>
                <a:cs typeface="Arial" pitchFamily="34" charset="-120"/>
              </a:rPr>
              <a:t>Key constraint:</a:t>
            </a:r>
            <a:pPr algn="l" indent="0" marL="0">
              <a:lnSpc>
                <a:spcPts val="1650"/>
              </a:lnSpc>
              <a:buNone/>
            </a:pPr>
            <a:r>
              <a:rPr lang="en-US" sz="1100" dirty="0">
                <a:solidFill>
                  <a:srgbClr val="E2E8F0"/>
                </a:solidFill>
                <a:latin typeface="Arial" pitchFamily="34" charset="0"/>
                <a:ea typeface="Arial" pitchFamily="34" charset="-122"/>
                <a:cs typeface="Arial" pitchFamily="34" charset="-120"/>
              </a:rPr>
              <a:t> Characterizing how the model performs is more important than achieving the highest possible performance.</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Users/alessandrodibari/Ale/projects/TR_hiring_exercise/outputs/pptx_workspace/slides/accent_teal.png">    </p:cNvPr>
          <p:cNvPicPr>
            <a:picLocks noChangeAspect="1"/>
          </p:cNvPicPr>
          <p:nvPr/>
        </p:nvPicPr>
        <p:blipFill>
          <a:blip r:embed="rId2"/>
          <a:stretch>
            <a:fillRect/>
          </a:stretch>
        </p:blipFill>
        <p:spPr>
          <a:xfrm>
            <a:off x="0" y="0"/>
            <a:ext cx="9144000" cy="50750"/>
          </a:xfrm>
          <a:prstGeom prst="rect">
            <a:avLst/>
          </a:prstGeom>
        </p:spPr>
      </p:pic>
      <p:sp>
        <p:nvSpPr>
          <p:cNvPr id="3" name="Text 0"/>
          <p:cNvSpPr/>
          <p:nvPr/>
        </p:nvSpPr>
        <p:spPr>
          <a:xfrm>
            <a:off x="457200" y="355550"/>
            <a:ext cx="8394192" cy="323850"/>
          </a:xfrm>
          <a:prstGeom prst="rect">
            <a:avLst/>
          </a:prstGeom>
          <a:noFill/>
          <a:ln/>
        </p:spPr>
        <p:txBody>
          <a:bodyPr wrap="square" lIns="0" tIns="0" rIns="0" bIns="0" rtlCol="0" anchor="t"/>
          <a:lstStyle/>
          <a:p>
            <a:pPr algn="l" indent="0" marL="0">
              <a:buNone/>
            </a:pPr>
            <a:r>
              <a:rPr lang="en-US" sz="2200" b="1" dirty="0">
                <a:solidFill>
                  <a:srgbClr val="00B4D8"/>
                </a:solidFill>
                <a:latin typeface="Arial" pitchFamily="34" charset="0"/>
                <a:ea typeface="Arial" pitchFamily="34" charset="-122"/>
                <a:cs typeface="Arial" pitchFamily="34" charset="-120"/>
              </a:rPr>
              <a:t>The Dataset at a Glance</a:t>
            </a:r>
            <a:endParaRPr lang="en-US" sz="2200" dirty="0"/>
          </a:p>
        </p:txBody>
      </p:sp>
      <p:sp>
        <p:nvSpPr>
          <p:cNvPr id="4" name="Text 1"/>
          <p:cNvSpPr/>
          <p:nvPr/>
        </p:nvSpPr>
        <p:spPr>
          <a:xfrm>
            <a:off x="457200" y="933301"/>
            <a:ext cx="2624733" cy="980926"/>
          </a:xfrm>
          <a:prstGeom prst="roundRect">
            <a:avLst>
              <a:gd name="adj" fmla="val 10358"/>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5" name="Text 2"/>
          <p:cNvSpPr/>
          <p:nvPr/>
        </p:nvSpPr>
        <p:spPr>
          <a:xfrm>
            <a:off x="647882" y="1145977"/>
            <a:ext cx="2243370" cy="371475"/>
          </a:xfrm>
          <a:prstGeom prst="rect">
            <a:avLst/>
          </a:prstGeom>
          <a:noFill/>
          <a:ln/>
        </p:spPr>
        <p:txBody>
          <a:bodyPr wrap="square" lIns="0" tIns="0" rIns="0" bIns="0" rtlCol="0" anchor="t"/>
          <a:lstStyle/>
          <a:p>
            <a:pPr algn="ctr" indent="0" marL="0">
              <a:spcAft>
                <a:spcPts val="400"/>
              </a:spcAft>
              <a:buNone/>
            </a:pPr>
            <a:r>
              <a:rPr lang="en-US" sz="2600" b="1" dirty="0">
                <a:solidFill>
                  <a:srgbClr val="00B4D8"/>
                </a:solidFill>
                <a:latin typeface="Arial" pitchFamily="34" charset="0"/>
                <a:ea typeface="Arial" pitchFamily="34" charset="-122"/>
                <a:cs typeface="Arial" pitchFamily="34" charset="-120"/>
              </a:rPr>
              <a:t>18,000</a:t>
            </a:r>
            <a:endParaRPr lang="en-US" sz="2600" dirty="0"/>
          </a:p>
        </p:txBody>
      </p:sp>
      <p:sp>
        <p:nvSpPr>
          <p:cNvPr id="6" name="Text 3"/>
          <p:cNvSpPr/>
          <p:nvPr/>
        </p:nvSpPr>
        <p:spPr>
          <a:xfrm>
            <a:off x="647882" y="1568202"/>
            <a:ext cx="2243370" cy="133350"/>
          </a:xfrm>
          <a:prstGeom prst="rect">
            <a:avLst/>
          </a:prstGeom>
          <a:noFill/>
          <a:ln/>
        </p:spPr>
        <p:txBody>
          <a:bodyPr wrap="square" lIns="0" tIns="0" rIns="0" bIns="0" rtlCol="0" anchor="t"/>
          <a:lstStyle/>
          <a:p>
            <a:pPr algn="ctr" indent="0" marL="0">
              <a:buNone/>
            </a:pPr>
            <a:r>
              <a:rPr lang="en-US" sz="900" dirty="0">
                <a:solidFill>
                  <a:srgbClr val="94A3B8"/>
                </a:solidFill>
                <a:latin typeface="Arial" pitchFamily="34" charset="0"/>
                <a:ea typeface="Arial" pitchFamily="34" charset="-122"/>
                <a:cs typeface="Arial" pitchFamily="34" charset="-120"/>
              </a:rPr>
              <a:t>DOCUMENTS</a:t>
            </a:r>
            <a:endParaRPr lang="en-US" sz="900" dirty="0"/>
          </a:p>
        </p:txBody>
      </p:sp>
      <p:sp>
        <p:nvSpPr>
          <p:cNvPr id="7" name="Text 4"/>
          <p:cNvSpPr/>
          <p:nvPr/>
        </p:nvSpPr>
        <p:spPr>
          <a:xfrm>
            <a:off x="3259634" y="933301"/>
            <a:ext cx="2624733" cy="980926"/>
          </a:xfrm>
          <a:prstGeom prst="roundRect">
            <a:avLst>
              <a:gd name="adj" fmla="val 10358"/>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8" name="Text 5"/>
          <p:cNvSpPr/>
          <p:nvPr/>
        </p:nvSpPr>
        <p:spPr>
          <a:xfrm>
            <a:off x="3450315" y="1145977"/>
            <a:ext cx="2243370" cy="371475"/>
          </a:xfrm>
          <a:prstGeom prst="rect">
            <a:avLst/>
          </a:prstGeom>
          <a:noFill/>
          <a:ln/>
        </p:spPr>
        <p:txBody>
          <a:bodyPr wrap="square" lIns="0" tIns="0" rIns="0" bIns="0" rtlCol="0" anchor="t"/>
          <a:lstStyle/>
          <a:p>
            <a:pPr algn="ctr" indent="0" marL="0">
              <a:spcAft>
                <a:spcPts val="400"/>
              </a:spcAft>
              <a:buNone/>
            </a:pPr>
            <a:r>
              <a:rPr lang="en-US" sz="2600" b="1" dirty="0">
                <a:solidFill>
                  <a:srgbClr val="00B4D8"/>
                </a:solidFill>
                <a:latin typeface="Arial" pitchFamily="34" charset="0"/>
                <a:ea typeface="Arial" pitchFamily="34" charset="-122"/>
                <a:cs typeface="Arial" pitchFamily="34" charset="-120"/>
              </a:rPr>
              <a:t>224</a:t>
            </a:r>
            <a:endParaRPr lang="en-US" sz="2600" dirty="0"/>
          </a:p>
        </p:txBody>
      </p:sp>
      <p:sp>
        <p:nvSpPr>
          <p:cNvPr id="9" name="Text 6"/>
          <p:cNvSpPr/>
          <p:nvPr/>
        </p:nvSpPr>
        <p:spPr>
          <a:xfrm>
            <a:off x="3450315" y="1568202"/>
            <a:ext cx="2243370" cy="133350"/>
          </a:xfrm>
          <a:prstGeom prst="rect">
            <a:avLst/>
          </a:prstGeom>
          <a:noFill/>
          <a:ln/>
        </p:spPr>
        <p:txBody>
          <a:bodyPr wrap="square" lIns="0" tIns="0" rIns="0" bIns="0" rtlCol="0" anchor="t"/>
          <a:lstStyle/>
          <a:p>
            <a:pPr algn="ctr" indent="0" marL="0">
              <a:buNone/>
            </a:pPr>
            <a:r>
              <a:rPr lang="en-US" sz="900" dirty="0">
                <a:solidFill>
                  <a:srgbClr val="94A3B8"/>
                </a:solidFill>
                <a:latin typeface="Arial" pitchFamily="34" charset="0"/>
                <a:ea typeface="Arial" pitchFamily="34" charset="-122"/>
                <a:cs typeface="Arial" pitchFamily="34" charset="-120"/>
              </a:rPr>
              <a:t>UNIQUE POSTURES</a:t>
            </a:r>
            <a:endParaRPr lang="en-US" sz="900" dirty="0"/>
          </a:p>
        </p:txBody>
      </p:sp>
      <p:sp>
        <p:nvSpPr>
          <p:cNvPr id="10" name="Text 7"/>
          <p:cNvSpPr/>
          <p:nvPr/>
        </p:nvSpPr>
        <p:spPr>
          <a:xfrm>
            <a:off x="6062067" y="933301"/>
            <a:ext cx="2624733" cy="980926"/>
          </a:xfrm>
          <a:prstGeom prst="roundRect">
            <a:avLst>
              <a:gd name="adj" fmla="val 10358"/>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11" name="Text 8"/>
          <p:cNvSpPr/>
          <p:nvPr/>
        </p:nvSpPr>
        <p:spPr>
          <a:xfrm>
            <a:off x="6252749" y="1145977"/>
            <a:ext cx="2243370" cy="371475"/>
          </a:xfrm>
          <a:prstGeom prst="rect">
            <a:avLst/>
          </a:prstGeom>
          <a:noFill/>
          <a:ln/>
        </p:spPr>
        <p:txBody>
          <a:bodyPr wrap="square" lIns="0" tIns="0" rIns="0" bIns="0" rtlCol="0" anchor="t"/>
          <a:lstStyle/>
          <a:p>
            <a:pPr algn="ctr" indent="0" marL="0">
              <a:spcAft>
                <a:spcPts val="400"/>
              </a:spcAft>
              <a:buNone/>
            </a:pPr>
            <a:r>
              <a:rPr lang="en-US" sz="2600" b="1" dirty="0">
                <a:solidFill>
                  <a:srgbClr val="00B4D8"/>
                </a:solidFill>
                <a:latin typeface="Arial" pitchFamily="34" charset="0"/>
                <a:ea typeface="Arial" pitchFamily="34" charset="-122"/>
                <a:cs typeface="Arial" pitchFamily="34" charset="-120"/>
              </a:rPr>
              <a:t>542,172</a:t>
            </a:r>
            <a:endParaRPr lang="en-US" sz="2600" dirty="0"/>
          </a:p>
        </p:txBody>
      </p:sp>
      <p:sp>
        <p:nvSpPr>
          <p:cNvPr id="12" name="Text 9"/>
          <p:cNvSpPr/>
          <p:nvPr/>
        </p:nvSpPr>
        <p:spPr>
          <a:xfrm>
            <a:off x="6252749" y="1568202"/>
            <a:ext cx="2243370" cy="133350"/>
          </a:xfrm>
          <a:prstGeom prst="rect">
            <a:avLst/>
          </a:prstGeom>
          <a:noFill/>
          <a:ln/>
        </p:spPr>
        <p:txBody>
          <a:bodyPr wrap="square" lIns="0" tIns="0" rIns="0" bIns="0" rtlCol="0" anchor="t"/>
          <a:lstStyle/>
          <a:p>
            <a:pPr algn="ctr" indent="0" marL="0">
              <a:buNone/>
            </a:pPr>
            <a:r>
              <a:rPr lang="en-US" sz="900" dirty="0">
                <a:solidFill>
                  <a:srgbClr val="94A3B8"/>
                </a:solidFill>
                <a:latin typeface="Arial" pitchFamily="34" charset="0"/>
                <a:ea typeface="Arial" pitchFamily="34" charset="-122"/>
                <a:cs typeface="Arial" pitchFamily="34" charset="-120"/>
              </a:rPr>
              <a:t>PARAGRAPHS</a:t>
            </a:r>
            <a:endParaRPr lang="en-US" sz="900" dirty="0"/>
          </a:p>
        </p:txBody>
      </p:sp>
      <p:sp>
        <p:nvSpPr>
          <p:cNvPr id="13" name="Text 10"/>
          <p:cNvSpPr/>
          <p:nvPr/>
        </p:nvSpPr>
        <p:spPr>
          <a:xfrm>
            <a:off x="457200" y="2142827"/>
            <a:ext cx="2624733" cy="3000673"/>
          </a:xfrm>
          <a:prstGeom prst="roundRect">
            <a:avLst>
              <a:gd name="adj" fmla="val 3871"/>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14" name="Text 11"/>
          <p:cNvSpPr/>
          <p:nvPr/>
        </p:nvSpPr>
        <p:spPr>
          <a:xfrm>
            <a:off x="644426" y="2330053"/>
            <a:ext cx="2295287" cy="195560"/>
          </a:xfrm>
          <a:prstGeom prst="rect">
            <a:avLst/>
          </a:prstGeom>
          <a:noFill/>
          <a:ln/>
        </p:spPr>
        <p:txBody>
          <a:bodyPr wrap="square" lIns="0" tIns="0" rIns="0" bIns="0" rtlCol="0" anchor="t"/>
          <a:lstStyle/>
          <a:p>
            <a:pPr algn="l" indent="0" marL="0">
              <a:lnSpc>
                <a:spcPts val="1540"/>
              </a:lnSpc>
              <a:spcAft>
                <a:spcPts val="800"/>
              </a:spcAft>
              <a:buNone/>
            </a:pPr>
            <a:r>
              <a:rPr lang="en-US" sz="1100" b="1" dirty="0">
                <a:solidFill>
                  <a:srgbClr val="E2E8F0"/>
                </a:solidFill>
                <a:latin typeface="Arial" pitchFamily="34" charset="0"/>
                <a:ea typeface="Arial" pitchFamily="34" charset="-122"/>
                <a:cs typeface="Arial" pitchFamily="34" charset="-120"/>
              </a:rPr>
              <a:t>Multi-Label Problem</a:t>
            </a:r>
            <a:endParaRPr lang="en-US" sz="1100" dirty="0"/>
          </a:p>
        </p:txBody>
      </p:sp>
      <p:sp>
        <p:nvSpPr>
          <p:cNvPr id="15" name="Text 12"/>
          <p:cNvSpPr/>
          <p:nvPr/>
        </p:nvSpPr>
        <p:spPr>
          <a:xfrm>
            <a:off x="644426" y="2627114"/>
            <a:ext cx="2295287" cy="355402"/>
          </a:xfrm>
          <a:prstGeom prst="rect">
            <a:avLst/>
          </a:prstGeom>
          <a:noFill/>
          <a:ln/>
        </p:spPr>
        <p:txBody>
          <a:bodyPr wrap="square" lIns="0" tIns="0" rIns="0" bIns="0" rtlCol="0" anchor="t"/>
          <a:lstStyle/>
          <a:p>
            <a:pPr algn="l" indent="0" marL="0">
              <a:lnSpc>
                <a:spcPts val="1400"/>
              </a:lnSpc>
              <a:spcAft>
                <a:spcPts val="500"/>
              </a:spcAft>
              <a:buNone/>
            </a:pPr>
            <a:r>
              <a:rPr lang="en-US" sz="1000" dirty="0">
                <a:solidFill>
                  <a:srgbClr val="CBD5E1"/>
                </a:solidFill>
                <a:latin typeface="Arial" pitchFamily="34" charset="0"/>
                <a:ea typeface="Arial" pitchFamily="34" charset="-122"/>
                <a:cs typeface="Arial" pitchFamily="34" charset="-120"/>
              </a:rPr>
              <a:t>49.8% of documents have multiple postures</a:t>
            </a:r>
            <a:endParaRPr lang="en-US" sz="1000" dirty="0"/>
          </a:p>
        </p:txBody>
      </p:sp>
      <p:sp>
        <p:nvSpPr>
          <p:cNvPr id="16" name="Text 13"/>
          <p:cNvSpPr/>
          <p:nvPr/>
        </p:nvSpPr>
        <p:spPr>
          <a:xfrm>
            <a:off x="644426" y="3045916"/>
            <a:ext cx="2295287" cy="177701"/>
          </a:xfrm>
          <a:prstGeom prst="rect">
            <a:avLst/>
          </a:prstGeom>
          <a:noFill/>
          <a:ln/>
        </p:spPr>
        <p:txBody>
          <a:bodyPr wrap="square" lIns="0" tIns="0" rIns="0" bIns="0" rtlCol="0" anchor="t"/>
          <a:lstStyle/>
          <a:p>
            <a:pPr algn="l" indent="0" marL="0">
              <a:lnSpc>
                <a:spcPts val="1400"/>
              </a:lnSpc>
              <a:spcAft>
                <a:spcPts val="500"/>
              </a:spcAft>
              <a:buNone/>
            </a:pPr>
            <a:r>
              <a:rPr lang="en-US" sz="1000" dirty="0">
                <a:solidFill>
                  <a:srgbClr val="CBD5E1"/>
                </a:solidFill>
                <a:latin typeface="Arial" pitchFamily="34" charset="0"/>
                <a:ea typeface="Arial" pitchFamily="34" charset="-122"/>
                <a:cs typeface="Arial" pitchFamily="34" charset="-120"/>
              </a:rPr>
              <a:t>Mean labels per doc: 1.54</a:t>
            </a:r>
            <a:endParaRPr lang="en-US" sz="1000" dirty="0"/>
          </a:p>
        </p:txBody>
      </p:sp>
      <p:sp>
        <p:nvSpPr>
          <p:cNvPr id="17" name="Text 14"/>
          <p:cNvSpPr/>
          <p:nvPr/>
        </p:nvSpPr>
        <p:spPr>
          <a:xfrm>
            <a:off x="644426" y="3287018"/>
            <a:ext cx="2295287" cy="177701"/>
          </a:xfrm>
          <a:prstGeom prst="rect">
            <a:avLst/>
          </a:prstGeom>
          <a:noFill/>
          <a:ln/>
        </p:spPr>
        <p:txBody>
          <a:bodyPr wrap="square" lIns="0" tIns="0" rIns="0" bIns="0" rtlCol="0" anchor="t"/>
          <a:lstStyle/>
          <a:p>
            <a:pPr algn="l" indent="0" marL="0">
              <a:lnSpc>
                <a:spcPts val="1400"/>
              </a:lnSpc>
              <a:spcAft>
                <a:spcPts val="500"/>
              </a:spcAft>
              <a:buNone/>
            </a:pPr>
            <a:r>
              <a:rPr lang="en-US" sz="1000" dirty="0">
                <a:solidFill>
                  <a:srgbClr val="CBD5E1"/>
                </a:solidFill>
                <a:latin typeface="Arial" pitchFamily="34" charset="0"/>
                <a:ea typeface="Arial" pitchFamily="34" charset="-122"/>
                <a:cs typeface="Arial" pitchFamily="34" charset="-120"/>
              </a:rPr>
              <a:t>Max labels per doc: 7</a:t>
            </a:r>
            <a:endParaRPr lang="en-US" sz="1000" dirty="0"/>
          </a:p>
        </p:txBody>
      </p:sp>
      <p:sp>
        <p:nvSpPr>
          <p:cNvPr id="18" name="Text 15"/>
          <p:cNvSpPr/>
          <p:nvPr/>
        </p:nvSpPr>
        <p:spPr>
          <a:xfrm>
            <a:off x="3259634" y="2142827"/>
            <a:ext cx="2624733" cy="3000673"/>
          </a:xfrm>
          <a:prstGeom prst="roundRect">
            <a:avLst>
              <a:gd name="adj" fmla="val 3871"/>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19" name="Text 16"/>
          <p:cNvSpPr/>
          <p:nvPr/>
        </p:nvSpPr>
        <p:spPr>
          <a:xfrm>
            <a:off x="3446859" y="2330053"/>
            <a:ext cx="2295287" cy="195560"/>
          </a:xfrm>
          <a:prstGeom prst="rect">
            <a:avLst/>
          </a:prstGeom>
          <a:noFill/>
          <a:ln/>
        </p:spPr>
        <p:txBody>
          <a:bodyPr wrap="square" lIns="0" tIns="0" rIns="0" bIns="0" rtlCol="0" anchor="t"/>
          <a:lstStyle/>
          <a:p>
            <a:pPr algn="l" indent="0" marL="0">
              <a:lnSpc>
                <a:spcPts val="1540"/>
              </a:lnSpc>
              <a:spcAft>
                <a:spcPts val="800"/>
              </a:spcAft>
              <a:buNone/>
            </a:pPr>
            <a:r>
              <a:rPr lang="en-US" sz="1100" b="1" dirty="0">
                <a:solidFill>
                  <a:srgbClr val="E2E8F0"/>
                </a:solidFill>
                <a:latin typeface="Arial" pitchFamily="34" charset="0"/>
                <a:ea typeface="Arial" pitchFamily="34" charset="-122"/>
                <a:cs typeface="Arial" pitchFamily="34" charset="-120"/>
              </a:rPr>
              <a:t>Document Length</a:t>
            </a:r>
            <a:endParaRPr lang="en-US" sz="1100" dirty="0"/>
          </a:p>
        </p:txBody>
      </p:sp>
      <p:sp>
        <p:nvSpPr>
          <p:cNvPr id="20" name="Text 17"/>
          <p:cNvSpPr/>
          <p:nvPr/>
        </p:nvSpPr>
        <p:spPr>
          <a:xfrm>
            <a:off x="3446859" y="2627114"/>
            <a:ext cx="2295287" cy="177701"/>
          </a:xfrm>
          <a:prstGeom prst="rect">
            <a:avLst/>
          </a:prstGeom>
          <a:noFill/>
          <a:ln/>
        </p:spPr>
        <p:txBody>
          <a:bodyPr wrap="square" lIns="0" tIns="0" rIns="0" bIns="0" rtlCol="0" anchor="t"/>
          <a:lstStyle/>
          <a:p>
            <a:pPr algn="l" indent="0" marL="0">
              <a:lnSpc>
                <a:spcPts val="1400"/>
              </a:lnSpc>
              <a:spcAft>
                <a:spcPts val="500"/>
              </a:spcAft>
              <a:buNone/>
            </a:pPr>
            <a:r>
              <a:rPr lang="en-US" sz="1000" dirty="0">
                <a:solidFill>
                  <a:srgbClr val="CBD5E1"/>
                </a:solidFill>
                <a:latin typeface="Arial" pitchFamily="34" charset="0"/>
                <a:ea typeface="Arial" pitchFamily="34" charset="-122"/>
                <a:cs typeface="Arial" pitchFamily="34" charset="-120"/>
              </a:rPr>
              <a:t>Mean: 2,892 words</a:t>
            </a:r>
            <a:endParaRPr lang="en-US" sz="1000" dirty="0"/>
          </a:p>
        </p:txBody>
      </p:sp>
      <p:sp>
        <p:nvSpPr>
          <p:cNvPr id="21" name="Text 18"/>
          <p:cNvSpPr/>
          <p:nvPr/>
        </p:nvSpPr>
        <p:spPr>
          <a:xfrm>
            <a:off x="3446859" y="2868216"/>
            <a:ext cx="2295287" cy="177701"/>
          </a:xfrm>
          <a:prstGeom prst="rect">
            <a:avLst/>
          </a:prstGeom>
          <a:noFill/>
          <a:ln/>
        </p:spPr>
        <p:txBody>
          <a:bodyPr wrap="square" lIns="0" tIns="0" rIns="0" bIns="0" rtlCol="0" anchor="t"/>
          <a:lstStyle/>
          <a:p>
            <a:pPr algn="l" indent="0" marL="0">
              <a:lnSpc>
                <a:spcPts val="1400"/>
              </a:lnSpc>
              <a:spcAft>
                <a:spcPts val="500"/>
              </a:spcAft>
              <a:buNone/>
            </a:pPr>
            <a:r>
              <a:rPr lang="en-US" sz="1000" dirty="0">
                <a:solidFill>
                  <a:srgbClr val="CBD5E1"/>
                </a:solidFill>
                <a:latin typeface="Arial" pitchFamily="34" charset="0"/>
                <a:ea typeface="Arial" pitchFamily="34" charset="-122"/>
                <a:cs typeface="Arial" pitchFamily="34" charset="-120"/>
              </a:rPr>
              <a:t>Median: 2,062 words</a:t>
            </a:r>
            <a:endParaRPr lang="en-US" sz="1000" dirty="0"/>
          </a:p>
        </p:txBody>
      </p:sp>
      <p:sp>
        <p:nvSpPr>
          <p:cNvPr id="22" name="Text 19"/>
          <p:cNvSpPr/>
          <p:nvPr/>
        </p:nvSpPr>
        <p:spPr>
          <a:xfrm>
            <a:off x="3446859" y="3109317"/>
            <a:ext cx="2295287" cy="177701"/>
          </a:xfrm>
          <a:prstGeom prst="rect">
            <a:avLst/>
          </a:prstGeom>
          <a:noFill/>
          <a:ln/>
        </p:spPr>
        <p:txBody>
          <a:bodyPr wrap="square" lIns="0" tIns="0" rIns="0" bIns="0" rtlCol="0" anchor="t"/>
          <a:lstStyle/>
          <a:p>
            <a:pPr algn="l" indent="0" marL="0">
              <a:lnSpc>
                <a:spcPts val="1400"/>
              </a:lnSpc>
              <a:spcAft>
                <a:spcPts val="500"/>
              </a:spcAft>
              <a:buNone/>
            </a:pPr>
            <a:r>
              <a:rPr lang="en-US" sz="1000" dirty="0">
                <a:solidFill>
                  <a:srgbClr val="CBD5E1"/>
                </a:solidFill>
                <a:latin typeface="Arial" pitchFamily="34" charset="0"/>
                <a:ea typeface="Arial" pitchFamily="34" charset="-122"/>
                <a:cs typeface="Arial" pitchFamily="34" charset="-120"/>
              </a:rPr>
              <a:t>Max: 124,134 words</a:t>
            </a:r>
            <a:endParaRPr lang="en-US" sz="1000" dirty="0"/>
          </a:p>
        </p:txBody>
      </p:sp>
      <p:sp>
        <p:nvSpPr>
          <p:cNvPr id="23" name="Text 20"/>
          <p:cNvSpPr/>
          <p:nvPr/>
        </p:nvSpPr>
        <p:spPr>
          <a:xfrm>
            <a:off x="6062067" y="2142827"/>
            <a:ext cx="2624733" cy="3000673"/>
          </a:xfrm>
          <a:prstGeom prst="roundRect">
            <a:avLst>
              <a:gd name="adj" fmla="val 3871"/>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24" name="Text 21"/>
          <p:cNvSpPr/>
          <p:nvPr/>
        </p:nvSpPr>
        <p:spPr>
          <a:xfrm>
            <a:off x="6249293" y="2330053"/>
            <a:ext cx="2295287" cy="195560"/>
          </a:xfrm>
          <a:prstGeom prst="rect">
            <a:avLst/>
          </a:prstGeom>
          <a:noFill/>
          <a:ln/>
        </p:spPr>
        <p:txBody>
          <a:bodyPr wrap="square" lIns="0" tIns="0" rIns="0" bIns="0" rtlCol="0" anchor="t"/>
          <a:lstStyle/>
          <a:p>
            <a:pPr algn="l" indent="0" marL="0">
              <a:lnSpc>
                <a:spcPts val="1540"/>
              </a:lnSpc>
              <a:spcAft>
                <a:spcPts val="800"/>
              </a:spcAft>
              <a:buNone/>
            </a:pPr>
            <a:r>
              <a:rPr lang="en-US" sz="1100" b="1" dirty="0">
                <a:solidFill>
                  <a:srgbClr val="E2E8F0"/>
                </a:solidFill>
                <a:latin typeface="Arial" pitchFamily="34" charset="0"/>
                <a:ea typeface="Arial" pitchFamily="34" charset="-122"/>
                <a:cs typeface="Arial" pitchFamily="34" charset="-120"/>
              </a:rPr>
              <a:t>Data Quality</a:t>
            </a:r>
            <a:endParaRPr lang="en-US" sz="1100" dirty="0"/>
          </a:p>
        </p:txBody>
      </p:sp>
      <p:sp>
        <p:nvSpPr>
          <p:cNvPr id="25" name="Text 22"/>
          <p:cNvSpPr/>
          <p:nvPr/>
        </p:nvSpPr>
        <p:spPr>
          <a:xfrm>
            <a:off x="6249293" y="2627114"/>
            <a:ext cx="2295287" cy="177701"/>
          </a:xfrm>
          <a:prstGeom prst="rect">
            <a:avLst/>
          </a:prstGeom>
          <a:noFill/>
          <a:ln/>
        </p:spPr>
        <p:txBody>
          <a:bodyPr wrap="square" lIns="0" tIns="0" rIns="0" bIns="0" rtlCol="0" anchor="t"/>
          <a:lstStyle/>
          <a:p>
            <a:pPr algn="l" indent="0" marL="0">
              <a:lnSpc>
                <a:spcPts val="1400"/>
              </a:lnSpc>
              <a:spcAft>
                <a:spcPts val="500"/>
              </a:spcAft>
              <a:buNone/>
            </a:pPr>
            <a:r>
              <a:rPr lang="en-US" sz="1000" dirty="0">
                <a:solidFill>
                  <a:srgbClr val="CBD5E1"/>
                </a:solidFill>
                <a:latin typeface="Arial" pitchFamily="34" charset="0"/>
                <a:ea typeface="Arial" pitchFamily="34" charset="-122"/>
                <a:cs typeface="Arial" pitchFamily="34" charset="-120"/>
              </a:rPr>
              <a:t>5.1% docs have zero labels</a:t>
            </a:r>
            <a:endParaRPr lang="en-US" sz="1000" dirty="0"/>
          </a:p>
        </p:txBody>
      </p:sp>
      <p:sp>
        <p:nvSpPr>
          <p:cNvPr id="26" name="Text 23"/>
          <p:cNvSpPr/>
          <p:nvPr/>
        </p:nvSpPr>
        <p:spPr>
          <a:xfrm>
            <a:off x="6249293" y="2868216"/>
            <a:ext cx="2295287" cy="177701"/>
          </a:xfrm>
          <a:prstGeom prst="rect">
            <a:avLst/>
          </a:prstGeom>
          <a:noFill/>
          <a:ln/>
        </p:spPr>
        <p:txBody>
          <a:bodyPr wrap="square" lIns="0" tIns="0" rIns="0" bIns="0" rtlCol="0" anchor="t"/>
          <a:lstStyle/>
          <a:p>
            <a:pPr algn="l" indent="0" marL="0">
              <a:lnSpc>
                <a:spcPts val="1400"/>
              </a:lnSpc>
              <a:spcAft>
                <a:spcPts val="500"/>
              </a:spcAft>
              <a:buNone/>
            </a:pPr>
            <a:r>
              <a:rPr lang="en-US" sz="1000" dirty="0">
                <a:solidFill>
                  <a:srgbClr val="CBD5E1"/>
                </a:solidFill>
                <a:latin typeface="Arial" pitchFamily="34" charset="0"/>
                <a:ea typeface="Arial" pitchFamily="34" charset="-122"/>
                <a:cs typeface="Arial" pitchFamily="34" charset="-120"/>
              </a:rPr>
              <a:t>3 empty-text duplicates (filtered)</a:t>
            </a:r>
            <a:endParaRPr lang="en-US" sz="1000" dirty="0"/>
          </a:p>
        </p:txBody>
      </p:sp>
      <p:sp>
        <p:nvSpPr>
          <p:cNvPr id="27" name="Text 24"/>
          <p:cNvSpPr/>
          <p:nvPr/>
        </p:nvSpPr>
        <p:spPr>
          <a:xfrm>
            <a:off x="6249293" y="3109317"/>
            <a:ext cx="2295287" cy="177701"/>
          </a:xfrm>
          <a:prstGeom prst="rect">
            <a:avLst/>
          </a:prstGeom>
          <a:noFill/>
          <a:ln/>
        </p:spPr>
        <p:txBody>
          <a:bodyPr wrap="square" lIns="0" tIns="0" rIns="0" bIns="0" rtlCol="0" anchor="t"/>
          <a:lstStyle/>
          <a:p>
            <a:pPr algn="l" indent="0" marL="0">
              <a:lnSpc>
                <a:spcPts val="1400"/>
              </a:lnSpc>
              <a:spcAft>
                <a:spcPts val="500"/>
              </a:spcAft>
              <a:buNone/>
            </a:pPr>
            <a:r>
              <a:rPr lang="en-US" sz="1000" dirty="0">
                <a:solidFill>
                  <a:srgbClr val="CBD5E1"/>
                </a:solidFill>
                <a:latin typeface="Arial" pitchFamily="34" charset="0"/>
                <a:ea typeface="Arial" pitchFamily="34" charset="-122"/>
                <a:cs typeface="Arial" pitchFamily="34" charset="-120"/>
              </a:rPr>
              <a:t>18,000 unique document IDs</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Users/alessandrodibari/Ale/projects/TR_hiring_exercise/outputs/pptx_workspace/slides/accent_teal.png">    </p:cNvPr>
          <p:cNvPicPr>
            <a:picLocks noChangeAspect="1"/>
          </p:cNvPicPr>
          <p:nvPr/>
        </p:nvPicPr>
        <p:blipFill>
          <a:blip r:embed="rId2"/>
          <a:stretch>
            <a:fillRect/>
          </a:stretch>
        </p:blipFill>
        <p:spPr>
          <a:xfrm>
            <a:off x="0" y="0"/>
            <a:ext cx="9144000" cy="50750"/>
          </a:xfrm>
          <a:prstGeom prst="rect">
            <a:avLst/>
          </a:prstGeom>
        </p:spPr>
      </p:pic>
      <p:sp>
        <p:nvSpPr>
          <p:cNvPr id="3" name="Text 0"/>
          <p:cNvSpPr/>
          <p:nvPr/>
        </p:nvSpPr>
        <p:spPr>
          <a:xfrm>
            <a:off x="457200" y="355550"/>
            <a:ext cx="8394192" cy="323850"/>
          </a:xfrm>
          <a:prstGeom prst="rect">
            <a:avLst/>
          </a:prstGeom>
          <a:noFill/>
          <a:ln/>
        </p:spPr>
        <p:txBody>
          <a:bodyPr wrap="square" lIns="0" tIns="0" rIns="0" bIns="0" rtlCol="0" anchor="t"/>
          <a:lstStyle/>
          <a:p>
            <a:pPr algn="l" indent="0" marL="0">
              <a:buNone/>
            </a:pPr>
            <a:r>
              <a:rPr lang="en-US" sz="2200" b="1" dirty="0">
                <a:solidFill>
                  <a:srgbClr val="00B4D8"/>
                </a:solidFill>
                <a:latin typeface="Arial" pitchFamily="34" charset="0"/>
                <a:ea typeface="Arial" pitchFamily="34" charset="-122"/>
                <a:cs typeface="Arial" pitchFamily="34" charset="-120"/>
              </a:rPr>
              <a:t>Label Distribution Challenge</a:t>
            </a:r>
            <a:endParaRPr lang="en-US" sz="2200" dirty="0"/>
          </a:p>
        </p:txBody>
      </p:sp>
      <p:sp>
        <p:nvSpPr>
          <p:cNvPr id="4" name="Text 1"/>
          <p:cNvSpPr/>
          <p:nvPr/>
        </p:nvSpPr>
        <p:spPr>
          <a:xfrm>
            <a:off x="457200" y="882551"/>
            <a:ext cx="4386709" cy="694432"/>
          </a:xfrm>
          <a:prstGeom prst="roundRect">
            <a:avLst>
              <a:gd name="adj" fmla="val 10973"/>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5" name="Text 2"/>
          <p:cNvSpPr/>
          <p:nvPr/>
        </p:nvSpPr>
        <p:spPr>
          <a:xfrm>
            <a:off x="644426" y="1166217"/>
            <a:ext cx="126950" cy="126950"/>
          </a:xfrm>
          <a:prstGeom prst="roundRect">
            <a:avLst>
              <a:gd name="adj" fmla="val 720284"/>
            </a:avLst>
          </a:prstGeom>
          <a:solidFill>
            <a:srgbClr val="22C55E"/>
          </a:solidFill>
          <a:ln/>
        </p:spPr>
        <p:txBody>
          <a:bodyPr wrap="square" rtlCol="0" anchor="ctr"/>
          <a:lstStyle/>
          <a:p>
            <a:pPr indent="0" marL="0">
              <a:buNone/>
            </a:pPr>
            <a:endParaRPr lang="en-US" dirty="0"/>
          </a:p>
        </p:txBody>
      </p:sp>
      <p:sp>
        <p:nvSpPr>
          <p:cNvPr id="6" name="Text 3"/>
          <p:cNvSpPr/>
          <p:nvPr/>
        </p:nvSpPr>
        <p:spPr>
          <a:xfrm>
            <a:off x="898327" y="1043136"/>
            <a:ext cx="3341373" cy="195560"/>
          </a:xfrm>
          <a:prstGeom prst="rect">
            <a:avLst/>
          </a:prstGeom>
          <a:noFill/>
          <a:ln/>
        </p:spPr>
        <p:txBody>
          <a:bodyPr wrap="square" lIns="0" tIns="0" rIns="0" bIns="0" rtlCol="0" anchor="t"/>
          <a:lstStyle/>
          <a:p>
            <a:pPr algn="l" indent="0" marL="0">
              <a:lnSpc>
                <a:spcPts val="1540"/>
              </a:lnSpc>
              <a:buNone/>
            </a:pPr>
            <a:r>
              <a:rPr lang="en-US" sz="1100" b="1" dirty="0">
                <a:solidFill>
                  <a:srgbClr val="E2E8F0"/>
                </a:solidFill>
                <a:latin typeface="Arial" pitchFamily="34" charset="0"/>
                <a:ea typeface="Arial" pitchFamily="34" charset="-122"/>
                <a:cs typeface="Arial" pitchFamily="34" charset="-120"/>
              </a:rPr>
              <a:t>Common (&gt;=100 samples)</a:t>
            </a:r>
            <a:endParaRPr lang="en-US" sz="1100" dirty="0"/>
          </a:p>
        </p:txBody>
      </p:sp>
      <p:sp>
        <p:nvSpPr>
          <p:cNvPr id="7" name="Text 4"/>
          <p:cNvSpPr/>
          <p:nvPr/>
        </p:nvSpPr>
        <p:spPr>
          <a:xfrm>
            <a:off x="898327" y="1238696"/>
            <a:ext cx="3341373" cy="177701"/>
          </a:xfrm>
          <a:prstGeom prst="rect">
            <a:avLst/>
          </a:prstGeom>
          <a:noFill/>
          <a:ln/>
        </p:spPr>
        <p:txBody>
          <a:bodyPr wrap="square" lIns="0" tIns="0" rIns="0" bIns="0" rtlCol="0" anchor="t"/>
          <a:lstStyle/>
          <a:p>
            <a:pPr algn="l" indent="0" marL="0">
              <a:lnSpc>
                <a:spcPts val="1400"/>
              </a:lnSpc>
              <a:buNone/>
            </a:pPr>
            <a:r>
              <a:rPr lang="en-US" sz="1000" dirty="0">
                <a:solidFill>
                  <a:srgbClr val="E2E8F0"/>
                </a:solidFill>
                <a:latin typeface="Arial" pitchFamily="34" charset="0"/>
                <a:ea typeface="Arial" pitchFamily="34" charset="-122"/>
                <a:cs typeface="Arial" pitchFamily="34" charset="-120"/>
              </a:rPr>
              <a:t>91.5% label coverage</a:t>
            </a:r>
            <a:endParaRPr lang="en-US" sz="1000" dirty="0"/>
          </a:p>
        </p:txBody>
      </p:sp>
      <p:sp>
        <p:nvSpPr>
          <p:cNvPr id="8" name="Text 5"/>
          <p:cNvSpPr/>
          <p:nvPr/>
        </p:nvSpPr>
        <p:spPr>
          <a:xfrm>
            <a:off x="4268063" y="1019026"/>
            <a:ext cx="388620" cy="319980"/>
          </a:xfrm>
          <a:prstGeom prst="rect">
            <a:avLst/>
          </a:prstGeom>
          <a:noFill/>
          <a:ln/>
        </p:spPr>
        <p:txBody>
          <a:bodyPr wrap="square" lIns="0" tIns="0" rIns="0" bIns="0" rtlCol="0" anchor="t"/>
          <a:lstStyle/>
          <a:p>
            <a:pPr algn="r" indent="0" marL="0">
              <a:lnSpc>
                <a:spcPts val="2520"/>
              </a:lnSpc>
              <a:spcAft>
                <a:spcPts val="800"/>
              </a:spcAft>
              <a:buNone/>
            </a:pPr>
            <a:r>
              <a:rPr lang="en-US" sz="1800" b="1" dirty="0">
                <a:solidFill>
                  <a:srgbClr val="00B4D8"/>
                </a:solidFill>
                <a:latin typeface="Arial" pitchFamily="34" charset="0"/>
                <a:ea typeface="Arial" pitchFamily="34" charset="-122"/>
                <a:cs typeface="Arial" pitchFamily="34" charset="-120"/>
              </a:rPr>
              <a:t>27</a:t>
            </a:r>
            <a:endParaRPr lang="en-US" sz="1800" dirty="0"/>
          </a:p>
        </p:txBody>
      </p:sp>
      <p:sp>
        <p:nvSpPr>
          <p:cNvPr id="9" name="Text 6"/>
          <p:cNvSpPr/>
          <p:nvPr/>
        </p:nvSpPr>
        <p:spPr>
          <a:xfrm>
            <a:off x="457200" y="1703933"/>
            <a:ext cx="4386709" cy="694432"/>
          </a:xfrm>
          <a:prstGeom prst="roundRect">
            <a:avLst>
              <a:gd name="adj" fmla="val 10973"/>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10" name="Text 7"/>
          <p:cNvSpPr/>
          <p:nvPr/>
        </p:nvSpPr>
        <p:spPr>
          <a:xfrm>
            <a:off x="644426" y="1987600"/>
            <a:ext cx="126950" cy="126950"/>
          </a:xfrm>
          <a:prstGeom prst="roundRect">
            <a:avLst>
              <a:gd name="adj" fmla="val 720284"/>
            </a:avLst>
          </a:prstGeom>
          <a:solidFill>
            <a:srgbClr val="EAB308"/>
          </a:solidFill>
          <a:ln/>
        </p:spPr>
        <p:txBody>
          <a:bodyPr wrap="square" rtlCol="0" anchor="ctr"/>
          <a:lstStyle/>
          <a:p>
            <a:pPr indent="0" marL="0">
              <a:buNone/>
            </a:pPr>
            <a:endParaRPr lang="en-US" dirty="0"/>
          </a:p>
        </p:txBody>
      </p:sp>
      <p:sp>
        <p:nvSpPr>
          <p:cNvPr id="11" name="Text 8"/>
          <p:cNvSpPr/>
          <p:nvPr/>
        </p:nvSpPr>
        <p:spPr>
          <a:xfrm>
            <a:off x="898327" y="1864519"/>
            <a:ext cx="3341373" cy="195560"/>
          </a:xfrm>
          <a:prstGeom prst="rect">
            <a:avLst/>
          </a:prstGeom>
          <a:noFill/>
          <a:ln/>
        </p:spPr>
        <p:txBody>
          <a:bodyPr wrap="square" lIns="0" tIns="0" rIns="0" bIns="0" rtlCol="0" anchor="t"/>
          <a:lstStyle/>
          <a:p>
            <a:pPr algn="l" indent="0" marL="0">
              <a:lnSpc>
                <a:spcPts val="1540"/>
              </a:lnSpc>
              <a:buNone/>
            </a:pPr>
            <a:r>
              <a:rPr lang="en-US" sz="1100" b="1" dirty="0">
                <a:solidFill>
                  <a:srgbClr val="E2E8F0"/>
                </a:solidFill>
                <a:latin typeface="Arial" pitchFamily="34" charset="0"/>
                <a:ea typeface="Arial" pitchFamily="34" charset="-122"/>
                <a:cs typeface="Arial" pitchFamily="34" charset="-120"/>
              </a:rPr>
              <a:t>Moderate (10-99 samples)</a:t>
            </a:r>
            <a:endParaRPr lang="en-US" sz="1100" dirty="0"/>
          </a:p>
        </p:txBody>
      </p:sp>
      <p:sp>
        <p:nvSpPr>
          <p:cNvPr id="12" name="Text 9"/>
          <p:cNvSpPr/>
          <p:nvPr/>
        </p:nvSpPr>
        <p:spPr>
          <a:xfrm>
            <a:off x="898327" y="2060079"/>
            <a:ext cx="3341373" cy="177701"/>
          </a:xfrm>
          <a:prstGeom prst="rect">
            <a:avLst/>
          </a:prstGeom>
          <a:noFill/>
          <a:ln/>
        </p:spPr>
        <p:txBody>
          <a:bodyPr wrap="square" lIns="0" tIns="0" rIns="0" bIns="0" rtlCol="0" anchor="t"/>
          <a:lstStyle/>
          <a:p>
            <a:pPr algn="l" indent="0" marL="0">
              <a:lnSpc>
                <a:spcPts val="1400"/>
              </a:lnSpc>
              <a:buNone/>
            </a:pPr>
            <a:r>
              <a:rPr lang="en-US" sz="1000" dirty="0">
                <a:solidFill>
                  <a:srgbClr val="E2E8F0"/>
                </a:solidFill>
                <a:latin typeface="Arial" pitchFamily="34" charset="0"/>
                <a:ea typeface="Arial" pitchFamily="34" charset="-122"/>
                <a:cs typeface="Arial" pitchFamily="34" charset="-120"/>
              </a:rPr>
              <a:t>Additional 3.3% coverage</a:t>
            </a:r>
            <a:endParaRPr lang="en-US" sz="1000" dirty="0"/>
          </a:p>
        </p:txBody>
      </p:sp>
      <p:sp>
        <p:nvSpPr>
          <p:cNvPr id="13" name="Text 10"/>
          <p:cNvSpPr/>
          <p:nvPr/>
        </p:nvSpPr>
        <p:spPr>
          <a:xfrm>
            <a:off x="4268063" y="1840409"/>
            <a:ext cx="388620" cy="319980"/>
          </a:xfrm>
          <a:prstGeom prst="rect">
            <a:avLst/>
          </a:prstGeom>
          <a:noFill/>
          <a:ln/>
        </p:spPr>
        <p:txBody>
          <a:bodyPr wrap="square" lIns="0" tIns="0" rIns="0" bIns="0" rtlCol="0" anchor="t"/>
          <a:lstStyle/>
          <a:p>
            <a:pPr algn="r" indent="0" marL="0">
              <a:lnSpc>
                <a:spcPts val="2520"/>
              </a:lnSpc>
              <a:spcAft>
                <a:spcPts val="800"/>
              </a:spcAft>
              <a:buNone/>
            </a:pPr>
            <a:r>
              <a:rPr lang="en-US" sz="1800" b="1" dirty="0">
                <a:solidFill>
                  <a:srgbClr val="00B4D8"/>
                </a:solidFill>
                <a:latin typeface="Arial" pitchFamily="34" charset="0"/>
                <a:ea typeface="Arial" pitchFamily="34" charset="-122"/>
                <a:cs typeface="Arial" pitchFamily="34" charset="-120"/>
              </a:rPr>
              <a:t>57</a:t>
            </a:r>
            <a:endParaRPr lang="en-US" sz="1800" dirty="0"/>
          </a:p>
        </p:txBody>
      </p:sp>
      <p:sp>
        <p:nvSpPr>
          <p:cNvPr id="14" name="Text 11"/>
          <p:cNvSpPr/>
          <p:nvPr/>
        </p:nvSpPr>
        <p:spPr>
          <a:xfrm>
            <a:off x="457200" y="2525316"/>
            <a:ext cx="4386709" cy="694432"/>
          </a:xfrm>
          <a:prstGeom prst="roundRect">
            <a:avLst>
              <a:gd name="adj" fmla="val 10973"/>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15" name="Text 12"/>
          <p:cNvSpPr/>
          <p:nvPr/>
        </p:nvSpPr>
        <p:spPr>
          <a:xfrm>
            <a:off x="644426" y="2808982"/>
            <a:ext cx="126950" cy="126950"/>
          </a:xfrm>
          <a:prstGeom prst="roundRect">
            <a:avLst>
              <a:gd name="adj" fmla="val 720284"/>
            </a:avLst>
          </a:prstGeom>
          <a:solidFill>
            <a:srgbClr val="EF4444"/>
          </a:solidFill>
          <a:ln/>
        </p:spPr>
        <p:txBody>
          <a:bodyPr wrap="square" rtlCol="0" anchor="ctr"/>
          <a:lstStyle/>
          <a:p>
            <a:pPr indent="0" marL="0">
              <a:buNone/>
            </a:pPr>
            <a:endParaRPr lang="en-US" dirty="0"/>
          </a:p>
        </p:txBody>
      </p:sp>
      <p:sp>
        <p:nvSpPr>
          <p:cNvPr id="16" name="Text 13"/>
          <p:cNvSpPr/>
          <p:nvPr/>
        </p:nvSpPr>
        <p:spPr>
          <a:xfrm>
            <a:off x="898327" y="2685901"/>
            <a:ext cx="3340918" cy="195560"/>
          </a:xfrm>
          <a:prstGeom prst="rect">
            <a:avLst/>
          </a:prstGeom>
          <a:noFill/>
          <a:ln/>
        </p:spPr>
        <p:txBody>
          <a:bodyPr wrap="square" lIns="0" tIns="0" rIns="0" bIns="0" rtlCol="0" anchor="t"/>
          <a:lstStyle/>
          <a:p>
            <a:pPr algn="l" indent="0" marL="0">
              <a:lnSpc>
                <a:spcPts val="1540"/>
              </a:lnSpc>
              <a:buNone/>
            </a:pPr>
            <a:r>
              <a:rPr lang="en-US" sz="1100" b="1" dirty="0">
                <a:solidFill>
                  <a:srgbClr val="E2E8F0"/>
                </a:solidFill>
                <a:latin typeface="Arial" pitchFamily="34" charset="0"/>
                <a:ea typeface="Arial" pitchFamily="34" charset="-122"/>
                <a:cs typeface="Arial" pitchFamily="34" charset="-120"/>
              </a:rPr>
              <a:t>Rare (&lt;10 samples)</a:t>
            </a:r>
            <a:endParaRPr lang="en-US" sz="1100" dirty="0"/>
          </a:p>
        </p:txBody>
      </p:sp>
      <p:sp>
        <p:nvSpPr>
          <p:cNvPr id="17" name="Text 14"/>
          <p:cNvSpPr/>
          <p:nvPr/>
        </p:nvSpPr>
        <p:spPr>
          <a:xfrm>
            <a:off x="898327" y="2881461"/>
            <a:ext cx="3340918" cy="177701"/>
          </a:xfrm>
          <a:prstGeom prst="rect">
            <a:avLst/>
          </a:prstGeom>
          <a:noFill/>
          <a:ln/>
        </p:spPr>
        <p:txBody>
          <a:bodyPr wrap="square" lIns="0" tIns="0" rIns="0" bIns="0" rtlCol="0" anchor="t"/>
          <a:lstStyle/>
          <a:p>
            <a:pPr algn="l" indent="0" marL="0">
              <a:lnSpc>
                <a:spcPts val="1400"/>
              </a:lnSpc>
              <a:buNone/>
            </a:pPr>
            <a:r>
              <a:rPr lang="en-US" sz="1000" dirty="0">
                <a:solidFill>
                  <a:srgbClr val="E2E8F0"/>
                </a:solidFill>
                <a:latin typeface="Arial" pitchFamily="34" charset="0"/>
                <a:ea typeface="Arial" pitchFamily="34" charset="-122"/>
                <a:cs typeface="Arial" pitchFamily="34" charset="-120"/>
              </a:rPr>
              <a:t>44 singletons, long tail</a:t>
            </a:r>
            <a:endParaRPr lang="en-US" sz="1000" dirty="0"/>
          </a:p>
        </p:txBody>
      </p:sp>
      <p:sp>
        <p:nvSpPr>
          <p:cNvPr id="18" name="Text 15"/>
          <p:cNvSpPr/>
          <p:nvPr/>
        </p:nvSpPr>
        <p:spPr>
          <a:xfrm>
            <a:off x="4267608" y="2661791"/>
            <a:ext cx="389075" cy="319980"/>
          </a:xfrm>
          <a:prstGeom prst="rect">
            <a:avLst/>
          </a:prstGeom>
          <a:noFill/>
          <a:ln/>
        </p:spPr>
        <p:txBody>
          <a:bodyPr wrap="square" lIns="0" tIns="0" rIns="0" bIns="0" rtlCol="0" anchor="t"/>
          <a:lstStyle/>
          <a:p>
            <a:pPr algn="r" indent="0" marL="0">
              <a:lnSpc>
                <a:spcPts val="2520"/>
              </a:lnSpc>
              <a:spcAft>
                <a:spcPts val="800"/>
              </a:spcAft>
              <a:buNone/>
            </a:pPr>
            <a:r>
              <a:rPr lang="en-US" sz="1800" b="1" dirty="0">
                <a:solidFill>
                  <a:srgbClr val="00B4D8"/>
                </a:solidFill>
                <a:latin typeface="Arial" pitchFamily="34" charset="0"/>
                <a:ea typeface="Arial" pitchFamily="34" charset="-122"/>
                <a:cs typeface="Arial" pitchFamily="34" charset="-120"/>
              </a:rPr>
              <a:t>140</a:t>
            </a:r>
            <a:endParaRPr lang="en-US" sz="1800" dirty="0"/>
          </a:p>
        </p:txBody>
      </p:sp>
      <p:sp>
        <p:nvSpPr>
          <p:cNvPr id="19" name="Text 16"/>
          <p:cNvSpPr/>
          <p:nvPr/>
        </p:nvSpPr>
        <p:spPr>
          <a:xfrm>
            <a:off x="457200" y="3346698"/>
            <a:ext cx="4386709" cy="729853"/>
          </a:xfrm>
          <a:prstGeom prst="roundRect">
            <a:avLst>
              <a:gd name="adj" fmla="val 10440"/>
            </a:avLst>
          </a:prstGeom>
          <a:solidFill>
            <a:srgbClr val="00B4D8">
              <a:alpha val="8000"/>
            </a:srgbClr>
          </a:solidFill>
          <a:ln w="9525">
            <a:solidFill>
              <a:srgbClr val="00B4D8"/>
            </a:solidFill>
          </a:ln>
        </p:spPr>
        <p:txBody>
          <a:bodyPr wrap="square" rtlCol="0" anchor="ctr"/>
          <a:lstStyle/>
          <a:p>
            <a:pPr indent="0" marL="0">
              <a:buNone/>
            </a:pPr>
            <a:endParaRPr lang="en-US" dirty="0"/>
          </a:p>
        </p:txBody>
      </p:sp>
      <p:sp>
        <p:nvSpPr>
          <p:cNvPr id="20" name="Text 17"/>
          <p:cNvSpPr/>
          <p:nvPr/>
        </p:nvSpPr>
        <p:spPr>
          <a:xfrm>
            <a:off x="644426" y="3483173"/>
            <a:ext cx="4092503" cy="177701"/>
          </a:xfrm>
          <a:prstGeom prst="rect">
            <a:avLst/>
          </a:prstGeom>
          <a:noFill/>
          <a:ln/>
        </p:spPr>
        <p:txBody>
          <a:bodyPr wrap="square" lIns="0" tIns="0" rIns="0" bIns="0" rtlCol="0" anchor="t"/>
          <a:lstStyle/>
          <a:p>
            <a:pPr algn="l" indent="0" marL="0">
              <a:lnSpc>
                <a:spcPts val="1400"/>
              </a:lnSpc>
              <a:spcAft>
                <a:spcPts val="400"/>
              </a:spcAft>
              <a:buNone/>
            </a:pPr>
            <a:r>
              <a:rPr lang="en-US" sz="1000" b="1" dirty="0">
                <a:solidFill>
                  <a:srgbClr val="E2E8F0"/>
                </a:solidFill>
                <a:latin typeface="Arial" pitchFamily="34" charset="0"/>
                <a:ea typeface="Arial" pitchFamily="34" charset="-122"/>
                <a:cs typeface="Arial" pitchFamily="34" charset="-120"/>
              </a:rPr>
              <a:t>Modeling decision:</a:t>
            </a:r>
            <a:pPr algn="l" indent="0" marL="0">
              <a:lnSpc>
                <a:spcPts val="1400"/>
              </a:lnSpc>
              <a:spcAft>
                <a:spcPts val="400"/>
              </a:spcAft>
              <a:buNone/>
            </a:pPr>
            <a:r>
              <a:rPr lang="en-US" sz="1000" dirty="0">
                <a:solidFill>
                  <a:srgbClr val="E2E8F0"/>
                </a:solidFill>
                <a:latin typeface="Arial" pitchFamily="34" charset="0"/>
                <a:ea typeface="Arial" pitchFamily="34" charset="-122"/>
                <a:cs typeface="Arial" pitchFamily="34" charset="-120"/>
              </a:rPr>
              <a:t> Filter to 41 labels with &gt;=50 samples</a:t>
            </a:r>
            <a:endParaRPr lang="en-US" sz="1000" dirty="0"/>
          </a:p>
        </p:txBody>
      </p:sp>
      <p:sp>
        <p:nvSpPr>
          <p:cNvPr id="21" name="Text 18"/>
          <p:cNvSpPr/>
          <p:nvPr/>
        </p:nvSpPr>
        <p:spPr>
          <a:xfrm>
            <a:off x="644426" y="3711625"/>
            <a:ext cx="4092503" cy="177701"/>
          </a:xfrm>
          <a:prstGeom prst="rect">
            <a:avLst/>
          </a:prstGeom>
          <a:noFill/>
          <a:ln/>
        </p:spPr>
        <p:txBody>
          <a:bodyPr wrap="square" lIns="0" tIns="0" rIns="0" bIns="0" rtlCol="0" anchor="t"/>
          <a:lstStyle/>
          <a:p>
            <a:pPr algn="l" indent="0" marL="0">
              <a:lnSpc>
                <a:spcPts val="1400"/>
              </a:lnSpc>
              <a:spcAft>
                <a:spcPts val="400"/>
              </a:spcAft>
              <a:buNone/>
            </a:pPr>
            <a:r>
              <a:rPr lang="en-US" sz="1000" dirty="0">
                <a:solidFill>
                  <a:srgbClr val="E2E8F0"/>
                </a:solidFill>
                <a:latin typeface="Arial" pitchFamily="34" charset="0"/>
                <a:ea typeface="Arial" pitchFamily="34" charset="-122"/>
                <a:cs typeface="Arial" pitchFamily="34" charset="-120"/>
              </a:rPr>
              <a:t>Covers </a:t>
            </a:r>
            <a:pPr algn="l" indent="0" marL="0">
              <a:lnSpc>
                <a:spcPts val="1400"/>
              </a:lnSpc>
              <a:spcAft>
                <a:spcPts val="400"/>
              </a:spcAft>
              <a:buNone/>
            </a:pPr>
            <a:r>
              <a:rPr lang="en-US" sz="1000" b="1" dirty="0">
                <a:solidFill>
                  <a:srgbClr val="E2E8F0"/>
                </a:solidFill>
                <a:latin typeface="Arial" pitchFamily="34" charset="0"/>
                <a:ea typeface="Arial" pitchFamily="34" charset="-122"/>
                <a:cs typeface="Arial" pitchFamily="34" charset="-120"/>
              </a:rPr>
              <a:t>94.8%</a:t>
            </a:r>
            <a:pPr algn="l" indent="0" marL="0">
              <a:lnSpc>
                <a:spcPts val="1400"/>
              </a:lnSpc>
              <a:spcAft>
                <a:spcPts val="400"/>
              </a:spcAft>
              <a:buNone/>
            </a:pPr>
            <a:r>
              <a:rPr lang="en-US" sz="1000" dirty="0">
                <a:solidFill>
                  <a:srgbClr val="E2E8F0"/>
                </a:solidFill>
                <a:latin typeface="Arial" pitchFamily="34" charset="0"/>
                <a:ea typeface="Arial" pitchFamily="34" charset="-122"/>
                <a:cs typeface="Arial" pitchFamily="34" charset="-120"/>
              </a:rPr>
              <a:t> of all label assignments</a:t>
            </a:r>
            <a:endParaRPr lang="en-US" sz="1000" dirty="0"/>
          </a:p>
        </p:txBody>
      </p:sp>
      <p:sp>
        <p:nvSpPr>
          <p:cNvPr id="22" name="Text 19"/>
          <p:cNvSpPr/>
          <p:nvPr/>
        </p:nvSpPr>
        <p:spPr>
          <a:xfrm>
            <a:off x="5097810" y="882551"/>
            <a:ext cx="3588990" cy="609302"/>
          </a:xfrm>
          <a:prstGeom prst="rect">
            <a:avLst/>
          </a:prstGeom>
          <a:solidFill>
            <a:srgbClr val="E76F51">
              <a:alpha val="10000"/>
            </a:srgbClr>
          </a:solidFill>
          <a:ln/>
        </p:spPr>
        <p:txBody>
          <a:bodyPr wrap="square" rtlCol="0" anchor="ctr"/>
          <a:lstStyle/>
          <a:p>
            <a:pPr indent="0" marL="0">
              <a:buNone/>
            </a:pPr>
            <a:endParaRPr lang="en-US" dirty="0"/>
          </a:p>
        </p:txBody>
      </p:sp>
      <p:sp>
        <p:nvSpPr>
          <p:cNvPr id="23" name="Shape 20"/>
          <p:cNvSpPr/>
          <p:nvPr/>
        </p:nvSpPr>
        <p:spPr>
          <a:xfrm>
            <a:off x="5121622" y="882551"/>
            <a:ext cx="0" cy="609302"/>
          </a:xfrm>
          <a:prstGeom prst="line">
            <a:avLst/>
          </a:prstGeom>
          <a:noFill/>
          <a:ln w="47625">
            <a:solidFill>
              <a:srgbClr val="E76F51"/>
            </a:solidFill>
            <a:prstDash val="solid"/>
          </a:ln>
        </p:spPr>
      </p:sp>
      <p:sp>
        <p:nvSpPr>
          <p:cNvPr id="24" name="Text 21"/>
          <p:cNvSpPr/>
          <p:nvPr/>
        </p:nvSpPr>
        <p:spPr>
          <a:xfrm>
            <a:off x="5323136" y="1009501"/>
            <a:ext cx="3249683" cy="177701"/>
          </a:xfrm>
          <a:prstGeom prst="rect">
            <a:avLst/>
          </a:prstGeom>
          <a:noFill/>
          <a:ln/>
        </p:spPr>
        <p:txBody>
          <a:bodyPr wrap="square" lIns="0" tIns="0" rIns="0" bIns="0" rtlCol="0" anchor="t"/>
          <a:lstStyle/>
          <a:p>
            <a:pPr algn="l" indent="0" marL="0">
              <a:lnSpc>
                <a:spcPts val="1400"/>
              </a:lnSpc>
              <a:buNone/>
            </a:pPr>
            <a:r>
              <a:rPr lang="en-US" sz="1000" b="1" dirty="0">
                <a:solidFill>
                  <a:srgbClr val="E2E8F0"/>
                </a:solidFill>
                <a:latin typeface="Arial" pitchFamily="34" charset="0"/>
                <a:ea typeface="Arial" pitchFamily="34" charset="-122"/>
                <a:cs typeface="Arial" pitchFamily="34" charset="-120"/>
              </a:rPr>
              <a:t>Class imbalance ratio: 9,197x</a:t>
            </a:r>
            <a:endParaRPr lang="en-US" sz="1000" dirty="0"/>
          </a:p>
        </p:txBody>
      </p:sp>
      <p:sp>
        <p:nvSpPr>
          <p:cNvPr id="25" name="Text 22"/>
          <p:cNvSpPr/>
          <p:nvPr/>
        </p:nvSpPr>
        <p:spPr>
          <a:xfrm>
            <a:off x="5323136" y="1187202"/>
            <a:ext cx="3249683" cy="177701"/>
          </a:xfrm>
          <a:prstGeom prst="rect">
            <a:avLst/>
          </a:prstGeom>
          <a:noFill/>
          <a:ln/>
        </p:spPr>
        <p:txBody>
          <a:bodyPr wrap="square" lIns="0" tIns="0" rIns="0" bIns="0" rtlCol="0" anchor="t"/>
          <a:lstStyle/>
          <a:p>
            <a:pPr algn="l" indent="0" marL="0">
              <a:lnSpc>
                <a:spcPts val="1400"/>
              </a:lnSpc>
              <a:buNone/>
            </a:pPr>
            <a:r>
              <a:rPr lang="en-US" sz="1000" dirty="0">
                <a:solidFill>
                  <a:srgbClr val="E2E8F0"/>
                </a:solidFill>
                <a:latin typeface="Arial" pitchFamily="34" charset="0"/>
                <a:ea typeface="Arial" pitchFamily="34" charset="-122"/>
                <a:cs typeface="Arial" pitchFamily="34" charset="-120"/>
              </a:rPr>
              <a:t>"On Appeal" (9,197) vs singletons (1)</a:t>
            </a:r>
            <a:endParaRPr lang="en-US" sz="1000" dirty="0"/>
          </a:p>
        </p:txBody>
      </p:sp>
      <p:sp>
        <p:nvSpPr>
          <p:cNvPr id="26" name="Text 23"/>
          <p:cNvSpPr/>
          <p:nvPr/>
        </p:nvSpPr>
        <p:spPr>
          <a:xfrm>
            <a:off x="5097810" y="1618804"/>
            <a:ext cx="3660770" cy="159990"/>
          </a:xfrm>
          <a:prstGeom prst="rect">
            <a:avLst/>
          </a:prstGeom>
          <a:noFill/>
          <a:ln/>
        </p:spPr>
        <p:txBody>
          <a:bodyPr wrap="square" lIns="0" tIns="0" rIns="0" bIns="0" rtlCol="0" anchor="t"/>
          <a:lstStyle/>
          <a:p>
            <a:pPr algn="l" indent="0" marL="0">
              <a:lnSpc>
                <a:spcPts val="1260"/>
              </a:lnSpc>
              <a:spcAft>
                <a:spcPts val="400"/>
              </a:spcAft>
              <a:buNone/>
            </a:pPr>
            <a:r>
              <a:rPr lang="en-US" sz="900" dirty="0">
                <a:solidFill>
                  <a:srgbClr val="94A3B8"/>
                </a:solidFill>
                <a:latin typeface="Arial" pitchFamily="34" charset="0"/>
                <a:ea typeface="Arial" pitchFamily="34" charset="-122"/>
                <a:cs typeface="Arial" pitchFamily="34" charset="-120"/>
              </a:rPr>
              <a:t>TOP 5 POSTURES</a:t>
            </a:r>
            <a:endParaRPr lang="en-US" sz="900" dirty="0"/>
          </a:p>
        </p:txBody>
      </p:sp>
      <p:sp>
        <p:nvSpPr>
          <p:cNvPr id="27" name="Text 24"/>
          <p:cNvSpPr/>
          <p:nvPr/>
        </p:nvSpPr>
        <p:spPr>
          <a:xfrm>
            <a:off x="5097810" y="1829544"/>
            <a:ext cx="3660770" cy="177701"/>
          </a:xfrm>
          <a:prstGeom prst="rect">
            <a:avLst/>
          </a:prstGeom>
          <a:noFill/>
          <a:ln/>
        </p:spPr>
        <p:txBody>
          <a:bodyPr wrap="square" lIns="0" tIns="0" rIns="0" bIns="0" rtlCol="0" anchor="t"/>
          <a:lstStyle/>
          <a:p>
            <a:pPr algn="l" indent="0" marL="0">
              <a:lnSpc>
                <a:spcPts val="1400"/>
              </a:lnSpc>
              <a:spcAft>
                <a:spcPts val="800"/>
              </a:spcAft>
              <a:buNone/>
            </a:pPr>
            <a:r>
              <a:rPr lang="en-US" sz="1000" b="1" dirty="0">
                <a:solidFill>
                  <a:srgbClr val="CBD5E1"/>
                </a:solidFill>
                <a:latin typeface="Arial" pitchFamily="34" charset="0"/>
                <a:ea typeface="Arial" pitchFamily="34" charset="-122"/>
                <a:cs typeface="Arial" pitchFamily="34" charset="-120"/>
              </a:rPr>
              <a:t>On Appeal</a:t>
            </a:r>
            <a:pPr algn="l" indent="0" marL="0">
              <a:lnSpc>
                <a:spcPts val="1400"/>
              </a:lnSpc>
              <a:spcAft>
                <a:spcPts val="800"/>
              </a:spcAft>
              <a:buNone/>
            </a:pPr>
            <a:r>
              <a:rPr lang="en-US" sz="1000" dirty="0">
                <a:solidFill>
                  <a:srgbClr val="CBD5E1"/>
                </a:solidFill>
                <a:latin typeface="Arial" pitchFamily="34" charset="0"/>
                <a:ea typeface="Arial" pitchFamily="34" charset="-122"/>
                <a:cs typeface="Arial" pitchFamily="34" charset="-120"/>
              </a:rPr>
              <a:t> - 9,197 (51.1%)</a:t>
            </a:r>
            <a:endParaRPr lang="en-US" sz="1000" dirty="0"/>
          </a:p>
        </p:txBody>
      </p:sp>
      <p:sp>
        <p:nvSpPr>
          <p:cNvPr id="28" name="Text 25"/>
          <p:cNvSpPr/>
          <p:nvPr/>
        </p:nvSpPr>
        <p:spPr>
          <a:xfrm>
            <a:off x="5097810" y="2108746"/>
            <a:ext cx="3660770" cy="177701"/>
          </a:xfrm>
          <a:prstGeom prst="rect">
            <a:avLst/>
          </a:prstGeom>
          <a:noFill/>
          <a:ln/>
        </p:spPr>
        <p:txBody>
          <a:bodyPr wrap="square" lIns="0" tIns="0" rIns="0" bIns="0" rtlCol="0" anchor="t"/>
          <a:lstStyle/>
          <a:p>
            <a:pPr algn="l" indent="0" marL="0">
              <a:lnSpc>
                <a:spcPts val="1400"/>
              </a:lnSpc>
              <a:spcAft>
                <a:spcPts val="800"/>
              </a:spcAft>
              <a:buNone/>
            </a:pPr>
            <a:r>
              <a:rPr lang="en-US" sz="1000" b="1" dirty="0">
                <a:solidFill>
                  <a:srgbClr val="CBD5E1"/>
                </a:solidFill>
                <a:latin typeface="Arial" pitchFamily="34" charset="0"/>
                <a:ea typeface="Arial" pitchFamily="34" charset="-122"/>
                <a:cs typeface="Arial" pitchFamily="34" charset="-120"/>
              </a:rPr>
              <a:t>Appellate Review</a:t>
            </a:r>
            <a:pPr algn="l" indent="0" marL="0">
              <a:lnSpc>
                <a:spcPts val="1400"/>
              </a:lnSpc>
              <a:spcAft>
                <a:spcPts val="800"/>
              </a:spcAft>
              <a:buNone/>
            </a:pPr>
            <a:r>
              <a:rPr lang="en-US" sz="1000" dirty="0">
                <a:solidFill>
                  <a:srgbClr val="CBD5E1"/>
                </a:solidFill>
                <a:latin typeface="Arial" pitchFamily="34" charset="0"/>
                <a:ea typeface="Arial" pitchFamily="34" charset="-122"/>
                <a:cs typeface="Arial" pitchFamily="34" charset="-120"/>
              </a:rPr>
              <a:t> - 4,652 (25.8%)</a:t>
            </a:r>
            <a:endParaRPr lang="en-US" sz="1000" dirty="0"/>
          </a:p>
        </p:txBody>
      </p:sp>
      <p:sp>
        <p:nvSpPr>
          <p:cNvPr id="29" name="Text 26"/>
          <p:cNvSpPr/>
          <p:nvPr/>
        </p:nvSpPr>
        <p:spPr>
          <a:xfrm>
            <a:off x="5097810" y="2387947"/>
            <a:ext cx="3660770" cy="177701"/>
          </a:xfrm>
          <a:prstGeom prst="rect">
            <a:avLst/>
          </a:prstGeom>
          <a:noFill/>
          <a:ln/>
        </p:spPr>
        <p:txBody>
          <a:bodyPr wrap="square" lIns="0" tIns="0" rIns="0" bIns="0" rtlCol="0" anchor="t"/>
          <a:lstStyle/>
          <a:p>
            <a:pPr algn="l" indent="0" marL="0">
              <a:lnSpc>
                <a:spcPts val="1400"/>
              </a:lnSpc>
              <a:spcAft>
                <a:spcPts val="800"/>
              </a:spcAft>
              <a:buNone/>
            </a:pPr>
            <a:r>
              <a:rPr lang="en-US" sz="1000" b="1" dirty="0">
                <a:solidFill>
                  <a:srgbClr val="CBD5E1"/>
                </a:solidFill>
                <a:latin typeface="Arial" pitchFamily="34" charset="0"/>
                <a:ea typeface="Arial" pitchFamily="34" charset="-122"/>
                <a:cs typeface="Arial" pitchFamily="34" charset="-120"/>
              </a:rPr>
              <a:t>Review of Admin Decision</a:t>
            </a:r>
            <a:pPr algn="l" indent="0" marL="0">
              <a:lnSpc>
                <a:spcPts val="1400"/>
              </a:lnSpc>
              <a:spcAft>
                <a:spcPts val="800"/>
              </a:spcAft>
              <a:buNone/>
            </a:pPr>
            <a:r>
              <a:rPr lang="en-US" sz="1000" dirty="0">
                <a:solidFill>
                  <a:srgbClr val="CBD5E1"/>
                </a:solidFill>
                <a:latin typeface="Arial" pitchFamily="34" charset="0"/>
                <a:ea typeface="Arial" pitchFamily="34" charset="-122"/>
                <a:cs typeface="Arial" pitchFamily="34" charset="-120"/>
              </a:rPr>
              <a:t> - 2,773 (15.4%)</a:t>
            </a:r>
            <a:endParaRPr lang="en-US" sz="1000" dirty="0"/>
          </a:p>
        </p:txBody>
      </p:sp>
      <p:sp>
        <p:nvSpPr>
          <p:cNvPr id="30" name="Text 27"/>
          <p:cNvSpPr/>
          <p:nvPr/>
        </p:nvSpPr>
        <p:spPr>
          <a:xfrm>
            <a:off x="5097810" y="2667149"/>
            <a:ext cx="3660770" cy="177701"/>
          </a:xfrm>
          <a:prstGeom prst="rect">
            <a:avLst/>
          </a:prstGeom>
          <a:noFill/>
          <a:ln/>
        </p:spPr>
        <p:txBody>
          <a:bodyPr wrap="square" lIns="0" tIns="0" rIns="0" bIns="0" rtlCol="0" anchor="t"/>
          <a:lstStyle/>
          <a:p>
            <a:pPr algn="l" indent="0" marL="0">
              <a:lnSpc>
                <a:spcPts val="1400"/>
              </a:lnSpc>
              <a:spcAft>
                <a:spcPts val="800"/>
              </a:spcAft>
              <a:buNone/>
            </a:pPr>
            <a:r>
              <a:rPr lang="en-US" sz="1000" b="1" dirty="0">
                <a:solidFill>
                  <a:srgbClr val="CBD5E1"/>
                </a:solidFill>
                <a:latin typeface="Arial" pitchFamily="34" charset="0"/>
                <a:ea typeface="Arial" pitchFamily="34" charset="-122"/>
                <a:cs typeface="Arial" pitchFamily="34" charset="-120"/>
              </a:rPr>
              <a:t>Motion to Dismiss</a:t>
            </a:r>
            <a:pPr algn="l" indent="0" marL="0">
              <a:lnSpc>
                <a:spcPts val="1400"/>
              </a:lnSpc>
              <a:spcAft>
                <a:spcPts val="800"/>
              </a:spcAft>
              <a:buNone/>
            </a:pPr>
            <a:r>
              <a:rPr lang="en-US" sz="1000" dirty="0">
                <a:solidFill>
                  <a:srgbClr val="CBD5E1"/>
                </a:solidFill>
                <a:latin typeface="Arial" pitchFamily="34" charset="0"/>
                <a:ea typeface="Arial" pitchFamily="34" charset="-122"/>
                <a:cs typeface="Arial" pitchFamily="34" charset="-120"/>
              </a:rPr>
              <a:t> - 1,679 (9.3%)</a:t>
            </a:r>
            <a:endParaRPr lang="en-US" sz="1000" dirty="0"/>
          </a:p>
        </p:txBody>
      </p:sp>
      <p:sp>
        <p:nvSpPr>
          <p:cNvPr id="31" name="Text 28"/>
          <p:cNvSpPr/>
          <p:nvPr/>
        </p:nvSpPr>
        <p:spPr>
          <a:xfrm>
            <a:off x="5097810" y="2946350"/>
            <a:ext cx="3660770" cy="177701"/>
          </a:xfrm>
          <a:prstGeom prst="rect">
            <a:avLst/>
          </a:prstGeom>
          <a:noFill/>
          <a:ln/>
        </p:spPr>
        <p:txBody>
          <a:bodyPr wrap="square" lIns="0" tIns="0" rIns="0" bIns="0" rtlCol="0" anchor="t"/>
          <a:lstStyle/>
          <a:p>
            <a:pPr algn="l" indent="0" marL="0">
              <a:lnSpc>
                <a:spcPts val="1400"/>
              </a:lnSpc>
              <a:spcAft>
                <a:spcPts val="800"/>
              </a:spcAft>
              <a:buNone/>
            </a:pPr>
            <a:r>
              <a:rPr lang="en-US" sz="1000" b="1" dirty="0">
                <a:solidFill>
                  <a:srgbClr val="CBD5E1"/>
                </a:solidFill>
                <a:latin typeface="Arial" pitchFamily="34" charset="0"/>
                <a:ea typeface="Arial" pitchFamily="34" charset="-122"/>
                <a:cs typeface="Arial" pitchFamily="34" charset="-120"/>
              </a:rPr>
              <a:t>Sentencing Phase Motion</a:t>
            </a:r>
            <a:pPr algn="l" indent="0" marL="0">
              <a:lnSpc>
                <a:spcPts val="1400"/>
              </a:lnSpc>
              <a:spcAft>
                <a:spcPts val="800"/>
              </a:spcAft>
              <a:buNone/>
            </a:pPr>
            <a:r>
              <a:rPr lang="en-US" sz="1000" dirty="0">
                <a:solidFill>
                  <a:srgbClr val="CBD5E1"/>
                </a:solidFill>
                <a:latin typeface="Arial" pitchFamily="34" charset="0"/>
                <a:ea typeface="Arial" pitchFamily="34" charset="-122"/>
                <a:cs typeface="Arial" pitchFamily="34" charset="-120"/>
              </a:rPr>
              <a:t> - 1,342 (7.5%)</a:t>
            </a:r>
            <a:endParaRPr lang="en-US" sz="1000" dirty="0"/>
          </a:p>
        </p:txBody>
      </p:sp>
      <p:sp>
        <p:nvSpPr>
          <p:cNvPr id="32" name="Text 29"/>
          <p:cNvSpPr/>
          <p:nvPr/>
        </p:nvSpPr>
        <p:spPr>
          <a:xfrm>
            <a:off x="5097810" y="3251002"/>
            <a:ext cx="3660770" cy="159990"/>
          </a:xfrm>
          <a:prstGeom prst="rect">
            <a:avLst/>
          </a:prstGeom>
          <a:noFill/>
          <a:ln/>
        </p:spPr>
        <p:txBody>
          <a:bodyPr wrap="square" lIns="0" tIns="0" rIns="0" bIns="0" rtlCol="0" anchor="t"/>
          <a:lstStyle/>
          <a:p>
            <a:pPr algn="l" indent="0" marL="0">
              <a:lnSpc>
                <a:spcPts val="1260"/>
              </a:lnSpc>
              <a:spcBef>
                <a:spcPts val="1000"/>
              </a:spcBef>
              <a:spcAft>
                <a:spcPts val="400"/>
              </a:spcAft>
              <a:buNone/>
            </a:pPr>
            <a:r>
              <a:rPr lang="en-US" sz="900" dirty="0">
                <a:solidFill>
                  <a:srgbClr val="94A3B8"/>
                </a:solidFill>
                <a:latin typeface="Arial" pitchFamily="34" charset="0"/>
                <a:ea typeface="Arial" pitchFamily="34" charset="-122"/>
                <a:cs typeface="Arial" pitchFamily="34" charset="-120"/>
              </a:rPr>
              <a:t>BOTTOM 5 POSTURES</a:t>
            </a:r>
            <a:endParaRPr lang="en-US" sz="900" dirty="0"/>
          </a:p>
        </p:txBody>
      </p:sp>
      <p:sp>
        <p:nvSpPr>
          <p:cNvPr id="33" name="Text 30"/>
          <p:cNvSpPr/>
          <p:nvPr/>
        </p:nvSpPr>
        <p:spPr>
          <a:xfrm>
            <a:off x="5097810" y="3461742"/>
            <a:ext cx="3660770" cy="177701"/>
          </a:xfrm>
          <a:prstGeom prst="rect">
            <a:avLst/>
          </a:prstGeom>
          <a:noFill/>
          <a:ln/>
        </p:spPr>
        <p:txBody>
          <a:bodyPr wrap="square" lIns="0" tIns="0" rIns="0" bIns="0" rtlCol="0" anchor="t"/>
          <a:lstStyle/>
          <a:p>
            <a:pPr algn="l" indent="0" marL="0">
              <a:lnSpc>
                <a:spcPts val="1400"/>
              </a:lnSpc>
              <a:spcAft>
                <a:spcPts val="800"/>
              </a:spcAft>
              <a:buNone/>
            </a:pPr>
            <a:r>
              <a:rPr lang="en-US" sz="1000" dirty="0">
                <a:solidFill>
                  <a:srgbClr val="CBD5E1"/>
                </a:solidFill>
                <a:latin typeface="Arial" pitchFamily="34" charset="0"/>
                <a:ea typeface="Arial" pitchFamily="34" charset="-122"/>
                <a:cs typeface="Arial" pitchFamily="34" charset="-120"/>
              </a:rPr>
              <a:t>44 labels appear exactly once</a:t>
            </a:r>
            <a:endParaRPr lang="en-US" sz="1000" dirty="0"/>
          </a:p>
        </p:txBody>
      </p:sp>
      <p:sp>
        <p:nvSpPr>
          <p:cNvPr id="34" name="Text 31"/>
          <p:cNvSpPr/>
          <p:nvPr/>
        </p:nvSpPr>
        <p:spPr>
          <a:xfrm>
            <a:off x="5097810" y="3740944"/>
            <a:ext cx="3660770" cy="177701"/>
          </a:xfrm>
          <a:prstGeom prst="rect">
            <a:avLst/>
          </a:prstGeom>
          <a:noFill/>
          <a:ln/>
        </p:spPr>
        <p:txBody>
          <a:bodyPr wrap="square" lIns="0" tIns="0" rIns="0" bIns="0" rtlCol="0" anchor="t"/>
          <a:lstStyle/>
          <a:p>
            <a:pPr algn="l" indent="0" marL="0">
              <a:lnSpc>
                <a:spcPts val="1400"/>
              </a:lnSpc>
              <a:spcAft>
                <a:spcPts val="800"/>
              </a:spcAft>
              <a:buNone/>
            </a:pPr>
            <a:r>
              <a:rPr lang="en-US" sz="1000" dirty="0">
                <a:solidFill>
                  <a:srgbClr val="CBD5E1"/>
                </a:solidFill>
                <a:latin typeface="Arial" pitchFamily="34" charset="0"/>
                <a:ea typeface="Arial" pitchFamily="34" charset="-122"/>
                <a:cs typeface="Arial" pitchFamily="34" charset="-120"/>
              </a:rPr>
              <a:t>140 labels appear fewer than 10 times</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Users/alessandrodibari/Ale/projects/TR_hiring_exercise/outputs/pptx_workspace/slides/accent_teal.png">    </p:cNvPr>
          <p:cNvPicPr>
            <a:picLocks noChangeAspect="1"/>
          </p:cNvPicPr>
          <p:nvPr/>
        </p:nvPicPr>
        <p:blipFill>
          <a:blip r:embed="rId2"/>
          <a:stretch>
            <a:fillRect/>
          </a:stretch>
        </p:blipFill>
        <p:spPr>
          <a:xfrm>
            <a:off x="0" y="0"/>
            <a:ext cx="9144000" cy="50750"/>
          </a:xfrm>
          <a:prstGeom prst="rect">
            <a:avLst/>
          </a:prstGeom>
        </p:spPr>
      </p:pic>
      <p:sp>
        <p:nvSpPr>
          <p:cNvPr id="3" name="Text 0"/>
          <p:cNvSpPr/>
          <p:nvPr/>
        </p:nvSpPr>
        <p:spPr>
          <a:xfrm>
            <a:off x="457200" y="355550"/>
            <a:ext cx="8394192" cy="323850"/>
          </a:xfrm>
          <a:prstGeom prst="rect">
            <a:avLst/>
          </a:prstGeom>
          <a:noFill/>
          <a:ln/>
        </p:spPr>
        <p:txBody>
          <a:bodyPr wrap="square" lIns="0" tIns="0" rIns="0" bIns="0" rtlCol="0" anchor="t"/>
          <a:lstStyle/>
          <a:p>
            <a:pPr algn="l" indent="0" marL="0">
              <a:buNone/>
            </a:pPr>
            <a:r>
              <a:rPr lang="en-US" sz="2200" b="1" dirty="0">
                <a:solidFill>
                  <a:srgbClr val="00B4D8"/>
                </a:solidFill>
                <a:latin typeface="Arial" pitchFamily="34" charset="0"/>
                <a:ea typeface="Arial" pitchFamily="34" charset="-122"/>
                <a:cs typeface="Arial" pitchFamily="34" charset="-120"/>
              </a:rPr>
              <a:t>Domain Complexity</a:t>
            </a:r>
            <a:endParaRPr lang="en-US" sz="2200" dirty="0"/>
          </a:p>
        </p:txBody>
      </p:sp>
      <p:sp>
        <p:nvSpPr>
          <p:cNvPr id="4" name="Text 1"/>
          <p:cNvSpPr/>
          <p:nvPr/>
        </p:nvSpPr>
        <p:spPr>
          <a:xfrm>
            <a:off x="457200" y="857101"/>
            <a:ext cx="4067607" cy="159990"/>
          </a:xfrm>
          <a:prstGeom prst="rect">
            <a:avLst/>
          </a:prstGeom>
          <a:noFill/>
          <a:ln/>
        </p:spPr>
        <p:txBody>
          <a:bodyPr wrap="square" lIns="0" tIns="0" rIns="0" bIns="0" rtlCol="0" anchor="t"/>
          <a:lstStyle/>
          <a:p>
            <a:pPr algn="l" indent="0" marL="0">
              <a:lnSpc>
                <a:spcPts val="1260"/>
              </a:lnSpc>
              <a:spcAft>
                <a:spcPts val="600"/>
              </a:spcAft>
              <a:buNone/>
            </a:pPr>
            <a:r>
              <a:rPr lang="en-US" sz="900" dirty="0">
                <a:solidFill>
                  <a:srgbClr val="94A3B8"/>
                </a:solidFill>
                <a:latin typeface="Arial" pitchFamily="34" charset="0"/>
                <a:ea typeface="Arial" pitchFamily="34" charset="-122"/>
                <a:cs typeface="Arial" pitchFamily="34" charset="-120"/>
              </a:rPr>
              <a:t>LABELS ENCODE 4 ORTHOGONAL DIMENSIONS</a:t>
            </a:r>
            <a:endParaRPr lang="en-US" sz="900" dirty="0"/>
          </a:p>
        </p:txBody>
      </p:sp>
      <p:sp>
        <p:nvSpPr>
          <p:cNvPr id="5" name="Text 2"/>
          <p:cNvSpPr/>
          <p:nvPr/>
        </p:nvSpPr>
        <p:spPr>
          <a:xfrm>
            <a:off x="457200" y="1093291"/>
            <a:ext cx="3987850" cy="722412"/>
          </a:xfrm>
          <a:prstGeom prst="roundRect">
            <a:avLst>
              <a:gd name="adj" fmla="val 10548"/>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6" name="Text 3"/>
          <p:cNvSpPr/>
          <p:nvPr/>
        </p:nvSpPr>
        <p:spPr>
          <a:xfrm>
            <a:off x="644426" y="1229767"/>
            <a:ext cx="3685666" cy="195560"/>
          </a:xfrm>
          <a:prstGeom prst="rect">
            <a:avLst/>
          </a:prstGeom>
          <a:noFill/>
          <a:ln/>
        </p:spPr>
        <p:txBody>
          <a:bodyPr wrap="square" lIns="0" tIns="0" rIns="0" bIns="0" rtlCol="0" anchor="t"/>
          <a:lstStyle/>
          <a:p>
            <a:pPr algn="l" indent="0" marL="0">
              <a:lnSpc>
                <a:spcPts val="1540"/>
              </a:lnSpc>
              <a:spcAft>
                <a:spcPts val="300"/>
              </a:spcAft>
              <a:buNone/>
            </a:pPr>
            <a:r>
              <a:rPr lang="en-US" sz="1100" b="1" dirty="0">
                <a:solidFill>
                  <a:srgbClr val="00B4D8"/>
                </a:solidFill>
                <a:latin typeface="Arial" pitchFamily="34" charset="0"/>
                <a:ea typeface="Arial" pitchFamily="34" charset="-122"/>
                <a:cs typeface="Arial" pitchFamily="34" charset="-120"/>
              </a:rPr>
              <a:t>Stage</a:t>
            </a:r>
            <a:endParaRPr lang="en-US" sz="1100" dirty="0"/>
          </a:p>
        </p:txBody>
      </p:sp>
      <p:sp>
        <p:nvSpPr>
          <p:cNvPr id="7" name="Text 4"/>
          <p:cNvSpPr/>
          <p:nvPr/>
        </p:nvSpPr>
        <p:spPr>
          <a:xfrm>
            <a:off x="644426" y="1463427"/>
            <a:ext cx="3685666" cy="177701"/>
          </a:xfrm>
          <a:prstGeom prst="rect">
            <a:avLst/>
          </a:prstGeom>
          <a:noFill/>
          <a:ln/>
        </p:spPr>
        <p:txBody>
          <a:bodyPr wrap="square" lIns="0" tIns="0" rIns="0" bIns="0" rtlCol="0" anchor="t"/>
          <a:lstStyle/>
          <a:p>
            <a:pPr algn="l" indent="0" marL="0">
              <a:lnSpc>
                <a:spcPts val="1400"/>
              </a:lnSpc>
              <a:spcAft>
                <a:spcPts val="300"/>
              </a:spcAft>
              <a:buNone/>
            </a:pPr>
            <a:r>
              <a:rPr lang="en-US" sz="1000" dirty="0">
                <a:solidFill>
                  <a:srgbClr val="CBD5E1"/>
                </a:solidFill>
                <a:latin typeface="Arial" pitchFamily="34" charset="0"/>
                <a:ea typeface="Arial" pitchFamily="34" charset="-122"/>
                <a:cs typeface="Arial" pitchFamily="34" charset="-120"/>
              </a:rPr>
              <a:t>WHERE in litigation lifecycle (On Appeal, Trial...)</a:t>
            </a:r>
            <a:endParaRPr lang="en-US" sz="1000" dirty="0"/>
          </a:p>
        </p:txBody>
      </p:sp>
      <p:sp>
        <p:nvSpPr>
          <p:cNvPr id="8" name="Text 5"/>
          <p:cNvSpPr/>
          <p:nvPr/>
        </p:nvSpPr>
        <p:spPr>
          <a:xfrm>
            <a:off x="457200" y="1917204"/>
            <a:ext cx="3987850" cy="722412"/>
          </a:xfrm>
          <a:prstGeom prst="roundRect">
            <a:avLst>
              <a:gd name="adj" fmla="val 10548"/>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9" name="Text 6"/>
          <p:cNvSpPr/>
          <p:nvPr/>
        </p:nvSpPr>
        <p:spPr>
          <a:xfrm>
            <a:off x="644426" y="2053679"/>
            <a:ext cx="3685666" cy="195560"/>
          </a:xfrm>
          <a:prstGeom prst="rect">
            <a:avLst/>
          </a:prstGeom>
          <a:noFill/>
          <a:ln/>
        </p:spPr>
        <p:txBody>
          <a:bodyPr wrap="square" lIns="0" tIns="0" rIns="0" bIns="0" rtlCol="0" anchor="t"/>
          <a:lstStyle/>
          <a:p>
            <a:pPr algn="l" indent="0" marL="0">
              <a:lnSpc>
                <a:spcPts val="1540"/>
              </a:lnSpc>
              <a:spcAft>
                <a:spcPts val="300"/>
              </a:spcAft>
              <a:buNone/>
            </a:pPr>
            <a:r>
              <a:rPr lang="en-US" sz="1100" b="1" dirty="0">
                <a:solidFill>
                  <a:srgbClr val="00B4D8"/>
                </a:solidFill>
                <a:latin typeface="Arial" pitchFamily="34" charset="0"/>
                <a:ea typeface="Arial" pitchFamily="34" charset="-122"/>
                <a:cs typeface="Arial" pitchFamily="34" charset="-120"/>
              </a:rPr>
              <a:t>Motion Type</a:t>
            </a:r>
            <a:endParaRPr lang="en-US" sz="1100" dirty="0"/>
          </a:p>
        </p:txBody>
      </p:sp>
      <p:sp>
        <p:nvSpPr>
          <p:cNvPr id="10" name="Text 7"/>
          <p:cNvSpPr/>
          <p:nvPr/>
        </p:nvSpPr>
        <p:spPr>
          <a:xfrm>
            <a:off x="644426" y="2287339"/>
            <a:ext cx="3685666" cy="177701"/>
          </a:xfrm>
          <a:prstGeom prst="rect">
            <a:avLst/>
          </a:prstGeom>
          <a:noFill/>
          <a:ln/>
        </p:spPr>
        <p:txBody>
          <a:bodyPr wrap="square" lIns="0" tIns="0" rIns="0" bIns="0" rtlCol="0" anchor="t"/>
          <a:lstStyle/>
          <a:p>
            <a:pPr algn="l" indent="0" marL="0">
              <a:lnSpc>
                <a:spcPts val="1400"/>
              </a:lnSpc>
              <a:spcAft>
                <a:spcPts val="300"/>
              </a:spcAft>
              <a:buNone/>
            </a:pPr>
            <a:r>
              <a:rPr lang="en-US" sz="1000" dirty="0">
                <a:solidFill>
                  <a:srgbClr val="CBD5E1"/>
                </a:solidFill>
                <a:latin typeface="Arial" pitchFamily="34" charset="0"/>
                <a:ea typeface="Arial" pitchFamily="34" charset="-122"/>
                <a:cs typeface="Arial" pitchFamily="34" charset="-120"/>
              </a:rPr>
              <a:t>WHAT action is requested (Motion to Dismiss...)</a:t>
            </a:r>
            <a:endParaRPr lang="en-US" sz="1000" dirty="0"/>
          </a:p>
        </p:txBody>
      </p:sp>
      <p:sp>
        <p:nvSpPr>
          <p:cNvPr id="11" name="Text 8"/>
          <p:cNvSpPr/>
          <p:nvPr/>
        </p:nvSpPr>
        <p:spPr>
          <a:xfrm>
            <a:off x="457200" y="2741116"/>
            <a:ext cx="3987850" cy="722412"/>
          </a:xfrm>
          <a:prstGeom prst="roundRect">
            <a:avLst>
              <a:gd name="adj" fmla="val 10548"/>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12" name="Text 9"/>
          <p:cNvSpPr/>
          <p:nvPr/>
        </p:nvSpPr>
        <p:spPr>
          <a:xfrm>
            <a:off x="644426" y="2877592"/>
            <a:ext cx="3685666" cy="195560"/>
          </a:xfrm>
          <a:prstGeom prst="rect">
            <a:avLst/>
          </a:prstGeom>
          <a:noFill/>
          <a:ln/>
        </p:spPr>
        <p:txBody>
          <a:bodyPr wrap="square" lIns="0" tIns="0" rIns="0" bIns="0" rtlCol="0" anchor="t"/>
          <a:lstStyle/>
          <a:p>
            <a:pPr algn="l" indent="0" marL="0">
              <a:lnSpc>
                <a:spcPts val="1540"/>
              </a:lnSpc>
              <a:spcAft>
                <a:spcPts val="300"/>
              </a:spcAft>
              <a:buNone/>
            </a:pPr>
            <a:r>
              <a:rPr lang="en-US" sz="1100" b="1" dirty="0">
                <a:solidFill>
                  <a:srgbClr val="00B4D8"/>
                </a:solidFill>
                <a:latin typeface="Arial" pitchFamily="34" charset="0"/>
                <a:ea typeface="Arial" pitchFamily="34" charset="-122"/>
                <a:cs typeface="Arial" pitchFamily="34" charset="-120"/>
              </a:rPr>
              <a:t>Proceeding Type</a:t>
            </a:r>
            <a:endParaRPr lang="en-US" sz="1100" dirty="0"/>
          </a:p>
        </p:txBody>
      </p:sp>
      <p:sp>
        <p:nvSpPr>
          <p:cNvPr id="13" name="Text 10"/>
          <p:cNvSpPr/>
          <p:nvPr/>
        </p:nvSpPr>
        <p:spPr>
          <a:xfrm>
            <a:off x="644426" y="3111252"/>
            <a:ext cx="3685666" cy="177701"/>
          </a:xfrm>
          <a:prstGeom prst="rect">
            <a:avLst/>
          </a:prstGeom>
          <a:noFill/>
          <a:ln/>
        </p:spPr>
        <p:txBody>
          <a:bodyPr wrap="square" lIns="0" tIns="0" rIns="0" bIns="0" rtlCol="0" anchor="t"/>
          <a:lstStyle/>
          <a:p>
            <a:pPr algn="l" indent="0" marL="0">
              <a:lnSpc>
                <a:spcPts val="1400"/>
              </a:lnSpc>
              <a:spcAft>
                <a:spcPts val="300"/>
              </a:spcAft>
              <a:buNone/>
            </a:pPr>
            <a:r>
              <a:rPr lang="en-US" sz="1000" dirty="0">
                <a:solidFill>
                  <a:srgbClr val="CBD5E1"/>
                </a:solidFill>
                <a:latin typeface="Arial" pitchFamily="34" charset="0"/>
                <a:ea typeface="Arial" pitchFamily="34" charset="-122"/>
                <a:cs typeface="Arial" pitchFamily="34" charset="-120"/>
              </a:rPr>
              <a:t>Legal domain (Family Law, Bankruptcy, Criminal)</a:t>
            </a:r>
            <a:endParaRPr lang="en-US" sz="1000" dirty="0"/>
          </a:p>
        </p:txBody>
      </p:sp>
      <p:sp>
        <p:nvSpPr>
          <p:cNvPr id="14" name="Text 11"/>
          <p:cNvSpPr/>
          <p:nvPr/>
        </p:nvSpPr>
        <p:spPr>
          <a:xfrm>
            <a:off x="457200" y="3565029"/>
            <a:ext cx="3987850" cy="722412"/>
          </a:xfrm>
          <a:prstGeom prst="roundRect">
            <a:avLst>
              <a:gd name="adj" fmla="val 10548"/>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15" name="Text 12"/>
          <p:cNvSpPr/>
          <p:nvPr/>
        </p:nvSpPr>
        <p:spPr>
          <a:xfrm>
            <a:off x="644426" y="3701504"/>
            <a:ext cx="3685666" cy="195560"/>
          </a:xfrm>
          <a:prstGeom prst="rect">
            <a:avLst/>
          </a:prstGeom>
          <a:noFill/>
          <a:ln/>
        </p:spPr>
        <p:txBody>
          <a:bodyPr wrap="square" lIns="0" tIns="0" rIns="0" bIns="0" rtlCol="0" anchor="t"/>
          <a:lstStyle/>
          <a:p>
            <a:pPr algn="l" indent="0" marL="0">
              <a:lnSpc>
                <a:spcPts val="1540"/>
              </a:lnSpc>
              <a:spcAft>
                <a:spcPts val="300"/>
              </a:spcAft>
              <a:buNone/>
            </a:pPr>
            <a:r>
              <a:rPr lang="en-US" sz="1100" b="1" dirty="0">
                <a:solidFill>
                  <a:srgbClr val="00B4D8"/>
                </a:solidFill>
                <a:latin typeface="Arial" pitchFamily="34" charset="0"/>
                <a:ea typeface="Arial" pitchFamily="34" charset="-122"/>
                <a:cs typeface="Arial" pitchFamily="34" charset="-120"/>
              </a:rPr>
              <a:t>Procedural Event</a:t>
            </a:r>
            <a:endParaRPr lang="en-US" sz="1100" dirty="0"/>
          </a:p>
        </p:txBody>
      </p:sp>
      <p:sp>
        <p:nvSpPr>
          <p:cNvPr id="16" name="Text 13"/>
          <p:cNvSpPr/>
          <p:nvPr/>
        </p:nvSpPr>
        <p:spPr>
          <a:xfrm>
            <a:off x="644426" y="3935164"/>
            <a:ext cx="3685666" cy="177701"/>
          </a:xfrm>
          <a:prstGeom prst="rect">
            <a:avLst/>
          </a:prstGeom>
          <a:noFill/>
          <a:ln/>
        </p:spPr>
        <p:txBody>
          <a:bodyPr wrap="square" lIns="0" tIns="0" rIns="0" bIns="0" rtlCol="0" anchor="t"/>
          <a:lstStyle/>
          <a:p>
            <a:pPr algn="l" indent="0" marL="0">
              <a:lnSpc>
                <a:spcPts val="1400"/>
              </a:lnSpc>
              <a:spcAft>
                <a:spcPts val="300"/>
              </a:spcAft>
              <a:buNone/>
            </a:pPr>
            <a:r>
              <a:rPr lang="en-US" sz="1000" dirty="0">
                <a:solidFill>
                  <a:srgbClr val="CBD5E1"/>
                </a:solidFill>
                <a:latin typeface="Arial" pitchFamily="34" charset="0"/>
                <a:ea typeface="Arial" pitchFamily="34" charset="-122"/>
                <a:cs typeface="Arial" pitchFamily="34" charset="-120"/>
              </a:rPr>
              <a:t>WHAT happened procedurally (Post-Trial Hearing)</a:t>
            </a:r>
            <a:endParaRPr lang="en-US" sz="1000" dirty="0"/>
          </a:p>
        </p:txBody>
      </p:sp>
      <p:sp>
        <p:nvSpPr>
          <p:cNvPr id="17" name="Text 14"/>
          <p:cNvSpPr/>
          <p:nvPr/>
        </p:nvSpPr>
        <p:spPr>
          <a:xfrm>
            <a:off x="4698950" y="857101"/>
            <a:ext cx="4067607" cy="159990"/>
          </a:xfrm>
          <a:prstGeom prst="rect">
            <a:avLst/>
          </a:prstGeom>
          <a:noFill/>
          <a:ln/>
        </p:spPr>
        <p:txBody>
          <a:bodyPr wrap="square" lIns="0" tIns="0" rIns="0" bIns="0" rtlCol="0" anchor="t"/>
          <a:lstStyle/>
          <a:p>
            <a:pPr algn="l" indent="0" marL="0">
              <a:lnSpc>
                <a:spcPts val="1260"/>
              </a:lnSpc>
              <a:spcAft>
                <a:spcPts val="600"/>
              </a:spcAft>
              <a:buNone/>
            </a:pPr>
            <a:r>
              <a:rPr lang="en-US" sz="900" dirty="0">
                <a:solidFill>
                  <a:srgbClr val="94A3B8"/>
                </a:solidFill>
                <a:latin typeface="Arial" pitchFamily="34" charset="0"/>
                <a:ea typeface="Arial" pitchFamily="34" charset="-122"/>
                <a:cs typeface="Arial" pitchFamily="34" charset="-120"/>
              </a:rPr>
              <a:t>HUMAN BENCHMARK</a:t>
            </a:r>
            <a:endParaRPr lang="en-US" sz="900" dirty="0"/>
          </a:p>
        </p:txBody>
      </p:sp>
      <p:sp>
        <p:nvSpPr>
          <p:cNvPr id="18" name="Text 15"/>
          <p:cNvSpPr/>
          <p:nvPr/>
        </p:nvSpPr>
        <p:spPr>
          <a:xfrm>
            <a:off x="4698950" y="1093291"/>
            <a:ext cx="3987850" cy="1151632"/>
          </a:xfrm>
          <a:prstGeom prst="roundRect">
            <a:avLst>
              <a:gd name="adj" fmla="val 6617"/>
            </a:avLst>
          </a:prstGeom>
          <a:solidFill>
            <a:srgbClr val="E76F51">
              <a:alpha val="10000"/>
            </a:srgbClr>
          </a:solidFill>
          <a:ln w="9525">
            <a:solidFill>
              <a:srgbClr val="E76F51"/>
            </a:solidFill>
          </a:ln>
        </p:spPr>
        <p:txBody>
          <a:bodyPr wrap="square" rtlCol="0" anchor="ctr"/>
          <a:lstStyle/>
          <a:p>
            <a:pPr indent="0" marL="0">
              <a:buNone/>
            </a:pPr>
            <a:endParaRPr lang="en-US" dirty="0"/>
          </a:p>
        </p:txBody>
      </p:sp>
      <p:sp>
        <p:nvSpPr>
          <p:cNvPr id="19" name="Text 16"/>
          <p:cNvSpPr/>
          <p:nvPr/>
        </p:nvSpPr>
        <p:spPr>
          <a:xfrm>
            <a:off x="4886176" y="1255216"/>
            <a:ext cx="3685666" cy="319980"/>
          </a:xfrm>
          <a:prstGeom prst="rect">
            <a:avLst/>
          </a:prstGeom>
          <a:noFill/>
          <a:ln/>
        </p:spPr>
        <p:txBody>
          <a:bodyPr wrap="square" lIns="0" tIns="0" rIns="0" bIns="0" rtlCol="0" anchor="t"/>
          <a:lstStyle/>
          <a:p>
            <a:pPr algn="l" indent="0" marL="0">
              <a:lnSpc>
                <a:spcPts val="2520"/>
              </a:lnSpc>
              <a:spcAft>
                <a:spcPts val="600"/>
              </a:spcAft>
              <a:buNone/>
            </a:pPr>
            <a:r>
              <a:rPr lang="en-US" sz="1800" b="1" dirty="0">
                <a:solidFill>
                  <a:srgbClr val="E76F51"/>
                </a:solidFill>
                <a:latin typeface="Arial" pitchFamily="34" charset="0"/>
                <a:ea typeface="Arial" pitchFamily="34" charset="-122"/>
                <a:cs typeface="Arial" pitchFamily="34" charset="-120"/>
              </a:rPr>
              <a:t>Cohen's kappa: 0.63 - 0.93</a:t>
            </a:r>
            <a:endParaRPr lang="en-US" sz="1800" dirty="0"/>
          </a:p>
        </p:txBody>
      </p:sp>
      <p:sp>
        <p:nvSpPr>
          <p:cNvPr id="20" name="Text 17"/>
          <p:cNvSpPr/>
          <p:nvPr/>
        </p:nvSpPr>
        <p:spPr>
          <a:xfrm>
            <a:off x="4886176" y="1651397"/>
            <a:ext cx="3685666" cy="177701"/>
          </a:xfrm>
          <a:prstGeom prst="rect">
            <a:avLst/>
          </a:prstGeom>
          <a:noFill/>
          <a:ln/>
        </p:spPr>
        <p:txBody>
          <a:bodyPr wrap="square" lIns="0" tIns="0" rIns="0" bIns="0" rtlCol="0" anchor="t"/>
          <a:lstStyle/>
          <a:p>
            <a:pPr algn="l" indent="0" marL="0">
              <a:lnSpc>
                <a:spcPts val="1400"/>
              </a:lnSpc>
              <a:spcAft>
                <a:spcPts val="300"/>
              </a:spcAft>
              <a:buNone/>
            </a:pPr>
            <a:r>
              <a:rPr lang="en-US" sz="1000" dirty="0">
                <a:solidFill>
                  <a:srgbClr val="E2E8F0"/>
                </a:solidFill>
                <a:latin typeface="Arial" pitchFamily="34" charset="0"/>
                <a:ea typeface="Arial" pitchFamily="34" charset="-122"/>
                <a:cs typeface="Arial" pitchFamily="34" charset="-120"/>
              </a:rPr>
              <a:t>Inter-annotator agreement varies by posture</a:t>
            </a:r>
            <a:endParaRPr lang="en-US" sz="1000" dirty="0"/>
          </a:p>
        </p:txBody>
      </p:sp>
      <p:sp>
        <p:nvSpPr>
          <p:cNvPr id="21" name="Text 18"/>
          <p:cNvSpPr/>
          <p:nvPr/>
        </p:nvSpPr>
        <p:spPr>
          <a:xfrm>
            <a:off x="4886176" y="1867198"/>
            <a:ext cx="3685666" cy="177701"/>
          </a:xfrm>
          <a:prstGeom prst="rect">
            <a:avLst/>
          </a:prstGeom>
          <a:noFill/>
          <a:ln/>
        </p:spPr>
        <p:txBody>
          <a:bodyPr wrap="square" lIns="0" tIns="0" rIns="0" bIns="0" rtlCol="0" anchor="t"/>
          <a:lstStyle/>
          <a:p>
            <a:pPr algn="l" indent="0" marL="0">
              <a:lnSpc>
                <a:spcPts val="1400"/>
              </a:lnSpc>
              <a:spcAft>
                <a:spcPts val="300"/>
              </a:spcAft>
              <a:buNone/>
            </a:pPr>
            <a:r>
              <a:rPr lang="en-US" sz="1000" dirty="0">
                <a:solidFill>
                  <a:srgbClr val="E2E8F0"/>
                </a:solidFill>
                <a:latin typeface="Arial" pitchFamily="34" charset="0"/>
                <a:ea typeface="Arial" pitchFamily="34" charset="-122"/>
                <a:cs typeface="Arial" pitchFamily="34" charset="-120"/>
              </a:rPr>
              <a:t>This is our target for automation feasibility</a:t>
            </a:r>
            <a:endParaRPr lang="en-US" sz="1000" dirty="0"/>
          </a:p>
        </p:txBody>
      </p:sp>
      <p:sp>
        <p:nvSpPr>
          <p:cNvPr id="22" name="Text 19"/>
          <p:cNvSpPr/>
          <p:nvPr/>
        </p:nvSpPr>
        <p:spPr>
          <a:xfrm>
            <a:off x="4698950" y="2371874"/>
            <a:ext cx="4067607" cy="159990"/>
          </a:xfrm>
          <a:prstGeom prst="rect">
            <a:avLst/>
          </a:prstGeom>
          <a:noFill/>
          <a:ln/>
        </p:spPr>
        <p:txBody>
          <a:bodyPr wrap="square" lIns="0" tIns="0" rIns="0" bIns="0" rtlCol="0" anchor="t"/>
          <a:lstStyle/>
          <a:p>
            <a:pPr algn="l" indent="0" marL="0">
              <a:lnSpc>
                <a:spcPts val="1260"/>
              </a:lnSpc>
              <a:spcAft>
                <a:spcPts val="600"/>
              </a:spcAft>
              <a:buNone/>
            </a:pPr>
            <a:r>
              <a:rPr lang="en-US" sz="900" dirty="0">
                <a:solidFill>
                  <a:srgbClr val="94A3B8"/>
                </a:solidFill>
                <a:latin typeface="Arial" pitchFamily="34" charset="0"/>
                <a:ea typeface="Arial" pitchFamily="34" charset="-122"/>
                <a:cs typeface="Arial" pitchFamily="34" charset="-120"/>
              </a:rPr>
              <a:t>HIERARCHICAL RELATIONSHIPS</a:t>
            </a:r>
            <a:endParaRPr lang="en-US" sz="900" dirty="0"/>
          </a:p>
        </p:txBody>
      </p:sp>
      <p:sp>
        <p:nvSpPr>
          <p:cNvPr id="23" name="Text 20"/>
          <p:cNvSpPr/>
          <p:nvPr/>
        </p:nvSpPr>
        <p:spPr>
          <a:xfrm>
            <a:off x="4698950" y="2608064"/>
            <a:ext cx="3987850" cy="1079004"/>
          </a:xfrm>
          <a:prstGeom prst="rect">
            <a:avLst/>
          </a:prstGeom>
          <a:solidFill>
            <a:srgbClr val="00B4D8">
              <a:alpha val="8000"/>
            </a:srgbClr>
          </a:solidFill>
          <a:ln/>
        </p:spPr>
        <p:txBody>
          <a:bodyPr wrap="square" rtlCol="0" anchor="ctr"/>
          <a:lstStyle/>
          <a:p>
            <a:pPr indent="0" marL="0">
              <a:buNone/>
            </a:pPr>
            <a:endParaRPr lang="en-US" dirty="0"/>
          </a:p>
        </p:txBody>
      </p:sp>
      <p:sp>
        <p:nvSpPr>
          <p:cNvPr id="24" name="Shape 21"/>
          <p:cNvSpPr/>
          <p:nvPr/>
        </p:nvSpPr>
        <p:spPr>
          <a:xfrm>
            <a:off x="4722763" y="2608064"/>
            <a:ext cx="0" cy="1079004"/>
          </a:xfrm>
          <a:prstGeom prst="line">
            <a:avLst/>
          </a:prstGeom>
          <a:noFill/>
          <a:ln w="47625">
            <a:solidFill>
              <a:srgbClr val="00B4D8"/>
            </a:solidFill>
            <a:prstDash val="solid"/>
          </a:ln>
        </p:spPr>
      </p:sp>
      <p:sp>
        <p:nvSpPr>
          <p:cNvPr id="25" name="Text 22"/>
          <p:cNvSpPr/>
          <p:nvPr/>
        </p:nvSpPr>
        <p:spPr>
          <a:xfrm>
            <a:off x="4924276" y="2735014"/>
            <a:ext cx="3656520" cy="177701"/>
          </a:xfrm>
          <a:prstGeom prst="rect">
            <a:avLst/>
          </a:prstGeom>
          <a:noFill/>
          <a:ln/>
        </p:spPr>
        <p:txBody>
          <a:bodyPr wrap="square" lIns="0" tIns="0" rIns="0" bIns="0" rtlCol="0" anchor="t"/>
          <a:lstStyle/>
          <a:p>
            <a:pPr algn="l" indent="0" marL="0">
              <a:lnSpc>
                <a:spcPts val="1400"/>
              </a:lnSpc>
              <a:spcAft>
                <a:spcPts val="300"/>
              </a:spcAft>
              <a:buNone/>
            </a:pPr>
            <a:r>
              <a:rPr lang="en-US" sz="1000" b="1" dirty="0">
                <a:solidFill>
                  <a:srgbClr val="E2E8F0"/>
                </a:solidFill>
                <a:latin typeface="Arial" pitchFamily="34" charset="0"/>
                <a:ea typeface="Arial" pitchFamily="34" charset="-122"/>
                <a:cs typeface="Arial" pitchFamily="34" charset="-120"/>
              </a:rPr>
              <a:t>IS-A:</a:t>
            </a:r>
            <a:pPr algn="l" indent="0" marL="0">
              <a:lnSpc>
                <a:spcPts val="1400"/>
              </a:lnSpc>
              <a:spcAft>
                <a:spcPts val="300"/>
              </a:spcAft>
              <a:buNone/>
            </a:pPr>
            <a:r>
              <a:rPr lang="en-US" sz="1000" dirty="0">
                <a:solidFill>
                  <a:srgbClr val="E2E8F0"/>
                </a:solidFill>
                <a:latin typeface="Arial" pitchFamily="34" charset="0"/>
                <a:ea typeface="Arial" pitchFamily="34" charset="-122"/>
                <a:cs typeface="Arial" pitchFamily="34" charset="-120"/>
              </a:rPr>
              <a:t> "MTD for Lack of SMJ" IS-A "Motion to Dismiss"</a:t>
            </a:r>
            <a:endParaRPr lang="en-US" sz="1000" dirty="0"/>
          </a:p>
        </p:txBody>
      </p:sp>
      <p:sp>
        <p:nvSpPr>
          <p:cNvPr id="26" name="Text 23"/>
          <p:cNvSpPr/>
          <p:nvPr/>
        </p:nvSpPr>
        <p:spPr>
          <a:xfrm>
            <a:off x="4924276" y="2950815"/>
            <a:ext cx="3656520" cy="177701"/>
          </a:xfrm>
          <a:prstGeom prst="rect">
            <a:avLst/>
          </a:prstGeom>
          <a:noFill/>
          <a:ln/>
        </p:spPr>
        <p:txBody>
          <a:bodyPr wrap="square" lIns="0" tIns="0" rIns="0" bIns="0" rtlCol="0" anchor="t"/>
          <a:lstStyle/>
          <a:p>
            <a:pPr algn="l" indent="0" marL="0">
              <a:lnSpc>
                <a:spcPts val="1400"/>
              </a:lnSpc>
              <a:spcAft>
                <a:spcPts val="300"/>
              </a:spcAft>
              <a:buNone/>
            </a:pPr>
            <a:r>
              <a:rPr lang="en-US" sz="1000" b="1" dirty="0">
                <a:solidFill>
                  <a:srgbClr val="E2E8F0"/>
                </a:solidFill>
                <a:latin typeface="Arial" pitchFamily="34" charset="0"/>
                <a:ea typeface="Arial" pitchFamily="34" charset="-122"/>
                <a:cs typeface="Arial" pitchFamily="34" charset="-120"/>
              </a:rPr>
              <a:t>DEPENDS-ON:</a:t>
            </a:r>
            <a:pPr algn="l" indent="0" marL="0">
              <a:lnSpc>
                <a:spcPts val="1400"/>
              </a:lnSpc>
              <a:spcAft>
                <a:spcPts val="300"/>
              </a:spcAft>
              <a:buNone/>
            </a:pPr>
            <a:r>
              <a:rPr lang="en-US" sz="1000" dirty="0">
                <a:solidFill>
                  <a:srgbClr val="E2E8F0"/>
                </a:solidFill>
                <a:latin typeface="Arial" pitchFamily="34" charset="0"/>
                <a:ea typeface="Arial" pitchFamily="34" charset="-122"/>
                <a:cs typeface="Arial" pitchFamily="34" charset="-120"/>
              </a:rPr>
              <a:t> "Motion to Post Bond" requires "On Appeal"</a:t>
            </a:r>
            <a:endParaRPr lang="en-US" sz="1000" dirty="0"/>
          </a:p>
        </p:txBody>
      </p:sp>
      <p:sp>
        <p:nvSpPr>
          <p:cNvPr id="27" name="Text 24"/>
          <p:cNvSpPr/>
          <p:nvPr/>
        </p:nvSpPr>
        <p:spPr>
          <a:xfrm>
            <a:off x="4924276" y="3166616"/>
            <a:ext cx="3656520" cy="355402"/>
          </a:xfrm>
          <a:prstGeom prst="rect">
            <a:avLst/>
          </a:prstGeom>
          <a:noFill/>
          <a:ln/>
        </p:spPr>
        <p:txBody>
          <a:bodyPr wrap="square" lIns="0" tIns="0" rIns="0" bIns="0" rtlCol="0" anchor="t"/>
          <a:lstStyle/>
          <a:p>
            <a:pPr algn="l" indent="0" marL="0">
              <a:lnSpc>
                <a:spcPts val="1400"/>
              </a:lnSpc>
              <a:spcAft>
                <a:spcPts val="300"/>
              </a:spcAft>
              <a:buNone/>
            </a:pPr>
            <a:r>
              <a:rPr lang="en-US" sz="1000" b="1" dirty="0">
                <a:solidFill>
                  <a:srgbClr val="E2E8F0"/>
                </a:solidFill>
                <a:latin typeface="Arial" pitchFamily="34" charset="0"/>
                <a:ea typeface="Arial" pitchFamily="34" charset="-122"/>
                <a:cs typeface="Arial" pitchFamily="34" charset="-120"/>
              </a:rPr>
              <a:t>Implication:</a:t>
            </a:r>
            <a:pPr algn="l" indent="0" marL="0">
              <a:lnSpc>
                <a:spcPts val="1400"/>
              </a:lnSpc>
              <a:spcAft>
                <a:spcPts val="300"/>
              </a:spcAft>
              <a:buNone/>
            </a:pPr>
            <a:r>
              <a:rPr lang="en-US" sz="1000" dirty="0">
                <a:solidFill>
                  <a:srgbClr val="E2E8F0"/>
                </a:solidFill>
                <a:latin typeface="Arial" pitchFamily="34" charset="0"/>
                <a:ea typeface="Arial" pitchFamily="34" charset="-122"/>
                <a:cs typeface="Arial" pitchFamily="34" charset="-120"/>
              </a:rPr>
              <a:t> Confusing related postures is less severe than unrelated errors</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62000" y="1881336"/>
            <a:ext cx="7772400" cy="171450"/>
          </a:xfrm>
          <a:prstGeom prst="rect">
            <a:avLst/>
          </a:prstGeom>
          <a:noFill/>
          <a:ln/>
        </p:spPr>
        <p:txBody>
          <a:bodyPr wrap="square" lIns="0" tIns="0" rIns="0" bIns="0" rtlCol="0" anchor="t"/>
          <a:lstStyle/>
          <a:p>
            <a:pPr algn="l" indent="0" marL="0">
              <a:spcAft>
                <a:spcPts val="800"/>
              </a:spcAft>
              <a:buNone/>
            </a:pPr>
            <a:r>
              <a:rPr lang="en-US" sz="1200" dirty="0">
                <a:solidFill>
                  <a:srgbClr val="00B4D8"/>
                </a:solidFill>
                <a:latin typeface="Arial" pitchFamily="34" charset="0"/>
                <a:ea typeface="Arial" pitchFamily="34" charset="-122"/>
                <a:cs typeface="Arial" pitchFamily="34" charset="-120"/>
              </a:rPr>
              <a:t>SECTION 2</a:t>
            </a:r>
            <a:endParaRPr lang="en-US" sz="1200" dirty="0"/>
          </a:p>
        </p:txBody>
      </p:sp>
      <p:sp>
        <p:nvSpPr>
          <p:cNvPr id="3" name="Text 1"/>
          <p:cNvSpPr/>
          <p:nvPr/>
        </p:nvSpPr>
        <p:spPr>
          <a:xfrm>
            <a:off x="762000" y="2154287"/>
            <a:ext cx="7772400" cy="466725"/>
          </a:xfrm>
          <a:prstGeom prst="rect">
            <a:avLst/>
          </a:prstGeom>
          <a:noFill/>
          <a:ln/>
        </p:spPr>
        <p:txBody>
          <a:bodyPr wrap="square" lIns="0" tIns="0" rIns="0" bIns="0" rtlCol="0" anchor="t"/>
          <a:lstStyle/>
          <a:p>
            <a:pPr algn="l" indent="0" marL="0">
              <a:spcAft>
                <a:spcPts val="1200"/>
              </a:spcAft>
              <a:buNone/>
            </a:pPr>
            <a:r>
              <a:rPr lang="en-US" sz="3200" b="1" dirty="0">
                <a:solidFill>
                  <a:srgbClr val="FFFFFF"/>
                </a:solidFill>
                <a:latin typeface="Arial" pitchFamily="34" charset="0"/>
                <a:ea typeface="Arial" pitchFamily="34" charset="-122"/>
                <a:cs typeface="Arial" pitchFamily="34" charset="-120"/>
              </a:rPr>
              <a:t>Proposed Solution</a:t>
            </a:r>
            <a:endParaRPr lang="en-US" sz="3200" dirty="0"/>
          </a:p>
        </p:txBody>
      </p:sp>
      <p:pic>
        <p:nvPicPr>
          <p:cNvPr id="4" name="Image 0" descr="/Users/alessandrodibari/Ale/projects/TR_hiring_exercise/outputs/pptx_workspace/slides/accent_teal.png">    </p:cNvPr>
          <p:cNvPicPr>
            <a:picLocks noChangeAspect="1"/>
          </p:cNvPicPr>
          <p:nvPr/>
        </p:nvPicPr>
        <p:blipFill>
          <a:blip r:embed="rId2"/>
          <a:stretch>
            <a:fillRect/>
          </a:stretch>
        </p:blipFill>
        <p:spPr>
          <a:xfrm>
            <a:off x="762000" y="2868662"/>
            <a:ext cx="762000" cy="38100"/>
          </a:xfrm>
          <a:prstGeom prst="rect">
            <a:avLst/>
          </a:prstGeom>
        </p:spPr>
      </p:pic>
      <p:sp>
        <p:nvSpPr>
          <p:cNvPr id="5" name="Text 2"/>
          <p:cNvSpPr/>
          <p:nvPr/>
        </p:nvSpPr>
        <p:spPr>
          <a:xfrm>
            <a:off x="762000" y="3014663"/>
            <a:ext cx="7772400" cy="247501"/>
          </a:xfrm>
          <a:prstGeom prst="rect">
            <a:avLst/>
          </a:prstGeom>
          <a:noFill/>
          <a:ln/>
        </p:spPr>
        <p:txBody>
          <a:bodyPr wrap="square" lIns="0" tIns="0" rIns="0" bIns="0" rtlCol="0" anchor="t"/>
          <a:lstStyle/>
          <a:p>
            <a:pPr algn="l" indent="0" marL="0">
              <a:lnSpc>
                <a:spcPts val="1950"/>
              </a:lnSpc>
              <a:buNone/>
            </a:pPr>
            <a:r>
              <a:rPr lang="en-US" sz="1300" dirty="0">
                <a:solidFill>
                  <a:srgbClr val="94A3B8"/>
                </a:solidFill>
                <a:latin typeface="Arial" pitchFamily="34" charset="0"/>
                <a:ea typeface="Arial" pitchFamily="34" charset="-122"/>
                <a:cs typeface="Arial" pitchFamily="34" charset="-120"/>
              </a:rPr>
              <a:t>Two-model approach to characterize feasibility</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Users/alessandrodibari/Ale/projects/TR_hiring_exercise/outputs/pptx_workspace/slides/accent_teal.png">    </p:cNvPr>
          <p:cNvPicPr>
            <a:picLocks noChangeAspect="1"/>
          </p:cNvPicPr>
          <p:nvPr/>
        </p:nvPicPr>
        <p:blipFill>
          <a:blip r:embed="rId2"/>
          <a:stretch>
            <a:fillRect/>
          </a:stretch>
        </p:blipFill>
        <p:spPr>
          <a:xfrm>
            <a:off x="0" y="0"/>
            <a:ext cx="9144000" cy="50750"/>
          </a:xfrm>
          <a:prstGeom prst="rect">
            <a:avLst/>
          </a:prstGeom>
        </p:spPr>
      </p:pic>
      <p:sp>
        <p:nvSpPr>
          <p:cNvPr id="3" name="Text 0"/>
          <p:cNvSpPr/>
          <p:nvPr/>
        </p:nvSpPr>
        <p:spPr>
          <a:xfrm>
            <a:off x="457200" y="355550"/>
            <a:ext cx="8394192" cy="323850"/>
          </a:xfrm>
          <a:prstGeom prst="rect">
            <a:avLst/>
          </a:prstGeom>
          <a:noFill/>
          <a:ln/>
        </p:spPr>
        <p:txBody>
          <a:bodyPr wrap="square" lIns="0" tIns="0" rIns="0" bIns="0" rtlCol="0" anchor="t"/>
          <a:lstStyle/>
          <a:p>
            <a:pPr algn="l" indent="0" marL="0">
              <a:buNone/>
            </a:pPr>
            <a:r>
              <a:rPr lang="en-US" sz="2200" b="1" dirty="0">
                <a:solidFill>
                  <a:srgbClr val="00B4D8"/>
                </a:solidFill>
                <a:latin typeface="Arial" pitchFamily="34" charset="0"/>
                <a:ea typeface="Arial" pitchFamily="34" charset="-122"/>
                <a:cs typeface="Arial" pitchFamily="34" charset="-120"/>
              </a:rPr>
              <a:t>Modeling Strategy Overview</a:t>
            </a:r>
            <a:endParaRPr lang="en-US" sz="2200" dirty="0"/>
          </a:p>
        </p:txBody>
      </p:sp>
      <p:sp>
        <p:nvSpPr>
          <p:cNvPr id="4" name="Text 1"/>
          <p:cNvSpPr/>
          <p:nvPr/>
        </p:nvSpPr>
        <p:spPr>
          <a:xfrm>
            <a:off x="457200" y="933301"/>
            <a:ext cx="3987850" cy="3372296"/>
          </a:xfrm>
          <a:prstGeom prst="roundRect">
            <a:avLst>
              <a:gd name="adj" fmla="val 3013"/>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5" name="Text 2"/>
          <p:cNvSpPr/>
          <p:nvPr/>
        </p:nvSpPr>
        <p:spPr>
          <a:xfrm>
            <a:off x="695325" y="1171426"/>
            <a:ext cx="3581832" cy="177701"/>
          </a:xfrm>
          <a:prstGeom prst="rect">
            <a:avLst/>
          </a:prstGeom>
          <a:noFill/>
          <a:ln/>
        </p:spPr>
        <p:txBody>
          <a:bodyPr wrap="square" lIns="0" tIns="0" rIns="0" bIns="0" rtlCol="0" anchor="t"/>
          <a:lstStyle/>
          <a:p>
            <a:pPr algn="l" indent="0" marL="0">
              <a:lnSpc>
                <a:spcPts val="1400"/>
              </a:lnSpc>
              <a:spcAft>
                <a:spcPts val="600"/>
              </a:spcAft>
              <a:buNone/>
            </a:pPr>
            <a:r>
              <a:rPr lang="en-US" sz="1000" b="1" dirty="0">
                <a:solidFill>
                  <a:srgbClr val="CBD5E1"/>
                </a:solidFill>
                <a:latin typeface="Arial" pitchFamily="34" charset="0"/>
                <a:ea typeface="Arial" pitchFamily="34" charset="-122"/>
                <a:cs typeface="Arial" pitchFamily="34" charset="-120"/>
              </a:rPr>
              <a:t>1</a:t>
            </a:r>
            <a:endParaRPr lang="en-US" sz="1000" dirty="0"/>
          </a:p>
        </p:txBody>
      </p:sp>
      <p:sp>
        <p:nvSpPr>
          <p:cNvPr id="6" name="Text 3"/>
          <p:cNvSpPr/>
          <p:nvPr/>
        </p:nvSpPr>
        <p:spPr>
          <a:xfrm>
            <a:off x="695325" y="1425327"/>
            <a:ext cx="3581832" cy="177701"/>
          </a:xfrm>
          <a:prstGeom prst="rect">
            <a:avLst/>
          </a:prstGeom>
          <a:noFill/>
          <a:ln/>
        </p:spPr>
        <p:txBody>
          <a:bodyPr wrap="square" lIns="0" tIns="0" rIns="0" bIns="0" rtlCol="0" anchor="t"/>
          <a:lstStyle/>
          <a:p>
            <a:pPr algn="l" indent="0" marL="0">
              <a:lnSpc>
                <a:spcPts val="1400"/>
              </a:lnSpc>
              <a:spcAft>
                <a:spcPts val="600"/>
              </a:spcAft>
              <a:buNone/>
            </a:pPr>
            <a:r>
              <a:rPr lang="en-US" sz="1000" b="1" dirty="0">
                <a:solidFill>
                  <a:srgbClr val="CBD5E1"/>
                </a:solidFill>
                <a:latin typeface="Arial" pitchFamily="34" charset="0"/>
                <a:ea typeface="Arial" pitchFamily="34" charset="-122"/>
                <a:cs typeface="Arial" pitchFamily="34" charset="-120"/>
              </a:rPr>
              <a:t>TF-IDF + Logistic Regression</a:t>
            </a:r>
            <a:endParaRPr lang="en-US" sz="1000" dirty="0"/>
          </a:p>
        </p:txBody>
      </p:sp>
      <p:sp>
        <p:nvSpPr>
          <p:cNvPr id="7" name="Text 4"/>
          <p:cNvSpPr/>
          <p:nvPr/>
        </p:nvSpPr>
        <p:spPr>
          <a:xfrm>
            <a:off x="695325" y="1679228"/>
            <a:ext cx="3581832" cy="177701"/>
          </a:xfrm>
          <a:prstGeom prst="rect">
            <a:avLst/>
          </a:prstGeom>
          <a:noFill/>
          <a:ln/>
        </p:spPr>
        <p:txBody>
          <a:bodyPr wrap="square" lIns="0" tIns="0" rIns="0" bIns="0" rtlCol="0" anchor="t"/>
          <a:lstStyle/>
          <a:p>
            <a:pPr algn="l" indent="0" marL="0">
              <a:lnSpc>
                <a:spcPts val="1400"/>
              </a:lnSpc>
              <a:spcAft>
                <a:spcPts val="600"/>
              </a:spcAft>
              <a:buNone/>
            </a:pPr>
            <a:r>
              <a:rPr lang="en-US" sz="1000" dirty="0">
                <a:solidFill>
                  <a:srgbClr val="CBD5E1"/>
                </a:solidFill>
                <a:latin typeface="Arial" pitchFamily="34" charset="0"/>
                <a:ea typeface="Arial" pitchFamily="34" charset="-122"/>
                <a:cs typeface="Arial" pitchFamily="34" charset="-120"/>
              </a:rPr>
              <a:t>Strong, interpretable baseline</a:t>
            </a:r>
            <a:endParaRPr lang="en-US" sz="1000" dirty="0"/>
          </a:p>
        </p:txBody>
      </p:sp>
      <p:sp>
        <p:nvSpPr>
          <p:cNvPr id="8" name="Text 5"/>
          <p:cNvSpPr/>
          <p:nvPr/>
        </p:nvSpPr>
        <p:spPr>
          <a:xfrm>
            <a:off x="695325" y="1933129"/>
            <a:ext cx="3581832" cy="177701"/>
          </a:xfrm>
          <a:prstGeom prst="rect">
            <a:avLst/>
          </a:prstGeom>
          <a:noFill/>
          <a:ln/>
        </p:spPr>
        <p:txBody>
          <a:bodyPr wrap="square" lIns="0" tIns="0" rIns="0" bIns="0" rtlCol="0" anchor="t"/>
          <a:lstStyle/>
          <a:p>
            <a:pPr algn="l" indent="0" marL="0">
              <a:lnSpc>
                <a:spcPts val="1400"/>
              </a:lnSpc>
              <a:spcAft>
                <a:spcPts val="600"/>
              </a:spcAft>
              <a:buNone/>
            </a:pPr>
            <a:r>
              <a:rPr lang="en-US" sz="1000" dirty="0">
                <a:solidFill>
                  <a:srgbClr val="CBD5E1"/>
                </a:solidFill>
                <a:latin typeface="Arial" pitchFamily="34" charset="0"/>
                <a:ea typeface="Arial" pitchFamily="34" charset="-122"/>
                <a:cs typeface="Arial" pitchFamily="34" charset="-120"/>
              </a:rPr>
              <a:t>OneVsRest multi-label strategy</a:t>
            </a:r>
            <a:endParaRPr lang="en-US" sz="1000" dirty="0"/>
          </a:p>
        </p:txBody>
      </p:sp>
      <p:sp>
        <p:nvSpPr>
          <p:cNvPr id="9" name="Text 6"/>
          <p:cNvSpPr/>
          <p:nvPr/>
        </p:nvSpPr>
        <p:spPr>
          <a:xfrm>
            <a:off x="695325" y="2187029"/>
            <a:ext cx="3581832" cy="177701"/>
          </a:xfrm>
          <a:prstGeom prst="rect">
            <a:avLst/>
          </a:prstGeom>
          <a:noFill/>
          <a:ln/>
        </p:spPr>
        <p:txBody>
          <a:bodyPr wrap="square" lIns="0" tIns="0" rIns="0" bIns="0" rtlCol="0" anchor="t"/>
          <a:lstStyle/>
          <a:p>
            <a:pPr algn="l" indent="0" marL="0">
              <a:lnSpc>
                <a:spcPts val="1400"/>
              </a:lnSpc>
              <a:spcAft>
                <a:spcPts val="600"/>
              </a:spcAft>
              <a:buNone/>
            </a:pPr>
            <a:r>
              <a:rPr lang="en-US" sz="1000" dirty="0">
                <a:solidFill>
                  <a:srgbClr val="CBD5E1"/>
                </a:solidFill>
                <a:latin typeface="Arial" pitchFamily="34" charset="0"/>
                <a:ea typeface="Arial" pitchFamily="34" charset="-122"/>
                <a:cs typeface="Arial" pitchFamily="34" charset="-120"/>
              </a:rPr>
              <a:t>10,000 features (unigrams + bigrams)</a:t>
            </a:r>
            <a:endParaRPr lang="en-US" sz="1000" dirty="0"/>
          </a:p>
        </p:txBody>
      </p:sp>
      <p:sp>
        <p:nvSpPr>
          <p:cNvPr id="10" name="Text 7"/>
          <p:cNvSpPr/>
          <p:nvPr/>
        </p:nvSpPr>
        <p:spPr>
          <a:xfrm>
            <a:off x="695325" y="2440930"/>
            <a:ext cx="3581832" cy="177701"/>
          </a:xfrm>
          <a:prstGeom prst="rect">
            <a:avLst/>
          </a:prstGeom>
          <a:noFill/>
          <a:ln/>
        </p:spPr>
        <p:txBody>
          <a:bodyPr wrap="square" lIns="0" tIns="0" rIns="0" bIns="0" rtlCol="0" anchor="t"/>
          <a:lstStyle/>
          <a:p>
            <a:pPr algn="l" indent="0" marL="0">
              <a:lnSpc>
                <a:spcPts val="1400"/>
              </a:lnSpc>
              <a:spcAft>
                <a:spcPts val="600"/>
              </a:spcAft>
              <a:buNone/>
            </a:pPr>
            <a:r>
              <a:rPr lang="en-US" sz="1000" dirty="0">
                <a:solidFill>
                  <a:srgbClr val="CBD5E1"/>
                </a:solidFill>
                <a:latin typeface="Arial" pitchFamily="34" charset="0"/>
                <a:ea typeface="Arial" pitchFamily="34" charset="-122"/>
                <a:cs typeface="Arial" pitchFamily="34" charset="-120"/>
              </a:rPr>
              <a:t>Fast to train and evaluate</a:t>
            </a:r>
            <a:endParaRPr lang="en-US" sz="1000" dirty="0"/>
          </a:p>
        </p:txBody>
      </p:sp>
      <p:sp>
        <p:nvSpPr>
          <p:cNvPr id="11" name="Text 8"/>
          <p:cNvSpPr/>
          <p:nvPr/>
        </p:nvSpPr>
        <p:spPr>
          <a:xfrm>
            <a:off x="695325" y="2694831"/>
            <a:ext cx="3511600" cy="229642"/>
          </a:xfrm>
          <a:prstGeom prst="roundRect">
            <a:avLst>
              <a:gd name="adj" fmla="val 22121"/>
            </a:avLst>
          </a:prstGeom>
          <a:solidFill>
            <a:srgbClr val="00B4D8">
              <a:alpha val="15000"/>
            </a:srgbClr>
          </a:solidFill>
          <a:ln w="9525">
            <a:solidFill>
              <a:srgbClr val="00B4D8"/>
            </a:solidFill>
          </a:ln>
        </p:spPr>
        <p:txBody>
          <a:bodyPr wrap="square" rtlCol="0" anchor="ctr"/>
          <a:lstStyle/>
          <a:p>
            <a:pPr indent="0" marL="0">
              <a:buNone/>
            </a:pPr>
            <a:endParaRPr lang="en-US" dirty="0"/>
          </a:p>
        </p:txBody>
      </p:sp>
      <p:sp>
        <p:nvSpPr>
          <p:cNvPr id="12" name="Text 9"/>
          <p:cNvSpPr/>
          <p:nvPr/>
        </p:nvSpPr>
        <p:spPr>
          <a:xfrm>
            <a:off x="806351" y="2729657"/>
            <a:ext cx="3355339" cy="159990"/>
          </a:xfrm>
          <a:prstGeom prst="rect">
            <a:avLst/>
          </a:prstGeom>
          <a:noFill/>
          <a:ln/>
        </p:spPr>
        <p:txBody>
          <a:bodyPr wrap="square" lIns="0" tIns="0" rIns="0" bIns="0" rtlCol="0" anchor="t"/>
          <a:lstStyle/>
          <a:p>
            <a:pPr algn="l" indent="0" marL="0">
              <a:lnSpc>
                <a:spcPts val="1260"/>
              </a:lnSpc>
              <a:buNone/>
            </a:pPr>
            <a:r>
              <a:rPr lang="en-US" sz="900" dirty="0">
                <a:solidFill>
                  <a:srgbClr val="00B4D8"/>
                </a:solidFill>
                <a:latin typeface="Arial" pitchFamily="34" charset="0"/>
                <a:ea typeface="Arial" pitchFamily="34" charset="-122"/>
                <a:cs typeface="Arial" pitchFamily="34" charset="-120"/>
              </a:rPr>
              <a:t>BASELINE</a:t>
            </a:r>
            <a:endParaRPr lang="en-US" sz="900" dirty="0"/>
          </a:p>
        </p:txBody>
      </p:sp>
      <p:sp>
        <p:nvSpPr>
          <p:cNvPr id="13" name="Text 10"/>
          <p:cNvSpPr/>
          <p:nvPr/>
        </p:nvSpPr>
        <p:spPr>
          <a:xfrm>
            <a:off x="4698950" y="933301"/>
            <a:ext cx="3987850" cy="3372296"/>
          </a:xfrm>
          <a:prstGeom prst="roundRect">
            <a:avLst>
              <a:gd name="adj" fmla="val 3013"/>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14" name="Text 11"/>
          <p:cNvSpPr/>
          <p:nvPr/>
        </p:nvSpPr>
        <p:spPr>
          <a:xfrm>
            <a:off x="4937075" y="1171426"/>
            <a:ext cx="3581832" cy="177701"/>
          </a:xfrm>
          <a:prstGeom prst="rect">
            <a:avLst/>
          </a:prstGeom>
          <a:noFill/>
          <a:ln/>
        </p:spPr>
        <p:txBody>
          <a:bodyPr wrap="square" lIns="0" tIns="0" rIns="0" bIns="0" rtlCol="0" anchor="t"/>
          <a:lstStyle/>
          <a:p>
            <a:pPr algn="l" indent="0" marL="0">
              <a:lnSpc>
                <a:spcPts val="1400"/>
              </a:lnSpc>
              <a:spcAft>
                <a:spcPts val="600"/>
              </a:spcAft>
              <a:buNone/>
            </a:pPr>
            <a:r>
              <a:rPr lang="en-US" sz="1000" b="1" dirty="0">
                <a:solidFill>
                  <a:srgbClr val="CBD5E1"/>
                </a:solidFill>
                <a:latin typeface="Arial" pitchFamily="34" charset="0"/>
                <a:ea typeface="Arial" pitchFamily="34" charset="-122"/>
                <a:cs typeface="Arial" pitchFamily="34" charset="-120"/>
              </a:rPr>
              <a:t>2</a:t>
            </a:r>
            <a:endParaRPr lang="en-US" sz="1000" dirty="0"/>
          </a:p>
        </p:txBody>
      </p:sp>
      <p:sp>
        <p:nvSpPr>
          <p:cNvPr id="15" name="Text 12"/>
          <p:cNvSpPr/>
          <p:nvPr/>
        </p:nvSpPr>
        <p:spPr>
          <a:xfrm>
            <a:off x="4937075" y="1425327"/>
            <a:ext cx="3581832" cy="177701"/>
          </a:xfrm>
          <a:prstGeom prst="rect">
            <a:avLst/>
          </a:prstGeom>
          <a:noFill/>
          <a:ln/>
        </p:spPr>
        <p:txBody>
          <a:bodyPr wrap="square" lIns="0" tIns="0" rIns="0" bIns="0" rtlCol="0" anchor="t"/>
          <a:lstStyle/>
          <a:p>
            <a:pPr algn="l" indent="0" marL="0">
              <a:lnSpc>
                <a:spcPts val="1400"/>
              </a:lnSpc>
              <a:spcAft>
                <a:spcPts val="600"/>
              </a:spcAft>
              <a:buNone/>
            </a:pPr>
            <a:r>
              <a:rPr lang="en-US" sz="1000" b="1" dirty="0">
                <a:solidFill>
                  <a:srgbClr val="CBD5E1"/>
                </a:solidFill>
                <a:latin typeface="Arial" pitchFamily="34" charset="0"/>
                <a:ea typeface="Arial" pitchFamily="34" charset="-122"/>
                <a:cs typeface="Arial" pitchFamily="34" charset="-120"/>
              </a:rPr>
              <a:t>Legal-Longformer Hybrid</a:t>
            </a:r>
            <a:endParaRPr lang="en-US" sz="1000" dirty="0"/>
          </a:p>
        </p:txBody>
      </p:sp>
      <p:sp>
        <p:nvSpPr>
          <p:cNvPr id="16" name="Text 13"/>
          <p:cNvSpPr/>
          <p:nvPr/>
        </p:nvSpPr>
        <p:spPr>
          <a:xfrm>
            <a:off x="4937075" y="1679228"/>
            <a:ext cx="3581832" cy="177701"/>
          </a:xfrm>
          <a:prstGeom prst="rect">
            <a:avLst/>
          </a:prstGeom>
          <a:noFill/>
          <a:ln/>
        </p:spPr>
        <p:txBody>
          <a:bodyPr wrap="square" lIns="0" tIns="0" rIns="0" bIns="0" rtlCol="0" anchor="t"/>
          <a:lstStyle/>
          <a:p>
            <a:pPr algn="l" indent="0" marL="0">
              <a:lnSpc>
                <a:spcPts val="1400"/>
              </a:lnSpc>
              <a:spcAft>
                <a:spcPts val="600"/>
              </a:spcAft>
              <a:buNone/>
            </a:pPr>
            <a:r>
              <a:rPr lang="en-US" sz="1000" dirty="0">
                <a:solidFill>
                  <a:srgbClr val="CBD5E1"/>
                </a:solidFill>
                <a:latin typeface="Arial" pitchFamily="34" charset="0"/>
                <a:ea typeface="Arial" pitchFamily="34" charset="-122"/>
                <a:cs typeface="Arial" pitchFamily="34" charset="-120"/>
              </a:rPr>
              <a:t>Domain-specific transformer</a:t>
            </a:r>
            <a:endParaRPr lang="en-US" sz="1000" dirty="0"/>
          </a:p>
        </p:txBody>
      </p:sp>
      <p:sp>
        <p:nvSpPr>
          <p:cNvPr id="17" name="Text 14"/>
          <p:cNvSpPr/>
          <p:nvPr/>
        </p:nvSpPr>
        <p:spPr>
          <a:xfrm>
            <a:off x="4937075" y="1933129"/>
            <a:ext cx="3581832" cy="177701"/>
          </a:xfrm>
          <a:prstGeom prst="rect">
            <a:avLst/>
          </a:prstGeom>
          <a:noFill/>
          <a:ln/>
        </p:spPr>
        <p:txBody>
          <a:bodyPr wrap="square" lIns="0" tIns="0" rIns="0" bIns="0" rtlCol="0" anchor="t"/>
          <a:lstStyle/>
          <a:p>
            <a:pPr algn="l" indent="0" marL="0">
              <a:lnSpc>
                <a:spcPts val="1400"/>
              </a:lnSpc>
              <a:spcAft>
                <a:spcPts val="600"/>
              </a:spcAft>
              <a:buNone/>
            </a:pPr>
            <a:r>
              <a:rPr lang="en-US" sz="1000" dirty="0">
                <a:solidFill>
                  <a:srgbClr val="CBD5E1"/>
                </a:solidFill>
                <a:latin typeface="Arial" pitchFamily="34" charset="0"/>
                <a:ea typeface="Arial" pitchFamily="34" charset="-122"/>
                <a:cs typeface="Arial" pitchFamily="34" charset="-120"/>
              </a:rPr>
              <a:t>4,096 token context window</a:t>
            </a:r>
            <a:endParaRPr lang="en-US" sz="1000" dirty="0"/>
          </a:p>
        </p:txBody>
      </p:sp>
      <p:sp>
        <p:nvSpPr>
          <p:cNvPr id="18" name="Text 15"/>
          <p:cNvSpPr/>
          <p:nvPr/>
        </p:nvSpPr>
        <p:spPr>
          <a:xfrm>
            <a:off x="4937075" y="2187029"/>
            <a:ext cx="3581832" cy="177701"/>
          </a:xfrm>
          <a:prstGeom prst="rect">
            <a:avLst/>
          </a:prstGeom>
          <a:noFill/>
          <a:ln/>
        </p:spPr>
        <p:txBody>
          <a:bodyPr wrap="square" lIns="0" tIns="0" rIns="0" bIns="0" rtlCol="0" anchor="t"/>
          <a:lstStyle/>
          <a:p>
            <a:pPr algn="l" indent="0" marL="0">
              <a:lnSpc>
                <a:spcPts val="1400"/>
              </a:lnSpc>
              <a:spcAft>
                <a:spcPts val="600"/>
              </a:spcAft>
              <a:buNone/>
            </a:pPr>
            <a:r>
              <a:rPr lang="en-US" sz="1000" dirty="0">
                <a:solidFill>
                  <a:srgbClr val="CBD5E1"/>
                </a:solidFill>
                <a:latin typeface="Arial" pitchFamily="34" charset="0"/>
                <a:ea typeface="Arial" pitchFamily="34" charset="-122"/>
                <a:cs typeface="Arial" pitchFamily="34" charset="-120"/>
              </a:rPr>
              <a:t>Hybrid summarize + classify strategy</a:t>
            </a:r>
            <a:endParaRPr lang="en-US" sz="1000" dirty="0"/>
          </a:p>
        </p:txBody>
      </p:sp>
      <p:sp>
        <p:nvSpPr>
          <p:cNvPr id="19" name="Text 16"/>
          <p:cNvSpPr/>
          <p:nvPr/>
        </p:nvSpPr>
        <p:spPr>
          <a:xfrm>
            <a:off x="4937075" y="2440930"/>
            <a:ext cx="3581832" cy="177701"/>
          </a:xfrm>
          <a:prstGeom prst="rect">
            <a:avLst/>
          </a:prstGeom>
          <a:noFill/>
          <a:ln/>
        </p:spPr>
        <p:txBody>
          <a:bodyPr wrap="square" lIns="0" tIns="0" rIns="0" bIns="0" rtlCol="0" anchor="t"/>
          <a:lstStyle/>
          <a:p>
            <a:pPr algn="l" indent="0" marL="0">
              <a:lnSpc>
                <a:spcPts val="1400"/>
              </a:lnSpc>
              <a:spcAft>
                <a:spcPts val="600"/>
              </a:spcAft>
              <a:buNone/>
            </a:pPr>
            <a:r>
              <a:rPr lang="en-US" sz="1000" dirty="0">
                <a:solidFill>
                  <a:srgbClr val="CBD5E1"/>
                </a:solidFill>
                <a:latin typeface="Arial" pitchFamily="34" charset="0"/>
                <a:ea typeface="Arial" pitchFamily="34" charset="-122"/>
                <a:cs typeface="Arial" pitchFamily="34" charset="-120"/>
              </a:rPr>
              <a:t>Pre-trained on legal corpora</a:t>
            </a:r>
            <a:endParaRPr lang="en-US" sz="1000" dirty="0"/>
          </a:p>
        </p:txBody>
      </p:sp>
      <p:sp>
        <p:nvSpPr>
          <p:cNvPr id="20" name="Text 17"/>
          <p:cNvSpPr/>
          <p:nvPr/>
        </p:nvSpPr>
        <p:spPr>
          <a:xfrm>
            <a:off x="4937075" y="2694831"/>
            <a:ext cx="3511600" cy="229642"/>
          </a:xfrm>
          <a:prstGeom prst="roundRect">
            <a:avLst>
              <a:gd name="adj" fmla="val 22121"/>
            </a:avLst>
          </a:prstGeom>
          <a:solidFill>
            <a:srgbClr val="00B4D8">
              <a:alpha val="15000"/>
            </a:srgbClr>
          </a:solidFill>
          <a:ln w="9525">
            <a:solidFill>
              <a:srgbClr val="00B4D8"/>
            </a:solidFill>
          </a:ln>
        </p:spPr>
        <p:txBody>
          <a:bodyPr wrap="square" rtlCol="0" anchor="ctr"/>
          <a:lstStyle/>
          <a:p>
            <a:pPr indent="0" marL="0">
              <a:buNone/>
            </a:pPr>
            <a:endParaRPr lang="en-US" dirty="0"/>
          </a:p>
        </p:txBody>
      </p:sp>
      <p:sp>
        <p:nvSpPr>
          <p:cNvPr id="21" name="Text 18"/>
          <p:cNvSpPr/>
          <p:nvPr/>
        </p:nvSpPr>
        <p:spPr>
          <a:xfrm>
            <a:off x="5048101" y="2729657"/>
            <a:ext cx="3355339" cy="159990"/>
          </a:xfrm>
          <a:prstGeom prst="rect">
            <a:avLst/>
          </a:prstGeom>
          <a:noFill/>
          <a:ln/>
        </p:spPr>
        <p:txBody>
          <a:bodyPr wrap="square" lIns="0" tIns="0" rIns="0" bIns="0" rtlCol="0" anchor="t"/>
          <a:lstStyle/>
          <a:p>
            <a:pPr algn="l" indent="0" marL="0">
              <a:lnSpc>
                <a:spcPts val="1260"/>
              </a:lnSpc>
              <a:buNone/>
            </a:pPr>
            <a:r>
              <a:rPr lang="en-US" sz="900" dirty="0">
                <a:solidFill>
                  <a:srgbClr val="00B4D8"/>
                </a:solidFill>
                <a:latin typeface="Arial" pitchFamily="34" charset="0"/>
                <a:ea typeface="Arial" pitchFamily="34" charset="-122"/>
                <a:cs typeface="Arial" pitchFamily="34" charset="-120"/>
              </a:rPr>
              <a:t>TRANSFORMER</a:t>
            </a:r>
            <a:endParaRPr lang="en-US" sz="900" dirty="0"/>
          </a:p>
        </p:txBody>
      </p:sp>
      <p:sp>
        <p:nvSpPr>
          <p:cNvPr id="22" name="Text 19"/>
          <p:cNvSpPr/>
          <p:nvPr/>
        </p:nvSpPr>
        <p:spPr>
          <a:xfrm>
            <a:off x="457200" y="4483298"/>
            <a:ext cx="8229600" cy="406301"/>
          </a:xfrm>
          <a:prstGeom prst="rect">
            <a:avLst/>
          </a:prstGeom>
          <a:solidFill>
            <a:srgbClr val="E76F51">
              <a:alpha val="10000"/>
            </a:srgbClr>
          </a:solidFill>
          <a:ln/>
        </p:spPr>
        <p:txBody>
          <a:bodyPr wrap="square" rtlCol="0" anchor="ctr"/>
          <a:lstStyle/>
          <a:p>
            <a:pPr indent="0" marL="0">
              <a:buNone/>
            </a:pPr>
            <a:endParaRPr lang="en-US" dirty="0"/>
          </a:p>
        </p:txBody>
      </p:sp>
      <p:sp>
        <p:nvSpPr>
          <p:cNvPr id="23" name="Shape 20"/>
          <p:cNvSpPr/>
          <p:nvPr/>
        </p:nvSpPr>
        <p:spPr>
          <a:xfrm>
            <a:off x="481012" y="4483298"/>
            <a:ext cx="0" cy="406301"/>
          </a:xfrm>
          <a:prstGeom prst="line">
            <a:avLst/>
          </a:prstGeom>
          <a:noFill/>
          <a:ln w="47625">
            <a:solidFill>
              <a:srgbClr val="E76F51"/>
            </a:solidFill>
            <a:prstDash val="solid"/>
          </a:ln>
        </p:spPr>
      </p:sp>
      <p:sp>
        <p:nvSpPr>
          <p:cNvPr id="24" name="Text 21"/>
          <p:cNvSpPr/>
          <p:nvPr/>
        </p:nvSpPr>
        <p:spPr>
          <a:xfrm>
            <a:off x="682526" y="4610249"/>
            <a:ext cx="7983105" cy="152400"/>
          </a:xfrm>
          <a:prstGeom prst="rect">
            <a:avLst/>
          </a:prstGeom>
          <a:noFill/>
          <a:ln/>
        </p:spPr>
        <p:txBody>
          <a:bodyPr wrap="square" lIns="0" tIns="0" rIns="0" bIns="0" rtlCol="0" anchor="t"/>
          <a:lstStyle/>
          <a:p>
            <a:pPr algn="l" indent="0" marL="0">
              <a:buNone/>
            </a:pPr>
            <a:r>
              <a:rPr lang="en-US" sz="1100" b="1" dirty="0">
                <a:solidFill>
                  <a:srgbClr val="E2E8F0"/>
                </a:solidFill>
                <a:latin typeface="Arial" pitchFamily="34" charset="0"/>
                <a:ea typeface="Arial" pitchFamily="34" charset="-122"/>
                <a:cs typeface="Arial" pitchFamily="34" charset="-120"/>
              </a:rPr>
              <a:t>Goal:</a:t>
            </a:r>
            <a:pPr algn="l" indent="0" marL="0">
              <a:buNone/>
            </a:pPr>
            <a:r>
              <a:rPr lang="en-US" sz="1100" dirty="0">
                <a:solidFill>
                  <a:srgbClr val="E2E8F0"/>
                </a:solidFill>
                <a:latin typeface="Arial" pitchFamily="34" charset="0"/>
                <a:ea typeface="Arial" pitchFamily="34" charset="-122"/>
                <a:cs typeface="Arial" pitchFamily="34" charset="-120"/>
              </a:rPr>
              <a:t> Characterize performance and feasibility, not maximize SOTA results.</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Users/alessandrodibari/Ale/projects/TR_hiring_exercise/outputs/pptx_workspace/slides/accent_teal.png">    </p:cNvPr>
          <p:cNvPicPr>
            <a:picLocks noChangeAspect="1"/>
          </p:cNvPicPr>
          <p:nvPr/>
        </p:nvPicPr>
        <p:blipFill>
          <a:blip r:embed="rId2"/>
          <a:stretch>
            <a:fillRect/>
          </a:stretch>
        </p:blipFill>
        <p:spPr>
          <a:xfrm>
            <a:off x="0" y="0"/>
            <a:ext cx="9144000" cy="50750"/>
          </a:xfrm>
          <a:prstGeom prst="rect">
            <a:avLst/>
          </a:prstGeom>
        </p:spPr>
      </p:pic>
      <p:sp>
        <p:nvSpPr>
          <p:cNvPr id="3" name="Text 0"/>
          <p:cNvSpPr/>
          <p:nvPr/>
        </p:nvSpPr>
        <p:spPr>
          <a:xfrm>
            <a:off x="457200" y="355550"/>
            <a:ext cx="8394192" cy="323850"/>
          </a:xfrm>
          <a:prstGeom prst="rect">
            <a:avLst/>
          </a:prstGeom>
          <a:noFill/>
          <a:ln/>
        </p:spPr>
        <p:txBody>
          <a:bodyPr wrap="square" lIns="0" tIns="0" rIns="0" bIns="0" rtlCol="0" anchor="t"/>
          <a:lstStyle/>
          <a:p>
            <a:pPr algn="l" indent="0" marL="0">
              <a:buNone/>
            </a:pPr>
            <a:r>
              <a:rPr lang="en-US" sz="2200" b="1" dirty="0">
                <a:solidFill>
                  <a:srgbClr val="00B4D8"/>
                </a:solidFill>
                <a:latin typeface="Arial" pitchFamily="34" charset="0"/>
                <a:ea typeface="Arial" pitchFamily="34" charset="-122"/>
                <a:cs typeface="Arial" pitchFamily="34" charset="-120"/>
              </a:rPr>
              <a:t>Baseline: TF-IDF + Logistic Regression</a:t>
            </a:r>
            <a:endParaRPr lang="en-US" sz="2200" dirty="0"/>
          </a:p>
        </p:txBody>
      </p:sp>
      <p:sp>
        <p:nvSpPr>
          <p:cNvPr id="4" name="Text 1"/>
          <p:cNvSpPr/>
          <p:nvPr/>
        </p:nvSpPr>
        <p:spPr>
          <a:xfrm>
            <a:off x="457200" y="882551"/>
            <a:ext cx="4067607" cy="159990"/>
          </a:xfrm>
          <a:prstGeom prst="rect">
            <a:avLst/>
          </a:prstGeom>
          <a:noFill/>
          <a:ln/>
        </p:spPr>
        <p:txBody>
          <a:bodyPr wrap="square" lIns="0" tIns="0" rIns="0" bIns="0" rtlCol="0" anchor="t"/>
          <a:lstStyle/>
          <a:p>
            <a:pPr algn="l" indent="0" marL="0">
              <a:lnSpc>
                <a:spcPts val="1260"/>
              </a:lnSpc>
              <a:spcAft>
                <a:spcPts val="600"/>
              </a:spcAft>
              <a:buNone/>
            </a:pPr>
            <a:r>
              <a:rPr lang="en-US" sz="900" dirty="0">
                <a:solidFill>
                  <a:srgbClr val="94A3B8"/>
                </a:solidFill>
                <a:latin typeface="Arial" pitchFamily="34" charset="0"/>
                <a:ea typeface="Arial" pitchFamily="34" charset="-122"/>
                <a:cs typeface="Arial" pitchFamily="34" charset="-120"/>
              </a:rPr>
              <a:t>CONFIGURATION</a:t>
            </a:r>
            <a:endParaRPr lang="en-US" sz="900" dirty="0"/>
          </a:p>
        </p:txBody>
      </p:sp>
      <p:sp>
        <p:nvSpPr>
          <p:cNvPr id="5" name="Shape 2"/>
          <p:cNvSpPr/>
          <p:nvPr/>
        </p:nvSpPr>
        <p:spPr>
          <a:xfrm>
            <a:off x="457200" y="1453604"/>
            <a:ext cx="3987850" cy="0"/>
          </a:xfrm>
          <a:prstGeom prst="line">
            <a:avLst/>
          </a:prstGeom>
          <a:noFill/>
          <a:ln w="9525">
            <a:solidFill>
              <a:srgbClr val="FFFFFF"/>
            </a:solidFill>
            <a:prstDash val="solid"/>
          </a:ln>
        </p:spPr>
      </p:sp>
      <p:sp>
        <p:nvSpPr>
          <p:cNvPr id="6" name="Text 3"/>
          <p:cNvSpPr/>
          <p:nvPr/>
        </p:nvSpPr>
        <p:spPr>
          <a:xfrm>
            <a:off x="457200" y="1194941"/>
            <a:ext cx="575947" cy="177701"/>
          </a:xfrm>
          <a:prstGeom prst="rect">
            <a:avLst/>
          </a:prstGeom>
          <a:noFill/>
          <a:ln/>
        </p:spPr>
        <p:txBody>
          <a:bodyPr wrap="square" lIns="0" tIns="0" rIns="0" bIns="0" rtlCol="0" anchor="t"/>
          <a:lstStyle/>
          <a:p>
            <a:pPr algn="l" indent="0" marL="0">
              <a:lnSpc>
                <a:spcPts val="1400"/>
              </a:lnSpc>
              <a:buNone/>
            </a:pPr>
            <a:r>
              <a:rPr lang="en-US" sz="1000" dirty="0">
                <a:solidFill>
                  <a:srgbClr val="94A3B8"/>
                </a:solidFill>
                <a:latin typeface="Arial" pitchFamily="34" charset="0"/>
                <a:ea typeface="Arial" pitchFamily="34" charset="-122"/>
                <a:cs typeface="Arial" pitchFamily="34" charset="-120"/>
              </a:rPr>
              <a:t>Vectorizer</a:t>
            </a:r>
            <a:endParaRPr lang="en-US" sz="1000" dirty="0"/>
          </a:p>
        </p:txBody>
      </p:sp>
      <p:sp>
        <p:nvSpPr>
          <p:cNvPr id="7" name="Text 4"/>
          <p:cNvSpPr/>
          <p:nvPr/>
        </p:nvSpPr>
        <p:spPr>
          <a:xfrm>
            <a:off x="4043065" y="1194941"/>
            <a:ext cx="410024" cy="177701"/>
          </a:xfrm>
          <a:prstGeom prst="rect">
            <a:avLst/>
          </a:prstGeom>
          <a:noFill/>
          <a:ln/>
        </p:spPr>
        <p:txBody>
          <a:bodyPr wrap="square" lIns="0" tIns="0" rIns="0" bIns="0" rtlCol="0" anchor="t"/>
          <a:lstStyle/>
          <a:p>
            <a:pPr algn="l" indent="0" marL="0">
              <a:lnSpc>
                <a:spcPts val="1400"/>
              </a:lnSpc>
              <a:buNone/>
            </a:pPr>
            <a:r>
              <a:rPr lang="en-US" sz="1000" b="1" dirty="0">
                <a:solidFill>
                  <a:srgbClr val="E2E8F0"/>
                </a:solidFill>
                <a:latin typeface="Arial" pitchFamily="34" charset="0"/>
                <a:ea typeface="Arial" pitchFamily="34" charset="-122"/>
                <a:cs typeface="Arial" pitchFamily="34" charset="-120"/>
              </a:rPr>
              <a:t>TF-IDF</a:t>
            </a:r>
            <a:endParaRPr lang="en-US" sz="1000" dirty="0"/>
          </a:p>
        </p:txBody>
      </p:sp>
      <p:sp>
        <p:nvSpPr>
          <p:cNvPr id="8" name="Shape 5"/>
          <p:cNvSpPr/>
          <p:nvPr/>
        </p:nvSpPr>
        <p:spPr>
          <a:xfrm>
            <a:off x="457200" y="1793230"/>
            <a:ext cx="3987850" cy="0"/>
          </a:xfrm>
          <a:prstGeom prst="line">
            <a:avLst/>
          </a:prstGeom>
          <a:noFill/>
          <a:ln w="9525">
            <a:solidFill>
              <a:srgbClr val="FFFFFF"/>
            </a:solidFill>
            <a:prstDash val="solid"/>
          </a:ln>
        </p:spPr>
      </p:sp>
      <p:sp>
        <p:nvSpPr>
          <p:cNvPr id="9" name="Text 6"/>
          <p:cNvSpPr/>
          <p:nvPr/>
        </p:nvSpPr>
        <p:spPr>
          <a:xfrm>
            <a:off x="457200" y="1534567"/>
            <a:ext cx="748701" cy="177701"/>
          </a:xfrm>
          <a:prstGeom prst="rect">
            <a:avLst/>
          </a:prstGeom>
          <a:noFill/>
          <a:ln/>
        </p:spPr>
        <p:txBody>
          <a:bodyPr wrap="square" lIns="0" tIns="0" rIns="0" bIns="0" rtlCol="0" anchor="t"/>
          <a:lstStyle/>
          <a:p>
            <a:pPr algn="l" indent="0" marL="0">
              <a:lnSpc>
                <a:spcPts val="1400"/>
              </a:lnSpc>
              <a:buNone/>
            </a:pPr>
            <a:r>
              <a:rPr lang="en-US" sz="1000" dirty="0">
                <a:solidFill>
                  <a:srgbClr val="94A3B8"/>
                </a:solidFill>
                <a:latin typeface="Arial" pitchFamily="34" charset="0"/>
                <a:ea typeface="Arial" pitchFamily="34" charset="-122"/>
                <a:cs typeface="Arial" pitchFamily="34" charset="-120"/>
              </a:rPr>
              <a:t>Max features</a:t>
            </a:r>
            <a:endParaRPr lang="en-US" sz="1000" dirty="0"/>
          </a:p>
        </p:txBody>
      </p:sp>
      <p:sp>
        <p:nvSpPr>
          <p:cNvPr id="10" name="Text 7"/>
          <p:cNvSpPr/>
          <p:nvPr/>
        </p:nvSpPr>
        <p:spPr>
          <a:xfrm>
            <a:off x="4056608" y="1534567"/>
            <a:ext cx="396210" cy="177701"/>
          </a:xfrm>
          <a:prstGeom prst="rect">
            <a:avLst/>
          </a:prstGeom>
          <a:noFill/>
          <a:ln/>
        </p:spPr>
        <p:txBody>
          <a:bodyPr wrap="square" lIns="0" tIns="0" rIns="0" bIns="0" rtlCol="0" anchor="t"/>
          <a:lstStyle/>
          <a:p>
            <a:pPr algn="l" indent="0" marL="0">
              <a:lnSpc>
                <a:spcPts val="1400"/>
              </a:lnSpc>
              <a:buNone/>
            </a:pPr>
            <a:r>
              <a:rPr lang="en-US" sz="1000" b="1" dirty="0">
                <a:solidFill>
                  <a:srgbClr val="E2E8F0"/>
                </a:solidFill>
                <a:latin typeface="Arial" pitchFamily="34" charset="0"/>
                <a:ea typeface="Arial" pitchFamily="34" charset="-122"/>
                <a:cs typeface="Arial" pitchFamily="34" charset="-120"/>
              </a:rPr>
              <a:t>10,000</a:t>
            </a:r>
            <a:endParaRPr lang="en-US" sz="1000" dirty="0"/>
          </a:p>
        </p:txBody>
      </p:sp>
      <p:sp>
        <p:nvSpPr>
          <p:cNvPr id="11" name="Shape 8"/>
          <p:cNvSpPr/>
          <p:nvPr/>
        </p:nvSpPr>
        <p:spPr>
          <a:xfrm>
            <a:off x="457200" y="2132856"/>
            <a:ext cx="3987850" cy="0"/>
          </a:xfrm>
          <a:prstGeom prst="line">
            <a:avLst/>
          </a:prstGeom>
          <a:noFill/>
          <a:ln w="9525">
            <a:solidFill>
              <a:srgbClr val="FFFFFF"/>
            </a:solidFill>
            <a:prstDash val="solid"/>
          </a:ln>
        </p:spPr>
      </p:sp>
      <p:sp>
        <p:nvSpPr>
          <p:cNvPr id="12" name="Text 9"/>
          <p:cNvSpPr/>
          <p:nvPr/>
        </p:nvSpPr>
        <p:spPr>
          <a:xfrm>
            <a:off x="457200" y="1874193"/>
            <a:ext cx="496553" cy="177701"/>
          </a:xfrm>
          <a:prstGeom prst="rect">
            <a:avLst/>
          </a:prstGeom>
          <a:noFill/>
          <a:ln/>
        </p:spPr>
        <p:txBody>
          <a:bodyPr wrap="square" lIns="0" tIns="0" rIns="0" bIns="0" rtlCol="0" anchor="t"/>
          <a:lstStyle/>
          <a:p>
            <a:pPr algn="l" indent="0" marL="0">
              <a:lnSpc>
                <a:spcPts val="1400"/>
              </a:lnSpc>
              <a:buNone/>
            </a:pPr>
            <a:r>
              <a:rPr lang="en-US" sz="1000" dirty="0">
                <a:solidFill>
                  <a:srgbClr val="94A3B8"/>
                </a:solidFill>
                <a:latin typeface="Arial" pitchFamily="34" charset="0"/>
                <a:ea typeface="Arial" pitchFamily="34" charset="-122"/>
                <a:cs typeface="Arial" pitchFamily="34" charset="-120"/>
              </a:rPr>
              <a:t>N-grams</a:t>
            </a:r>
            <a:endParaRPr lang="en-US" sz="1000" dirty="0"/>
          </a:p>
        </p:txBody>
      </p:sp>
      <p:sp>
        <p:nvSpPr>
          <p:cNvPr id="13" name="Text 10"/>
          <p:cNvSpPr/>
          <p:nvPr/>
        </p:nvSpPr>
        <p:spPr>
          <a:xfrm>
            <a:off x="3206651" y="1874193"/>
            <a:ext cx="1263167" cy="177701"/>
          </a:xfrm>
          <a:prstGeom prst="rect">
            <a:avLst/>
          </a:prstGeom>
          <a:noFill/>
          <a:ln/>
        </p:spPr>
        <p:txBody>
          <a:bodyPr wrap="square" lIns="0" tIns="0" rIns="0" bIns="0" rtlCol="0" anchor="t"/>
          <a:lstStyle/>
          <a:p>
            <a:pPr algn="l" indent="0" marL="0">
              <a:lnSpc>
                <a:spcPts val="1400"/>
              </a:lnSpc>
              <a:buNone/>
            </a:pPr>
            <a:r>
              <a:rPr lang="en-US" sz="1000" b="1" dirty="0">
                <a:solidFill>
                  <a:srgbClr val="E2E8F0"/>
                </a:solidFill>
                <a:latin typeface="Arial" pitchFamily="34" charset="0"/>
                <a:ea typeface="Arial" pitchFamily="34" charset="-122"/>
                <a:cs typeface="Arial" pitchFamily="34" charset="-120"/>
              </a:rPr>
              <a:t>Unigrams + Bigrams</a:t>
            </a:r>
            <a:endParaRPr lang="en-US" sz="1000" dirty="0"/>
          </a:p>
        </p:txBody>
      </p:sp>
      <p:sp>
        <p:nvSpPr>
          <p:cNvPr id="14" name="Shape 11"/>
          <p:cNvSpPr/>
          <p:nvPr/>
        </p:nvSpPr>
        <p:spPr>
          <a:xfrm>
            <a:off x="457200" y="2472482"/>
            <a:ext cx="3987850" cy="0"/>
          </a:xfrm>
          <a:prstGeom prst="line">
            <a:avLst/>
          </a:prstGeom>
          <a:noFill/>
          <a:ln w="9525">
            <a:solidFill>
              <a:srgbClr val="FFFFFF"/>
            </a:solidFill>
            <a:prstDash val="solid"/>
          </a:ln>
        </p:spPr>
      </p:sp>
      <p:sp>
        <p:nvSpPr>
          <p:cNvPr id="15" name="Text 12"/>
          <p:cNvSpPr/>
          <p:nvPr/>
        </p:nvSpPr>
        <p:spPr>
          <a:xfrm>
            <a:off x="457200" y="2213818"/>
            <a:ext cx="532531" cy="177701"/>
          </a:xfrm>
          <a:prstGeom prst="rect">
            <a:avLst/>
          </a:prstGeom>
          <a:noFill/>
          <a:ln/>
        </p:spPr>
        <p:txBody>
          <a:bodyPr wrap="square" lIns="0" tIns="0" rIns="0" bIns="0" rtlCol="0" anchor="t"/>
          <a:lstStyle/>
          <a:p>
            <a:pPr algn="l" indent="0" marL="0">
              <a:lnSpc>
                <a:spcPts val="1400"/>
              </a:lnSpc>
              <a:buNone/>
            </a:pPr>
            <a:r>
              <a:rPr lang="en-US" sz="1000" dirty="0">
                <a:solidFill>
                  <a:srgbClr val="94A3B8"/>
                </a:solidFill>
                <a:latin typeface="Arial" pitchFamily="34" charset="0"/>
                <a:ea typeface="Arial" pitchFamily="34" charset="-122"/>
                <a:cs typeface="Arial" pitchFamily="34" charset="-120"/>
              </a:rPr>
              <a:t>Classifier</a:t>
            </a:r>
            <a:endParaRPr lang="en-US" sz="1000" dirty="0"/>
          </a:p>
        </p:txBody>
      </p:sp>
      <p:sp>
        <p:nvSpPr>
          <p:cNvPr id="16" name="Text 13"/>
          <p:cNvSpPr/>
          <p:nvPr/>
        </p:nvSpPr>
        <p:spPr>
          <a:xfrm>
            <a:off x="3231505" y="2213818"/>
            <a:ext cx="1237815" cy="177701"/>
          </a:xfrm>
          <a:prstGeom prst="rect">
            <a:avLst/>
          </a:prstGeom>
          <a:noFill/>
          <a:ln/>
        </p:spPr>
        <p:txBody>
          <a:bodyPr wrap="square" lIns="0" tIns="0" rIns="0" bIns="0" rtlCol="0" anchor="t"/>
          <a:lstStyle/>
          <a:p>
            <a:pPr algn="l" indent="0" marL="0">
              <a:lnSpc>
                <a:spcPts val="1400"/>
              </a:lnSpc>
              <a:buNone/>
            </a:pPr>
            <a:r>
              <a:rPr lang="en-US" sz="1000" b="1" dirty="0">
                <a:solidFill>
                  <a:srgbClr val="E2E8F0"/>
                </a:solidFill>
                <a:latin typeface="Arial" pitchFamily="34" charset="0"/>
                <a:ea typeface="Arial" pitchFamily="34" charset="-122"/>
                <a:cs typeface="Arial" pitchFamily="34" charset="-120"/>
              </a:rPr>
              <a:t>Logistic Regression</a:t>
            </a:r>
            <a:endParaRPr lang="en-US" sz="1000" dirty="0"/>
          </a:p>
        </p:txBody>
      </p:sp>
      <p:sp>
        <p:nvSpPr>
          <p:cNvPr id="17" name="Shape 14"/>
          <p:cNvSpPr/>
          <p:nvPr/>
        </p:nvSpPr>
        <p:spPr>
          <a:xfrm>
            <a:off x="457200" y="2812107"/>
            <a:ext cx="3987850" cy="0"/>
          </a:xfrm>
          <a:prstGeom prst="line">
            <a:avLst/>
          </a:prstGeom>
          <a:noFill/>
          <a:ln w="9525">
            <a:solidFill>
              <a:srgbClr val="FFFFFF"/>
            </a:solidFill>
            <a:prstDash val="solid"/>
          </a:ln>
        </p:spPr>
      </p:sp>
      <p:sp>
        <p:nvSpPr>
          <p:cNvPr id="18" name="Text 15"/>
          <p:cNvSpPr/>
          <p:nvPr/>
        </p:nvSpPr>
        <p:spPr>
          <a:xfrm>
            <a:off x="457200" y="2553444"/>
            <a:ext cx="482435" cy="177701"/>
          </a:xfrm>
          <a:prstGeom prst="rect">
            <a:avLst/>
          </a:prstGeom>
          <a:noFill/>
          <a:ln/>
        </p:spPr>
        <p:txBody>
          <a:bodyPr wrap="square" lIns="0" tIns="0" rIns="0" bIns="0" rtlCol="0" anchor="t"/>
          <a:lstStyle/>
          <a:p>
            <a:pPr algn="l" indent="0" marL="0">
              <a:lnSpc>
                <a:spcPts val="1400"/>
              </a:lnSpc>
              <a:buNone/>
            </a:pPr>
            <a:r>
              <a:rPr lang="en-US" sz="1000" dirty="0">
                <a:solidFill>
                  <a:srgbClr val="94A3B8"/>
                </a:solidFill>
                <a:latin typeface="Arial" pitchFamily="34" charset="0"/>
                <a:ea typeface="Arial" pitchFamily="34" charset="-122"/>
                <a:cs typeface="Arial" pitchFamily="34" charset="-120"/>
              </a:rPr>
              <a:t>Strategy</a:t>
            </a:r>
            <a:endParaRPr lang="en-US" sz="1000" dirty="0"/>
          </a:p>
        </p:txBody>
      </p:sp>
      <p:sp>
        <p:nvSpPr>
          <p:cNvPr id="19" name="Text 16"/>
          <p:cNvSpPr/>
          <p:nvPr/>
        </p:nvSpPr>
        <p:spPr>
          <a:xfrm>
            <a:off x="3767584" y="2553444"/>
            <a:ext cx="691015" cy="177701"/>
          </a:xfrm>
          <a:prstGeom prst="rect">
            <a:avLst/>
          </a:prstGeom>
          <a:noFill/>
          <a:ln/>
        </p:spPr>
        <p:txBody>
          <a:bodyPr wrap="square" lIns="0" tIns="0" rIns="0" bIns="0" rtlCol="0" anchor="t"/>
          <a:lstStyle/>
          <a:p>
            <a:pPr algn="l" indent="0" marL="0">
              <a:lnSpc>
                <a:spcPts val="1400"/>
              </a:lnSpc>
              <a:buNone/>
            </a:pPr>
            <a:r>
              <a:rPr lang="en-US" sz="1000" b="1" dirty="0">
                <a:solidFill>
                  <a:srgbClr val="E2E8F0"/>
                </a:solidFill>
                <a:latin typeface="Arial" pitchFamily="34" charset="0"/>
                <a:ea typeface="Arial" pitchFamily="34" charset="-122"/>
                <a:cs typeface="Arial" pitchFamily="34" charset="-120"/>
              </a:rPr>
              <a:t>OneVsRest</a:t>
            </a:r>
            <a:endParaRPr lang="en-US" sz="1000" dirty="0"/>
          </a:p>
        </p:txBody>
      </p:sp>
      <p:sp>
        <p:nvSpPr>
          <p:cNvPr id="20" name="Shape 17"/>
          <p:cNvSpPr/>
          <p:nvPr/>
        </p:nvSpPr>
        <p:spPr>
          <a:xfrm>
            <a:off x="457200" y="3151733"/>
            <a:ext cx="3987850" cy="0"/>
          </a:xfrm>
          <a:prstGeom prst="line">
            <a:avLst/>
          </a:prstGeom>
          <a:noFill/>
          <a:ln w="9525">
            <a:solidFill>
              <a:srgbClr val="FFFFFF"/>
            </a:solidFill>
            <a:prstDash val="solid"/>
          </a:ln>
        </p:spPr>
      </p:sp>
      <p:sp>
        <p:nvSpPr>
          <p:cNvPr id="21" name="Text 18"/>
          <p:cNvSpPr/>
          <p:nvPr/>
        </p:nvSpPr>
        <p:spPr>
          <a:xfrm>
            <a:off x="457200" y="2893070"/>
            <a:ext cx="871207" cy="177701"/>
          </a:xfrm>
          <a:prstGeom prst="rect">
            <a:avLst/>
          </a:prstGeom>
          <a:noFill/>
          <a:ln/>
        </p:spPr>
        <p:txBody>
          <a:bodyPr wrap="square" lIns="0" tIns="0" rIns="0" bIns="0" rtlCol="0" anchor="t"/>
          <a:lstStyle/>
          <a:p>
            <a:pPr algn="l" indent="0" marL="0">
              <a:lnSpc>
                <a:spcPts val="1400"/>
              </a:lnSpc>
              <a:buNone/>
            </a:pPr>
            <a:r>
              <a:rPr lang="en-US" sz="1000" dirty="0">
                <a:solidFill>
                  <a:srgbClr val="94A3B8"/>
                </a:solidFill>
                <a:latin typeface="Arial" pitchFamily="34" charset="0"/>
                <a:ea typeface="Arial" pitchFamily="34" charset="-122"/>
                <a:cs typeface="Arial" pitchFamily="34" charset="-120"/>
              </a:rPr>
              <a:t>Min label count</a:t>
            </a:r>
            <a:endParaRPr lang="en-US" sz="1000" dirty="0"/>
          </a:p>
        </p:txBody>
      </p:sp>
      <p:sp>
        <p:nvSpPr>
          <p:cNvPr id="22" name="Text 19"/>
          <p:cNvSpPr/>
          <p:nvPr/>
        </p:nvSpPr>
        <p:spPr>
          <a:xfrm>
            <a:off x="3647480" y="2893070"/>
            <a:ext cx="813521" cy="177701"/>
          </a:xfrm>
          <a:prstGeom prst="rect">
            <a:avLst/>
          </a:prstGeom>
          <a:noFill/>
          <a:ln/>
        </p:spPr>
        <p:txBody>
          <a:bodyPr wrap="square" lIns="0" tIns="0" rIns="0" bIns="0" rtlCol="0" anchor="t"/>
          <a:lstStyle/>
          <a:p>
            <a:pPr algn="l" indent="0" marL="0">
              <a:lnSpc>
                <a:spcPts val="1400"/>
              </a:lnSpc>
              <a:buNone/>
            </a:pPr>
            <a:r>
              <a:rPr lang="en-US" sz="1000" b="1" dirty="0">
                <a:solidFill>
                  <a:srgbClr val="E2E8F0"/>
                </a:solidFill>
                <a:latin typeface="Arial" pitchFamily="34" charset="0"/>
                <a:ea typeface="Arial" pitchFamily="34" charset="-122"/>
                <a:cs typeface="Arial" pitchFamily="34" charset="-120"/>
              </a:rPr>
              <a:t>50 (41 labels)</a:t>
            </a:r>
            <a:endParaRPr lang="en-US" sz="1000" dirty="0"/>
          </a:p>
        </p:txBody>
      </p:sp>
      <p:sp>
        <p:nvSpPr>
          <p:cNvPr id="23" name="Shape 20"/>
          <p:cNvSpPr/>
          <p:nvPr/>
        </p:nvSpPr>
        <p:spPr>
          <a:xfrm>
            <a:off x="457200" y="3491359"/>
            <a:ext cx="3987850" cy="0"/>
          </a:xfrm>
          <a:prstGeom prst="line">
            <a:avLst/>
          </a:prstGeom>
          <a:noFill/>
          <a:ln w="9525">
            <a:solidFill>
              <a:srgbClr val="FFFFFF"/>
            </a:solidFill>
            <a:prstDash val="solid"/>
          </a:ln>
        </p:spPr>
      </p:sp>
      <p:sp>
        <p:nvSpPr>
          <p:cNvPr id="24" name="Text 21"/>
          <p:cNvSpPr/>
          <p:nvPr/>
        </p:nvSpPr>
        <p:spPr>
          <a:xfrm>
            <a:off x="457200" y="3232696"/>
            <a:ext cx="957432" cy="177701"/>
          </a:xfrm>
          <a:prstGeom prst="rect">
            <a:avLst/>
          </a:prstGeom>
          <a:noFill/>
          <a:ln/>
        </p:spPr>
        <p:txBody>
          <a:bodyPr wrap="square" lIns="0" tIns="0" rIns="0" bIns="0" rtlCol="0" anchor="t"/>
          <a:lstStyle/>
          <a:p>
            <a:pPr algn="l" indent="0" marL="0">
              <a:lnSpc>
                <a:spcPts val="1400"/>
              </a:lnSpc>
              <a:buNone/>
            </a:pPr>
            <a:r>
              <a:rPr lang="en-US" sz="1000" dirty="0">
                <a:solidFill>
                  <a:srgbClr val="94A3B8"/>
                </a:solidFill>
                <a:latin typeface="Arial" pitchFamily="34" charset="0"/>
                <a:ea typeface="Arial" pitchFamily="34" charset="-122"/>
                <a:cs typeface="Arial" pitchFamily="34" charset="-120"/>
              </a:rPr>
              <a:t>Regularization C</a:t>
            </a:r>
            <a:endParaRPr lang="en-US" sz="1000" dirty="0"/>
          </a:p>
        </p:txBody>
      </p:sp>
      <p:sp>
        <p:nvSpPr>
          <p:cNvPr id="25" name="Text 22"/>
          <p:cNvSpPr/>
          <p:nvPr/>
        </p:nvSpPr>
        <p:spPr>
          <a:xfrm>
            <a:off x="4268539" y="3232696"/>
            <a:ext cx="180040" cy="177701"/>
          </a:xfrm>
          <a:prstGeom prst="rect">
            <a:avLst/>
          </a:prstGeom>
          <a:noFill/>
          <a:ln/>
        </p:spPr>
        <p:txBody>
          <a:bodyPr wrap="square" lIns="0" tIns="0" rIns="0" bIns="0" rtlCol="0" anchor="t"/>
          <a:lstStyle/>
          <a:p>
            <a:pPr algn="l" indent="0" marL="0">
              <a:lnSpc>
                <a:spcPts val="1400"/>
              </a:lnSpc>
              <a:buNone/>
            </a:pPr>
            <a:r>
              <a:rPr lang="en-US" sz="1000" b="1" dirty="0">
                <a:solidFill>
                  <a:srgbClr val="E2E8F0"/>
                </a:solidFill>
                <a:latin typeface="Arial" pitchFamily="34" charset="0"/>
                <a:ea typeface="Arial" pitchFamily="34" charset="-122"/>
                <a:cs typeface="Arial" pitchFamily="34" charset="-120"/>
              </a:rPr>
              <a:t>1.0</a:t>
            </a:r>
            <a:endParaRPr lang="en-US" sz="1000" dirty="0"/>
          </a:p>
        </p:txBody>
      </p:sp>
      <p:sp>
        <p:nvSpPr>
          <p:cNvPr id="26" name="Text 23"/>
          <p:cNvSpPr/>
          <p:nvPr/>
        </p:nvSpPr>
        <p:spPr>
          <a:xfrm>
            <a:off x="457200" y="3623072"/>
            <a:ext cx="3987850" cy="552301"/>
          </a:xfrm>
          <a:prstGeom prst="roundRect">
            <a:avLst>
              <a:gd name="adj" fmla="val 13797"/>
            </a:avLst>
          </a:prstGeom>
          <a:solidFill>
            <a:srgbClr val="00B4D8">
              <a:alpha val="8000"/>
            </a:srgbClr>
          </a:solidFill>
          <a:ln w="9525">
            <a:solidFill>
              <a:srgbClr val="00B4D8"/>
            </a:solidFill>
          </a:ln>
        </p:spPr>
        <p:txBody>
          <a:bodyPr wrap="square" rtlCol="0" anchor="ctr"/>
          <a:lstStyle/>
          <a:p>
            <a:pPr indent="0" marL="0">
              <a:buNone/>
            </a:pPr>
            <a:endParaRPr lang="en-US" dirty="0"/>
          </a:p>
        </p:txBody>
      </p:sp>
      <p:sp>
        <p:nvSpPr>
          <p:cNvPr id="27" name="Text 24"/>
          <p:cNvSpPr/>
          <p:nvPr/>
        </p:nvSpPr>
        <p:spPr>
          <a:xfrm>
            <a:off x="644426" y="3784997"/>
            <a:ext cx="3685666" cy="177701"/>
          </a:xfrm>
          <a:prstGeom prst="rect">
            <a:avLst/>
          </a:prstGeom>
          <a:noFill/>
          <a:ln/>
        </p:spPr>
        <p:txBody>
          <a:bodyPr wrap="square" lIns="0" tIns="0" rIns="0" bIns="0" rtlCol="0" anchor="t"/>
          <a:lstStyle/>
          <a:p>
            <a:pPr algn="l" indent="0" marL="0">
              <a:lnSpc>
                <a:spcPts val="1400"/>
              </a:lnSpc>
              <a:spcAft>
                <a:spcPts val="400"/>
              </a:spcAft>
              <a:buNone/>
            </a:pPr>
            <a:r>
              <a:rPr lang="en-US" sz="1000" dirty="0">
                <a:solidFill>
                  <a:srgbClr val="E2E8F0"/>
                </a:solidFill>
                <a:latin typeface="Courier New" pitchFamily="34" charset="0"/>
                <a:ea typeface="Courier New" pitchFamily="34" charset="-122"/>
                <a:cs typeface="Courier New" pitchFamily="34" charset="-120"/>
              </a:rPr>
              <a:t>Text -&gt; TF-IDF -&gt; LogReg (x41) -&gt; Predict</a:t>
            </a:r>
            <a:endParaRPr lang="en-US" sz="1000" dirty="0"/>
          </a:p>
        </p:txBody>
      </p:sp>
      <p:sp>
        <p:nvSpPr>
          <p:cNvPr id="28" name="Text 25"/>
          <p:cNvSpPr/>
          <p:nvPr/>
        </p:nvSpPr>
        <p:spPr>
          <a:xfrm>
            <a:off x="4698950" y="882551"/>
            <a:ext cx="4067607" cy="159990"/>
          </a:xfrm>
          <a:prstGeom prst="rect">
            <a:avLst/>
          </a:prstGeom>
          <a:noFill/>
          <a:ln/>
        </p:spPr>
        <p:txBody>
          <a:bodyPr wrap="square" lIns="0" tIns="0" rIns="0" bIns="0" rtlCol="0" anchor="t"/>
          <a:lstStyle/>
          <a:p>
            <a:pPr algn="l" indent="0" marL="0">
              <a:lnSpc>
                <a:spcPts val="1260"/>
              </a:lnSpc>
              <a:spcAft>
                <a:spcPts val="600"/>
              </a:spcAft>
              <a:buNone/>
            </a:pPr>
            <a:r>
              <a:rPr lang="en-US" sz="900" dirty="0">
                <a:solidFill>
                  <a:srgbClr val="94A3B8"/>
                </a:solidFill>
                <a:latin typeface="Arial" pitchFamily="34" charset="0"/>
                <a:ea typeface="Arial" pitchFamily="34" charset="-122"/>
                <a:cs typeface="Arial" pitchFamily="34" charset="-120"/>
              </a:rPr>
              <a:t>DATA SPLIT (70 / 15 / 15)</a:t>
            </a:r>
            <a:endParaRPr lang="en-US" sz="900" dirty="0"/>
          </a:p>
        </p:txBody>
      </p:sp>
      <p:sp>
        <p:nvSpPr>
          <p:cNvPr id="29" name="Text 26"/>
          <p:cNvSpPr/>
          <p:nvPr/>
        </p:nvSpPr>
        <p:spPr>
          <a:xfrm>
            <a:off x="4698950" y="1169491"/>
            <a:ext cx="3987850" cy="1009204"/>
          </a:xfrm>
          <a:prstGeom prst="roundRect">
            <a:avLst>
              <a:gd name="adj" fmla="val 7551"/>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30" name="Text 27"/>
          <p:cNvSpPr/>
          <p:nvPr/>
        </p:nvSpPr>
        <p:spPr>
          <a:xfrm>
            <a:off x="4886176" y="1331416"/>
            <a:ext cx="3685666" cy="177701"/>
          </a:xfrm>
          <a:prstGeom prst="rect">
            <a:avLst/>
          </a:prstGeom>
          <a:noFill/>
          <a:ln/>
        </p:spPr>
        <p:txBody>
          <a:bodyPr wrap="square" lIns="0" tIns="0" rIns="0" bIns="0" rtlCol="0" anchor="t"/>
          <a:lstStyle/>
          <a:p>
            <a:pPr algn="l" indent="0" marL="0">
              <a:lnSpc>
                <a:spcPts val="1400"/>
              </a:lnSpc>
              <a:spcAft>
                <a:spcPts val="400"/>
              </a:spcAft>
              <a:buNone/>
            </a:pPr>
            <a:r>
              <a:rPr lang="en-US" sz="1000" b="1" dirty="0">
                <a:solidFill>
                  <a:srgbClr val="E2E8F0"/>
                </a:solidFill>
                <a:latin typeface="Arial" pitchFamily="34" charset="0"/>
                <a:ea typeface="Arial" pitchFamily="34" charset="-122"/>
                <a:cs typeface="Arial" pitchFamily="34" charset="-120"/>
              </a:rPr>
              <a:t>Train:</a:t>
            </a:r>
            <a:pPr algn="l" indent="0" marL="0">
              <a:lnSpc>
                <a:spcPts val="1400"/>
              </a:lnSpc>
              <a:spcAft>
                <a:spcPts val="400"/>
              </a:spcAft>
              <a:buNone/>
            </a:pPr>
            <a:r>
              <a:rPr lang="en-US" sz="1000" dirty="0">
                <a:solidFill>
                  <a:srgbClr val="E2E8F0"/>
                </a:solidFill>
                <a:latin typeface="Arial" pitchFamily="34" charset="0"/>
                <a:ea typeface="Arial" pitchFamily="34" charset="-122"/>
                <a:cs typeface="Arial" pitchFamily="34" charset="-120"/>
              </a:rPr>
              <a:t> 11,706 documents</a:t>
            </a:r>
            <a:endParaRPr lang="en-US" sz="1000" dirty="0"/>
          </a:p>
        </p:txBody>
      </p:sp>
      <p:sp>
        <p:nvSpPr>
          <p:cNvPr id="31" name="Text 28"/>
          <p:cNvSpPr/>
          <p:nvPr/>
        </p:nvSpPr>
        <p:spPr>
          <a:xfrm>
            <a:off x="4886176" y="1559868"/>
            <a:ext cx="3685666" cy="177701"/>
          </a:xfrm>
          <a:prstGeom prst="rect">
            <a:avLst/>
          </a:prstGeom>
          <a:noFill/>
          <a:ln/>
        </p:spPr>
        <p:txBody>
          <a:bodyPr wrap="square" lIns="0" tIns="0" rIns="0" bIns="0" rtlCol="0" anchor="t"/>
          <a:lstStyle/>
          <a:p>
            <a:pPr algn="l" indent="0" marL="0">
              <a:lnSpc>
                <a:spcPts val="1400"/>
              </a:lnSpc>
              <a:spcAft>
                <a:spcPts val="400"/>
              </a:spcAft>
              <a:buNone/>
            </a:pPr>
            <a:r>
              <a:rPr lang="en-US" sz="1000" b="1" dirty="0">
                <a:solidFill>
                  <a:srgbClr val="E2E8F0"/>
                </a:solidFill>
                <a:latin typeface="Arial" pitchFamily="34" charset="0"/>
                <a:ea typeface="Arial" pitchFamily="34" charset="-122"/>
                <a:cs typeface="Arial" pitchFamily="34" charset="-120"/>
              </a:rPr>
              <a:t>Validation:</a:t>
            </a:r>
            <a:pPr algn="l" indent="0" marL="0">
              <a:lnSpc>
                <a:spcPts val="1400"/>
              </a:lnSpc>
              <a:spcAft>
                <a:spcPts val="400"/>
              </a:spcAft>
              <a:buNone/>
            </a:pPr>
            <a:r>
              <a:rPr lang="en-US" sz="1000" dirty="0">
                <a:solidFill>
                  <a:srgbClr val="E2E8F0"/>
                </a:solidFill>
                <a:latin typeface="Arial" pitchFamily="34" charset="0"/>
                <a:ea typeface="Arial" pitchFamily="34" charset="-122"/>
                <a:cs typeface="Arial" pitchFamily="34" charset="-120"/>
              </a:rPr>
              <a:t> 2,509 documents</a:t>
            </a:r>
            <a:endParaRPr lang="en-US" sz="1000" dirty="0"/>
          </a:p>
        </p:txBody>
      </p:sp>
      <p:sp>
        <p:nvSpPr>
          <p:cNvPr id="32" name="Text 29"/>
          <p:cNvSpPr/>
          <p:nvPr/>
        </p:nvSpPr>
        <p:spPr>
          <a:xfrm>
            <a:off x="4886176" y="1788319"/>
            <a:ext cx="3685666" cy="177701"/>
          </a:xfrm>
          <a:prstGeom prst="rect">
            <a:avLst/>
          </a:prstGeom>
          <a:noFill/>
          <a:ln/>
        </p:spPr>
        <p:txBody>
          <a:bodyPr wrap="square" lIns="0" tIns="0" rIns="0" bIns="0" rtlCol="0" anchor="t"/>
          <a:lstStyle/>
          <a:p>
            <a:pPr algn="l" indent="0" marL="0">
              <a:lnSpc>
                <a:spcPts val="1400"/>
              </a:lnSpc>
              <a:spcAft>
                <a:spcPts val="400"/>
              </a:spcAft>
              <a:buNone/>
            </a:pPr>
            <a:r>
              <a:rPr lang="en-US" sz="1000" b="1" dirty="0">
                <a:solidFill>
                  <a:srgbClr val="E2E8F0"/>
                </a:solidFill>
                <a:latin typeface="Arial" pitchFamily="34" charset="0"/>
                <a:ea typeface="Arial" pitchFamily="34" charset="-122"/>
                <a:cs typeface="Arial" pitchFamily="34" charset="-120"/>
              </a:rPr>
              <a:t>Test:</a:t>
            </a:r>
            <a:pPr algn="l" indent="0" marL="0">
              <a:lnSpc>
                <a:spcPts val="1400"/>
              </a:lnSpc>
              <a:spcAft>
                <a:spcPts val="400"/>
              </a:spcAft>
              <a:buNone/>
            </a:pPr>
            <a:r>
              <a:rPr lang="en-US" sz="1000" dirty="0">
                <a:solidFill>
                  <a:srgbClr val="E2E8F0"/>
                </a:solidFill>
                <a:latin typeface="Arial" pitchFamily="34" charset="0"/>
                <a:ea typeface="Arial" pitchFamily="34" charset="-122"/>
                <a:cs typeface="Arial" pitchFamily="34" charset="-120"/>
              </a:rPr>
              <a:t> 2,509 documents</a:t>
            </a:r>
            <a:endParaRPr lang="en-US" sz="1000" dirty="0"/>
          </a:p>
        </p:txBody>
      </p:sp>
      <p:sp>
        <p:nvSpPr>
          <p:cNvPr id="33" name="Text 30"/>
          <p:cNvSpPr/>
          <p:nvPr/>
        </p:nvSpPr>
        <p:spPr>
          <a:xfrm>
            <a:off x="4698950" y="2356396"/>
            <a:ext cx="4067607" cy="159990"/>
          </a:xfrm>
          <a:prstGeom prst="rect">
            <a:avLst/>
          </a:prstGeom>
          <a:noFill/>
          <a:ln/>
        </p:spPr>
        <p:txBody>
          <a:bodyPr wrap="square" lIns="0" tIns="0" rIns="0" bIns="0" rtlCol="0" anchor="t"/>
          <a:lstStyle/>
          <a:p>
            <a:pPr algn="l" indent="0" marL="0">
              <a:lnSpc>
                <a:spcPts val="1260"/>
              </a:lnSpc>
              <a:spcBef>
                <a:spcPts val="1400"/>
              </a:spcBef>
              <a:spcAft>
                <a:spcPts val="600"/>
              </a:spcAft>
              <a:buNone/>
            </a:pPr>
            <a:r>
              <a:rPr lang="en-US" sz="900" dirty="0">
                <a:solidFill>
                  <a:srgbClr val="94A3B8"/>
                </a:solidFill>
                <a:latin typeface="Arial" pitchFamily="34" charset="0"/>
                <a:ea typeface="Arial" pitchFamily="34" charset="-122"/>
                <a:cs typeface="Arial" pitchFamily="34" charset="-120"/>
              </a:rPr>
              <a:t>WHY THIS BASELINE?</a:t>
            </a:r>
            <a:endParaRPr lang="en-US" sz="900" dirty="0"/>
          </a:p>
        </p:txBody>
      </p:sp>
      <p:sp>
        <p:nvSpPr>
          <p:cNvPr id="34" name="Text 31"/>
          <p:cNvSpPr/>
          <p:nvPr/>
        </p:nvSpPr>
        <p:spPr>
          <a:xfrm>
            <a:off x="4698950" y="2592586"/>
            <a:ext cx="4067607" cy="177701"/>
          </a:xfrm>
          <a:prstGeom prst="rect">
            <a:avLst/>
          </a:prstGeom>
          <a:noFill/>
          <a:ln/>
        </p:spPr>
        <p:txBody>
          <a:bodyPr wrap="square" lIns="0" tIns="0" rIns="0" bIns="0" rtlCol="0" anchor="t"/>
          <a:lstStyle/>
          <a:p>
            <a:pPr algn="l" indent="0" marL="0">
              <a:lnSpc>
                <a:spcPts val="1400"/>
              </a:lnSpc>
              <a:spcAft>
                <a:spcPts val="600"/>
              </a:spcAft>
              <a:buNone/>
            </a:pPr>
            <a:r>
              <a:rPr lang="en-US" sz="1000" dirty="0">
                <a:solidFill>
                  <a:srgbClr val="CBD5E1"/>
                </a:solidFill>
                <a:latin typeface="Arial" pitchFamily="34" charset="0"/>
                <a:ea typeface="Arial" pitchFamily="34" charset="-122"/>
                <a:cs typeface="Arial" pitchFamily="34" charset="-120"/>
              </a:rPr>
              <a:t>TF-IDF captures domain-specific legal terminology effectively</a:t>
            </a:r>
            <a:endParaRPr lang="en-US" sz="1000" dirty="0"/>
          </a:p>
        </p:txBody>
      </p:sp>
      <p:sp>
        <p:nvSpPr>
          <p:cNvPr id="35" name="Text 32"/>
          <p:cNvSpPr/>
          <p:nvPr/>
        </p:nvSpPr>
        <p:spPr>
          <a:xfrm>
            <a:off x="4698950" y="2846487"/>
            <a:ext cx="4067607" cy="177701"/>
          </a:xfrm>
          <a:prstGeom prst="rect">
            <a:avLst/>
          </a:prstGeom>
          <a:noFill/>
          <a:ln/>
        </p:spPr>
        <p:txBody>
          <a:bodyPr wrap="square" lIns="0" tIns="0" rIns="0" bIns="0" rtlCol="0" anchor="t"/>
          <a:lstStyle/>
          <a:p>
            <a:pPr algn="l" indent="0" marL="0">
              <a:lnSpc>
                <a:spcPts val="1400"/>
              </a:lnSpc>
              <a:spcAft>
                <a:spcPts val="600"/>
              </a:spcAft>
              <a:buNone/>
            </a:pPr>
            <a:r>
              <a:rPr lang="en-US" sz="1000" dirty="0">
                <a:solidFill>
                  <a:srgbClr val="CBD5E1"/>
                </a:solidFill>
                <a:latin typeface="Arial" pitchFamily="34" charset="0"/>
                <a:ea typeface="Arial" pitchFamily="34" charset="-122"/>
                <a:cs typeface="Arial" pitchFamily="34" charset="-120"/>
              </a:rPr>
              <a:t>Logistic Regression provides interpretable coefficients</a:t>
            </a:r>
            <a:endParaRPr lang="en-US" sz="1000" dirty="0"/>
          </a:p>
        </p:txBody>
      </p:sp>
      <p:sp>
        <p:nvSpPr>
          <p:cNvPr id="36" name="Text 33"/>
          <p:cNvSpPr/>
          <p:nvPr/>
        </p:nvSpPr>
        <p:spPr>
          <a:xfrm>
            <a:off x="4698950" y="3100388"/>
            <a:ext cx="4067607" cy="177701"/>
          </a:xfrm>
          <a:prstGeom prst="rect">
            <a:avLst/>
          </a:prstGeom>
          <a:noFill/>
          <a:ln/>
        </p:spPr>
        <p:txBody>
          <a:bodyPr wrap="square" lIns="0" tIns="0" rIns="0" bIns="0" rtlCol="0" anchor="t"/>
          <a:lstStyle/>
          <a:p>
            <a:pPr algn="l" indent="0" marL="0">
              <a:lnSpc>
                <a:spcPts val="1400"/>
              </a:lnSpc>
              <a:spcAft>
                <a:spcPts val="600"/>
              </a:spcAft>
              <a:buNone/>
            </a:pPr>
            <a:r>
              <a:rPr lang="en-US" sz="1000" dirty="0">
                <a:solidFill>
                  <a:srgbClr val="CBD5E1"/>
                </a:solidFill>
                <a:latin typeface="Arial" pitchFamily="34" charset="0"/>
                <a:ea typeface="Arial" pitchFamily="34" charset="-122"/>
                <a:cs typeface="Arial" pitchFamily="34" charset="-120"/>
              </a:rPr>
              <a:t>Fast iteration for feasibility analysis</a:t>
            </a:r>
            <a:endParaRPr lang="en-US" sz="1000" dirty="0"/>
          </a:p>
        </p:txBody>
      </p:sp>
      <p:sp>
        <p:nvSpPr>
          <p:cNvPr id="37" name="Text 34"/>
          <p:cNvSpPr/>
          <p:nvPr/>
        </p:nvSpPr>
        <p:spPr>
          <a:xfrm>
            <a:off x="4698950" y="3354288"/>
            <a:ext cx="4067607" cy="177701"/>
          </a:xfrm>
          <a:prstGeom prst="rect">
            <a:avLst/>
          </a:prstGeom>
          <a:noFill/>
          <a:ln/>
        </p:spPr>
        <p:txBody>
          <a:bodyPr wrap="square" lIns="0" tIns="0" rIns="0" bIns="0" rtlCol="0" anchor="t"/>
          <a:lstStyle/>
          <a:p>
            <a:pPr algn="l" indent="0" marL="0">
              <a:lnSpc>
                <a:spcPts val="1400"/>
              </a:lnSpc>
              <a:spcAft>
                <a:spcPts val="600"/>
              </a:spcAft>
              <a:buNone/>
            </a:pPr>
            <a:r>
              <a:rPr lang="en-US" sz="1000" dirty="0">
                <a:solidFill>
                  <a:srgbClr val="CBD5E1"/>
                </a:solidFill>
                <a:latin typeface="Arial" pitchFamily="34" charset="0"/>
                <a:ea typeface="Arial" pitchFamily="34" charset="-122"/>
                <a:cs typeface="Arial" pitchFamily="34" charset="-120"/>
              </a:rPr>
              <a:t>Strong baseline for legal text classification tasks</a:t>
            </a:r>
            <a:endParaRPr lang="en-US" sz="1000" dirty="0"/>
          </a:p>
        </p:txBody>
      </p:sp>
      <p:sp>
        <p:nvSpPr>
          <p:cNvPr id="38" name="Text 35"/>
          <p:cNvSpPr/>
          <p:nvPr/>
        </p:nvSpPr>
        <p:spPr>
          <a:xfrm>
            <a:off x="4698950" y="3608189"/>
            <a:ext cx="4067607" cy="177701"/>
          </a:xfrm>
          <a:prstGeom prst="rect">
            <a:avLst/>
          </a:prstGeom>
          <a:noFill/>
          <a:ln/>
        </p:spPr>
        <p:txBody>
          <a:bodyPr wrap="square" lIns="0" tIns="0" rIns="0" bIns="0" rtlCol="0" anchor="t"/>
          <a:lstStyle/>
          <a:p>
            <a:pPr algn="l" indent="0" marL="0">
              <a:lnSpc>
                <a:spcPts val="1400"/>
              </a:lnSpc>
              <a:spcAft>
                <a:spcPts val="600"/>
              </a:spcAft>
              <a:buNone/>
            </a:pPr>
            <a:r>
              <a:rPr lang="en-US" sz="1000" dirty="0">
                <a:solidFill>
                  <a:srgbClr val="CBD5E1"/>
                </a:solidFill>
                <a:latin typeface="Arial" pitchFamily="34" charset="0"/>
                <a:ea typeface="Arial" pitchFamily="34" charset="-122"/>
                <a:cs typeface="Arial" pitchFamily="34" charset="-120"/>
              </a:rPr>
              <a:t>OneVsRest handles multi-label naturally</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Users/alessandrodibari/Ale/projects/TR_hiring_exercise/outputs/pptx_workspace/slides/accent_teal.png">    </p:cNvPr>
          <p:cNvPicPr>
            <a:picLocks noChangeAspect="1"/>
          </p:cNvPicPr>
          <p:nvPr/>
        </p:nvPicPr>
        <p:blipFill>
          <a:blip r:embed="rId2"/>
          <a:stretch>
            <a:fillRect/>
          </a:stretch>
        </p:blipFill>
        <p:spPr>
          <a:xfrm>
            <a:off x="0" y="0"/>
            <a:ext cx="9144000" cy="50750"/>
          </a:xfrm>
          <a:prstGeom prst="rect">
            <a:avLst/>
          </a:prstGeom>
        </p:spPr>
      </p:pic>
      <p:sp>
        <p:nvSpPr>
          <p:cNvPr id="3" name="Text 0"/>
          <p:cNvSpPr/>
          <p:nvPr/>
        </p:nvSpPr>
        <p:spPr>
          <a:xfrm>
            <a:off x="457200" y="355550"/>
            <a:ext cx="8394192" cy="323850"/>
          </a:xfrm>
          <a:prstGeom prst="rect">
            <a:avLst/>
          </a:prstGeom>
          <a:noFill/>
          <a:ln/>
        </p:spPr>
        <p:txBody>
          <a:bodyPr wrap="square" lIns="0" tIns="0" rIns="0" bIns="0" rtlCol="0" anchor="t"/>
          <a:lstStyle/>
          <a:p>
            <a:pPr algn="l" indent="0" marL="0">
              <a:buNone/>
            </a:pPr>
            <a:r>
              <a:rPr lang="en-US" sz="2200" b="1" dirty="0">
                <a:solidFill>
                  <a:srgbClr val="00B4D8"/>
                </a:solidFill>
                <a:latin typeface="Arial" pitchFamily="34" charset="0"/>
                <a:ea typeface="Arial" pitchFamily="34" charset="-122"/>
                <a:cs typeface="Arial" pitchFamily="34" charset="-120"/>
              </a:rPr>
              <a:t>The Long Document Challenge</a:t>
            </a:r>
            <a:endParaRPr lang="en-US" sz="2200" dirty="0"/>
          </a:p>
        </p:txBody>
      </p:sp>
      <p:sp>
        <p:nvSpPr>
          <p:cNvPr id="4" name="Text 1"/>
          <p:cNvSpPr/>
          <p:nvPr/>
        </p:nvSpPr>
        <p:spPr>
          <a:xfrm>
            <a:off x="457200" y="857101"/>
            <a:ext cx="4067607" cy="159990"/>
          </a:xfrm>
          <a:prstGeom prst="rect">
            <a:avLst/>
          </a:prstGeom>
          <a:noFill/>
          <a:ln/>
        </p:spPr>
        <p:txBody>
          <a:bodyPr wrap="square" lIns="0" tIns="0" rIns="0" bIns="0" rtlCol="0" anchor="t"/>
          <a:lstStyle/>
          <a:p>
            <a:pPr algn="l" indent="0" marL="0">
              <a:lnSpc>
                <a:spcPts val="1260"/>
              </a:lnSpc>
              <a:spcAft>
                <a:spcPts val="600"/>
              </a:spcAft>
              <a:buNone/>
            </a:pPr>
            <a:r>
              <a:rPr lang="en-US" sz="900" dirty="0">
                <a:solidFill>
                  <a:srgbClr val="94A3B8"/>
                </a:solidFill>
                <a:latin typeface="Arial" pitchFamily="34" charset="0"/>
                <a:ea typeface="Arial" pitchFamily="34" charset="-122"/>
                <a:cs typeface="Arial" pitchFamily="34" charset="-120"/>
              </a:rPr>
              <a:t>TOKEN COVERAGE BY MODEL</a:t>
            </a:r>
            <a:endParaRPr lang="en-US" sz="900" dirty="0"/>
          </a:p>
        </p:txBody>
      </p:sp>
      <p:sp>
        <p:nvSpPr>
          <p:cNvPr id="5" name="Text 2"/>
          <p:cNvSpPr/>
          <p:nvPr/>
        </p:nvSpPr>
        <p:spPr>
          <a:xfrm>
            <a:off x="457200" y="1093291"/>
            <a:ext cx="4067607" cy="177701"/>
          </a:xfrm>
          <a:prstGeom prst="rect">
            <a:avLst/>
          </a:prstGeom>
          <a:noFill/>
          <a:ln/>
        </p:spPr>
        <p:txBody>
          <a:bodyPr wrap="square" lIns="0" tIns="0" rIns="0" bIns="0" rtlCol="0" anchor="t"/>
          <a:lstStyle/>
          <a:p>
            <a:pPr algn="l" indent="0" marL="0">
              <a:lnSpc>
                <a:spcPts val="1400"/>
              </a:lnSpc>
              <a:spcAft>
                <a:spcPts val="1000"/>
              </a:spcAft>
              <a:buNone/>
            </a:pPr>
            <a:r>
              <a:rPr lang="en-US" sz="1000" dirty="0">
                <a:solidFill>
                  <a:srgbClr val="CBD5E1"/>
                </a:solidFill>
                <a:latin typeface="Arial" pitchFamily="34" charset="0"/>
                <a:ea typeface="Arial" pitchFamily="34" charset="-122"/>
                <a:cs typeface="Arial" pitchFamily="34" charset="-120"/>
              </a:rPr>
              <a:t>Median doc: 2,693 tokens | Max: 72,080 tokens</a:t>
            </a:r>
            <a:endParaRPr lang="en-US" sz="1000" dirty="0"/>
          </a:p>
        </p:txBody>
      </p:sp>
      <p:sp>
        <p:nvSpPr>
          <p:cNvPr id="6" name="Text 3"/>
          <p:cNvSpPr/>
          <p:nvPr/>
        </p:nvSpPr>
        <p:spPr>
          <a:xfrm>
            <a:off x="457200" y="1400473"/>
            <a:ext cx="906729" cy="159990"/>
          </a:xfrm>
          <a:prstGeom prst="rect">
            <a:avLst/>
          </a:prstGeom>
          <a:noFill/>
          <a:ln/>
        </p:spPr>
        <p:txBody>
          <a:bodyPr wrap="square" lIns="0" tIns="0" rIns="0" bIns="0" rtlCol="0" anchor="t"/>
          <a:lstStyle/>
          <a:p>
            <a:pPr algn="l" indent="0" marL="0">
              <a:lnSpc>
                <a:spcPts val="1260"/>
              </a:lnSpc>
              <a:spcAft>
                <a:spcPts val="500"/>
              </a:spcAft>
              <a:buNone/>
            </a:pPr>
            <a:r>
              <a:rPr lang="en-US" sz="900" dirty="0">
                <a:solidFill>
                  <a:srgbClr val="94A3B8"/>
                </a:solidFill>
                <a:latin typeface="Arial" pitchFamily="34" charset="0"/>
                <a:ea typeface="Arial" pitchFamily="34" charset="-122"/>
                <a:cs typeface="Arial" pitchFamily="34" charset="-120"/>
              </a:rPr>
              <a:t>BERT (512)</a:t>
            </a:r>
            <a:endParaRPr lang="en-US" sz="900" dirty="0"/>
          </a:p>
        </p:txBody>
      </p:sp>
      <p:sp>
        <p:nvSpPr>
          <p:cNvPr id="7" name="Text 4"/>
          <p:cNvSpPr/>
          <p:nvPr/>
        </p:nvSpPr>
        <p:spPr>
          <a:xfrm>
            <a:off x="1346150" y="1397943"/>
            <a:ext cx="3098899" cy="228600"/>
          </a:xfrm>
          <a:prstGeom prst="roundRect">
            <a:avLst>
              <a:gd name="adj" fmla="val 16667"/>
            </a:avLst>
          </a:prstGeom>
          <a:solidFill>
            <a:srgbClr val="FFFFFF">
              <a:alpha val="6000"/>
            </a:srgbClr>
          </a:solidFill>
          <a:ln/>
        </p:spPr>
        <p:txBody>
          <a:bodyPr wrap="square" rtlCol="0" anchor="ctr"/>
          <a:lstStyle/>
          <a:p>
            <a:pPr indent="0" marL="0">
              <a:buNone/>
            </a:pPr>
            <a:endParaRPr lang="en-US" dirty="0"/>
          </a:p>
        </p:txBody>
      </p:sp>
      <p:sp>
        <p:nvSpPr>
          <p:cNvPr id="8" name="Text 5"/>
          <p:cNvSpPr/>
          <p:nvPr/>
        </p:nvSpPr>
        <p:spPr>
          <a:xfrm>
            <a:off x="1346150" y="1397943"/>
            <a:ext cx="203150" cy="228600"/>
          </a:xfrm>
          <a:prstGeom prst="roundRect">
            <a:avLst>
              <a:gd name="adj" fmla="val 18755"/>
            </a:avLst>
          </a:prstGeom>
          <a:solidFill>
            <a:srgbClr val="EF4444"/>
          </a:solidFill>
          <a:ln/>
        </p:spPr>
        <p:txBody>
          <a:bodyPr wrap="square" rtlCol="0" anchor="ctr"/>
          <a:lstStyle/>
          <a:p>
            <a:pPr indent="0" marL="0">
              <a:buNone/>
            </a:pPr>
            <a:endParaRPr lang="en-US" dirty="0"/>
          </a:p>
        </p:txBody>
      </p:sp>
      <p:sp>
        <p:nvSpPr>
          <p:cNvPr id="9" name="Text 6"/>
          <p:cNvSpPr/>
          <p:nvPr/>
        </p:nvSpPr>
        <p:spPr>
          <a:xfrm>
            <a:off x="1241524" y="1441103"/>
            <a:ext cx="236208" cy="142280"/>
          </a:xfrm>
          <a:prstGeom prst="rect">
            <a:avLst/>
          </a:prstGeom>
          <a:noFill/>
          <a:ln/>
        </p:spPr>
        <p:txBody>
          <a:bodyPr wrap="square" lIns="0" tIns="0" rIns="0" bIns="0" rtlCol="0" anchor="t"/>
          <a:lstStyle/>
          <a:p>
            <a:pPr algn="l" indent="0" marL="0">
              <a:lnSpc>
                <a:spcPts val="1120"/>
              </a:lnSpc>
              <a:buNone/>
            </a:pPr>
            <a:r>
              <a:rPr lang="en-US" sz="800" b="1" dirty="0">
                <a:solidFill>
                  <a:srgbClr val="FFFFFF"/>
                </a:solidFill>
                <a:latin typeface="Arial" pitchFamily="34" charset="0"/>
                <a:ea typeface="Arial" pitchFamily="34" charset="-122"/>
                <a:cs typeface="Arial" pitchFamily="34" charset="-120"/>
              </a:rPr>
              <a:t>4.1%</a:t>
            </a:r>
            <a:endParaRPr lang="en-US" sz="800" dirty="0"/>
          </a:p>
        </p:txBody>
      </p:sp>
      <p:sp>
        <p:nvSpPr>
          <p:cNvPr id="10" name="Text 7"/>
          <p:cNvSpPr/>
          <p:nvPr/>
        </p:nvSpPr>
        <p:spPr>
          <a:xfrm>
            <a:off x="457200" y="1730573"/>
            <a:ext cx="906729" cy="159990"/>
          </a:xfrm>
          <a:prstGeom prst="rect">
            <a:avLst/>
          </a:prstGeom>
          <a:noFill/>
          <a:ln/>
        </p:spPr>
        <p:txBody>
          <a:bodyPr wrap="square" lIns="0" tIns="0" rIns="0" bIns="0" rtlCol="0" anchor="t"/>
          <a:lstStyle/>
          <a:p>
            <a:pPr algn="l" indent="0" marL="0">
              <a:lnSpc>
                <a:spcPts val="1260"/>
              </a:lnSpc>
              <a:spcAft>
                <a:spcPts val="500"/>
              </a:spcAft>
              <a:buNone/>
            </a:pPr>
            <a:r>
              <a:rPr lang="en-US" sz="900" dirty="0">
                <a:solidFill>
                  <a:srgbClr val="94A3B8"/>
                </a:solidFill>
                <a:latin typeface="Arial" pitchFamily="34" charset="0"/>
                <a:ea typeface="Arial" pitchFamily="34" charset="-122"/>
                <a:cs typeface="Arial" pitchFamily="34" charset="-120"/>
              </a:rPr>
              <a:t>Longformer (4K)</a:t>
            </a:r>
            <a:endParaRPr lang="en-US" sz="900" dirty="0"/>
          </a:p>
        </p:txBody>
      </p:sp>
      <p:sp>
        <p:nvSpPr>
          <p:cNvPr id="11" name="Text 8"/>
          <p:cNvSpPr/>
          <p:nvPr/>
        </p:nvSpPr>
        <p:spPr>
          <a:xfrm>
            <a:off x="1346150" y="1728043"/>
            <a:ext cx="3098899" cy="228600"/>
          </a:xfrm>
          <a:prstGeom prst="roundRect">
            <a:avLst>
              <a:gd name="adj" fmla="val 16667"/>
            </a:avLst>
          </a:prstGeom>
          <a:solidFill>
            <a:srgbClr val="FFFFFF">
              <a:alpha val="6000"/>
            </a:srgbClr>
          </a:solidFill>
          <a:ln/>
        </p:spPr>
        <p:txBody>
          <a:bodyPr wrap="square" rtlCol="0" anchor="ctr"/>
          <a:lstStyle/>
          <a:p>
            <a:pPr indent="0" marL="0">
              <a:buNone/>
            </a:pPr>
            <a:endParaRPr lang="en-US" dirty="0"/>
          </a:p>
        </p:txBody>
      </p:sp>
      <p:sp>
        <p:nvSpPr>
          <p:cNvPr id="12" name="Text 9"/>
          <p:cNvSpPr/>
          <p:nvPr/>
        </p:nvSpPr>
        <p:spPr>
          <a:xfrm>
            <a:off x="1346150" y="1728043"/>
            <a:ext cx="2093565" cy="228600"/>
          </a:xfrm>
          <a:prstGeom prst="roundRect">
            <a:avLst>
              <a:gd name="adj" fmla="val 16667"/>
            </a:avLst>
          </a:prstGeom>
          <a:solidFill>
            <a:srgbClr val="EAB308"/>
          </a:solidFill>
          <a:ln/>
        </p:spPr>
        <p:txBody>
          <a:bodyPr wrap="square" rtlCol="0" anchor="ctr"/>
          <a:lstStyle/>
          <a:p>
            <a:pPr indent="0" marL="0">
              <a:buNone/>
            </a:pPr>
            <a:endParaRPr lang="en-US" dirty="0"/>
          </a:p>
        </p:txBody>
      </p:sp>
      <p:sp>
        <p:nvSpPr>
          <p:cNvPr id="13" name="Text 10"/>
          <p:cNvSpPr/>
          <p:nvPr/>
        </p:nvSpPr>
        <p:spPr>
          <a:xfrm>
            <a:off x="3075533" y="1771204"/>
            <a:ext cx="293742" cy="142280"/>
          </a:xfrm>
          <a:prstGeom prst="rect">
            <a:avLst/>
          </a:prstGeom>
          <a:noFill/>
          <a:ln/>
        </p:spPr>
        <p:txBody>
          <a:bodyPr wrap="square" lIns="0" tIns="0" rIns="0" bIns="0" rtlCol="0" anchor="t"/>
          <a:lstStyle/>
          <a:p>
            <a:pPr algn="l" indent="0" marL="0">
              <a:lnSpc>
                <a:spcPts val="1120"/>
              </a:lnSpc>
              <a:buNone/>
            </a:pPr>
            <a:r>
              <a:rPr lang="en-US" sz="800" b="1" dirty="0">
                <a:solidFill>
                  <a:srgbClr val="FFFFFF"/>
                </a:solidFill>
                <a:latin typeface="Arial" pitchFamily="34" charset="0"/>
                <a:ea typeface="Arial" pitchFamily="34" charset="-122"/>
                <a:cs typeface="Arial" pitchFamily="34" charset="-120"/>
              </a:rPr>
              <a:t>65.1%</a:t>
            </a:r>
            <a:endParaRPr lang="en-US" sz="800" dirty="0"/>
          </a:p>
        </p:txBody>
      </p:sp>
      <p:sp>
        <p:nvSpPr>
          <p:cNvPr id="14" name="Text 11"/>
          <p:cNvSpPr/>
          <p:nvPr/>
        </p:nvSpPr>
        <p:spPr>
          <a:xfrm>
            <a:off x="457200" y="2060674"/>
            <a:ext cx="906729" cy="159990"/>
          </a:xfrm>
          <a:prstGeom prst="rect">
            <a:avLst/>
          </a:prstGeom>
          <a:noFill/>
          <a:ln/>
        </p:spPr>
        <p:txBody>
          <a:bodyPr wrap="square" lIns="0" tIns="0" rIns="0" bIns="0" rtlCol="0" anchor="t"/>
          <a:lstStyle/>
          <a:p>
            <a:pPr algn="l" indent="0" marL="0">
              <a:lnSpc>
                <a:spcPts val="1260"/>
              </a:lnSpc>
              <a:spcAft>
                <a:spcPts val="500"/>
              </a:spcAft>
              <a:buNone/>
            </a:pPr>
            <a:r>
              <a:rPr lang="en-US" sz="900" dirty="0">
                <a:solidFill>
                  <a:srgbClr val="94A3B8"/>
                </a:solidFill>
                <a:latin typeface="Arial" pitchFamily="34" charset="0"/>
                <a:ea typeface="Arial" pitchFamily="34" charset="-122"/>
                <a:cs typeface="Arial" pitchFamily="34" charset="-120"/>
              </a:rPr>
              <a:t>LED (16K)</a:t>
            </a:r>
            <a:endParaRPr lang="en-US" sz="900" dirty="0"/>
          </a:p>
        </p:txBody>
      </p:sp>
      <p:sp>
        <p:nvSpPr>
          <p:cNvPr id="15" name="Text 12"/>
          <p:cNvSpPr/>
          <p:nvPr/>
        </p:nvSpPr>
        <p:spPr>
          <a:xfrm>
            <a:off x="1346150" y="2058144"/>
            <a:ext cx="3098899" cy="228600"/>
          </a:xfrm>
          <a:prstGeom prst="roundRect">
            <a:avLst>
              <a:gd name="adj" fmla="val 16667"/>
            </a:avLst>
          </a:prstGeom>
          <a:solidFill>
            <a:srgbClr val="FFFFFF">
              <a:alpha val="6000"/>
            </a:srgbClr>
          </a:solidFill>
          <a:ln/>
        </p:spPr>
        <p:txBody>
          <a:bodyPr wrap="square" rtlCol="0" anchor="ctr"/>
          <a:lstStyle/>
          <a:p>
            <a:pPr indent="0" marL="0">
              <a:buNone/>
            </a:pPr>
            <a:endParaRPr lang="en-US" dirty="0"/>
          </a:p>
        </p:txBody>
      </p:sp>
      <p:sp>
        <p:nvSpPr>
          <p:cNvPr id="16" name="Text 13"/>
          <p:cNvSpPr/>
          <p:nvPr/>
        </p:nvSpPr>
        <p:spPr>
          <a:xfrm>
            <a:off x="1346150" y="2058144"/>
            <a:ext cx="3020020" cy="228600"/>
          </a:xfrm>
          <a:prstGeom prst="roundRect">
            <a:avLst>
              <a:gd name="adj" fmla="val 16667"/>
            </a:avLst>
          </a:prstGeom>
          <a:solidFill>
            <a:srgbClr val="22C55E"/>
          </a:solidFill>
          <a:ln/>
        </p:spPr>
        <p:txBody>
          <a:bodyPr wrap="square" rtlCol="0" anchor="ctr"/>
          <a:lstStyle/>
          <a:p>
            <a:pPr indent="0" marL="0">
              <a:buNone/>
            </a:pPr>
            <a:endParaRPr lang="en-US" dirty="0"/>
          </a:p>
        </p:txBody>
      </p:sp>
      <p:sp>
        <p:nvSpPr>
          <p:cNvPr id="17" name="Text 14"/>
          <p:cNvSpPr/>
          <p:nvPr/>
        </p:nvSpPr>
        <p:spPr>
          <a:xfrm>
            <a:off x="4027438" y="2101304"/>
            <a:ext cx="267783" cy="142280"/>
          </a:xfrm>
          <a:prstGeom prst="rect">
            <a:avLst/>
          </a:prstGeom>
          <a:noFill/>
          <a:ln/>
        </p:spPr>
        <p:txBody>
          <a:bodyPr wrap="square" lIns="0" tIns="0" rIns="0" bIns="0" rtlCol="0" anchor="t"/>
          <a:lstStyle/>
          <a:p>
            <a:pPr algn="l" indent="0" marL="0">
              <a:lnSpc>
                <a:spcPts val="1120"/>
              </a:lnSpc>
              <a:buNone/>
            </a:pPr>
            <a:r>
              <a:rPr lang="en-US" sz="800" b="1" dirty="0">
                <a:solidFill>
                  <a:srgbClr val="FFFFFF"/>
                </a:solidFill>
                <a:latin typeface="Arial" pitchFamily="34" charset="0"/>
                <a:ea typeface="Arial" pitchFamily="34" charset="-122"/>
                <a:cs typeface="Arial" pitchFamily="34" charset="-120"/>
              </a:rPr>
              <a:t>~95%</a:t>
            </a:r>
            <a:endParaRPr lang="en-US" sz="800" dirty="0"/>
          </a:p>
        </p:txBody>
      </p:sp>
      <p:sp>
        <p:nvSpPr>
          <p:cNvPr id="18" name="Text 15"/>
          <p:cNvSpPr/>
          <p:nvPr/>
        </p:nvSpPr>
        <p:spPr>
          <a:xfrm>
            <a:off x="457200" y="2413695"/>
            <a:ext cx="4067607" cy="177701"/>
          </a:xfrm>
          <a:prstGeom prst="rect">
            <a:avLst/>
          </a:prstGeom>
          <a:noFill/>
          <a:ln/>
        </p:spPr>
        <p:txBody>
          <a:bodyPr wrap="square" lIns="0" tIns="0" rIns="0" bIns="0" rtlCol="0" anchor="t"/>
          <a:lstStyle/>
          <a:p>
            <a:pPr algn="l" indent="0" marL="0">
              <a:lnSpc>
                <a:spcPts val="1400"/>
              </a:lnSpc>
              <a:spcBef>
                <a:spcPts val="1000"/>
              </a:spcBef>
              <a:spcAft>
                <a:spcPts val="500"/>
              </a:spcAft>
              <a:buNone/>
            </a:pPr>
            <a:r>
              <a:rPr lang="en-US" sz="1000" b="1" dirty="0">
                <a:solidFill>
                  <a:srgbClr val="EF4444"/>
                </a:solidFill>
                <a:latin typeface="Arial" pitchFamily="34" charset="0"/>
                <a:ea typeface="Arial" pitchFamily="34" charset="-122"/>
                <a:cs typeface="Arial" pitchFamily="34" charset="-120"/>
              </a:rPr>
              <a:t>Only 4.1% of docs fit in BERT's 512-token limit.</a:t>
            </a:r>
            <a:endParaRPr lang="en-US" sz="1000" dirty="0"/>
          </a:p>
        </p:txBody>
      </p:sp>
      <p:sp>
        <p:nvSpPr>
          <p:cNvPr id="19" name="Text 16"/>
          <p:cNvSpPr/>
          <p:nvPr/>
        </p:nvSpPr>
        <p:spPr>
          <a:xfrm>
            <a:off x="457200" y="2654796"/>
            <a:ext cx="4067607" cy="177701"/>
          </a:xfrm>
          <a:prstGeom prst="rect">
            <a:avLst/>
          </a:prstGeom>
          <a:noFill/>
          <a:ln/>
        </p:spPr>
        <p:txBody>
          <a:bodyPr wrap="square" lIns="0" tIns="0" rIns="0" bIns="0" rtlCol="0" anchor="t"/>
          <a:lstStyle/>
          <a:p>
            <a:pPr algn="l" indent="0" marL="0">
              <a:lnSpc>
                <a:spcPts val="1400"/>
              </a:lnSpc>
              <a:spcAft>
                <a:spcPts val="500"/>
              </a:spcAft>
              <a:buNone/>
            </a:pPr>
            <a:r>
              <a:rPr lang="en-US" sz="1000" dirty="0">
                <a:solidFill>
                  <a:srgbClr val="CBD5E1"/>
                </a:solidFill>
                <a:latin typeface="Arial" pitchFamily="34" charset="0"/>
                <a:ea typeface="Arial" pitchFamily="34" charset="-122"/>
                <a:cs typeface="Arial" pitchFamily="34" charset="-120"/>
              </a:rPr>
              <a:t>Standard transformers are unsuitable for this dataset.</a:t>
            </a:r>
            <a:endParaRPr lang="en-US" sz="1000" dirty="0"/>
          </a:p>
        </p:txBody>
      </p:sp>
      <p:sp>
        <p:nvSpPr>
          <p:cNvPr id="20" name="Text 17"/>
          <p:cNvSpPr/>
          <p:nvPr/>
        </p:nvSpPr>
        <p:spPr>
          <a:xfrm>
            <a:off x="4698950" y="857101"/>
            <a:ext cx="4067607" cy="159990"/>
          </a:xfrm>
          <a:prstGeom prst="rect">
            <a:avLst/>
          </a:prstGeom>
          <a:noFill/>
          <a:ln/>
        </p:spPr>
        <p:txBody>
          <a:bodyPr wrap="square" lIns="0" tIns="0" rIns="0" bIns="0" rtlCol="0" anchor="t"/>
          <a:lstStyle/>
          <a:p>
            <a:pPr algn="l" indent="0" marL="0">
              <a:lnSpc>
                <a:spcPts val="1260"/>
              </a:lnSpc>
              <a:spcAft>
                <a:spcPts val="600"/>
              </a:spcAft>
              <a:buNone/>
            </a:pPr>
            <a:r>
              <a:rPr lang="en-US" sz="900" dirty="0">
                <a:solidFill>
                  <a:srgbClr val="94A3B8"/>
                </a:solidFill>
                <a:latin typeface="Arial" pitchFamily="34" charset="0"/>
                <a:ea typeface="Arial" pitchFamily="34" charset="-122"/>
                <a:cs typeface="Arial" pitchFamily="34" charset="-120"/>
              </a:rPr>
              <a:t>HYBRID ROUTING STRATEGY</a:t>
            </a:r>
            <a:endParaRPr lang="en-US" sz="900" dirty="0"/>
          </a:p>
        </p:txBody>
      </p:sp>
      <p:sp>
        <p:nvSpPr>
          <p:cNvPr id="21" name="Text 18"/>
          <p:cNvSpPr/>
          <p:nvPr/>
        </p:nvSpPr>
        <p:spPr>
          <a:xfrm>
            <a:off x="4698950" y="1093291"/>
            <a:ext cx="3987850" cy="1306413"/>
          </a:xfrm>
          <a:prstGeom prst="roundRect">
            <a:avLst>
              <a:gd name="adj" fmla="val 5833"/>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22" name="Text 19"/>
          <p:cNvSpPr/>
          <p:nvPr/>
        </p:nvSpPr>
        <p:spPr>
          <a:xfrm>
            <a:off x="4886176" y="1255216"/>
            <a:ext cx="3685666" cy="284411"/>
          </a:xfrm>
          <a:prstGeom prst="rect">
            <a:avLst/>
          </a:prstGeom>
          <a:noFill/>
          <a:ln/>
        </p:spPr>
        <p:txBody>
          <a:bodyPr wrap="square" lIns="0" tIns="0" rIns="0" bIns="0" rtlCol="0" anchor="t"/>
          <a:lstStyle/>
          <a:p>
            <a:pPr algn="l" indent="0" marL="0">
              <a:lnSpc>
                <a:spcPts val="2240"/>
              </a:lnSpc>
              <a:spcAft>
                <a:spcPts val="400"/>
              </a:spcAft>
              <a:buNone/>
            </a:pPr>
            <a:r>
              <a:rPr lang="en-US" sz="1600" b="1" dirty="0">
                <a:solidFill>
                  <a:srgbClr val="00B4D8"/>
                </a:solidFill>
                <a:latin typeface="Arial" pitchFamily="34" charset="0"/>
                <a:ea typeface="Arial" pitchFamily="34" charset="-122"/>
                <a:cs typeface="Arial" pitchFamily="34" charset="-120"/>
              </a:rPr>
              <a:t>66.9%</a:t>
            </a:r>
            <a:endParaRPr lang="en-US" sz="1600" dirty="0"/>
          </a:p>
        </p:txBody>
      </p:sp>
      <p:sp>
        <p:nvSpPr>
          <p:cNvPr id="23" name="Text 20"/>
          <p:cNvSpPr/>
          <p:nvPr/>
        </p:nvSpPr>
        <p:spPr>
          <a:xfrm>
            <a:off x="4886176" y="1590377"/>
            <a:ext cx="3685666" cy="177701"/>
          </a:xfrm>
          <a:prstGeom prst="rect">
            <a:avLst/>
          </a:prstGeom>
          <a:noFill/>
          <a:ln/>
        </p:spPr>
        <p:txBody>
          <a:bodyPr wrap="square" lIns="0" tIns="0" rIns="0" bIns="0" rtlCol="0" anchor="t"/>
          <a:lstStyle/>
          <a:p>
            <a:pPr algn="l" indent="0" marL="0">
              <a:lnSpc>
                <a:spcPts val="1400"/>
              </a:lnSpc>
              <a:spcAft>
                <a:spcPts val="300"/>
              </a:spcAft>
              <a:buNone/>
            </a:pPr>
            <a:r>
              <a:rPr lang="en-US" sz="1000" b="1" dirty="0">
                <a:solidFill>
                  <a:srgbClr val="E2E8F0"/>
                </a:solidFill>
                <a:latin typeface="Arial" pitchFamily="34" charset="0"/>
                <a:ea typeface="Arial" pitchFamily="34" charset="-122"/>
                <a:cs typeface="Arial" pitchFamily="34" charset="-120"/>
              </a:rPr>
              <a:t>Direct Classification</a:t>
            </a:r>
            <a:endParaRPr lang="en-US" sz="1000" dirty="0"/>
          </a:p>
        </p:txBody>
      </p:sp>
      <p:sp>
        <p:nvSpPr>
          <p:cNvPr id="24" name="Text 21"/>
          <p:cNvSpPr/>
          <p:nvPr/>
        </p:nvSpPr>
        <p:spPr>
          <a:xfrm>
            <a:off x="4886176" y="1806178"/>
            <a:ext cx="3685666" cy="177701"/>
          </a:xfrm>
          <a:prstGeom prst="rect">
            <a:avLst/>
          </a:prstGeom>
          <a:noFill/>
          <a:ln/>
        </p:spPr>
        <p:txBody>
          <a:bodyPr wrap="square" lIns="0" tIns="0" rIns="0" bIns="0" rtlCol="0" anchor="t"/>
          <a:lstStyle/>
          <a:p>
            <a:pPr algn="l" indent="0" marL="0">
              <a:lnSpc>
                <a:spcPts val="1400"/>
              </a:lnSpc>
              <a:spcAft>
                <a:spcPts val="300"/>
              </a:spcAft>
              <a:buNone/>
            </a:pPr>
            <a:r>
              <a:rPr lang="en-US" sz="1000" dirty="0">
                <a:solidFill>
                  <a:srgbClr val="E2E8F0"/>
                </a:solidFill>
                <a:latin typeface="Arial" pitchFamily="34" charset="0"/>
                <a:ea typeface="Arial" pitchFamily="34" charset="-122"/>
                <a:cs typeface="Arial" pitchFamily="34" charset="-120"/>
              </a:rPr>
              <a:t>Documents &lt;= 4,096 tokens</a:t>
            </a:r>
            <a:endParaRPr lang="en-US" sz="1000" dirty="0"/>
          </a:p>
        </p:txBody>
      </p:sp>
      <p:sp>
        <p:nvSpPr>
          <p:cNvPr id="25" name="Text 22"/>
          <p:cNvSpPr/>
          <p:nvPr/>
        </p:nvSpPr>
        <p:spPr>
          <a:xfrm>
            <a:off x="4886176" y="2021979"/>
            <a:ext cx="3685666" cy="177701"/>
          </a:xfrm>
          <a:prstGeom prst="rect">
            <a:avLst/>
          </a:prstGeom>
          <a:noFill/>
          <a:ln/>
        </p:spPr>
        <p:txBody>
          <a:bodyPr wrap="square" lIns="0" tIns="0" rIns="0" bIns="0" rtlCol="0" anchor="t"/>
          <a:lstStyle/>
          <a:p>
            <a:pPr algn="l" indent="0" marL="0">
              <a:lnSpc>
                <a:spcPts val="1400"/>
              </a:lnSpc>
              <a:spcAft>
                <a:spcPts val="300"/>
              </a:spcAft>
              <a:buNone/>
            </a:pPr>
            <a:r>
              <a:rPr lang="en-US" sz="1000" dirty="0">
                <a:solidFill>
                  <a:srgbClr val="E2E8F0"/>
                </a:solidFill>
                <a:latin typeface="Arial" pitchFamily="34" charset="0"/>
                <a:ea typeface="Arial" pitchFamily="34" charset="-122"/>
                <a:cs typeface="Arial" pitchFamily="34" charset="-120"/>
              </a:rPr>
              <a:t>Processed by Legal-Longformer directly</a:t>
            </a:r>
            <a:endParaRPr lang="en-US" sz="1000" dirty="0"/>
          </a:p>
        </p:txBody>
      </p:sp>
      <p:sp>
        <p:nvSpPr>
          <p:cNvPr id="26" name="Text 23"/>
          <p:cNvSpPr/>
          <p:nvPr/>
        </p:nvSpPr>
        <p:spPr>
          <a:xfrm>
            <a:off x="4698950" y="2501205"/>
            <a:ext cx="3987850" cy="1306413"/>
          </a:xfrm>
          <a:prstGeom prst="roundRect">
            <a:avLst>
              <a:gd name="adj" fmla="val 5833"/>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27" name="Text 24"/>
          <p:cNvSpPr/>
          <p:nvPr/>
        </p:nvSpPr>
        <p:spPr>
          <a:xfrm>
            <a:off x="4886176" y="2663130"/>
            <a:ext cx="3685666" cy="284411"/>
          </a:xfrm>
          <a:prstGeom prst="rect">
            <a:avLst/>
          </a:prstGeom>
          <a:noFill/>
          <a:ln/>
        </p:spPr>
        <p:txBody>
          <a:bodyPr wrap="square" lIns="0" tIns="0" rIns="0" bIns="0" rtlCol="0" anchor="t"/>
          <a:lstStyle/>
          <a:p>
            <a:pPr algn="l" indent="0" marL="0">
              <a:lnSpc>
                <a:spcPts val="2240"/>
              </a:lnSpc>
              <a:spcAft>
                <a:spcPts val="400"/>
              </a:spcAft>
              <a:buNone/>
            </a:pPr>
            <a:r>
              <a:rPr lang="en-US" sz="1600" b="1" dirty="0">
                <a:solidFill>
                  <a:srgbClr val="00B4D8"/>
                </a:solidFill>
                <a:latin typeface="Arial" pitchFamily="34" charset="0"/>
                <a:ea typeface="Arial" pitchFamily="34" charset="-122"/>
                <a:cs typeface="Arial" pitchFamily="34" charset="-120"/>
              </a:rPr>
              <a:t>33.1%</a:t>
            </a:r>
            <a:endParaRPr lang="en-US" sz="1600" dirty="0"/>
          </a:p>
        </p:txBody>
      </p:sp>
      <p:sp>
        <p:nvSpPr>
          <p:cNvPr id="28" name="Text 25"/>
          <p:cNvSpPr/>
          <p:nvPr/>
        </p:nvSpPr>
        <p:spPr>
          <a:xfrm>
            <a:off x="4886176" y="2998291"/>
            <a:ext cx="3685666" cy="177701"/>
          </a:xfrm>
          <a:prstGeom prst="rect">
            <a:avLst/>
          </a:prstGeom>
          <a:noFill/>
          <a:ln/>
        </p:spPr>
        <p:txBody>
          <a:bodyPr wrap="square" lIns="0" tIns="0" rIns="0" bIns="0" rtlCol="0" anchor="t"/>
          <a:lstStyle/>
          <a:p>
            <a:pPr algn="l" indent="0" marL="0">
              <a:lnSpc>
                <a:spcPts val="1400"/>
              </a:lnSpc>
              <a:spcAft>
                <a:spcPts val="300"/>
              </a:spcAft>
              <a:buNone/>
            </a:pPr>
            <a:r>
              <a:rPr lang="en-US" sz="1000" b="1" dirty="0">
                <a:solidFill>
                  <a:srgbClr val="E2E8F0"/>
                </a:solidFill>
                <a:latin typeface="Arial" pitchFamily="34" charset="0"/>
                <a:ea typeface="Arial" pitchFamily="34" charset="-122"/>
                <a:cs typeface="Arial" pitchFamily="34" charset="-120"/>
              </a:rPr>
              <a:t>Summarize, then Classify</a:t>
            </a:r>
            <a:endParaRPr lang="en-US" sz="1000" dirty="0"/>
          </a:p>
        </p:txBody>
      </p:sp>
      <p:sp>
        <p:nvSpPr>
          <p:cNvPr id="29" name="Text 26"/>
          <p:cNvSpPr/>
          <p:nvPr/>
        </p:nvSpPr>
        <p:spPr>
          <a:xfrm>
            <a:off x="4886176" y="3214092"/>
            <a:ext cx="3685666" cy="177701"/>
          </a:xfrm>
          <a:prstGeom prst="rect">
            <a:avLst/>
          </a:prstGeom>
          <a:noFill/>
          <a:ln/>
        </p:spPr>
        <p:txBody>
          <a:bodyPr wrap="square" lIns="0" tIns="0" rIns="0" bIns="0" rtlCol="0" anchor="t"/>
          <a:lstStyle/>
          <a:p>
            <a:pPr algn="l" indent="0" marL="0">
              <a:lnSpc>
                <a:spcPts val="1400"/>
              </a:lnSpc>
              <a:spcAft>
                <a:spcPts val="300"/>
              </a:spcAft>
              <a:buNone/>
            </a:pPr>
            <a:r>
              <a:rPr lang="en-US" sz="1000" dirty="0">
                <a:solidFill>
                  <a:srgbClr val="E2E8F0"/>
                </a:solidFill>
                <a:latin typeface="Arial" pitchFamily="34" charset="0"/>
                <a:ea typeface="Arial" pitchFamily="34" charset="-122"/>
                <a:cs typeface="Arial" pitchFamily="34" charset="-120"/>
              </a:rPr>
              <a:t>Documents &gt; 4,096 tokens (5,530 docs)</a:t>
            </a:r>
            <a:endParaRPr lang="en-US" sz="1000" dirty="0"/>
          </a:p>
        </p:txBody>
      </p:sp>
      <p:sp>
        <p:nvSpPr>
          <p:cNvPr id="30" name="Text 27"/>
          <p:cNvSpPr/>
          <p:nvPr/>
        </p:nvSpPr>
        <p:spPr>
          <a:xfrm>
            <a:off x="4886176" y="3429893"/>
            <a:ext cx="3685666" cy="177701"/>
          </a:xfrm>
          <a:prstGeom prst="rect">
            <a:avLst/>
          </a:prstGeom>
          <a:noFill/>
          <a:ln/>
        </p:spPr>
        <p:txBody>
          <a:bodyPr wrap="square" lIns="0" tIns="0" rIns="0" bIns="0" rtlCol="0" anchor="t"/>
          <a:lstStyle/>
          <a:p>
            <a:pPr algn="l" indent="0" marL="0">
              <a:lnSpc>
                <a:spcPts val="1400"/>
              </a:lnSpc>
              <a:spcAft>
                <a:spcPts val="300"/>
              </a:spcAft>
              <a:buNone/>
            </a:pPr>
            <a:r>
              <a:rPr lang="en-US" sz="1000" dirty="0">
                <a:solidFill>
                  <a:srgbClr val="E2E8F0"/>
                </a:solidFill>
                <a:latin typeface="Arial" pitchFamily="34" charset="0"/>
                <a:ea typeface="Arial" pitchFamily="34" charset="-122"/>
                <a:cs typeface="Arial" pitchFamily="34" charset="-120"/>
              </a:rPr>
              <a:t>Legal-LED (16K) summarizes first</a:t>
            </a:r>
            <a:endParaRPr lang="en-US" sz="1000" dirty="0"/>
          </a:p>
        </p:txBody>
      </p:sp>
      <p:sp>
        <p:nvSpPr>
          <p:cNvPr id="31" name="Text 28"/>
          <p:cNvSpPr/>
          <p:nvPr/>
        </p:nvSpPr>
        <p:spPr>
          <a:xfrm>
            <a:off x="4698950" y="3909120"/>
            <a:ext cx="3987850" cy="488752"/>
          </a:xfrm>
          <a:prstGeom prst="roundRect">
            <a:avLst>
              <a:gd name="adj" fmla="val 15591"/>
            </a:avLst>
          </a:prstGeom>
          <a:solidFill>
            <a:srgbClr val="00B4D8">
              <a:alpha val="8000"/>
            </a:srgbClr>
          </a:solidFill>
          <a:ln w="9525">
            <a:solidFill>
              <a:srgbClr val="00B4D8"/>
            </a:solidFill>
          </a:ln>
        </p:spPr>
        <p:txBody>
          <a:bodyPr wrap="square" rtlCol="0" anchor="ctr"/>
          <a:lstStyle/>
          <a:p>
            <a:pPr indent="0" marL="0">
              <a:buNone/>
            </a:pPr>
            <a:endParaRPr lang="en-US" dirty="0"/>
          </a:p>
        </p:txBody>
      </p:sp>
      <p:sp>
        <p:nvSpPr>
          <p:cNvPr id="32" name="Text 29"/>
          <p:cNvSpPr/>
          <p:nvPr/>
        </p:nvSpPr>
        <p:spPr>
          <a:xfrm>
            <a:off x="4886176" y="4045595"/>
            <a:ext cx="3685666" cy="177701"/>
          </a:xfrm>
          <a:prstGeom prst="rect">
            <a:avLst/>
          </a:prstGeom>
          <a:noFill/>
          <a:ln/>
        </p:spPr>
        <p:txBody>
          <a:bodyPr wrap="square" lIns="0" tIns="0" rIns="0" bIns="0" rtlCol="0" anchor="t"/>
          <a:lstStyle/>
          <a:p>
            <a:pPr algn="l" indent="0" marL="0">
              <a:lnSpc>
                <a:spcPts val="1400"/>
              </a:lnSpc>
              <a:spcAft>
                <a:spcPts val="300"/>
              </a:spcAft>
              <a:buNone/>
            </a:pPr>
            <a:r>
              <a:rPr lang="en-US" sz="1000" dirty="0">
                <a:solidFill>
                  <a:srgbClr val="E2E8F0"/>
                </a:solidFill>
                <a:latin typeface="Arial" pitchFamily="34" charset="0"/>
                <a:ea typeface="Arial" pitchFamily="34" charset="-122"/>
                <a:cs typeface="Arial" pitchFamily="34" charset="-120"/>
              </a:rPr>
              <a:t>Preserves semantic content better than truncation</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Users/alessandrodibari/Ale/projects/TR_hiring_exercise/outputs/pptx_workspace/slides/accent_teal.png">    </p:cNvPr>
          <p:cNvPicPr>
            <a:picLocks noChangeAspect="1"/>
          </p:cNvPicPr>
          <p:nvPr/>
        </p:nvPicPr>
        <p:blipFill>
          <a:blip r:embed="rId2"/>
          <a:stretch>
            <a:fillRect/>
          </a:stretch>
        </p:blipFill>
        <p:spPr>
          <a:xfrm>
            <a:off x="0" y="0"/>
            <a:ext cx="9144000" cy="50750"/>
          </a:xfrm>
          <a:prstGeom prst="rect">
            <a:avLst/>
          </a:prstGeom>
        </p:spPr>
      </p:pic>
      <p:sp>
        <p:nvSpPr>
          <p:cNvPr id="3" name="Text 0"/>
          <p:cNvSpPr/>
          <p:nvPr/>
        </p:nvSpPr>
        <p:spPr>
          <a:xfrm>
            <a:off x="457200" y="355550"/>
            <a:ext cx="8394192" cy="323850"/>
          </a:xfrm>
          <a:prstGeom prst="rect">
            <a:avLst/>
          </a:prstGeom>
          <a:noFill/>
          <a:ln/>
        </p:spPr>
        <p:txBody>
          <a:bodyPr wrap="square" lIns="0" tIns="0" rIns="0" bIns="0" rtlCol="0" anchor="t"/>
          <a:lstStyle/>
          <a:p>
            <a:pPr algn="l" indent="0" marL="0">
              <a:buNone/>
            </a:pPr>
            <a:r>
              <a:rPr lang="en-US" sz="2200" b="1" dirty="0">
                <a:solidFill>
                  <a:srgbClr val="00B4D8"/>
                </a:solidFill>
                <a:latin typeface="Arial" pitchFamily="34" charset="0"/>
                <a:ea typeface="Arial" pitchFamily="34" charset="-122"/>
                <a:cs typeface="Arial" pitchFamily="34" charset="-120"/>
              </a:rPr>
              <a:t>Hybrid Legal-Longformer Architecture</a:t>
            </a:r>
            <a:endParaRPr lang="en-US" sz="2200" dirty="0"/>
          </a:p>
        </p:txBody>
      </p:sp>
      <p:sp>
        <p:nvSpPr>
          <p:cNvPr id="4" name="Text 1"/>
          <p:cNvSpPr/>
          <p:nvPr/>
        </p:nvSpPr>
        <p:spPr>
          <a:xfrm>
            <a:off x="457200" y="857101"/>
            <a:ext cx="4067607" cy="159990"/>
          </a:xfrm>
          <a:prstGeom prst="rect">
            <a:avLst/>
          </a:prstGeom>
          <a:noFill/>
          <a:ln/>
        </p:spPr>
        <p:txBody>
          <a:bodyPr wrap="square" lIns="0" tIns="0" rIns="0" bIns="0" rtlCol="0" anchor="t"/>
          <a:lstStyle/>
          <a:p>
            <a:pPr algn="l" indent="0" marL="0">
              <a:lnSpc>
                <a:spcPts val="1260"/>
              </a:lnSpc>
              <a:spcAft>
                <a:spcPts val="600"/>
              </a:spcAft>
              <a:buNone/>
            </a:pPr>
            <a:r>
              <a:rPr lang="en-US" sz="900" dirty="0">
                <a:solidFill>
                  <a:srgbClr val="94A3B8"/>
                </a:solidFill>
                <a:latin typeface="Arial" pitchFamily="34" charset="0"/>
                <a:ea typeface="Arial" pitchFamily="34" charset="-122"/>
                <a:cs typeface="Arial" pitchFamily="34" charset="-120"/>
              </a:rPr>
              <a:t>MODELS</a:t>
            </a:r>
            <a:endParaRPr lang="en-US" sz="900" dirty="0"/>
          </a:p>
        </p:txBody>
      </p:sp>
      <p:sp>
        <p:nvSpPr>
          <p:cNvPr id="5" name="Text 2"/>
          <p:cNvSpPr/>
          <p:nvPr/>
        </p:nvSpPr>
        <p:spPr>
          <a:xfrm>
            <a:off x="457200" y="1093291"/>
            <a:ext cx="3987850" cy="1140321"/>
          </a:xfrm>
          <a:prstGeom prst="roundRect">
            <a:avLst>
              <a:gd name="adj" fmla="val 6682"/>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6" name="Text 3"/>
          <p:cNvSpPr/>
          <p:nvPr/>
        </p:nvSpPr>
        <p:spPr>
          <a:xfrm>
            <a:off x="644426" y="1229767"/>
            <a:ext cx="3685666" cy="195560"/>
          </a:xfrm>
          <a:prstGeom prst="rect">
            <a:avLst/>
          </a:prstGeom>
          <a:noFill/>
          <a:ln/>
        </p:spPr>
        <p:txBody>
          <a:bodyPr wrap="square" lIns="0" tIns="0" rIns="0" bIns="0" rtlCol="0" anchor="t"/>
          <a:lstStyle/>
          <a:p>
            <a:pPr algn="l" indent="0" marL="0">
              <a:lnSpc>
                <a:spcPts val="1540"/>
              </a:lnSpc>
              <a:spcAft>
                <a:spcPts val="400"/>
              </a:spcAft>
              <a:buNone/>
            </a:pPr>
            <a:r>
              <a:rPr lang="en-US" sz="1100" b="1" dirty="0">
                <a:solidFill>
                  <a:srgbClr val="00B4D8"/>
                </a:solidFill>
                <a:latin typeface="Arial" pitchFamily="34" charset="0"/>
                <a:ea typeface="Arial" pitchFamily="34" charset="-122"/>
                <a:cs typeface="Arial" pitchFamily="34" charset="-120"/>
              </a:rPr>
              <a:t>Classifier: Legal-Longformer</a:t>
            </a:r>
            <a:endParaRPr lang="en-US" sz="1100" dirty="0"/>
          </a:p>
        </p:txBody>
      </p:sp>
      <p:sp>
        <p:nvSpPr>
          <p:cNvPr id="7" name="Text 4"/>
          <p:cNvSpPr/>
          <p:nvPr/>
        </p:nvSpPr>
        <p:spPr>
          <a:xfrm>
            <a:off x="644426" y="1476077"/>
            <a:ext cx="3685666" cy="168920"/>
          </a:xfrm>
          <a:prstGeom prst="rect">
            <a:avLst/>
          </a:prstGeom>
          <a:noFill/>
          <a:ln/>
        </p:spPr>
        <p:txBody>
          <a:bodyPr wrap="square" lIns="0" tIns="0" rIns="0" bIns="0" rtlCol="0" anchor="t"/>
          <a:lstStyle/>
          <a:p>
            <a:pPr algn="l" indent="0" marL="0">
              <a:lnSpc>
                <a:spcPts val="1330"/>
              </a:lnSpc>
              <a:spcAft>
                <a:spcPts val="300"/>
              </a:spcAft>
              <a:buNone/>
            </a:pPr>
            <a:r>
              <a:rPr lang="en-US" sz="950" dirty="0">
                <a:solidFill>
                  <a:srgbClr val="CBD5E1"/>
                </a:solidFill>
                <a:latin typeface="Arial" pitchFamily="34" charset="0"/>
                <a:ea typeface="Arial" pitchFamily="34" charset="-122"/>
                <a:cs typeface="Arial" pitchFamily="34" charset="-120"/>
              </a:rPr>
              <a:t>lexlms/legal-longformer-base</a:t>
            </a:r>
            <a:endParaRPr lang="en-US" sz="950" dirty="0"/>
          </a:p>
        </p:txBody>
      </p:sp>
      <p:sp>
        <p:nvSpPr>
          <p:cNvPr id="8" name="Text 5"/>
          <p:cNvSpPr/>
          <p:nvPr/>
        </p:nvSpPr>
        <p:spPr>
          <a:xfrm>
            <a:off x="644426" y="1683097"/>
            <a:ext cx="3685666" cy="168920"/>
          </a:xfrm>
          <a:prstGeom prst="rect">
            <a:avLst/>
          </a:prstGeom>
          <a:noFill/>
          <a:ln/>
        </p:spPr>
        <p:txBody>
          <a:bodyPr wrap="square" lIns="0" tIns="0" rIns="0" bIns="0" rtlCol="0" anchor="t"/>
          <a:lstStyle/>
          <a:p>
            <a:pPr algn="l" indent="0" marL="0">
              <a:lnSpc>
                <a:spcPts val="1330"/>
              </a:lnSpc>
              <a:spcAft>
                <a:spcPts val="300"/>
              </a:spcAft>
              <a:buNone/>
            </a:pPr>
            <a:r>
              <a:rPr lang="en-US" sz="950" dirty="0">
                <a:solidFill>
                  <a:srgbClr val="CBD5E1"/>
                </a:solidFill>
                <a:latin typeface="Arial" pitchFamily="34" charset="0"/>
                <a:ea typeface="Arial" pitchFamily="34" charset="-122"/>
                <a:cs typeface="Arial" pitchFamily="34" charset="-120"/>
              </a:rPr>
              <a:t>4,096 token context window</a:t>
            </a:r>
            <a:endParaRPr lang="en-US" sz="950" dirty="0"/>
          </a:p>
        </p:txBody>
      </p:sp>
      <p:sp>
        <p:nvSpPr>
          <p:cNvPr id="9" name="Text 6"/>
          <p:cNvSpPr/>
          <p:nvPr/>
        </p:nvSpPr>
        <p:spPr>
          <a:xfrm>
            <a:off x="644426" y="1890117"/>
            <a:ext cx="3685666" cy="168920"/>
          </a:xfrm>
          <a:prstGeom prst="rect">
            <a:avLst/>
          </a:prstGeom>
          <a:noFill/>
          <a:ln/>
        </p:spPr>
        <p:txBody>
          <a:bodyPr wrap="square" lIns="0" tIns="0" rIns="0" bIns="0" rtlCol="0" anchor="t"/>
          <a:lstStyle/>
          <a:p>
            <a:pPr algn="l" indent="0" marL="0">
              <a:lnSpc>
                <a:spcPts val="1330"/>
              </a:lnSpc>
              <a:spcAft>
                <a:spcPts val="300"/>
              </a:spcAft>
              <a:buNone/>
            </a:pPr>
            <a:r>
              <a:rPr lang="en-US" sz="950" dirty="0">
                <a:solidFill>
                  <a:srgbClr val="CBD5E1"/>
                </a:solidFill>
                <a:latin typeface="Arial" pitchFamily="34" charset="0"/>
                <a:ea typeface="Arial" pitchFamily="34" charset="-122"/>
                <a:cs typeface="Arial" pitchFamily="34" charset="-120"/>
              </a:rPr>
              <a:t>Pre-trained on legal corpora (same authors as Legal-BERT)</a:t>
            </a:r>
            <a:endParaRPr lang="en-US" sz="950" dirty="0"/>
          </a:p>
        </p:txBody>
      </p:sp>
      <p:sp>
        <p:nvSpPr>
          <p:cNvPr id="10" name="Text 7"/>
          <p:cNvSpPr/>
          <p:nvPr/>
        </p:nvSpPr>
        <p:spPr>
          <a:xfrm>
            <a:off x="457200" y="2335113"/>
            <a:ext cx="3987850" cy="1140321"/>
          </a:xfrm>
          <a:prstGeom prst="roundRect">
            <a:avLst>
              <a:gd name="adj" fmla="val 6682"/>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11" name="Text 8"/>
          <p:cNvSpPr/>
          <p:nvPr/>
        </p:nvSpPr>
        <p:spPr>
          <a:xfrm>
            <a:off x="644426" y="2471589"/>
            <a:ext cx="3685666" cy="195560"/>
          </a:xfrm>
          <a:prstGeom prst="rect">
            <a:avLst/>
          </a:prstGeom>
          <a:noFill/>
          <a:ln/>
        </p:spPr>
        <p:txBody>
          <a:bodyPr wrap="square" lIns="0" tIns="0" rIns="0" bIns="0" rtlCol="0" anchor="t"/>
          <a:lstStyle/>
          <a:p>
            <a:pPr algn="l" indent="0" marL="0">
              <a:lnSpc>
                <a:spcPts val="1540"/>
              </a:lnSpc>
              <a:spcAft>
                <a:spcPts val="400"/>
              </a:spcAft>
              <a:buNone/>
            </a:pPr>
            <a:r>
              <a:rPr lang="en-US" sz="1100" b="1" dirty="0">
                <a:solidFill>
                  <a:srgbClr val="00B4D8"/>
                </a:solidFill>
                <a:latin typeface="Arial" pitchFamily="34" charset="0"/>
                <a:ea typeface="Arial" pitchFamily="34" charset="-122"/>
                <a:cs typeface="Arial" pitchFamily="34" charset="-120"/>
              </a:rPr>
              <a:t>Summarizer: Legal-LED</a:t>
            </a:r>
            <a:endParaRPr lang="en-US" sz="1100" dirty="0"/>
          </a:p>
        </p:txBody>
      </p:sp>
      <p:sp>
        <p:nvSpPr>
          <p:cNvPr id="12" name="Text 9"/>
          <p:cNvSpPr/>
          <p:nvPr/>
        </p:nvSpPr>
        <p:spPr>
          <a:xfrm>
            <a:off x="644426" y="2717899"/>
            <a:ext cx="3685666" cy="168920"/>
          </a:xfrm>
          <a:prstGeom prst="rect">
            <a:avLst/>
          </a:prstGeom>
          <a:noFill/>
          <a:ln/>
        </p:spPr>
        <p:txBody>
          <a:bodyPr wrap="square" lIns="0" tIns="0" rIns="0" bIns="0" rtlCol="0" anchor="t"/>
          <a:lstStyle/>
          <a:p>
            <a:pPr algn="l" indent="0" marL="0">
              <a:lnSpc>
                <a:spcPts val="1330"/>
              </a:lnSpc>
              <a:spcAft>
                <a:spcPts val="300"/>
              </a:spcAft>
              <a:buNone/>
            </a:pPr>
            <a:r>
              <a:rPr lang="en-US" sz="950" dirty="0">
                <a:solidFill>
                  <a:srgbClr val="CBD5E1"/>
                </a:solidFill>
                <a:latin typeface="Arial" pitchFamily="34" charset="0"/>
                <a:ea typeface="Arial" pitchFamily="34" charset="-122"/>
                <a:cs typeface="Arial" pitchFamily="34" charset="-120"/>
              </a:rPr>
              <a:t>nsi319/legal-led-base-16384</a:t>
            </a:r>
            <a:endParaRPr lang="en-US" sz="950" dirty="0"/>
          </a:p>
        </p:txBody>
      </p:sp>
      <p:sp>
        <p:nvSpPr>
          <p:cNvPr id="13" name="Text 10"/>
          <p:cNvSpPr/>
          <p:nvPr/>
        </p:nvSpPr>
        <p:spPr>
          <a:xfrm>
            <a:off x="644426" y="2924919"/>
            <a:ext cx="3685666" cy="168920"/>
          </a:xfrm>
          <a:prstGeom prst="rect">
            <a:avLst/>
          </a:prstGeom>
          <a:noFill/>
          <a:ln/>
        </p:spPr>
        <p:txBody>
          <a:bodyPr wrap="square" lIns="0" tIns="0" rIns="0" bIns="0" rtlCol="0" anchor="t"/>
          <a:lstStyle/>
          <a:p>
            <a:pPr algn="l" indent="0" marL="0">
              <a:lnSpc>
                <a:spcPts val="1330"/>
              </a:lnSpc>
              <a:spcAft>
                <a:spcPts val="300"/>
              </a:spcAft>
              <a:buNone/>
            </a:pPr>
            <a:r>
              <a:rPr lang="en-US" sz="950" dirty="0">
                <a:solidFill>
                  <a:srgbClr val="CBD5E1"/>
                </a:solidFill>
                <a:latin typeface="Arial" pitchFamily="34" charset="0"/>
                <a:ea typeface="Arial" pitchFamily="34" charset="-122"/>
                <a:cs typeface="Arial" pitchFamily="34" charset="-120"/>
              </a:rPr>
              <a:t>16,384 token context window</a:t>
            </a:r>
            <a:endParaRPr lang="en-US" sz="950" dirty="0"/>
          </a:p>
        </p:txBody>
      </p:sp>
      <p:sp>
        <p:nvSpPr>
          <p:cNvPr id="14" name="Text 11"/>
          <p:cNvSpPr/>
          <p:nvPr/>
        </p:nvSpPr>
        <p:spPr>
          <a:xfrm>
            <a:off x="644426" y="3131939"/>
            <a:ext cx="3685666" cy="168920"/>
          </a:xfrm>
          <a:prstGeom prst="rect">
            <a:avLst/>
          </a:prstGeom>
          <a:noFill/>
          <a:ln/>
        </p:spPr>
        <p:txBody>
          <a:bodyPr wrap="square" lIns="0" tIns="0" rIns="0" bIns="0" rtlCol="0" anchor="t"/>
          <a:lstStyle/>
          <a:p>
            <a:pPr algn="l" indent="0" marL="0">
              <a:lnSpc>
                <a:spcPts val="1330"/>
              </a:lnSpc>
              <a:spcAft>
                <a:spcPts val="300"/>
              </a:spcAft>
              <a:buNone/>
            </a:pPr>
            <a:r>
              <a:rPr lang="en-US" sz="950" dirty="0">
                <a:solidFill>
                  <a:srgbClr val="CBD5E1"/>
                </a:solidFill>
                <a:latin typeface="Arial" pitchFamily="34" charset="0"/>
                <a:ea typeface="Arial" pitchFamily="34" charset="-122"/>
                <a:cs typeface="Arial" pitchFamily="34" charset="-120"/>
              </a:rPr>
              <a:t>Generates semantic summaries of long docs</a:t>
            </a:r>
            <a:endParaRPr lang="en-US" sz="950" dirty="0"/>
          </a:p>
        </p:txBody>
      </p:sp>
      <p:sp>
        <p:nvSpPr>
          <p:cNvPr id="15" name="Text 12"/>
          <p:cNvSpPr/>
          <p:nvPr/>
        </p:nvSpPr>
        <p:spPr>
          <a:xfrm>
            <a:off x="457200" y="3576935"/>
            <a:ext cx="3987850" cy="591443"/>
          </a:xfrm>
          <a:prstGeom prst="rect">
            <a:avLst/>
          </a:prstGeom>
          <a:solidFill>
            <a:srgbClr val="E76F51">
              <a:alpha val="10000"/>
            </a:srgbClr>
          </a:solidFill>
          <a:ln/>
        </p:spPr>
        <p:txBody>
          <a:bodyPr wrap="square" rtlCol="0" anchor="ctr"/>
          <a:lstStyle/>
          <a:p>
            <a:pPr indent="0" marL="0">
              <a:buNone/>
            </a:pPr>
            <a:endParaRPr lang="en-US" dirty="0"/>
          </a:p>
        </p:txBody>
      </p:sp>
      <p:sp>
        <p:nvSpPr>
          <p:cNvPr id="16" name="Shape 13"/>
          <p:cNvSpPr/>
          <p:nvPr/>
        </p:nvSpPr>
        <p:spPr>
          <a:xfrm>
            <a:off x="481012" y="3576935"/>
            <a:ext cx="0" cy="591443"/>
          </a:xfrm>
          <a:prstGeom prst="line">
            <a:avLst/>
          </a:prstGeom>
          <a:noFill/>
          <a:ln w="47625">
            <a:solidFill>
              <a:srgbClr val="E76F51"/>
            </a:solidFill>
            <a:prstDash val="solid"/>
          </a:ln>
        </p:spPr>
      </p:sp>
      <p:sp>
        <p:nvSpPr>
          <p:cNvPr id="17" name="Text 14"/>
          <p:cNvSpPr/>
          <p:nvPr/>
        </p:nvSpPr>
        <p:spPr>
          <a:xfrm>
            <a:off x="682526" y="3678436"/>
            <a:ext cx="3656520" cy="168920"/>
          </a:xfrm>
          <a:prstGeom prst="rect">
            <a:avLst/>
          </a:prstGeom>
          <a:noFill/>
          <a:ln/>
        </p:spPr>
        <p:txBody>
          <a:bodyPr wrap="square" lIns="0" tIns="0" rIns="0" bIns="0" rtlCol="0" anchor="t"/>
          <a:lstStyle/>
          <a:p>
            <a:pPr algn="l" indent="0" marL="0">
              <a:lnSpc>
                <a:spcPts val="1330"/>
              </a:lnSpc>
              <a:spcAft>
                <a:spcPts val="200"/>
              </a:spcAft>
              <a:buNone/>
            </a:pPr>
            <a:r>
              <a:rPr lang="en-US" sz="950" b="1" dirty="0">
                <a:solidFill>
                  <a:srgbClr val="E2E8F0"/>
                </a:solidFill>
                <a:latin typeface="Arial" pitchFamily="34" charset="0"/>
                <a:ea typeface="Arial" pitchFamily="34" charset="-122"/>
                <a:cs typeface="Arial" pitchFamily="34" charset="-120"/>
              </a:rPr>
              <a:t>5,530 summaries</a:t>
            </a:r>
            <a:pPr algn="l" indent="0" marL="0">
              <a:lnSpc>
                <a:spcPts val="1330"/>
              </a:lnSpc>
              <a:spcAft>
                <a:spcPts val="200"/>
              </a:spcAft>
              <a:buNone/>
            </a:pPr>
            <a:r>
              <a:rPr lang="en-US" sz="950" dirty="0">
                <a:solidFill>
                  <a:srgbClr val="E2E8F0"/>
                </a:solidFill>
                <a:latin typeface="Arial" pitchFamily="34" charset="0"/>
                <a:ea typeface="Arial" pitchFamily="34" charset="-122"/>
                <a:cs typeface="Arial" pitchFamily="34" charset="-120"/>
              </a:rPr>
              <a:t> cached to disk</a:t>
            </a:r>
            <a:endParaRPr lang="en-US" sz="950" dirty="0"/>
          </a:p>
        </p:txBody>
      </p:sp>
      <p:sp>
        <p:nvSpPr>
          <p:cNvPr id="18" name="Text 15"/>
          <p:cNvSpPr/>
          <p:nvPr/>
        </p:nvSpPr>
        <p:spPr>
          <a:xfrm>
            <a:off x="682526" y="3872657"/>
            <a:ext cx="3656520" cy="168920"/>
          </a:xfrm>
          <a:prstGeom prst="rect">
            <a:avLst/>
          </a:prstGeom>
          <a:noFill/>
          <a:ln/>
        </p:spPr>
        <p:txBody>
          <a:bodyPr wrap="square" lIns="0" tIns="0" rIns="0" bIns="0" rtlCol="0" anchor="t"/>
          <a:lstStyle/>
          <a:p>
            <a:pPr algn="l" indent="0" marL="0">
              <a:lnSpc>
                <a:spcPts val="1330"/>
              </a:lnSpc>
              <a:spcAft>
                <a:spcPts val="200"/>
              </a:spcAft>
              <a:buNone/>
            </a:pPr>
            <a:r>
              <a:rPr lang="en-US" sz="950" dirty="0">
                <a:solidFill>
                  <a:srgbClr val="E2E8F0"/>
                </a:solidFill>
                <a:latin typeface="Arial" pitchFamily="34" charset="0"/>
                <a:ea typeface="Arial" pitchFamily="34" charset="-122"/>
                <a:cs typeface="Arial" pitchFamily="34" charset="-120"/>
              </a:rPr>
              <a:t>Enables reproducible results across runs</a:t>
            </a:r>
            <a:endParaRPr lang="en-US" sz="950" dirty="0"/>
          </a:p>
        </p:txBody>
      </p:sp>
      <p:sp>
        <p:nvSpPr>
          <p:cNvPr id="19" name="Text 16"/>
          <p:cNvSpPr/>
          <p:nvPr/>
        </p:nvSpPr>
        <p:spPr>
          <a:xfrm>
            <a:off x="4698950" y="857101"/>
            <a:ext cx="4067607" cy="159990"/>
          </a:xfrm>
          <a:prstGeom prst="rect">
            <a:avLst/>
          </a:prstGeom>
          <a:noFill/>
          <a:ln/>
        </p:spPr>
        <p:txBody>
          <a:bodyPr wrap="square" lIns="0" tIns="0" rIns="0" bIns="0" rtlCol="0" anchor="t"/>
          <a:lstStyle/>
          <a:p>
            <a:pPr algn="l" indent="0" marL="0">
              <a:lnSpc>
                <a:spcPts val="1260"/>
              </a:lnSpc>
              <a:spcAft>
                <a:spcPts val="600"/>
              </a:spcAft>
              <a:buNone/>
            </a:pPr>
            <a:r>
              <a:rPr lang="en-US" sz="900" dirty="0">
                <a:solidFill>
                  <a:srgbClr val="94A3B8"/>
                </a:solidFill>
                <a:latin typeface="Arial" pitchFamily="34" charset="0"/>
                <a:ea typeface="Arial" pitchFamily="34" charset="-122"/>
                <a:cs typeface="Arial" pitchFamily="34" charset="-120"/>
              </a:rPr>
              <a:t>TRAINING CONFIGURATION</a:t>
            </a:r>
            <a:endParaRPr lang="en-US" sz="900" dirty="0"/>
          </a:p>
        </p:txBody>
      </p:sp>
      <p:sp>
        <p:nvSpPr>
          <p:cNvPr id="20" name="Shape 17"/>
          <p:cNvSpPr/>
          <p:nvPr/>
        </p:nvSpPr>
        <p:spPr>
          <a:xfrm>
            <a:off x="4698950" y="1393775"/>
            <a:ext cx="3987850" cy="0"/>
          </a:xfrm>
          <a:prstGeom prst="line">
            <a:avLst/>
          </a:prstGeom>
          <a:noFill/>
          <a:ln w="9525">
            <a:solidFill>
              <a:srgbClr val="FFFFFF"/>
            </a:solidFill>
            <a:prstDash val="solid"/>
          </a:ln>
        </p:spPr>
      </p:sp>
      <p:sp>
        <p:nvSpPr>
          <p:cNvPr id="21" name="Text 18"/>
          <p:cNvSpPr/>
          <p:nvPr/>
        </p:nvSpPr>
        <p:spPr>
          <a:xfrm>
            <a:off x="4698950" y="1156692"/>
            <a:ext cx="567446" cy="168920"/>
          </a:xfrm>
          <a:prstGeom prst="rect">
            <a:avLst/>
          </a:prstGeom>
          <a:noFill/>
          <a:ln/>
        </p:spPr>
        <p:txBody>
          <a:bodyPr wrap="square" lIns="0" tIns="0" rIns="0" bIns="0" rtlCol="0" anchor="t"/>
          <a:lstStyle/>
          <a:p>
            <a:pPr algn="l" indent="0" marL="0">
              <a:lnSpc>
                <a:spcPts val="1330"/>
              </a:lnSpc>
              <a:buNone/>
            </a:pPr>
            <a:r>
              <a:rPr lang="en-US" sz="950" dirty="0">
                <a:solidFill>
                  <a:srgbClr val="94A3B8"/>
                </a:solidFill>
                <a:latin typeface="Arial" pitchFamily="34" charset="0"/>
                <a:ea typeface="Arial" pitchFamily="34" charset="-122"/>
                <a:cs typeface="Arial" pitchFamily="34" charset="-120"/>
              </a:rPr>
              <a:t>Batch size</a:t>
            </a:r>
            <a:endParaRPr lang="en-US" sz="950" dirty="0"/>
          </a:p>
        </p:txBody>
      </p:sp>
      <p:sp>
        <p:nvSpPr>
          <p:cNvPr id="22" name="Text 19"/>
          <p:cNvSpPr/>
          <p:nvPr/>
        </p:nvSpPr>
        <p:spPr>
          <a:xfrm>
            <a:off x="8619679" y="1156692"/>
            <a:ext cx="68464" cy="168920"/>
          </a:xfrm>
          <a:prstGeom prst="rect">
            <a:avLst/>
          </a:prstGeom>
          <a:noFill/>
          <a:ln/>
        </p:spPr>
        <p:txBody>
          <a:bodyPr wrap="square" lIns="0" tIns="0" rIns="0" bIns="0" rtlCol="0" anchor="t"/>
          <a:lstStyle/>
          <a:p>
            <a:pPr algn="l" indent="0" marL="0">
              <a:lnSpc>
                <a:spcPts val="1330"/>
              </a:lnSpc>
              <a:buNone/>
            </a:pPr>
            <a:r>
              <a:rPr lang="en-US" sz="950" b="1" dirty="0">
                <a:solidFill>
                  <a:srgbClr val="E2E8F0"/>
                </a:solidFill>
                <a:latin typeface="Arial" pitchFamily="34" charset="0"/>
                <a:ea typeface="Arial" pitchFamily="34" charset="-122"/>
                <a:cs typeface="Arial" pitchFamily="34" charset="-120"/>
              </a:rPr>
              <a:t>8</a:t>
            </a:r>
            <a:endParaRPr lang="en-US" sz="950" dirty="0"/>
          </a:p>
        </p:txBody>
      </p:sp>
      <p:sp>
        <p:nvSpPr>
          <p:cNvPr id="23" name="Shape 20"/>
          <p:cNvSpPr/>
          <p:nvPr/>
        </p:nvSpPr>
        <p:spPr>
          <a:xfrm>
            <a:off x="4698950" y="1699022"/>
            <a:ext cx="3987850" cy="0"/>
          </a:xfrm>
          <a:prstGeom prst="line">
            <a:avLst/>
          </a:prstGeom>
          <a:noFill/>
          <a:ln w="9525">
            <a:solidFill>
              <a:srgbClr val="FFFFFF"/>
            </a:solidFill>
            <a:prstDash val="solid"/>
          </a:ln>
        </p:spPr>
      </p:sp>
      <p:sp>
        <p:nvSpPr>
          <p:cNvPr id="24" name="Text 21"/>
          <p:cNvSpPr/>
          <p:nvPr/>
        </p:nvSpPr>
        <p:spPr>
          <a:xfrm>
            <a:off x="4698950" y="1461939"/>
            <a:ext cx="1230681" cy="168920"/>
          </a:xfrm>
          <a:prstGeom prst="rect">
            <a:avLst/>
          </a:prstGeom>
          <a:noFill/>
          <a:ln/>
        </p:spPr>
        <p:txBody>
          <a:bodyPr wrap="square" lIns="0" tIns="0" rIns="0" bIns="0" rtlCol="0" anchor="t"/>
          <a:lstStyle/>
          <a:p>
            <a:pPr algn="l" indent="0" marL="0">
              <a:lnSpc>
                <a:spcPts val="1330"/>
              </a:lnSpc>
              <a:buNone/>
            </a:pPr>
            <a:r>
              <a:rPr lang="en-US" sz="950" dirty="0">
                <a:solidFill>
                  <a:srgbClr val="94A3B8"/>
                </a:solidFill>
                <a:latin typeface="Arial" pitchFamily="34" charset="0"/>
                <a:ea typeface="Arial" pitchFamily="34" charset="-122"/>
                <a:cs typeface="Arial" pitchFamily="34" charset="-120"/>
              </a:rPr>
              <a:t>Gradient accumulation</a:t>
            </a:r>
            <a:endParaRPr lang="en-US" sz="950" dirty="0"/>
          </a:p>
        </p:txBody>
      </p:sp>
      <p:sp>
        <p:nvSpPr>
          <p:cNvPr id="25" name="Text 22"/>
          <p:cNvSpPr/>
          <p:nvPr/>
        </p:nvSpPr>
        <p:spPr>
          <a:xfrm>
            <a:off x="8271123" y="1461939"/>
            <a:ext cx="423990" cy="168920"/>
          </a:xfrm>
          <a:prstGeom prst="rect">
            <a:avLst/>
          </a:prstGeom>
          <a:noFill/>
          <a:ln/>
        </p:spPr>
        <p:txBody>
          <a:bodyPr wrap="square" lIns="0" tIns="0" rIns="0" bIns="0" rtlCol="0" anchor="t"/>
          <a:lstStyle/>
          <a:p>
            <a:pPr algn="l" indent="0" marL="0">
              <a:lnSpc>
                <a:spcPts val="1330"/>
              </a:lnSpc>
              <a:buNone/>
            </a:pPr>
            <a:r>
              <a:rPr lang="en-US" sz="950" b="1" dirty="0">
                <a:solidFill>
                  <a:srgbClr val="E2E8F0"/>
                </a:solidFill>
                <a:latin typeface="Arial" pitchFamily="34" charset="0"/>
                <a:ea typeface="Arial" pitchFamily="34" charset="-122"/>
                <a:cs typeface="Arial" pitchFamily="34" charset="-120"/>
              </a:rPr>
              <a:t>4 steps</a:t>
            </a:r>
            <a:endParaRPr lang="en-US" sz="950" dirty="0"/>
          </a:p>
        </p:txBody>
      </p:sp>
      <p:sp>
        <p:nvSpPr>
          <p:cNvPr id="26" name="Shape 23"/>
          <p:cNvSpPr/>
          <p:nvPr/>
        </p:nvSpPr>
        <p:spPr>
          <a:xfrm>
            <a:off x="4698950" y="2004268"/>
            <a:ext cx="3987850" cy="0"/>
          </a:xfrm>
          <a:prstGeom prst="line">
            <a:avLst/>
          </a:prstGeom>
          <a:noFill/>
          <a:ln w="9525">
            <a:solidFill>
              <a:srgbClr val="FFFFFF"/>
            </a:solidFill>
            <a:prstDash val="solid"/>
          </a:ln>
        </p:spPr>
      </p:sp>
      <p:sp>
        <p:nvSpPr>
          <p:cNvPr id="27" name="Text 24"/>
          <p:cNvSpPr/>
          <p:nvPr/>
        </p:nvSpPr>
        <p:spPr>
          <a:xfrm>
            <a:off x="4698950" y="1767185"/>
            <a:ext cx="804565" cy="168920"/>
          </a:xfrm>
          <a:prstGeom prst="rect">
            <a:avLst/>
          </a:prstGeom>
          <a:noFill/>
          <a:ln/>
        </p:spPr>
        <p:txBody>
          <a:bodyPr wrap="square" lIns="0" tIns="0" rIns="0" bIns="0" rtlCol="0" anchor="t"/>
          <a:lstStyle/>
          <a:p>
            <a:pPr algn="l" indent="0" marL="0">
              <a:lnSpc>
                <a:spcPts val="1330"/>
              </a:lnSpc>
              <a:buNone/>
            </a:pPr>
            <a:r>
              <a:rPr lang="en-US" sz="950" dirty="0">
                <a:solidFill>
                  <a:srgbClr val="94A3B8"/>
                </a:solidFill>
                <a:latin typeface="Arial" pitchFamily="34" charset="0"/>
                <a:ea typeface="Arial" pitchFamily="34" charset="-122"/>
                <a:cs typeface="Arial" pitchFamily="34" charset="-120"/>
              </a:rPr>
              <a:t>Effective batch</a:t>
            </a:r>
            <a:endParaRPr lang="en-US" sz="950" dirty="0"/>
          </a:p>
        </p:txBody>
      </p:sp>
      <p:sp>
        <p:nvSpPr>
          <p:cNvPr id="28" name="Text 25"/>
          <p:cNvSpPr/>
          <p:nvPr/>
        </p:nvSpPr>
        <p:spPr>
          <a:xfrm>
            <a:off x="8552557" y="1767185"/>
            <a:ext cx="136928" cy="168920"/>
          </a:xfrm>
          <a:prstGeom prst="rect">
            <a:avLst/>
          </a:prstGeom>
          <a:noFill/>
          <a:ln/>
        </p:spPr>
        <p:txBody>
          <a:bodyPr wrap="square" lIns="0" tIns="0" rIns="0" bIns="0" rtlCol="0" anchor="t"/>
          <a:lstStyle/>
          <a:p>
            <a:pPr algn="l" indent="0" marL="0">
              <a:lnSpc>
                <a:spcPts val="1330"/>
              </a:lnSpc>
              <a:buNone/>
            </a:pPr>
            <a:r>
              <a:rPr lang="en-US" sz="950" b="1" dirty="0">
                <a:solidFill>
                  <a:srgbClr val="E2E8F0"/>
                </a:solidFill>
                <a:latin typeface="Arial" pitchFamily="34" charset="0"/>
                <a:ea typeface="Arial" pitchFamily="34" charset="-122"/>
                <a:cs typeface="Arial" pitchFamily="34" charset="-120"/>
              </a:rPr>
              <a:t>32</a:t>
            </a:r>
            <a:endParaRPr lang="en-US" sz="950" dirty="0"/>
          </a:p>
        </p:txBody>
      </p:sp>
      <p:sp>
        <p:nvSpPr>
          <p:cNvPr id="29" name="Shape 26"/>
          <p:cNvSpPr/>
          <p:nvPr/>
        </p:nvSpPr>
        <p:spPr>
          <a:xfrm>
            <a:off x="4698950" y="2309515"/>
            <a:ext cx="3987850" cy="0"/>
          </a:xfrm>
          <a:prstGeom prst="line">
            <a:avLst/>
          </a:prstGeom>
          <a:noFill/>
          <a:ln w="9525">
            <a:solidFill>
              <a:srgbClr val="FFFFFF"/>
            </a:solidFill>
            <a:prstDash val="solid"/>
          </a:ln>
        </p:spPr>
      </p:sp>
      <p:sp>
        <p:nvSpPr>
          <p:cNvPr id="30" name="Text 27"/>
          <p:cNvSpPr/>
          <p:nvPr/>
        </p:nvSpPr>
        <p:spPr>
          <a:xfrm>
            <a:off x="4698950" y="2072432"/>
            <a:ext cx="724867" cy="168920"/>
          </a:xfrm>
          <a:prstGeom prst="rect">
            <a:avLst/>
          </a:prstGeom>
          <a:noFill/>
          <a:ln/>
        </p:spPr>
        <p:txBody>
          <a:bodyPr wrap="square" lIns="0" tIns="0" rIns="0" bIns="0" rtlCol="0" anchor="t"/>
          <a:lstStyle/>
          <a:p>
            <a:pPr algn="l" indent="0" marL="0">
              <a:lnSpc>
                <a:spcPts val="1330"/>
              </a:lnSpc>
              <a:buNone/>
            </a:pPr>
            <a:r>
              <a:rPr lang="en-US" sz="950" dirty="0">
                <a:solidFill>
                  <a:srgbClr val="94A3B8"/>
                </a:solidFill>
                <a:latin typeface="Arial" pitchFamily="34" charset="0"/>
                <a:ea typeface="Arial" pitchFamily="34" charset="-122"/>
                <a:cs typeface="Arial" pitchFamily="34" charset="-120"/>
              </a:rPr>
              <a:t>Learning rate</a:t>
            </a:r>
            <a:endParaRPr lang="en-US" sz="950" dirty="0"/>
          </a:p>
        </p:txBody>
      </p:sp>
      <p:sp>
        <p:nvSpPr>
          <p:cNvPr id="31" name="Text 28"/>
          <p:cNvSpPr/>
          <p:nvPr/>
        </p:nvSpPr>
        <p:spPr>
          <a:xfrm>
            <a:off x="8445401" y="2072432"/>
            <a:ext cx="246227" cy="168920"/>
          </a:xfrm>
          <a:prstGeom prst="rect">
            <a:avLst/>
          </a:prstGeom>
          <a:noFill/>
          <a:ln/>
        </p:spPr>
        <p:txBody>
          <a:bodyPr wrap="square" lIns="0" tIns="0" rIns="0" bIns="0" rtlCol="0" anchor="t"/>
          <a:lstStyle/>
          <a:p>
            <a:pPr algn="l" indent="0" marL="0">
              <a:lnSpc>
                <a:spcPts val="1330"/>
              </a:lnSpc>
              <a:buNone/>
            </a:pPr>
            <a:r>
              <a:rPr lang="en-US" sz="950" b="1" dirty="0">
                <a:solidFill>
                  <a:srgbClr val="E2E8F0"/>
                </a:solidFill>
                <a:latin typeface="Arial" pitchFamily="34" charset="0"/>
                <a:ea typeface="Arial" pitchFamily="34" charset="-122"/>
                <a:cs typeface="Arial" pitchFamily="34" charset="-120"/>
              </a:rPr>
              <a:t>1e-5</a:t>
            </a:r>
            <a:endParaRPr lang="en-US" sz="950" dirty="0"/>
          </a:p>
        </p:txBody>
      </p:sp>
      <p:sp>
        <p:nvSpPr>
          <p:cNvPr id="32" name="Shape 29"/>
          <p:cNvSpPr/>
          <p:nvPr/>
        </p:nvSpPr>
        <p:spPr>
          <a:xfrm>
            <a:off x="4698950" y="2614761"/>
            <a:ext cx="3987850" cy="0"/>
          </a:xfrm>
          <a:prstGeom prst="line">
            <a:avLst/>
          </a:prstGeom>
          <a:noFill/>
          <a:ln w="9525">
            <a:solidFill>
              <a:srgbClr val="FFFFFF"/>
            </a:solidFill>
            <a:prstDash val="solid"/>
          </a:ln>
        </p:spPr>
      </p:sp>
      <p:sp>
        <p:nvSpPr>
          <p:cNvPr id="33" name="Text 30"/>
          <p:cNvSpPr/>
          <p:nvPr/>
        </p:nvSpPr>
        <p:spPr>
          <a:xfrm>
            <a:off x="4698950" y="2377678"/>
            <a:ext cx="410328" cy="168920"/>
          </a:xfrm>
          <a:prstGeom prst="rect">
            <a:avLst/>
          </a:prstGeom>
          <a:noFill/>
          <a:ln/>
        </p:spPr>
        <p:txBody>
          <a:bodyPr wrap="square" lIns="0" tIns="0" rIns="0" bIns="0" rtlCol="0" anchor="t"/>
          <a:lstStyle/>
          <a:p>
            <a:pPr algn="l" indent="0" marL="0">
              <a:lnSpc>
                <a:spcPts val="1330"/>
              </a:lnSpc>
              <a:buNone/>
            </a:pPr>
            <a:r>
              <a:rPr lang="en-US" sz="950" dirty="0">
                <a:solidFill>
                  <a:srgbClr val="94A3B8"/>
                </a:solidFill>
                <a:latin typeface="Arial" pitchFamily="34" charset="0"/>
                <a:ea typeface="Arial" pitchFamily="34" charset="-122"/>
                <a:cs typeface="Arial" pitchFamily="34" charset="-120"/>
              </a:rPr>
              <a:t>Epochs</a:t>
            </a:r>
            <a:endParaRPr lang="en-US" sz="950" dirty="0"/>
          </a:p>
        </p:txBody>
      </p:sp>
      <p:sp>
        <p:nvSpPr>
          <p:cNvPr id="34" name="Text 31"/>
          <p:cNvSpPr/>
          <p:nvPr/>
        </p:nvSpPr>
        <p:spPr>
          <a:xfrm>
            <a:off x="8619679" y="2377678"/>
            <a:ext cx="68464" cy="168920"/>
          </a:xfrm>
          <a:prstGeom prst="rect">
            <a:avLst/>
          </a:prstGeom>
          <a:noFill/>
          <a:ln/>
        </p:spPr>
        <p:txBody>
          <a:bodyPr wrap="square" lIns="0" tIns="0" rIns="0" bIns="0" rtlCol="0" anchor="t"/>
          <a:lstStyle/>
          <a:p>
            <a:pPr algn="l" indent="0" marL="0">
              <a:lnSpc>
                <a:spcPts val="1330"/>
              </a:lnSpc>
              <a:buNone/>
            </a:pPr>
            <a:r>
              <a:rPr lang="en-US" sz="950" b="1" dirty="0">
                <a:solidFill>
                  <a:srgbClr val="E2E8F0"/>
                </a:solidFill>
                <a:latin typeface="Arial" pitchFamily="34" charset="0"/>
                <a:ea typeface="Arial" pitchFamily="34" charset="-122"/>
                <a:cs typeface="Arial" pitchFamily="34" charset="-120"/>
              </a:rPr>
              <a:t>5</a:t>
            </a:r>
            <a:endParaRPr lang="en-US" sz="950" dirty="0"/>
          </a:p>
        </p:txBody>
      </p:sp>
      <p:sp>
        <p:nvSpPr>
          <p:cNvPr id="35" name="Shape 32"/>
          <p:cNvSpPr/>
          <p:nvPr/>
        </p:nvSpPr>
        <p:spPr>
          <a:xfrm>
            <a:off x="4698950" y="2920008"/>
            <a:ext cx="3987850" cy="0"/>
          </a:xfrm>
          <a:prstGeom prst="line">
            <a:avLst/>
          </a:prstGeom>
          <a:noFill/>
          <a:ln w="9525">
            <a:solidFill>
              <a:srgbClr val="FFFFFF"/>
            </a:solidFill>
            <a:prstDash val="solid"/>
          </a:ln>
        </p:spPr>
      </p:sp>
      <p:sp>
        <p:nvSpPr>
          <p:cNvPr id="36" name="Text 33"/>
          <p:cNvSpPr/>
          <p:nvPr/>
        </p:nvSpPr>
        <p:spPr>
          <a:xfrm>
            <a:off x="4698950" y="2682925"/>
            <a:ext cx="733672" cy="168920"/>
          </a:xfrm>
          <a:prstGeom prst="rect">
            <a:avLst/>
          </a:prstGeom>
          <a:noFill/>
          <a:ln/>
        </p:spPr>
        <p:txBody>
          <a:bodyPr wrap="square" lIns="0" tIns="0" rIns="0" bIns="0" rtlCol="0" anchor="t"/>
          <a:lstStyle/>
          <a:p>
            <a:pPr algn="l" indent="0" marL="0">
              <a:lnSpc>
                <a:spcPts val="1330"/>
              </a:lnSpc>
              <a:buNone/>
            </a:pPr>
            <a:r>
              <a:rPr lang="en-US" sz="950" dirty="0">
                <a:solidFill>
                  <a:srgbClr val="94A3B8"/>
                </a:solidFill>
                <a:latin typeface="Arial" pitchFamily="34" charset="0"/>
                <a:ea typeface="Arial" pitchFamily="34" charset="-122"/>
                <a:cs typeface="Arial" pitchFamily="34" charset="-120"/>
              </a:rPr>
              <a:t>Warmup ratio</a:t>
            </a:r>
            <a:endParaRPr lang="en-US" sz="950" dirty="0"/>
          </a:p>
        </p:txBody>
      </p:sp>
      <p:sp>
        <p:nvSpPr>
          <p:cNvPr id="37" name="Text 34"/>
          <p:cNvSpPr/>
          <p:nvPr/>
        </p:nvSpPr>
        <p:spPr>
          <a:xfrm>
            <a:off x="8519071" y="2682925"/>
            <a:ext cx="171084" cy="168920"/>
          </a:xfrm>
          <a:prstGeom prst="rect">
            <a:avLst/>
          </a:prstGeom>
          <a:noFill/>
          <a:ln/>
        </p:spPr>
        <p:txBody>
          <a:bodyPr wrap="square" lIns="0" tIns="0" rIns="0" bIns="0" rtlCol="0" anchor="t"/>
          <a:lstStyle/>
          <a:p>
            <a:pPr algn="l" indent="0" marL="0">
              <a:lnSpc>
                <a:spcPts val="1330"/>
              </a:lnSpc>
              <a:buNone/>
            </a:pPr>
            <a:r>
              <a:rPr lang="en-US" sz="950" b="1" dirty="0">
                <a:solidFill>
                  <a:srgbClr val="E2E8F0"/>
                </a:solidFill>
                <a:latin typeface="Arial" pitchFamily="34" charset="0"/>
                <a:ea typeface="Arial" pitchFamily="34" charset="-122"/>
                <a:cs typeface="Arial" pitchFamily="34" charset="-120"/>
              </a:rPr>
              <a:t>0.1</a:t>
            </a:r>
            <a:endParaRPr lang="en-US" sz="950" dirty="0"/>
          </a:p>
        </p:txBody>
      </p:sp>
      <p:sp>
        <p:nvSpPr>
          <p:cNvPr id="38" name="Shape 35"/>
          <p:cNvSpPr/>
          <p:nvPr/>
        </p:nvSpPr>
        <p:spPr>
          <a:xfrm>
            <a:off x="4698950" y="3225254"/>
            <a:ext cx="3987850" cy="0"/>
          </a:xfrm>
          <a:prstGeom prst="line">
            <a:avLst/>
          </a:prstGeom>
          <a:noFill/>
          <a:ln w="9525">
            <a:solidFill>
              <a:srgbClr val="FFFFFF"/>
            </a:solidFill>
            <a:prstDash val="solid"/>
          </a:ln>
        </p:spPr>
      </p:sp>
      <p:sp>
        <p:nvSpPr>
          <p:cNvPr id="39" name="Text 36"/>
          <p:cNvSpPr/>
          <p:nvPr/>
        </p:nvSpPr>
        <p:spPr>
          <a:xfrm>
            <a:off x="4698950" y="2988171"/>
            <a:ext cx="779517" cy="168920"/>
          </a:xfrm>
          <a:prstGeom prst="rect">
            <a:avLst/>
          </a:prstGeom>
          <a:noFill/>
          <a:ln/>
        </p:spPr>
        <p:txBody>
          <a:bodyPr wrap="square" lIns="0" tIns="0" rIns="0" bIns="0" rtlCol="0" anchor="t"/>
          <a:lstStyle/>
          <a:p>
            <a:pPr algn="l" indent="0" marL="0">
              <a:lnSpc>
                <a:spcPts val="1330"/>
              </a:lnSpc>
              <a:buNone/>
            </a:pPr>
            <a:r>
              <a:rPr lang="en-US" sz="950" dirty="0">
                <a:solidFill>
                  <a:srgbClr val="94A3B8"/>
                </a:solidFill>
                <a:latin typeface="Arial" pitchFamily="34" charset="0"/>
                <a:ea typeface="Arial" pitchFamily="34" charset="-122"/>
                <a:cs typeface="Arial" pitchFamily="34" charset="-120"/>
              </a:rPr>
              <a:t>Early stopping</a:t>
            </a:r>
            <a:endParaRPr lang="en-US" sz="950" dirty="0"/>
          </a:p>
        </p:txBody>
      </p:sp>
      <p:sp>
        <p:nvSpPr>
          <p:cNvPr id="40" name="Text 37"/>
          <p:cNvSpPr/>
          <p:nvPr/>
        </p:nvSpPr>
        <p:spPr>
          <a:xfrm>
            <a:off x="8059936" y="2988171"/>
            <a:ext cx="639401" cy="168920"/>
          </a:xfrm>
          <a:prstGeom prst="rect">
            <a:avLst/>
          </a:prstGeom>
          <a:noFill/>
          <a:ln/>
        </p:spPr>
        <p:txBody>
          <a:bodyPr wrap="square" lIns="0" tIns="0" rIns="0" bIns="0" rtlCol="0" anchor="t"/>
          <a:lstStyle/>
          <a:p>
            <a:pPr algn="l" indent="0" marL="0">
              <a:lnSpc>
                <a:spcPts val="1330"/>
              </a:lnSpc>
              <a:buNone/>
            </a:pPr>
            <a:r>
              <a:rPr lang="en-US" sz="950" b="1" dirty="0">
                <a:solidFill>
                  <a:srgbClr val="E2E8F0"/>
                </a:solidFill>
                <a:latin typeface="Arial" pitchFamily="34" charset="0"/>
                <a:ea typeface="Arial" pitchFamily="34" charset="-122"/>
                <a:cs typeface="Arial" pitchFamily="34" charset="-120"/>
              </a:rPr>
              <a:t>patience=2</a:t>
            </a:r>
            <a:endParaRPr lang="en-US" sz="950" dirty="0"/>
          </a:p>
        </p:txBody>
      </p:sp>
      <p:sp>
        <p:nvSpPr>
          <p:cNvPr id="41" name="Shape 38"/>
          <p:cNvSpPr/>
          <p:nvPr/>
        </p:nvSpPr>
        <p:spPr>
          <a:xfrm>
            <a:off x="4698950" y="3530501"/>
            <a:ext cx="3987850" cy="0"/>
          </a:xfrm>
          <a:prstGeom prst="line">
            <a:avLst/>
          </a:prstGeom>
          <a:noFill/>
          <a:ln w="9525">
            <a:solidFill>
              <a:srgbClr val="FFFFFF"/>
            </a:solidFill>
            <a:prstDash val="solid"/>
          </a:ln>
        </p:spPr>
      </p:sp>
      <p:sp>
        <p:nvSpPr>
          <p:cNvPr id="42" name="Text 39"/>
          <p:cNvSpPr/>
          <p:nvPr/>
        </p:nvSpPr>
        <p:spPr>
          <a:xfrm>
            <a:off x="4698950" y="3293418"/>
            <a:ext cx="902479" cy="168920"/>
          </a:xfrm>
          <a:prstGeom prst="rect">
            <a:avLst/>
          </a:prstGeom>
          <a:noFill/>
          <a:ln/>
        </p:spPr>
        <p:txBody>
          <a:bodyPr wrap="square" lIns="0" tIns="0" rIns="0" bIns="0" rtlCol="0" anchor="t"/>
          <a:lstStyle/>
          <a:p>
            <a:pPr algn="l" indent="0" marL="0">
              <a:lnSpc>
                <a:spcPts val="1330"/>
              </a:lnSpc>
              <a:buNone/>
            </a:pPr>
            <a:r>
              <a:rPr lang="en-US" sz="950" dirty="0">
                <a:solidFill>
                  <a:srgbClr val="94A3B8"/>
                </a:solidFill>
                <a:latin typeface="Arial" pitchFamily="34" charset="0"/>
                <a:ea typeface="Arial" pitchFamily="34" charset="-122"/>
                <a:cs typeface="Arial" pitchFamily="34" charset="-120"/>
              </a:rPr>
              <a:t>Class imbalance</a:t>
            </a:r>
            <a:endParaRPr lang="en-US" sz="950" dirty="0"/>
          </a:p>
        </p:txBody>
      </p:sp>
      <p:sp>
        <p:nvSpPr>
          <p:cNvPr id="43" name="Text 40"/>
          <p:cNvSpPr/>
          <p:nvPr/>
        </p:nvSpPr>
        <p:spPr>
          <a:xfrm>
            <a:off x="7433518" y="3293418"/>
            <a:ext cx="1278347" cy="168920"/>
          </a:xfrm>
          <a:prstGeom prst="rect">
            <a:avLst/>
          </a:prstGeom>
          <a:noFill/>
          <a:ln/>
        </p:spPr>
        <p:txBody>
          <a:bodyPr wrap="square" lIns="0" tIns="0" rIns="0" bIns="0" rtlCol="0" anchor="t"/>
          <a:lstStyle/>
          <a:p>
            <a:pPr algn="l" indent="0" marL="0">
              <a:lnSpc>
                <a:spcPts val="1330"/>
              </a:lnSpc>
              <a:buNone/>
            </a:pPr>
            <a:r>
              <a:rPr lang="en-US" sz="950" b="1" dirty="0">
                <a:solidFill>
                  <a:srgbClr val="E2E8F0"/>
                </a:solidFill>
                <a:latin typeface="Arial" pitchFamily="34" charset="0"/>
                <a:ea typeface="Arial" pitchFamily="34" charset="-122"/>
                <a:cs typeface="Arial" pitchFamily="34" charset="-120"/>
              </a:rPr>
              <a:t>pos_weight (max 50x)</a:t>
            </a:r>
            <a:endParaRPr lang="en-US" sz="950" dirty="0"/>
          </a:p>
        </p:txBody>
      </p:sp>
      <p:sp>
        <p:nvSpPr>
          <p:cNvPr id="44" name="Shape 41"/>
          <p:cNvSpPr/>
          <p:nvPr/>
        </p:nvSpPr>
        <p:spPr>
          <a:xfrm>
            <a:off x="4698950" y="3835747"/>
            <a:ext cx="3987850" cy="0"/>
          </a:xfrm>
          <a:prstGeom prst="line">
            <a:avLst/>
          </a:prstGeom>
          <a:noFill/>
          <a:ln w="9525">
            <a:solidFill>
              <a:srgbClr val="FFFFFF"/>
            </a:solidFill>
            <a:prstDash val="solid"/>
          </a:ln>
        </p:spPr>
      </p:sp>
      <p:sp>
        <p:nvSpPr>
          <p:cNvPr id="45" name="Text 42"/>
          <p:cNvSpPr/>
          <p:nvPr/>
        </p:nvSpPr>
        <p:spPr>
          <a:xfrm>
            <a:off x="4698950" y="3598664"/>
            <a:ext cx="376020" cy="168920"/>
          </a:xfrm>
          <a:prstGeom prst="rect">
            <a:avLst/>
          </a:prstGeom>
          <a:noFill/>
          <a:ln/>
        </p:spPr>
        <p:txBody>
          <a:bodyPr wrap="square" lIns="0" tIns="0" rIns="0" bIns="0" rtlCol="0" anchor="t"/>
          <a:lstStyle/>
          <a:p>
            <a:pPr algn="l" indent="0" marL="0">
              <a:lnSpc>
                <a:spcPts val="1330"/>
              </a:lnSpc>
              <a:buNone/>
            </a:pPr>
            <a:r>
              <a:rPr lang="en-US" sz="950" dirty="0">
                <a:solidFill>
                  <a:srgbClr val="94A3B8"/>
                </a:solidFill>
                <a:latin typeface="Arial" pitchFamily="34" charset="0"/>
                <a:ea typeface="Arial" pitchFamily="34" charset="-122"/>
                <a:cs typeface="Arial" pitchFamily="34" charset="-120"/>
              </a:rPr>
              <a:t>Device</a:t>
            </a:r>
            <a:endParaRPr lang="en-US" sz="950" dirty="0"/>
          </a:p>
        </p:txBody>
      </p:sp>
      <p:sp>
        <p:nvSpPr>
          <p:cNvPr id="46" name="Text 43"/>
          <p:cNvSpPr/>
          <p:nvPr/>
        </p:nvSpPr>
        <p:spPr>
          <a:xfrm>
            <a:off x="8056959" y="3598664"/>
            <a:ext cx="642437" cy="168920"/>
          </a:xfrm>
          <a:prstGeom prst="rect">
            <a:avLst/>
          </a:prstGeom>
          <a:noFill/>
          <a:ln/>
        </p:spPr>
        <p:txBody>
          <a:bodyPr wrap="square" lIns="0" tIns="0" rIns="0" bIns="0" rtlCol="0" anchor="t"/>
          <a:lstStyle/>
          <a:p>
            <a:pPr algn="l" indent="0" marL="0">
              <a:lnSpc>
                <a:spcPts val="1330"/>
              </a:lnSpc>
              <a:buNone/>
            </a:pPr>
            <a:r>
              <a:rPr lang="en-US" sz="950" b="1" dirty="0">
                <a:solidFill>
                  <a:srgbClr val="E2E8F0"/>
                </a:solidFill>
                <a:latin typeface="Arial" pitchFamily="34" charset="0"/>
                <a:ea typeface="Arial" pitchFamily="34" charset="-122"/>
                <a:cs typeface="Arial" pitchFamily="34" charset="-120"/>
              </a:rPr>
              <a:t>Apple MPS</a:t>
            </a:r>
            <a:endParaRPr lang="en-US" sz="950" dirty="0"/>
          </a:p>
        </p:txBody>
      </p:sp>
      <p:sp>
        <p:nvSpPr>
          <p:cNvPr id="47" name="Text 44"/>
          <p:cNvSpPr/>
          <p:nvPr/>
        </p:nvSpPr>
        <p:spPr>
          <a:xfrm>
            <a:off x="4698950" y="3967460"/>
            <a:ext cx="4067607" cy="159990"/>
          </a:xfrm>
          <a:prstGeom prst="rect">
            <a:avLst/>
          </a:prstGeom>
          <a:noFill/>
          <a:ln/>
        </p:spPr>
        <p:txBody>
          <a:bodyPr wrap="square" lIns="0" tIns="0" rIns="0" bIns="0" rtlCol="0" anchor="t"/>
          <a:lstStyle/>
          <a:p>
            <a:pPr algn="l" indent="0" marL="0">
              <a:lnSpc>
                <a:spcPts val="1260"/>
              </a:lnSpc>
              <a:spcBef>
                <a:spcPts val="1000"/>
              </a:spcBef>
              <a:spcAft>
                <a:spcPts val="600"/>
              </a:spcAft>
              <a:buNone/>
            </a:pPr>
            <a:r>
              <a:rPr lang="en-US" sz="900" dirty="0">
                <a:solidFill>
                  <a:srgbClr val="94A3B8"/>
                </a:solidFill>
                <a:latin typeface="Arial" pitchFamily="34" charset="0"/>
                <a:ea typeface="Arial" pitchFamily="34" charset="-122"/>
                <a:cs typeface="Arial" pitchFamily="34" charset="-120"/>
              </a:rPr>
              <a:t>BEST EPOCH</a:t>
            </a:r>
            <a:endParaRPr lang="en-US" sz="900" dirty="0"/>
          </a:p>
        </p:txBody>
      </p:sp>
      <p:sp>
        <p:nvSpPr>
          <p:cNvPr id="48" name="Text 45"/>
          <p:cNvSpPr/>
          <p:nvPr/>
        </p:nvSpPr>
        <p:spPr>
          <a:xfrm>
            <a:off x="4698950" y="4203650"/>
            <a:ext cx="4067607" cy="177701"/>
          </a:xfrm>
          <a:prstGeom prst="rect">
            <a:avLst/>
          </a:prstGeom>
          <a:noFill/>
          <a:ln/>
        </p:spPr>
        <p:txBody>
          <a:bodyPr wrap="square" lIns="0" tIns="0" rIns="0" bIns="0" rtlCol="0" anchor="t"/>
          <a:lstStyle/>
          <a:p>
            <a:pPr algn="l" indent="0" marL="0">
              <a:lnSpc>
                <a:spcPts val="1400"/>
              </a:lnSpc>
              <a:spcAft>
                <a:spcPts val="500"/>
              </a:spcAft>
              <a:buNone/>
            </a:pPr>
            <a:r>
              <a:rPr lang="en-US" sz="1000" dirty="0">
                <a:solidFill>
                  <a:srgbClr val="CBD5E1"/>
                </a:solidFill>
                <a:latin typeface="Arial" pitchFamily="34" charset="0"/>
                <a:ea typeface="Arial" pitchFamily="34" charset="-122"/>
                <a:cs typeface="Arial" pitchFamily="34" charset="-120"/>
              </a:rPr>
              <a:t>Epoch 4: val_f1_micro = 0.628</a:t>
            </a:r>
            <a:endParaRPr lang="en-US" sz="1000" dirty="0"/>
          </a:p>
        </p:txBody>
      </p:sp>
      <p:sp>
        <p:nvSpPr>
          <p:cNvPr id="49" name="Text 46"/>
          <p:cNvSpPr/>
          <p:nvPr/>
        </p:nvSpPr>
        <p:spPr>
          <a:xfrm>
            <a:off x="4698950" y="4444752"/>
            <a:ext cx="4067607" cy="177701"/>
          </a:xfrm>
          <a:prstGeom prst="rect">
            <a:avLst/>
          </a:prstGeom>
          <a:noFill/>
          <a:ln/>
        </p:spPr>
        <p:txBody>
          <a:bodyPr wrap="square" lIns="0" tIns="0" rIns="0" bIns="0" rtlCol="0" anchor="t"/>
          <a:lstStyle/>
          <a:p>
            <a:pPr algn="l" indent="0" marL="0">
              <a:lnSpc>
                <a:spcPts val="1400"/>
              </a:lnSpc>
              <a:spcAft>
                <a:spcPts val="500"/>
              </a:spcAft>
              <a:buNone/>
            </a:pPr>
            <a:r>
              <a:rPr lang="en-US" sz="1000" dirty="0">
                <a:solidFill>
                  <a:srgbClr val="CBD5E1"/>
                </a:solidFill>
                <a:latin typeface="Arial" pitchFamily="34" charset="0"/>
                <a:ea typeface="Arial" pitchFamily="34" charset="-122"/>
                <a:cs typeface="Arial" pitchFamily="34" charset="-120"/>
              </a:rPr>
              <a:t>Training converged, F1 plateaued at ~0.62</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62000" y="1881336"/>
            <a:ext cx="7772400" cy="171450"/>
          </a:xfrm>
          <a:prstGeom prst="rect">
            <a:avLst/>
          </a:prstGeom>
          <a:noFill/>
          <a:ln/>
        </p:spPr>
        <p:txBody>
          <a:bodyPr wrap="square" lIns="0" tIns="0" rIns="0" bIns="0" rtlCol="0" anchor="t"/>
          <a:lstStyle/>
          <a:p>
            <a:pPr algn="l" indent="0" marL="0">
              <a:spcAft>
                <a:spcPts val="800"/>
              </a:spcAft>
              <a:buNone/>
            </a:pPr>
            <a:r>
              <a:rPr lang="en-US" sz="1200" dirty="0">
                <a:solidFill>
                  <a:srgbClr val="00B4D8"/>
                </a:solidFill>
                <a:latin typeface="Arial" pitchFamily="34" charset="0"/>
                <a:ea typeface="Arial" pitchFamily="34" charset="-122"/>
                <a:cs typeface="Arial" pitchFamily="34" charset="-120"/>
              </a:rPr>
              <a:t>SECTION 3</a:t>
            </a:r>
            <a:endParaRPr lang="en-US" sz="1200" dirty="0"/>
          </a:p>
        </p:txBody>
      </p:sp>
      <p:sp>
        <p:nvSpPr>
          <p:cNvPr id="3" name="Text 1"/>
          <p:cNvSpPr/>
          <p:nvPr/>
        </p:nvSpPr>
        <p:spPr>
          <a:xfrm>
            <a:off x="762000" y="2154287"/>
            <a:ext cx="7772400" cy="466725"/>
          </a:xfrm>
          <a:prstGeom prst="rect">
            <a:avLst/>
          </a:prstGeom>
          <a:noFill/>
          <a:ln/>
        </p:spPr>
        <p:txBody>
          <a:bodyPr wrap="square" lIns="0" tIns="0" rIns="0" bIns="0" rtlCol="0" anchor="t"/>
          <a:lstStyle/>
          <a:p>
            <a:pPr algn="l" indent="0" marL="0">
              <a:spcAft>
                <a:spcPts val="1200"/>
              </a:spcAft>
              <a:buNone/>
            </a:pPr>
            <a:r>
              <a:rPr lang="en-US" sz="3200" b="1" dirty="0">
                <a:solidFill>
                  <a:srgbClr val="FFFFFF"/>
                </a:solidFill>
                <a:latin typeface="Arial" pitchFamily="34" charset="0"/>
                <a:ea typeface="Arial" pitchFamily="34" charset="-122"/>
                <a:cs typeface="Arial" pitchFamily="34" charset="-120"/>
              </a:rPr>
              <a:t>Repository Structure</a:t>
            </a:r>
            <a:endParaRPr lang="en-US" sz="3200" dirty="0"/>
          </a:p>
        </p:txBody>
      </p:sp>
      <p:pic>
        <p:nvPicPr>
          <p:cNvPr id="4" name="Image 0" descr="/Users/alessandrodibari/Ale/projects/TR_hiring_exercise/outputs/pptx_workspace/slides/accent_teal.png">    </p:cNvPr>
          <p:cNvPicPr>
            <a:picLocks noChangeAspect="1"/>
          </p:cNvPicPr>
          <p:nvPr/>
        </p:nvPicPr>
        <p:blipFill>
          <a:blip r:embed="rId2"/>
          <a:stretch>
            <a:fillRect/>
          </a:stretch>
        </p:blipFill>
        <p:spPr>
          <a:xfrm>
            <a:off x="762000" y="2868662"/>
            <a:ext cx="762000" cy="38100"/>
          </a:xfrm>
          <a:prstGeom prst="rect">
            <a:avLst/>
          </a:prstGeom>
        </p:spPr>
      </p:pic>
      <p:sp>
        <p:nvSpPr>
          <p:cNvPr id="5" name="Text 2"/>
          <p:cNvSpPr/>
          <p:nvPr/>
        </p:nvSpPr>
        <p:spPr>
          <a:xfrm>
            <a:off x="762000" y="3014663"/>
            <a:ext cx="7772400" cy="247501"/>
          </a:xfrm>
          <a:prstGeom prst="rect">
            <a:avLst/>
          </a:prstGeom>
          <a:noFill/>
          <a:ln/>
        </p:spPr>
        <p:txBody>
          <a:bodyPr wrap="square" lIns="0" tIns="0" rIns="0" bIns="0" rtlCol="0" anchor="t"/>
          <a:lstStyle/>
          <a:p>
            <a:pPr algn="l" indent="0" marL="0">
              <a:lnSpc>
                <a:spcPts val="1950"/>
              </a:lnSpc>
              <a:buNone/>
            </a:pPr>
            <a:r>
              <a:rPr lang="en-US" sz="1300" dirty="0">
                <a:solidFill>
                  <a:srgbClr val="94A3B8"/>
                </a:solidFill>
                <a:latin typeface="Arial" pitchFamily="34" charset="0"/>
                <a:ea typeface="Arial" pitchFamily="34" charset="-122"/>
                <a:cs typeface="Arial" pitchFamily="34" charset="-120"/>
              </a:rPr>
              <a:t>Modular, reproducible, clean code organization</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Users/alessandrodibari/Ale/projects/TR_hiring_exercise/outputs/pptx_workspace/slides/accent_teal.png">    </p:cNvPr>
          <p:cNvPicPr>
            <a:picLocks noChangeAspect="1"/>
          </p:cNvPicPr>
          <p:nvPr/>
        </p:nvPicPr>
        <p:blipFill>
          <a:blip r:embed="rId2"/>
          <a:stretch>
            <a:fillRect/>
          </a:stretch>
        </p:blipFill>
        <p:spPr>
          <a:xfrm>
            <a:off x="0" y="0"/>
            <a:ext cx="9144000" cy="50750"/>
          </a:xfrm>
          <a:prstGeom prst="rect">
            <a:avLst/>
          </a:prstGeom>
        </p:spPr>
      </p:pic>
      <p:sp>
        <p:nvSpPr>
          <p:cNvPr id="3" name="Text 0"/>
          <p:cNvSpPr/>
          <p:nvPr/>
        </p:nvSpPr>
        <p:spPr>
          <a:xfrm>
            <a:off x="457200" y="228451"/>
            <a:ext cx="8394192" cy="295275"/>
          </a:xfrm>
          <a:prstGeom prst="rect">
            <a:avLst/>
          </a:prstGeom>
          <a:noFill/>
          <a:ln/>
        </p:spPr>
        <p:txBody>
          <a:bodyPr wrap="square" lIns="0" tIns="0" rIns="0" bIns="0" rtlCol="0" anchor="t"/>
          <a:lstStyle/>
          <a:p>
            <a:pPr algn="l" indent="0" marL="0">
              <a:buNone/>
            </a:pPr>
            <a:r>
              <a:rPr lang="en-US" sz="2000" b="1" dirty="0">
                <a:solidFill>
                  <a:srgbClr val="00B4D8"/>
                </a:solidFill>
                <a:latin typeface="Arial" pitchFamily="34" charset="0"/>
                <a:ea typeface="Arial" pitchFamily="34" charset="-122"/>
                <a:cs typeface="Arial" pitchFamily="34" charset="-120"/>
              </a:rPr>
              <a:t>Project Organization</a:t>
            </a:r>
            <a:endParaRPr lang="en-US" sz="2000" dirty="0"/>
          </a:p>
        </p:txBody>
      </p:sp>
      <p:sp>
        <p:nvSpPr>
          <p:cNvPr id="4" name="Text 1"/>
          <p:cNvSpPr/>
          <p:nvPr/>
        </p:nvSpPr>
        <p:spPr>
          <a:xfrm>
            <a:off x="457200" y="599926"/>
            <a:ext cx="4980980" cy="4543574"/>
          </a:xfrm>
          <a:prstGeom prst="roundRect">
            <a:avLst>
              <a:gd name="adj" fmla="val 1677"/>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5" name="Text 2"/>
          <p:cNvSpPr/>
          <p:nvPr/>
        </p:nvSpPr>
        <p:spPr>
          <a:xfrm>
            <a:off x="644426" y="710952"/>
            <a:ext cx="4698659" cy="142280"/>
          </a:xfrm>
          <a:prstGeom prst="rect">
            <a:avLst/>
          </a:prstGeom>
          <a:noFill/>
          <a:ln/>
        </p:spPr>
        <p:txBody>
          <a:bodyPr wrap="square" lIns="0" tIns="0" rIns="0" bIns="0" rtlCol="0" anchor="t"/>
          <a:lstStyle/>
          <a:p>
            <a:pPr algn="l" indent="0" marL="0">
              <a:lnSpc>
                <a:spcPts val="1120"/>
              </a:lnSpc>
              <a:buNone/>
            </a:pPr>
            <a:r>
              <a:rPr lang="en-US" sz="800" b="1" dirty="0">
                <a:solidFill>
                  <a:srgbClr val="00B4D8"/>
                </a:solidFill>
                <a:latin typeface="Courier New" pitchFamily="34" charset="0"/>
                <a:ea typeface="Courier New" pitchFamily="34" charset="-122"/>
                <a:cs typeface="Courier New" pitchFamily="34" charset="-120"/>
              </a:rPr>
              <a:t>TR_hiring_exercise/</a:t>
            </a:r>
            <a:endParaRPr lang="en-US" sz="800" dirty="0"/>
          </a:p>
        </p:txBody>
      </p:sp>
      <p:sp>
        <p:nvSpPr>
          <p:cNvPr id="6" name="Text 3"/>
          <p:cNvSpPr/>
          <p:nvPr/>
        </p:nvSpPr>
        <p:spPr>
          <a:xfrm>
            <a:off x="644426" y="853232"/>
            <a:ext cx="4698659" cy="142280"/>
          </a:xfrm>
          <a:prstGeom prst="rect">
            <a:avLst/>
          </a:prstGeom>
          <a:noFill/>
          <a:ln/>
        </p:spPr>
        <p:txBody>
          <a:bodyPr wrap="square" lIns="0" tIns="0" rIns="0" bIns="0" rtlCol="0" anchor="t"/>
          <a:lstStyle/>
          <a:p>
            <a:pPr algn="l" indent="0" marL="0">
              <a:lnSpc>
                <a:spcPts val="1120"/>
              </a:lnSpc>
              <a:buNone/>
            </a:pPr>
            <a:r>
              <a:rPr lang="en-US" sz="800" b="1" dirty="0">
                <a:solidFill>
                  <a:srgbClr val="00B4D8"/>
                </a:solidFill>
                <a:latin typeface="Courier New" pitchFamily="34" charset="0"/>
                <a:ea typeface="Courier New" pitchFamily="34" charset="-122"/>
                <a:cs typeface="Courier New" pitchFamily="34" charset="-120"/>
              </a:rPr>
              <a:t>notebooks/</a:t>
            </a:r>
            <a:endParaRPr lang="en-US" sz="800" dirty="0"/>
          </a:p>
        </p:txBody>
      </p:sp>
      <p:sp>
        <p:nvSpPr>
          <p:cNvPr id="7" name="Text 4"/>
          <p:cNvSpPr/>
          <p:nvPr/>
        </p:nvSpPr>
        <p:spPr>
          <a:xfrm>
            <a:off x="644426" y="995511"/>
            <a:ext cx="4698659" cy="142280"/>
          </a:xfrm>
          <a:prstGeom prst="rect">
            <a:avLst/>
          </a:prstGeom>
          <a:noFill/>
          <a:ln/>
        </p:spPr>
        <p:txBody>
          <a:bodyPr wrap="square" lIns="0" tIns="0" rIns="0" bIns="0" rtlCol="0" anchor="t"/>
          <a:lstStyle/>
          <a:p>
            <a:pPr algn="l" indent="0" marL="0">
              <a:lnSpc>
                <a:spcPts val="1120"/>
              </a:lnSpc>
              <a:buNone/>
            </a:pPr>
            <a:r>
              <a:rPr lang="en-US" sz="800" dirty="0">
                <a:solidFill>
                  <a:srgbClr val="CBD5E1"/>
                </a:solidFill>
                <a:latin typeface="Courier New" pitchFamily="34" charset="0"/>
                <a:ea typeface="Courier New" pitchFamily="34" charset="-122"/>
                <a:cs typeface="Courier New" pitchFamily="34" charset="-120"/>
              </a:rPr>
              <a:t>01_data_exploration.ipynb</a:t>
            </a:r>
            <a:endParaRPr lang="en-US" sz="800" dirty="0"/>
          </a:p>
        </p:txBody>
      </p:sp>
      <p:sp>
        <p:nvSpPr>
          <p:cNvPr id="8" name="Text 5"/>
          <p:cNvSpPr/>
          <p:nvPr/>
        </p:nvSpPr>
        <p:spPr>
          <a:xfrm>
            <a:off x="644426" y="1137791"/>
            <a:ext cx="4698659" cy="142280"/>
          </a:xfrm>
          <a:prstGeom prst="rect">
            <a:avLst/>
          </a:prstGeom>
          <a:noFill/>
          <a:ln/>
        </p:spPr>
        <p:txBody>
          <a:bodyPr wrap="square" lIns="0" tIns="0" rIns="0" bIns="0" rtlCol="0" anchor="t"/>
          <a:lstStyle/>
          <a:p>
            <a:pPr algn="l" indent="0" marL="0">
              <a:lnSpc>
                <a:spcPts val="1120"/>
              </a:lnSpc>
              <a:buNone/>
            </a:pPr>
            <a:r>
              <a:rPr lang="en-US" sz="800" dirty="0">
                <a:solidFill>
                  <a:srgbClr val="CBD5E1"/>
                </a:solidFill>
                <a:latin typeface="Courier New" pitchFamily="34" charset="0"/>
                <a:ea typeface="Courier New" pitchFamily="34" charset="-122"/>
                <a:cs typeface="Courier New" pitchFamily="34" charset="-120"/>
              </a:rPr>
              <a:t>02_modeling.ipynb</a:t>
            </a:r>
            <a:endParaRPr lang="en-US" sz="800" dirty="0"/>
          </a:p>
        </p:txBody>
      </p:sp>
      <p:sp>
        <p:nvSpPr>
          <p:cNvPr id="9" name="Text 6"/>
          <p:cNvSpPr/>
          <p:nvPr/>
        </p:nvSpPr>
        <p:spPr>
          <a:xfrm>
            <a:off x="644426" y="1280071"/>
            <a:ext cx="4698659" cy="142280"/>
          </a:xfrm>
          <a:prstGeom prst="rect">
            <a:avLst/>
          </a:prstGeom>
          <a:noFill/>
          <a:ln/>
        </p:spPr>
        <p:txBody>
          <a:bodyPr wrap="square" lIns="0" tIns="0" rIns="0" bIns="0" rtlCol="0" anchor="t"/>
          <a:lstStyle/>
          <a:p>
            <a:pPr algn="l" indent="0" marL="0">
              <a:lnSpc>
                <a:spcPts val="1120"/>
              </a:lnSpc>
              <a:buNone/>
            </a:pPr>
            <a:r>
              <a:rPr lang="en-US" sz="800" dirty="0">
                <a:solidFill>
                  <a:srgbClr val="CBD5E1"/>
                </a:solidFill>
                <a:latin typeface="Courier New" pitchFamily="34" charset="0"/>
                <a:ea typeface="Courier New" pitchFamily="34" charset="-122"/>
                <a:cs typeface="Courier New" pitchFamily="34" charset="-120"/>
              </a:rPr>
              <a:t>03_evaluation.ipynb</a:t>
            </a:r>
            <a:endParaRPr lang="en-US" sz="800" dirty="0"/>
          </a:p>
        </p:txBody>
      </p:sp>
      <p:sp>
        <p:nvSpPr>
          <p:cNvPr id="10" name="Text 7"/>
          <p:cNvSpPr/>
          <p:nvPr/>
        </p:nvSpPr>
        <p:spPr>
          <a:xfrm>
            <a:off x="644426" y="1422350"/>
            <a:ext cx="4698659" cy="142280"/>
          </a:xfrm>
          <a:prstGeom prst="rect">
            <a:avLst/>
          </a:prstGeom>
          <a:noFill/>
          <a:ln/>
        </p:spPr>
        <p:txBody>
          <a:bodyPr wrap="square" lIns="0" tIns="0" rIns="0" bIns="0" rtlCol="0" anchor="t"/>
          <a:lstStyle/>
          <a:p>
            <a:pPr algn="l" indent="0" marL="0">
              <a:lnSpc>
                <a:spcPts val="1120"/>
              </a:lnSpc>
              <a:buNone/>
            </a:pPr>
            <a:r>
              <a:rPr lang="en-US" sz="800" dirty="0">
                <a:solidFill>
                  <a:srgbClr val="CBD5E1"/>
                </a:solidFill>
                <a:latin typeface="Courier New" pitchFamily="34" charset="0"/>
                <a:ea typeface="Courier New" pitchFamily="34" charset="-122"/>
                <a:cs typeface="Courier New" pitchFamily="34" charset="-120"/>
              </a:rPr>
              <a:t>04_ensemble_analysis.ipynb</a:t>
            </a:r>
            <a:endParaRPr lang="en-US" sz="800" dirty="0"/>
          </a:p>
        </p:txBody>
      </p:sp>
      <p:sp>
        <p:nvSpPr>
          <p:cNvPr id="11" name="Text 8"/>
          <p:cNvSpPr/>
          <p:nvPr/>
        </p:nvSpPr>
        <p:spPr>
          <a:xfrm>
            <a:off x="644426" y="1564630"/>
            <a:ext cx="4698659" cy="142280"/>
          </a:xfrm>
          <a:prstGeom prst="rect">
            <a:avLst/>
          </a:prstGeom>
          <a:noFill/>
          <a:ln/>
        </p:spPr>
        <p:txBody>
          <a:bodyPr wrap="square" lIns="0" tIns="0" rIns="0" bIns="0" rtlCol="0" anchor="t"/>
          <a:lstStyle/>
          <a:p>
            <a:pPr algn="l" indent="0" marL="0">
              <a:lnSpc>
                <a:spcPts val="1120"/>
              </a:lnSpc>
              <a:buNone/>
            </a:pPr>
            <a:r>
              <a:rPr lang="en-US" sz="800" b="1" dirty="0">
                <a:solidFill>
                  <a:srgbClr val="00B4D8"/>
                </a:solidFill>
                <a:latin typeface="Courier New" pitchFamily="34" charset="0"/>
                <a:ea typeface="Courier New" pitchFamily="34" charset="-122"/>
                <a:cs typeface="Courier New" pitchFamily="34" charset="-120"/>
              </a:rPr>
              <a:t>src/</a:t>
            </a:r>
            <a:endParaRPr lang="en-US" sz="800" dirty="0"/>
          </a:p>
        </p:txBody>
      </p:sp>
      <p:sp>
        <p:nvSpPr>
          <p:cNvPr id="12" name="Text 9"/>
          <p:cNvSpPr/>
          <p:nvPr/>
        </p:nvSpPr>
        <p:spPr>
          <a:xfrm>
            <a:off x="644426" y="1706910"/>
            <a:ext cx="4698659" cy="142280"/>
          </a:xfrm>
          <a:prstGeom prst="rect">
            <a:avLst/>
          </a:prstGeom>
          <a:noFill/>
          <a:ln/>
        </p:spPr>
        <p:txBody>
          <a:bodyPr wrap="square" lIns="0" tIns="0" rIns="0" bIns="0" rtlCol="0" anchor="t"/>
          <a:lstStyle/>
          <a:p>
            <a:pPr algn="l" indent="0" marL="0">
              <a:lnSpc>
                <a:spcPts val="1120"/>
              </a:lnSpc>
              <a:buNone/>
            </a:pPr>
            <a:r>
              <a:rPr lang="en-US" sz="800" dirty="0">
                <a:solidFill>
                  <a:srgbClr val="CBD5E1"/>
                </a:solidFill>
                <a:latin typeface="Courier New" pitchFamily="34" charset="0"/>
                <a:ea typeface="Courier New" pitchFamily="34" charset="-122"/>
                <a:cs typeface="Courier New" pitchFamily="34" charset="-120"/>
              </a:rPr>
              <a:t>data_loader.py</a:t>
            </a:r>
            <a:endParaRPr lang="en-US" sz="800" dirty="0"/>
          </a:p>
        </p:txBody>
      </p:sp>
      <p:sp>
        <p:nvSpPr>
          <p:cNvPr id="13" name="Text 10"/>
          <p:cNvSpPr/>
          <p:nvPr/>
        </p:nvSpPr>
        <p:spPr>
          <a:xfrm>
            <a:off x="644426" y="1849189"/>
            <a:ext cx="4698659" cy="142280"/>
          </a:xfrm>
          <a:prstGeom prst="rect">
            <a:avLst/>
          </a:prstGeom>
          <a:noFill/>
          <a:ln/>
        </p:spPr>
        <p:txBody>
          <a:bodyPr wrap="square" lIns="0" tIns="0" rIns="0" bIns="0" rtlCol="0" anchor="t"/>
          <a:lstStyle/>
          <a:p>
            <a:pPr algn="l" indent="0" marL="0">
              <a:lnSpc>
                <a:spcPts val="1120"/>
              </a:lnSpc>
              <a:buNone/>
            </a:pPr>
            <a:r>
              <a:rPr lang="en-US" sz="800" dirty="0">
                <a:solidFill>
                  <a:srgbClr val="CBD5E1"/>
                </a:solidFill>
                <a:latin typeface="Courier New" pitchFamily="34" charset="0"/>
                <a:ea typeface="Courier New" pitchFamily="34" charset="-122"/>
                <a:cs typeface="Courier New" pitchFamily="34" charset="-120"/>
              </a:rPr>
              <a:t>data_analyzer.py</a:t>
            </a:r>
            <a:endParaRPr lang="en-US" sz="800" dirty="0"/>
          </a:p>
        </p:txBody>
      </p:sp>
      <p:sp>
        <p:nvSpPr>
          <p:cNvPr id="14" name="Text 11"/>
          <p:cNvSpPr/>
          <p:nvPr/>
        </p:nvSpPr>
        <p:spPr>
          <a:xfrm>
            <a:off x="644426" y="1991469"/>
            <a:ext cx="4698659" cy="142280"/>
          </a:xfrm>
          <a:prstGeom prst="rect">
            <a:avLst/>
          </a:prstGeom>
          <a:noFill/>
          <a:ln/>
        </p:spPr>
        <p:txBody>
          <a:bodyPr wrap="square" lIns="0" tIns="0" rIns="0" bIns="0" rtlCol="0" anchor="t"/>
          <a:lstStyle/>
          <a:p>
            <a:pPr algn="l" indent="0" marL="0">
              <a:lnSpc>
                <a:spcPts val="1120"/>
              </a:lnSpc>
              <a:buNone/>
            </a:pPr>
            <a:r>
              <a:rPr lang="en-US" sz="800" dirty="0">
                <a:solidFill>
                  <a:srgbClr val="CBD5E1"/>
                </a:solidFill>
                <a:latin typeface="Courier New" pitchFamily="34" charset="0"/>
                <a:ea typeface="Courier New" pitchFamily="34" charset="-122"/>
                <a:cs typeface="Courier New" pitchFamily="34" charset="-120"/>
              </a:rPr>
              <a:t>model_trainer.py</a:t>
            </a:r>
            <a:endParaRPr lang="en-US" sz="800" dirty="0"/>
          </a:p>
        </p:txBody>
      </p:sp>
      <p:sp>
        <p:nvSpPr>
          <p:cNvPr id="15" name="Text 12"/>
          <p:cNvSpPr/>
          <p:nvPr/>
        </p:nvSpPr>
        <p:spPr>
          <a:xfrm>
            <a:off x="644426" y="2133749"/>
            <a:ext cx="4698659" cy="142280"/>
          </a:xfrm>
          <a:prstGeom prst="rect">
            <a:avLst/>
          </a:prstGeom>
          <a:noFill/>
          <a:ln/>
        </p:spPr>
        <p:txBody>
          <a:bodyPr wrap="square" lIns="0" tIns="0" rIns="0" bIns="0" rtlCol="0" anchor="t"/>
          <a:lstStyle/>
          <a:p>
            <a:pPr algn="l" indent="0" marL="0">
              <a:lnSpc>
                <a:spcPts val="1120"/>
              </a:lnSpc>
              <a:buNone/>
            </a:pPr>
            <a:r>
              <a:rPr lang="en-US" sz="800" dirty="0">
                <a:solidFill>
                  <a:srgbClr val="CBD5E1"/>
                </a:solidFill>
                <a:latin typeface="Courier New" pitchFamily="34" charset="0"/>
                <a:ea typeface="Courier New" pitchFamily="34" charset="-122"/>
                <a:cs typeface="Courier New" pitchFamily="34" charset="-120"/>
              </a:rPr>
              <a:t>model_evaluator.py</a:t>
            </a:r>
            <a:endParaRPr lang="en-US" sz="800" dirty="0"/>
          </a:p>
        </p:txBody>
      </p:sp>
      <p:sp>
        <p:nvSpPr>
          <p:cNvPr id="16" name="Text 13"/>
          <p:cNvSpPr/>
          <p:nvPr/>
        </p:nvSpPr>
        <p:spPr>
          <a:xfrm>
            <a:off x="644426" y="2276029"/>
            <a:ext cx="4698659" cy="142280"/>
          </a:xfrm>
          <a:prstGeom prst="rect">
            <a:avLst/>
          </a:prstGeom>
          <a:noFill/>
          <a:ln/>
        </p:spPr>
        <p:txBody>
          <a:bodyPr wrap="square" lIns="0" tIns="0" rIns="0" bIns="0" rtlCol="0" anchor="t"/>
          <a:lstStyle/>
          <a:p>
            <a:pPr algn="l" indent="0" marL="0">
              <a:lnSpc>
                <a:spcPts val="1120"/>
              </a:lnSpc>
              <a:buNone/>
            </a:pPr>
            <a:r>
              <a:rPr lang="en-US" sz="800" dirty="0">
                <a:solidFill>
                  <a:srgbClr val="CBD5E1"/>
                </a:solidFill>
                <a:latin typeface="Courier New" pitchFamily="34" charset="0"/>
                <a:ea typeface="Courier New" pitchFamily="34" charset="-122"/>
                <a:cs typeface="Courier New" pitchFamily="34" charset="-120"/>
              </a:rPr>
              <a:t>bert_trainer.py</a:t>
            </a:r>
            <a:endParaRPr lang="en-US" sz="800" dirty="0"/>
          </a:p>
        </p:txBody>
      </p:sp>
      <p:sp>
        <p:nvSpPr>
          <p:cNvPr id="17" name="Text 14"/>
          <p:cNvSpPr/>
          <p:nvPr/>
        </p:nvSpPr>
        <p:spPr>
          <a:xfrm>
            <a:off x="644426" y="2418308"/>
            <a:ext cx="4698659" cy="142280"/>
          </a:xfrm>
          <a:prstGeom prst="rect">
            <a:avLst/>
          </a:prstGeom>
          <a:noFill/>
          <a:ln/>
        </p:spPr>
        <p:txBody>
          <a:bodyPr wrap="square" lIns="0" tIns="0" rIns="0" bIns="0" rtlCol="0" anchor="t"/>
          <a:lstStyle/>
          <a:p>
            <a:pPr algn="l" indent="0" marL="0">
              <a:lnSpc>
                <a:spcPts val="1120"/>
              </a:lnSpc>
              <a:buNone/>
            </a:pPr>
            <a:r>
              <a:rPr lang="en-US" sz="800" dirty="0">
                <a:solidFill>
                  <a:srgbClr val="CBD5E1"/>
                </a:solidFill>
                <a:latin typeface="Courier New" pitchFamily="34" charset="0"/>
                <a:ea typeface="Courier New" pitchFamily="34" charset="-122"/>
                <a:cs typeface="Courier New" pitchFamily="34" charset="-120"/>
              </a:rPr>
              <a:t>visualization.py</a:t>
            </a:r>
            <a:endParaRPr lang="en-US" sz="800" dirty="0"/>
          </a:p>
        </p:txBody>
      </p:sp>
      <p:sp>
        <p:nvSpPr>
          <p:cNvPr id="18" name="Text 15"/>
          <p:cNvSpPr/>
          <p:nvPr/>
        </p:nvSpPr>
        <p:spPr>
          <a:xfrm>
            <a:off x="644426" y="2560588"/>
            <a:ext cx="4698659" cy="142280"/>
          </a:xfrm>
          <a:prstGeom prst="rect">
            <a:avLst/>
          </a:prstGeom>
          <a:noFill/>
          <a:ln/>
        </p:spPr>
        <p:txBody>
          <a:bodyPr wrap="square" lIns="0" tIns="0" rIns="0" bIns="0" rtlCol="0" anchor="t"/>
          <a:lstStyle/>
          <a:p>
            <a:pPr algn="l" indent="0" marL="0">
              <a:lnSpc>
                <a:spcPts val="1120"/>
              </a:lnSpc>
              <a:buNone/>
            </a:pPr>
            <a:r>
              <a:rPr lang="en-US" sz="800" b="1" dirty="0">
                <a:solidFill>
                  <a:srgbClr val="00B4D8"/>
                </a:solidFill>
                <a:latin typeface="Courier New" pitchFamily="34" charset="0"/>
                <a:ea typeface="Courier New" pitchFamily="34" charset="-122"/>
                <a:cs typeface="Courier New" pitchFamily="34" charset="-120"/>
              </a:rPr>
              <a:t>tests/</a:t>
            </a:r>
            <a:endParaRPr lang="en-US" sz="800" dirty="0"/>
          </a:p>
        </p:txBody>
      </p:sp>
      <p:sp>
        <p:nvSpPr>
          <p:cNvPr id="19" name="Text 16"/>
          <p:cNvSpPr/>
          <p:nvPr/>
        </p:nvSpPr>
        <p:spPr>
          <a:xfrm>
            <a:off x="644426" y="2702868"/>
            <a:ext cx="4698659" cy="142280"/>
          </a:xfrm>
          <a:prstGeom prst="rect">
            <a:avLst/>
          </a:prstGeom>
          <a:noFill/>
          <a:ln/>
        </p:spPr>
        <p:txBody>
          <a:bodyPr wrap="square" lIns="0" tIns="0" rIns="0" bIns="0" rtlCol="0" anchor="t"/>
          <a:lstStyle/>
          <a:p>
            <a:pPr algn="l" indent="0" marL="0">
              <a:lnSpc>
                <a:spcPts val="1120"/>
              </a:lnSpc>
              <a:buNone/>
            </a:pPr>
            <a:r>
              <a:rPr lang="en-US" sz="800" dirty="0">
                <a:solidFill>
                  <a:srgbClr val="CBD5E1"/>
                </a:solidFill>
                <a:latin typeface="Courier New" pitchFamily="34" charset="0"/>
                <a:ea typeface="Courier New" pitchFamily="34" charset="-122"/>
                <a:cs typeface="Courier New" pitchFamily="34" charset="-120"/>
              </a:rPr>
              <a:t>test_data_loader.py</a:t>
            </a:r>
            <a:endParaRPr lang="en-US" sz="800" dirty="0"/>
          </a:p>
        </p:txBody>
      </p:sp>
      <p:sp>
        <p:nvSpPr>
          <p:cNvPr id="20" name="Text 17"/>
          <p:cNvSpPr/>
          <p:nvPr/>
        </p:nvSpPr>
        <p:spPr>
          <a:xfrm>
            <a:off x="644426" y="2845147"/>
            <a:ext cx="4698659" cy="142280"/>
          </a:xfrm>
          <a:prstGeom prst="rect">
            <a:avLst/>
          </a:prstGeom>
          <a:noFill/>
          <a:ln/>
        </p:spPr>
        <p:txBody>
          <a:bodyPr wrap="square" lIns="0" tIns="0" rIns="0" bIns="0" rtlCol="0" anchor="t"/>
          <a:lstStyle/>
          <a:p>
            <a:pPr algn="l" indent="0" marL="0">
              <a:lnSpc>
                <a:spcPts val="1120"/>
              </a:lnSpc>
              <a:buNone/>
            </a:pPr>
            <a:r>
              <a:rPr lang="en-US" sz="800" dirty="0">
                <a:solidFill>
                  <a:srgbClr val="CBD5E1"/>
                </a:solidFill>
                <a:latin typeface="Courier New" pitchFamily="34" charset="0"/>
                <a:ea typeface="Courier New" pitchFamily="34" charset="-122"/>
                <a:cs typeface="Courier New" pitchFamily="34" charset="-120"/>
              </a:rPr>
              <a:t>test_model_trainer.py</a:t>
            </a:r>
            <a:endParaRPr lang="en-US" sz="800" dirty="0"/>
          </a:p>
        </p:txBody>
      </p:sp>
      <p:sp>
        <p:nvSpPr>
          <p:cNvPr id="21" name="Text 18"/>
          <p:cNvSpPr/>
          <p:nvPr/>
        </p:nvSpPr>
        <p:spPr>
          <a:xfrm>
            <a:off x="644426" y="2987427"/>
            <a:ext cx="4698659" cy="142280"/>
          </a:xfrm>
          <a:prstGeom prst="rect">
            <a:avLst/>
          </a:prstGeom>
          <a:noFill/>
          <a:ln/>
        </p:spPr>
        <p:txBody>
          <a:bodyPr wrap="square" lIns="0" tIns="0" rIns="0" bIns="0" rtlCol="0" anchor="t"/>
          <a:lstStyle/>
          <a:p>
            <a:pPr algn="l" indent="0" marL="0">
              <a:lnSpc>
                <a:spcPts val="1120"/>
              </a:lnSpc>
              <a:buNone/>
            </a:pPr>
            <a:r>
              <a:rPr lang="en-US" sz="800" dirty="0">
                <a:solidFill>
                  <a:srgbClr val="CBD5E1"/>
                </a:solidFill>
                <a:latin typeface="Courier New" pitchFamily="34" charset="0"/>
                <a:ea typeface="Courier New" pitchFamily="34" charset="-122"/>
                <a:cs typeface="Courier New" pitchFamily="34" charset="-120"/>
              </a:rPr>
              <a:t>test_model_evaluator.py</a:t>
            </a:r>
            <a:endParaRPr lang="en-US" sz="800" dirty="0"/>
          </a:p>
        </p:txBody>
      </p:sp>
      <p:sp>
        <p:nvSpPr>
          <p:cNvPr id="22" name="Text 19"/>
          <p:cNvSpPr/>
          <p:nvPr/>
        </p:nvSpPr>
        <p:spPr>
          <a:xfrm>
            <a:off x="644426" y="3129707"/>
            <a:ext cx="4698659" cy="142280"/>
          </a:xfrm>
          <a:prstGeom prst="rect">
            <a:avLst/>
          </a:prstGeom>
          <a:noFill/>
          <a:ln/>
        </p:spPr>
        <p:txBody>
          <a:bodyPr wrap="square" lIns="0" tIns="0" rIns="0" bIns="0" rtlCol="0" anchor="t"/>
          <a:lstStyle/>
          <a:p>
            <a:pPr algn="l" indent="0" marL="0">
              <a:lnSpc>
                <a:spcPts val="1120"/>
              </a:lnSpc>
              <a:buNone/>
            </a:pPr>
            <a:r>
              <a:rPr lang="en-US" sz="800" dirty="0">
                <a:solidFill>
                  <a:srgbClr val="CBD5E1"/>
                </a:solidFill>
                <a:latin typeface="Courier New" pitchFamily="34" charset="0"/>
                <a:ea typeface="Courier New" pitchFamily="34" charset="-122"/>
                <a:cs typeface="Courier New" pitchFamily="34" charset="-120"/>
              </a:rPr>
              <a:t>test_bert_trainer.py</a:t>
            </a:r>
            <a:endParaRPr lang="en-US" sz="800" dirty="0"/>
          </a:p>
        </p:txBody>
      </p:sp>
      <p:sp>
        <p:nvSpPr>
          <p:cNvPr id="23" name="Text 20"/>
          <p:cNvSpPr/>
          <p:nvPr/>
        </p:nvSpPr>
        <p:spPr>
          <a:xfrm>
            <a:off x="644426" y="3271986"/>
            <a:ext cx="4698659" cy="142280"/>
          </a:xfrm>
          <a:prstGeom prst="rect">
            <a:avLst/>
          </a:prstGeom>
          <a:noFill/>
          <a:ln/>
        </p:spPr>
        <p:txBody>
          <a:bodyPr wrap="square" lIns="0" tIns="0" rIns="0" bIns="0" rtlCol="0" anchor="t"/>
          <a:lstStyle/>
          <a:p>
            <a:pPr algn="l" indent="0" marL="0">
              <a:lnSpc>
                <a:spcPts val="1120"/>
              </a:lnSpc>
              <a:buNone/>
            </a:pPr>
            <a:r>
              <a:rPr lang="en-US" sz="800" b="1" dirty="0">
                <a:solidFill>
                  <a:srgbClr val="00B4D8"/>
                </a:solidFill>
                <a:latin typeface="Courier New" pitchFamily="34" charset="0"/>
                <a:ea typeface="Courier New" pitchFamily="34" charset="-122"/>
                <a:cs typeface="Courier New" pitchFamily="34" charset="-120"/>
              </a:rPr>
              <a:t>docs/</a:t>
            </a:r>
            <a:endParaRPr lang="en-US" sz="800" dirty="0"/>
          </a:p>
        </p:txBody>
      </p:sp>
      <p:sp>
        <p:nvSpPr>
          <p:cNvPr id="24" name="Text 21"/>
          <p:cNvSpPr/>
          <p:nvPr/>
        </p:nvSpPr>
        <p:spPr>
          <a:xfrm>
            <a:off x="644426" y="3414266"/>
            <a:ext cx="4698659" cy="142280"/>
          </a:xfrm>
          <a:prstGeom prst="rect">
            <a:avLst/>
          </a:prstGeom>
          <a:noFill/>
          <a:ln/>
        </p:spPr>
        <p:txBody>
          <a:bodyPr wrap="square" lIns="0" tIns="0" rIns="0" bIns="0" rtlCol="0" anchor="t"/>
          <a:lstStyle/>
          <a:p>
            <a:pPr algn="l" indent="0" marL="0">
              <a:lnSpc>
                <a:spcPts val="1120"/>
              </a:lnSpc>
              <a:buNone/>
            </a:pPr>
            <a:r>
              <a:rPr lang="en-US" sz="800" dirty="0">
                <a:solidFill>
                  <a:srgbClr val="CBD5E1"/>
                </a:solidFill>
                <a:latin typeface="Courier New" pitchFamily="34" charset="0"/>
                <a:ea typeface="Courier New" pitchFamily="34" charset="-122"/>
                <a:cs typeface="Courier New" pitchFamily="34" charset="-120"/>
              </a:rPr>
              <a:t>legal_posture_ontology.md</a:t>
            </a:r>
            <a:endParaRPr lang="en-US" sz="800" dirty="0"/>
          </a:p>
        </p:txBody>
      </p:sp>
      <p:sp>
        <p:nvSpPr>
          <p:cNvPr id="25" name="Text 22"/>
          <p:cNvSpPr/>
          <p:nvPr/>
        </p:nvSpPr>
        <p:spPr>
          <a:xfrm>
            <a:off x="644426" y="3556546"/>
            <a:ext cx="4698659" cy="142280"/>
          </a:xfrm>
          <a:prstGeom prst="rect">
            <a:avLst/>
          </a:prstGeom>
          <a:noFill/>
          <a:ln/>
        </p:spPr>
        <p:txBody>
          <a:bodyPr wrap="square" lIns="0" tIns="0" rIns="0" bIns="0" rtlCol="0" anchor="t"/>
          <a:lstStyle/>
          <a:p>
            <a:pPr algn="l" indent="0" marL="0">
              <a:lnSpc>
                <a:spcPts val="1120"/>
              </a:lnSpc>
              <a:buNone/>
            </a:pPr>
            <a:r>
              <a:rPr lang="en-US" sz="800" dirty="0">
                <a:solidFill>
                  <a:srgbClr val="CBD5E1"/>
                </a:solidFill>
                <a:latin typeface="Courier New" pitchFamily="34" charset="0"/>
                <a:ea typeface="Courier New" pitchFamily="34" charset="-122"/>
                <a:cs typeface="Courier New" pitchFamily="34" charset="-120"/>
              </a:rPr>
              <a:t>question_3_next_steps.md</a:t>
            </a:r>
            <a:endParaRPr lang="en-US" sz="800" dirty="0"/>
          </a:p>
        </p:txBody>
      </p:sp>
      <p:sp>
        <p:nvSpPr>
          <p:cNvPr id="26" name="Text 23"/>
          <p:cNvSpPr/>
          <p:nvPr/>
        </p:nvSpPr>
        <p:spPr>
          <a:xfrm>
            <a:off x="644426" y="3698825"/>
            <a:ext cx="4698659" cy="142280"/>
          </a:xfrm>
          <a:prstGeom prst="rect">
            <a:avLst/>
          </a:prstGeom>
          <a:noFill/>
          <a:ln/>
        </p:spPr>
        <p:txBody>
          <a:bodyPr wrap="square" lIns="0" tIns="0" rIns="0" bIns="0" rtlCol="0" anchor="t"/>
          <a:lstStyle/>
          <a:p>
            <a:pPr algn="l" indent="0" marL="0">
              <a:lnSpc>
                <a:spcPts val="1120"/>
              </a:lnSpc>
              <a:buNone/>
            </a:pPr>
            <a:r>
              <a:rPr lang="en-US" sz="800" b="1" dirty="0">
                <a:solidFill>
                  <a:srgbClr val="00B4D8"/>
                </a:solidFill>
                <a:latin typeface="Courier New" pitchFamily="34" charset="0"/>
                <a:ea typeface="Courier New" pitchFamily="34" charset="-122"/>
                <a:cs typeface="Courier New" pitchFamily="34" charset="-120"/>
              </a:rPr>
              <a:t>data/</a:t>
            </a:r>
            <a:endParaRPr lang="en-US" sz="800" dirty="0"/>
          </a:p>
        </p:txBody>
      </p:sp>
      <p:sp>
        <p:nvSpPr>
          <p:cNvPr id="27" name="Text 24"/>
          <p:cNvSpPr/>
          <p:nvPr/>
        </p:nvSpPr>
        <p:spPr>
          <a:xfrm>
            <a:off x="644426" y="3841105"/>
            <a:ext cx="4698659" cy="142280"/>
          </a:xfrm>
          <a:prstGeom prst="rect">
            <a:avLst/>
          </a:prstGeom>
          <a:noFill/>
          <a:ln/>
        </p:spPr>
        <p:txBody>
          <a:bodyPr wrap="square" lIns="0" tIns="0" rIns="0" bIns="0" rtlCol="0" anchor="t"/>
          <a:lstStyle/>
          <a:p>
            <a:pPr algn="l" indent="0" marL="0">
              <a:lnSpc>
                <a:spcPts val="1120"/>
              </a:lnSpc>
              <a:buNone/>
            </a:pPr>
            <a:r>
              <a:rPr lang="en-US" sz="800" dirty="0">
                <a:solidFill>
                  <a:srgbClr val="CBD5E1"/>
                </a:solidFill>
                <a:latin typeface="Courier New" pitchFamily="34" charset="0"/>
                <a:ea typeface="Courier New" pitchFamily="34" charset="-122"/>
                <a:cs typeface="Courier New" pitchFamily="34" charset="-120"/>
              </a:rPr>
              <a:t>TRDataChallenge2023.txt</a:t>
            </a:r>
            <a:endParaRPr lang="en-US" sz="800" dirty="0"/>
          </a:p>
        </p:txBody>
      </p:sp>
      <p:sp>
        <p:nvSpPr>
          <p:cNvPr id="28" name="Text 25"/>
          <p:cNvSpPr/>
          <p:nvPr/>
        </p:nvSpPr>
        <p:spPr>
          <a:xfrm>
            <a:off x="644426" y="3983385"/>
            <a:ext cx="4698659" cy="142280"/>
          </a:xfrm>
          <a:prstGeom prst="rect">
            <a:avLst/>
          </a:prstGeom>
          <a:noFill/>
          <a:ln/>
        </p:spPr>
        <p:txBody>
          <a:bodyPr wrap="square" lIns="0" tIns="0" rIns="0" bIns="0" rtlCol="0" anchor="t"/>
          <a:lstStyle/>
          <a:p>
            <a:pPr algn="l" indent="0" marL="0">
              <a:lnSpc>
                <a:spcPts val="1120"/>
              </a:lnSpc>
              <a:buNone/>
            </a:pPr>
            <a:r>
              <a:rPr lang="en-US" sz="800" b="1" dirty="0">
                <a:solidFill>
                  <a:srgbClr val="00B4D8"/>
                </a:solidFill>
                <a:latin typeface="Courier New" pitchFamily="34" charset="0"/>
                <a:ea typeface="Courier New" pitchFamily="34" charset="-122"/>
                <a:cs typeface="Courier New" pitchFamily="34" charset="-120"/>
              </a:rPr>
              <a:t>outputs/</a:t>
            </a:r>
            <a:endParaRPr lang="en-US" sz="800" dirty="0"/>
          </a:p>
        </p:txBody>
      </p:sp>
      <p:sp>
        <p:nvSpPr>
          <p:cNvPr id="29" name="Text 26"/>
          <p:cNvSpPr/>
          <p:nvPr/>
        </p:nvSpPr>
        <p:spPr>
          <a:xfrm>
            <a:off x="644426" y="4125664"/>
            <a:ext cx="4698659" cy="142280"/>
          </a:xfrm>
          <a:prstGeom prst="rect">
            <a:avLst/>
          </a:prstGeom>
          <a:noFill/>
          <a:ln/>
        </p:spPr>
        <p:txBody>
          <a:bodyPr wrap="square" lIns="0" tIns="0" rIns="0" bIns="0" rtlCol="0" anchor="t"/>
          <a:lstStyle/>
          <a:p>
            <a:pPr algn="l" indent="0" marL="0">
              <a:lnSpc>
                <a:spcPts val="1120"/>
              </a:lnSpc>
              <a:buNone/>
            </a:pPr>
            <a:r>
              <a:rPr lang="en-US" sz="800" dirty="0">
                <a:solidFill>
                  <a:srgbClr val="CBD5E1"/>
                </a:solidFill>
                <a:latin typeface="Courier New" pitchFamily="34" charset="0"/>
                <a:ea typeface="Courier New" pitchFamily="34" charset="-122"/>
                <a:cs typeface="Courier New" pitchFamily="34" charset="-120"/>
              </a:rPr>
              <a:t>summaries/  (5,530 cached)</a:t>
            </a:r>
            <a:endParaRPr lang="en-US" sz="800" dirty="0"/>
          </a:p>
        </p:txBody>
      </p:sp>
      <p:sp>
        <p:nvSpPr>
          <p:cNvPr id="30" name="Text 27"/>
          <p:cNvSpPr/>
          <p:nvPr/>
        </p:nvSpPr>
        <p:spPr>
          <a:xfrm>
            <a:off x="644426" y="4267944"/>
            <a:ext cx="4698659" cy="142280"/>
          </a:xfrm>
          <a:prstGeom prst="rect">
            <a:avLst/>
          </a:prstGeom>
          <a:noFill/>
          <a:ln/>
        </p:spPr>
        <p:txBody>
          <a:bodyPr wrap="square" lIns="0" tIns="0" rIns="0" bIns="0" rtlCol="0" anchor="t"/>
          <a:lstStyle/>
          <a:p>
            <a:pPr algn="l" indent="0" marL="0">
              <a:lnSpc>
                <a:spcPts val="1120"/>
              </a:lnSpc>
              <a:buNone/>
            </a:pPr>
            <a:r>
              <a:rPr lang="en-US" sz="800" dirty="0">
                <a:solidFill>
                  <a:srgbClr val="CBD5E1"/>
                </a:solidFill>
                <a:latin typeface="Courier New" pitchFamily="34" charset="0"/>
                <a:ea typeface="Courier New" pitchFamily="34" charset="-122"/>
                <a:cs typeface="Courier New" pitchFamily="34" charset="-120"/>
              </a:rPr>
              <a:t>*_predictions.npz</a:t>
            </a:r>
            <a:endParaRPr lang="en-US" sz="800" dirty="0"/>
          </a:p>
        </p:txBody>
      </p:sp>
      <p:sp>
        <p:nvSpPr>
          <p:cNvPr id="31" name="Text 28"/>
          <p:cNvSpPr/>
          <p:nvPr/>
        </p:nvSpPr>
        <p:spPr>
          <a:xfrm>
            <a:off x="644426" y="4410224"/>
            <a:ext cx="4698659" cy="142280"/>
          </a:xfrm>
          <a:prstGeom prst="rect">
            <a:avLst/>
          </a:prstGeom>
          <a:noFill/>
          <a:ln/>
        </p:spPr>
        <p:txBody>
          <a:bodyPr wrap="square" lIns="0" tIns="0" rIns="0" bIns="0" rtlCol="0" anchor="t"/>
          <a:lstStyle/>
          <a:p>
            <a:pPr algn="l" indent="0" marL="0">
              <a:lnSpc>
                <a:spcPts val="1120"/>
              </a:lnSpc>
              <a:buNone/>
            </a:pPr>
            <a:r>
              <a:rPr lang="en-US" sz="800" dirty="0">
                <a:solidFill>
                  <a:srgbClr val="CBD5E1"/>
                </a:solidFill>
                <a:latin typeface="Courier New" pitchFamily="34" charset="0"/>
                <a:ea typeface="Courier New" pitchFamily="34" charset="-122"/>
                <a:cs typeface="Courier New" pitchFamily="34" charset="-120"/>
              </a:rPr>
              <a:t>*.history.json</a:t>
            </a:r>
            <a:endParaRPr lang="en-US" sz="800" dirty="0"/>
          </a:p>
        </p:txBody>
      </p:sp>
      <p:sp>
        <p:nvSpPr>
          <p:cNvPr id="32" name="Text 29"/>
          <p:cNvSpPr/>
          <p:nvPr/>
        </p:nvSpPr>
        <p:spPr>
          <a:xfrm>
            <a:off x="5615880" y="599926"/>
            <a:ext cx="3070920" cy="403027"/>
          </a:xfrm>
          <a:prstGeom prst="roundRect">
            <a:avLst>
              <a:gd name="adj" fmla="val 18907"/>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33" name="Text 30"/>
          <p:cNvSpPr/>
          <p:nvPr/>
        </p:nvSpPr>
        <p:spPr>
          <a:xfrm>
            <a:off x="5752356" y="660202"/>
            <a:ext cx="2853928" cy="142875"/>
          </a:xfrm>
          <a:prstGeom prst="rect">
            <a:avLst/>
          </a:prstGeom>
          <a:noFill/>
          <a:ln/>
        </p:spPr>
        <p:txBody>
          <a:bodyPr wrap="square" lIns="0" tIns="0" rIns="0" bIns="0" rtlCol="0" anchor="t"/>
          <a:lstStyle/>
          <a:p>
            <a:pPr algn="l" indent="0" marL="0">
              <a:spcAft>
                <a:spcPts val="200"/>
              </a:spcAft>
              <a:buNone/>
            </a:pPr>
            <a:r>
              <a:rPr lang="en-US" sz="950" b="1" dirty="0">
                <a:solidFill>
                  <a:srgbClr val="00B4D8"/>
                </a:solidFill>
                <a:latin typeface="Courier New" pitchFamily="34" charset="0"/>
                <a:ea typeface="Courier New" pitchFamily="34" charset="-122"/>
                <a:cs typeface="Courier New" pitchFamily="34" charset="-120"/>
              </a:rPr>
              <a:t>data_loader.py</a:t>
            </a:r>
            <a:endParaRPr lang="en-US" sz="950" dirty="0"/>
          </a:p>
        </p:txBody>
      </p:sp>
      <p:sp>
        <p:nvSpPr>
          <p:cNvPr id="34" name="Text 31"/>
          <p:cNvSpPr/>
          <p:nvPr/>
        </p:nvSpPr>
        <p:spPr>
          <a:xfrm>
            <a:off x="5752356" y="828377"/>
            <a:ext cx="2853928" cy="114300"/>
          </a:xfrm>
          <a:prstGeom prst="rect">
            <a:avLst/>
          </a:prstGeom>
          <a:noFill/>
          <a:ln/>
        </p:spPr>
        <p:txBody>
          <a:bodyPr wrap="square" lIns="0" tIns="0" rIns="0" bIns="0" rtlCol="0" anchor="t"/>
          <a:lstStyle/>
          <a:p>
            <a:pPr algn="l" indent="0" marL="0">
              <a:buNone/>
            </a:pPr>
            <a:r>
              <a:rPr lang="en-US" sz="850" dirty="0">
                <a:solidFill>
                  <a:srgbClr val="94A3B8"/>
                </a:solidFill>
                <a:latin typeface="Arial" pitchFamily="34" charset="0"/>
                <a:ea typeface="Arial" pitchFamily="34" charset="-122"/>
                <a:cs typeface="Arial" pitchFamily="34" charset="-120"/>
              </a:rPr>
              <a:t>Streaming JSON Lines parser</a:t>
            </a:r>
            <a:endParaRPr lang="en-US" sz="850" dirty="0"/>
          </a:p>
        </p:txBody>
      </p:sp>
      <p:sp>
        <p:nvSpPr>
          <p:cNvPr id="35" name="Text 32"/>
          <p:cNvSpPr/>
          <p:nvPr/>
        </p:nvSpPr>
        <p:spPr>
          <a:xfrm>
            <a:off x="5615880" y="1041053"/>
            <a:ext cx="3070920" cy="403027"/>
          </a:xfrm>
          <a:prstGeom prst="roundRect">
            <a:avLst>
              <a:gd name="adj" fmla="val 18907"/>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36" name="Text 33"/>
          <p:cNvSpPr/>
          <p:nvPr/>
        </p:nvSpPr>
        <p:spPr>
          <a:xfrm>
            <a:off x="5752356" y="1101328"/>
            <a:ext cx="2853928" cy="142875"/>
          </a:xfrm>
          <a:prstGeom prst="rect">
            <a:avLst/>
          </a:prstGeom>
          <a:noFill/>
          <a:ln/>
        </p:spPr>
        <p:txBody>
          <a:bodyPr wrap="square" lIns="0" tIns="0" rIns="0" bIns="0" rtlCol="0" anchor="t"/>
          <a:lstStyle/>
          <a:p>
            <a:pPr algn="l" indent="0" marL="0">
              <a:spcAft>
                <a:spcPts val="200"/>
              </a:spcAft>
              <a:buNone/>
            </a:pPr>
            <a:r>
              <a:rPr lang="en-US" sz="950" b="1" dirty="0">
                <a:solidFill>
                  <a:srgbClr val="00B4D8"/>
                </a:solidFill>
                <a:latin typeface="Courier New" pitchFamily="34" charset="0"/>
                <a:ea typeface="Courier New" pitchFamily="34" charset="-122"/>
                <a:cs typeface="Courier New" pitchFamily="34" charset="-120"/>
              </a:rPr>
              <a:t>data_analyzer.py</a:t>
            </a:r>
            <a:endParaRPr lang="en-US" sz="950" dirty="0"/>
          </a:p>
        </p:txBody>
      </p:sp>
      <p:sp>
        <p:nvSpPr>
          <p:cNvPr id="37" name="Text 34"/>
          <p:cNvSpPr/>
          <p:nvPr/>
        </p:nvSpPr>
        <p:spPr>
          <a:xfrm>
            <a:off x="5752356" y="1269504"/>
            <a:ext cx="2853928" cy="114300"/>
          </a:xfrm>
          <a:prstGeom prst="rect">
            <a:avLst/>
          </a:prstGeom>
          <a:noFill/>
          <a:ln/>
        </p:spPr>
        <p:txBody>
          <a:bodyPr wrap="square" lIns="0" tIns="0" rIns="0" bIns="0" rtlCol="0" anchor="t"/>
          <a:lstStyle/>
          <a:p>
            <a:pPr algn="l" indent="0" marL="0">
              <a:buNone/>
            </a:pPr>
            <a:r>
              <a:rPr lang="en-US" sz="850" dirty="0">
                <a:solidFill>
                  <a:srgbClr val="94A3B8"/>
                </a:solidFill>
                <a:latin typeface="Arial" pitchFamily="34" charset="0"/>
                <a:ea typeface="Arial" pitchFamily="34" charset="-122"/>
                <a:cs typeface="Arial" pitchFamily="34" charset="-120"/>
              </a:rPr>
              <a:t>DatasetAnalyzer, PostureTaxonomy</a:t>
            </a:r>
            <a:endParaRPr lang="en-US" sz="850" dirty="0"/>
          </a:p>
        </p:txBody>
      </p:sp>
      <p:sp>
        <p:nvSpPr>
          <p:cNvPr id="38" name="Text 35"/>
          <p:cNvSpPr/>
          <p:nvPr/>
        </p:nvSpPr>
        <p:spPr>
          <a:xfrm>
            <a:off x="5615880" y="1482179"/>
            <a:ext cx="3070920" cy="403027"/>
          </a:xfrm>
          <a:prstGeom prst="roundRect">
            <a:avLst>
              <a:gd name="adj" fmla="val 18907"/>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39" name="Text 36"/>
          <p:cNvSpPr/>
          <p:nvPr/>
        </p:nvSpPr>
        <p:spPr>
          <a:xfrm>
            <a:off x="5752356" y="1542455"/>
            <a:ext cx="2853928" cy="142875"/>
          </a:xfrm>
          <a:prstGeom prst="rect">
            <a:avLst/>
          </a:prstGeom>
          <a:noFill/>
          <a:ln/>
        </p:spPr>
        <p:txBody>
          <a:bodyPr wrap="square" lIns="0" tIns="0" rIns="0" bIns="0" rtlCol="0" anchor="t"/>
          <a:lstStyle/>
          <a:p>
            <a:pPr algn="l" indent="0" marL="0">
              <a:spcAft>
                <a:spcPts val="200"/>
              </a:spcAft>
              <a:buNone/>
            </a:pPr>
            <a:r>
              <a:rPr lang="en-US" sz="950" b="1" dirty="0">
                <a:solidFill>
                  <a:srgbClr val="00B4D8"/>
                </a:solidFill>
                <a:latin typeface="Courier New" pitchFamily="34" charset="0"/>
                <a:ea typeface="Courier New" pitchFamily="34" charset="-122"/>
                <a:cs typeface="Courier New" pitchFamily="34" charset="-120"/>
              </a:rPr>
              <a:t>model_trainer.py</a:t>
            </a:r>
            <a:endParaRPr lang="en-US" sz="950" dirty="0"/>
          </a:p>
        </p:txBody>
      </p:sp>
      <p:sp>
        <p:nvSpPr>
          <p:cNvPr id="40" name="Text 37"/>
          <p:cNvSpPr/>
          <p:nvPr/>
        </p:nvSpPr>
        <p:spPr>
          <a:xfrm>
            <a:off x="5752356" y="1710630"/>
            <a:ext cx="2853928" cy="114300"/>
          </a:xfrm>
          <a:prstGeom prst="rect">
            <a:avLst/>
          </a:prstGeom>
          <a:noFill/>
          <a:ln/>
        </p:spPr>
        <p:txBody>
          <a:bodyPr wrap="square" lIns="0" tIns="0" rIns="0" bIns="0" rtlCol="0" anchor="t"/>
          <a:lstStyle/>
          <a:p>
            <a:pPr algn="l" indent="0" marL="0">
              <a:buNone/>
            </a:pPr>
            <a:r>
              <a:rPr lang="en-US" sz="850" dirty="0">
                <a:solidFill>
                  <a:srgbClr val="94A3B8"/>
                </a:solidFill>
                <a:latin typeface="Arial" pitchFamily="34" charset="0"/>
                <a:ea typeface="Arial" pitchFamily="34" charset="-122"/>
                <a:cs typeface="Arial" pitchFamily="34" charset="-120"/>
              </a:rPr>
              <a:t>DataPreparer, BaselineTrainer</a:t>
            </a:r>
            <a:endParaRPr lang="en-US" sz="850" dirty="0"/>
          </a:p>
        </p:txBody>
      </p:sp>
      <p:sp>
        <p:nvSpPr>
          <p:cNvPr id="41" name="Text 38"/>
          <p:cNvSpPr/>
          <p:nvPr/>
        </p:nvSpPr>
        <p:spPr>
          <a:xfrm>
            <a:off x="5615880" y="1923306"/>
            <a:ext cx="3070920" cy="403027"/>
          </a:xfrm>
          <a:prstGeom prst="roundRect">
            <a:avLst>
              <a:gd name="adj" fmla="val 18907"/>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42" name="Text 39"/>
          <p:cNvSpPr/>
          <p:nvPr/>
        </p:nvSpPr>
        <p:spPr>
          <a:xfrm>
            <a:off x="5752356" y="1983581"/>
            <a:ext cx="2853928" cy="142875"/>
          </a:xfrm>
          <a:prstGeom prst="rect">
            <a:avLst/>
          </a:prstGeom>
          <a:noFill/>
          <a:ln/>
        </p:spPr>
        <p:txBody>
          <a:bodyPr wrap="square" lIns="0" tIns="0" rIns="0" bIns="0" rtlCol="0" anchor="t"/>
          <a:lstStyle/>
          <a:p>
            <a:pPr algn="l" indent="0" marL="0">
              <a:spcAft>
                <a:spcPts val="200"/>
              </a:spcAft>
              <a:buNone/>
            </a:pPr>
            <a:r>
              <a:rPr lang="en-US" sz="950" b="1" dirty="0">
                <a:solidFill>
                  <a:srgbClr val="00B4D8"/>
                </a:solidFill>
                <a:latin typeface="Courier New" pitchFamily="34" charset="0"/>
                <a:ea typeface="Courier New" pitchFamily="34" charset="-122"/>
                <a:cs typeface="Courier New" pitchFamily="34" charset="-120"/>
              </a:rPr>
              <a:t>model_evaluator.py</a:t>
            </a:r>
            <a:endParaRPr lang="en-US" sz="950" dirty="0"/>
          </a:p>
        </p:txBody>
      </p:sp>
      <p:sp>
        <p:nvSpPr>
          <p:cNvPr id="43" name="Text 40"/>
          <p:cNvSpPr/>
          <p:nvPr/>
        </p:nvSpPr>
        <p:spPr>
          <a:xfrm>
            <a:off x="5752356" y="2151757"/>
            <a:ext cx="2853928" cy="114300"/>
          </a:xfrm>
          <a:prstGeom prst="rect">
            <a:avLst/>
          </a:prstGeom>
          <a:noFill/>
          <a:ln/>
        </p:spPr>
        <p:txBody>
          <a:bodyPr wrap="square" lIns="0" tIns="0" rIns="0" bIns="0" rtlCol="0" anchor="t"/>
          <a:lstStyle/>
          <a:p>
            <a:pPr algn="l" indent="0" marL="0">
              <a:buNone/>
            </a:pPr>
            <a:r>
              <a:rPr lang="en-US" sz="850" dirty="0">
                <a:solidFill>
                  <a:srgbClr val="94A3B8"/>
                </a:solidFill>
                <a:latin typeface="Arial" pitchFamily="34" charset="0"/>
                <a:ea typeface="Arial" pitchFamily="34" charset="-122"/>
                <a:cs typeface="Arial" pitchFamily="34" charset="-120"/>
              </a:rPr>
              <a:t>MultiLabelEvaluator, Feasibility</a:t>
            </a:r>
            <a:endParaRPr lang="en-US" sz="850" dirty="0"/>
          </a:p>
        </p:txBody>
      </p:sp>
      <p:sp>
        <p:nvSpPr>
          <p:cNvPr id="44" name="Text 41"/>
          <p:cNvSpPr/>
          <p:nvPr/>
        </p:nvSpPr>
        <p:spPr>
          <a:xfrm>
            <a:off x="5615880" y="2364432"/>
            <a:ext cx="3070920" cy="403027"/>
          </a:xfrm>
          <a:prstGeom prst="roundRect">
            <a:avLst>
              <a:gd name="adj" fmla="val 18907"/>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45" name="Text 42"/>
          <p:cNvSpPr/>
          <p:nvPr/>
        </p:nvSpPr>
        <p:spPr>
          <a:xfrm>
            <a:off x="5752356" y="2424708"/>
            <a:ext cx="2853928" cy="142875"/>
          </a:xfrm>
          <a:prstGeom prst="rect">
            <a:avLst/>
          </a:prstGeom>
          <a:noFill/>
          <a:ln/>
        </p:spPr>
        <p:txBody>
          <a:bodyPr wrap="square" lIns="0" tIns="0" rIns="0" bIns="0" rtlCol="0" anchor="t"/>
          <a:lstStyle/>
          <a:p>
            <a:pPr algn="l" indent="0" marL="0">
              <a:spcAft>
                <a:spcPts val="200"/>
              </a:spcAft>
              <a:buNone/>
            </a:pPr>
            <a:r>
              <a:rPr lang="en-US" sz="950" b="1" dirty="0">
                <a:solidFill>
                  <a:srgbClr val="00B4D8"/>
                </a:solidFill>
                <a:latin typeface="Courier New" pitchFamily="34" charset="0"/>
                <a:ea typeface="Courier New" pitchFamily="34" charset="-122"/>
                <a:cs typeface="Courier New" pitchFamily="34" charset="-120"/>
              </a:rPr>
              <a:t>bert_trainer.py</a:t>
            </a:r>
            <a:endParaRPr lang="en-US" sz="950" dirty="0"/>
          </a:p>
        </p:txBody>
      </p:sp>
      <p:sp>
        <p:nvSpPr>
          <p:cNvPr id="46" name="Text 43"/>
          <p:cNvSpPr/>
          <p:nvPr/>
        </p:nvSpPr>
        <p:spPr>
          <a:xfrm>
            <a:off x="5752356" y="2592884"/>
            <a:ext cx="2853928" cy="114300"/>
          </a:xfrm>
          <a:prstGeom prst="rect">
            <a:avLst/>
          </a:prstGeom>
          <a:noFill/>
          <a:ln/>
        </p:spPr>
        <p:txBody>
          <a:bodyPr wrap="square" lIns="0" tIns="0" rIns="0" bIns="0" rtlCol="0" anchor="t"/>
          <a:lstStyle/>
          <a:p>
            <a:pPr algn="l" indent="0" marL="0">
              <a:buNone/>
            </a:pPr>
            <a:r>
              <a:rPr lang="en-US" sz="850" dirty="0">
                <a:solidFill>
                  <a:srgbClr val="94A3B8"/>
                </a:solidFill>
                <a:latin typeface="Arial" pitchFamily="34" charset="0"/>
                <a:ea typeface="Arial" pitchFamily="34" charset="-122"/>
                <a:cs typeface="Arial" pitchFamily="34" charset="-120"/>
              </a:rPr>
              <a:t>HybridLegalClassifier (7 classes)</a:t>
            </a:r>
            <a:endParaRPr lang="en-US" sz="850" dirty="0"/>
          </a:p>
        </p:txBody>
      </p:sp>
      <p:sp>
        <p:nvSpPr>
          <p:cNvPr id="47" name="Text 44"/>
          <p:cNvSpPr/>
          <p:nvPr/>
        </p:nvSpPr>
        <p:spPr>
          <a:xfrm>
            <a:off x="5615880" y="2805559"/>
            <a:ext cx="3070920" cy="403027"/>
          </a:xfrm>
          <a:prstGeom prst="roundRect">
            <a:avLst>
              <a:gd name="adj" fmla="val 18907"/>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48" name="Text 45"/>
          <p:cNvSpPr/>
          <p:nvPr/>
        </p:nvSpPr>
        <p:spPr>
          <a:xfrm>
            <a:off x="5752356" y="2865834"/>
            <a:ext cx="2853928" cy="142875"/>
          </a:xfrm>
          <a:prstGeom prst="rect">
            <a:avLst/>
          </a:prstGeom>
          <a:noFill/>
          <a:ln/>
        </p:spPr>
        <p:txBody>
          <a:bodyPr wrap="square" lIns="0" tIns="0" rIns="0" bIns="0" rtlCol="0" anchor="t"/>
          <a:lstStyle/>
          <a:p>
            <a:pPr algn="l" indent="0" marL="0">
              <a:spcAft>
                <a:spcPts val="200"/>
              </a:spcAft>
              <a:buNone/>
            </a:pPr>
            <a:r>
              <a:rPr lang="en-US" sz="950" b="1" dirty="0">
                <a:solidFill>
                  <a:srgbClr val="00B4D8"/>
                </a:solidFill>
                <a:latin typeface="Courier New" pitchFamily="34" charset="0"/>
                <a:ea typeface="Courier New" pitchFamily="34" charset="-122"/>
                <a:cs typeface="Courier New" pitchFamily="34" charset="-120"/>
              </a:rPr>
              <a:t>visualization.py</a:t>
            </a:r>
            <a:endParaRPr lang="en-US" sz="950" dirty="0"/>
          </a:p>
        </p:txBody>
      </p:sp>
      <p:sp>
        <p:nvSpPr>
          <p:cNvPr id="49" name="Text 46"/>
          <p:cNvSpPr/>
          <p:nvPr/>
        </p:nvSpPr>
        <p:spPr>
          <a:xfrm>
            <a:off x="5752356" y="3034010"/>
            <a:ext cx="2853928" cy="114300"/>
          </a:xfrm>
          <a:prstGeom prst="rect">
            <a:avLst/>
          </a:prstGeom>
          <a:noFill/>
          <a:ln/>
        </p:spPr>
        <p:txBody>
          <a:bodyPr wrap="square" lIns="0" tIns="0" rIns="0" bIns="0" rtlCol="0" anchor="t"/>
          <a:lstStyle/>
          <a:p>
            <a:pPr algn="l" indent="0" marL="0">
              <a:buNone/>
            </a:pPr>
            <a:r>
              <a:rPr lang="en-US" sz="850" dirty="0">
                <a:solidFill>
                  <a:srgbClr val="94A3B8"/>
                </a:solidFill>
                <a:latin typeface="Arial" pitchFamily="34" charset="0"/>
                <a:ea typeface="Arial" pitchFamily="34" charset="-122"/>
                <a:cs typeface="Arial" pitchFamily="34" charset="-120"/>
              </a:rPr>
              <a:t>Charts and distribution plots</a:t>
            </a:r>
            <a:endParaRPr lang="en-US" sz="850" dirty="0"/>
          </a:p>
        </p:txBody>
      </p:sp>
      <p:sp>
        <p:nvSpPr>
          <p:cNvPr id="50" name="Text 47"/>
          <p:cNvSpPr/>
          <p:nvPr/>
        </p:nvSpPr>
        <p:spPr>
          <a:xfrm>
            <a:off x="5615880" y="3259336"/>
            <a:ext cx="3070920" cy="419100"/>
          </a:xfrm>
          <a:prstGeom prst="rect">
            <a:avLst/>
          </a:prstGeom>
          <a:solidFill>
            <a:srgbClr val="00B4D8">
              <a:alpha val="8000"/>
            </a:srgbClr>
          </a:solidFill>
          <a:ln/>
        </p:spPr>
        <p:txBody>
          <a:bodyPr wrap="square" rtlCol="0" anchor="ctr"/>
          <a:lstStyle/>
          <a:p>
            <a:pPr indent="0" marL="0">
              <a:buNone/>
            </a:pPr>
            <a:endParaRPr lang="en-US" dirty="0"/>
          </a:p>
        </p:txBody>
      </p:sp>
      <p:sp>
        <p:nvSpPr>
          <p:cNvPr id="51" name="Shape 48"/>
          <p:cNvSpPr/>
          <p:nvPr/>
        </p:nvSpPr>
        <p:spPr>
          <a:xfrm>
            <a:off x="5639693" y="3259336"/>
            <a:ext cx="0" cy="419100"/>
          </a:xfrm>
          <a:prstGeom prst="line">
            <a:avLst/>
          </a:prstGeom>
          <a:noFill/>
          <a:ln w="47625">
            <a:solidFill>
              <a:srgbClr val="00B4D8"/>
            </a:solidFill>
            <a:prstDash val="solid"/>
          </a:ln>
        </p:spPr>
      </p:sp>
      <p:sp>
        <p:nvSpPr>
          <p:cNvPr id="52" name="Text 49"/>
          <p:cNvSpPr/>
          <p:nvPr/>
        </p:nvSpPr>
        <p:spPr>
          <a:xfrm>
            <a:off x="5790456" y="3335536"/>
            <a:ext cx="2824782" cy="266700"/>
          </a:xfrm>
          <a:prstGeom prst="rect">
            <a:avLst/>
          </a:prstGeom>
          <a:noFill/>
          <a:ln/>
        </p:spPr>
        <p:txBody>
          <a:bodyPr wrap="square" lIns="0" tIns="0" rIns="0" bIns="0" rtlCol="0" anchor="t"/>
          <a:lstStyle/>
          <a:p>
            <a:pPr algn="l" indent="0" marL="0">
              <a:buNone/>
            </a:pPr>
            <a:r>
              <a:rPr lang="en-US" sz="950" b="1" dirty="0">
                <a:solidFill>
                  <a:srgbClr val="E2E8F0"/>
                </a:solidFill>
                <a:latin typeface="Arial" pitchFamily="34" charset="0"/>
                <a:ea typeface="Arial" pitchFamily="34" charset="-122"/>
                <a:cs typeface="Arial" pitchFamily="34" charset="-120"/>
              </a:rPr>
              <a:t>Principle:</a:t>
            </a:r>
            <a:pPr algn="l" indent="0" marL="0">
              <a:buNone/>
            </a:pPr>
            <a:r>
              <a:rPr lang="en-US" sz="950" dirty="0">
                <a:solidFill>
                  <a:srgbClr val="E2E8F0"/>
                </a:solidFill>
                <a:latin typeface="Arial" pitchFamily="34" charset="0"/>
                <a:ea typeface="Arial" pitchFamily="34" charset="-122"/>
                <a:cs typeface="Arial" pitchFamily="34" charset="-120"/>
              </a:rPr>
              <a:t> All logic in src/ modules. Notebooks are clean, concise wrappers.</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Users/alessandrodibari/Ale/projects/TR_hiring_exercise/outputs/pptx_workspace/slides/accent_teal.png">    </p:cNvPr>
          <p:cNvPicPr>
            <a:picLocks noChangeAspect="1"/>
          </p:cNvPicPr>
          <p:nvPr/>
        </p:nvPicPr>
        <p:blipFill>
          <a:blip r:embed="rId2"/>
          <a:stretch>
            <a:fillRect/>
          </a:stretch>
        </p:blipFill>
        <p:spPr>
          <a:xfrm>
            <a:off x="0" y="0"/>
            <a:ext cx="9144000" cy="50750"/>
          </a:xfrm>
          <a:prstGeom prst="rect">
            <a:avLst/>
          </a:prstGeom>
        </p:spPr>
      </p:pic>
      <p:sp>
        <p:nvSpPr>
          <p:cNvPr id="3" name="Text 0"/>
          <p:cNvSpPr/>
          <p:nvPr/>
        </p:nvSpPr>
        <p:spPr>
          <a:xfrm>
            <a:off x="457200" y="355550"/>
            <a:ext cx="8394192" cy="323850"/>
          </a:xfrm>
          <a:prstGeom prst="rect">
            <a:avLst/>
          </a:prstGeom>
          <a:noFill/>
          <a:ln/>
        </p:spPr>
        <p:txBody>
          <a:bodyPr wrap="square" lIns="0" tIns="0" rIns="0" bIns="0" rtlCol="0" anchor="t"/>
          <a:lstStyle/>
          <a:p>
            <a:pPr algn="l" indent="0" marL="0">
              <a:buNone/>
            </a:pPr>
            <a:r>
              <a:rPr lang="en-US" sz="2200" b="1" dirty="0">
                <a:solidFill>
                  <a:srgbClr val="00B4D8"/>
                </a:solidFill>
                <a:latin typeface="Arial" pitchFamily="34" charset="0"/>
                <a:ea typeface="Arial" pitchFamily="34" charset="-122"/>
                <a:cs typeface="Arial" pitchFamily="34" charset="-120"/>
              </a:rPr>
              <a:t>Key Design Decisions</a:t>
            </a:r>
            <a:endParaRPr lang="en-US" sz="2200" dirty="0"/>
          </a:p>
        </p:txBody>
      </p:sp>
      <p:sp>
        <p:nvSpPr>
          <p:cNvPr id="4" name="Text 1"/>
          <p:cNvSpPr/>
          <p:nvPr/>
        </p:nvSpPr>
        <p:spPr>
          <a:xfrm>
            <a:off x="457200" y="857101"/>
            <a:ext cx="8394192" cy="133350"/>
          </a:xfrm>
          <a:prstGeom prst="rect">
            <a:avLst/>
          </a:prstGeom>
          <a:noFill/>
          <a:ln/>
        </p:spPr>
        <p:txBody>
          <a:bodyPr wrap="square" lIns="0" tIns="0" rIns="0" bIns="0" rtlCol="0" anchor="t"/>
          <a:lstStyle/>
          <a:p>
            <a:pPr algn="l" indent="0" marL="0">
              <a:spcAft>
                <a:spcPts val="600"/>
              </a:spcAft>
              <a:buNone/>
            </a:pPr>
            <a:r>
              <a:rPr lang="en-US" sz="900" dirty="0">
                <a:solidFill>
                  <a:srgbClr val="94A3B8"/>
                </a:solidFill>
                <a:latin typeface="Arial" pitchFamily="34" charset="0"/>
                <a:ea typeface="Arial" pitchFamily="34" charset="-122"/>
                <a:cs typeface="Arial" pitchFamily="34" charset="-120"/>
              </a:rPr>
              <a:t>MODULAR PIPELINE</a:t>
            </a:r>
            <a:endParaRPr lang="en-US" sz="900" dirty="0"/>
          </a:p>
        </p:txBody>
      </p:sp>
      <p:sp>
        <p:nvSpPr>
          <p:cNvPr id="5" name="Text 2"/>
          <p:cNvSpPr/>
          <p:nvPr/>
        </p:nvSpPr>
        <p:spPr>
          <a:xfrm>
            <a:off x="457200" y="1066651"/>
            <a:ext cx="1022449" cy="364927"/>
          </a:xfrm>
          <a:prstGeom prst="roundRect">
            <a:avLst>
              <a:gd name="adj" fmla="val 20881"/>
            </a:avLst>
          </a:prstGeom>
          <a:solidFill>
            <a:srgbClr val="00B4D8">
              <a:alpha val="12000"/>
            </a:srgbClr>
          </a:solidFill>
          <a:ln w="9525">
            <a:solidFill>
              <a:srgbClr val="00B4D8"/>
            </a:solidFill>
          </a:ln>
        </p:spPr>
        <p:txBody>
          <a:bodyPr wrap="square" rtlCol="0" anchor="ctr"/>
          <a:lstStyle/>
          <a:p>
            <a:pPr indent="0" marL="0">
              <a:buNone/>
            </a:pPr>
            <a:endParaRPr lang="en-US" dirty="0"/>
          </a:p>
        </p:txBody>
      </p:sp>
      <p:sp>
        <p:nvSpPr>
          <p:cNvPr id="6" name="Text 3"/>
          <p:cNvSpPr/>
          <p:nvPr/>
        </p:nvSpPr>
        <p:spPr>
          <a:xfrm>
            <a:off x="612139" y="1177677"/>
            <a:ext cx="712571" cy="142875"/>
          </a:xfrm>
          <a:prstGeom prst="rect">
            <a:avLst/>
          </a:prstGeom>
          <a:noFill/>
          <a:ln/>
        </p:spPr>
        <p:txBody>
          <a:bodyPr wrap="square" lIns="0" tIns="0" rIns="0" bIns="0" rtlCol="0" anchor="t"/>
          <a:lstStyle/>
          <a:p>
            <a:pPr algn="ctr" indent="0" marL="0">
              <a:buNone/>
            </a:pPr>
            <a:r>
              <a:rPr lang="en-US" sz="1000" b="1" dirty="0">
                <a:solidFill>
                  <a:srgbClr val="00B4D8"/>
                </a:solidFill>
                <a:latin typeface="Arial" pitchFamily="34" charset="0"/>
                <a:ea typeface="Arial" pitchFamily="34" charset="-122"/>
                <a:cs typeface="Arial" pitchFamily="34" charset="-120"/>
              </a:rPr>
              <a:t>DataLoader</a:t>
            </a:r>
            <a:endParaRPr lang="en-US" sz="1000" dirty="0"/>
          </a:p>
        </p:txBody>
      </p:sp>
      <p:sp>
        <p:nvSpPr>
          <p:cNvPr id="7" name="Text 4"/>
          <p:cNvSpPr/>
          <p:nvPr/>
        </p:nvSpPr>
        <p:spPr>
          <a:xfrm>
            <a:off x="1555849" y="1144339"/>
            <a:ext cx="166378" cy="209550"/>
          </a:xfrm>
          <a:prstGeom prst="rect">
            <a:avLst/>
          </a:prstGeom>
          <a:noFill/>
          <a:ln/>
        </p:spPr>
        <p:txBody>
          <a:bodyPr wrap="square" lIns="0" tIns="0" rIns="0" bIns="0" rtlCol="0" anchor="t"/>
          <a:lstStyle/>
          <a:p>
            <a:pPr algn="l" indent="0" marL="0">
              <a:buNone/>
            </a:pPr>
            <a:r>
              <a:rPr lang="en-US" sz="1400" dirty="0">
                <a:solidFill>
                  <a:srgbClr val="64748B"/>
                </a:solidFill>
                <a:latin typeface="Arial" pitchFamily="34" charset="0"/>
                <a:ea typeface="Arial" pitchFamily="34" charset="-122"/>
                <a:cs typeface="Arial" pitchFamily="34" charset="-120"/>
              </a:rPr>
              <a:t>-&gt;</a:t>
            </a:r>
            <a:endParaRPr lang="en-US" sz="1400" dirty="0"/>
          </a:p>
        </p:txBody>
      </p:sp>
      <p:sp>
        <p:nvSpPr>
          <p:cNvPr id="8" name="Text 5"/>
          <p:cNvSpPr/>
          <p:nvPr/>
        </p:nvSpPr>
        <p:spPr>
          <a:xfrm>
            <a:off x="1795165" y="1066651"/>
            <a:ext cx="1121420" cy="364927"/>
          </a:xfrm>
          <a:prstGeom prst="roundRect">
            <a:avLst>
              <a:gd name="adj" fmla="val 20881"/>
            </a:avLst>
          </a:prstGeom>
          <a:solidFill>
            <a:srgbClr val="00B4D8">
              <a:alpha val="12000"/>
            </a:srgbClr>
          </a:solidFill>
          <a:ln w="9525">
            <a:solidFill>
              <a:srgbClr val="00B4D8"/>
            </a:solidFill>
          </a:ln>
        </p:spPr>
        <p:txBody>
          <a:bodyPr wrap="square" rtlCol="0" anchor="ctr"/>
          <a:lstStyle/>
          <a:p>
            <a:pPr indent="0" marL="0">
              <a:buNone/>
            </a:pPr>
            <a:endParaRPr lang="en-US" dirty="0"/>
          </a:p>
        </p:txBody>
      </p:sp>
      <p:sp>
        <p:nvSpPr>
          <p:cNvPr id="9" name="Text 6"/>
          <p:cNvSpPr/>
          <p:nvPr/>
        </p:nvSpPr>
        <p:spPr>
          <a:xfrm>
            <a:off x="1949114" y="1177677"/>
            <a:ext cx="813521" cy="142875"/>
          </a:xfrm>
          <a:prstGeom prst="rect">
            <a:avLst/>
          </a:prstGeom>
          <a:noFill/>
          <a:ln/>
        </p:spPr>
        <p:txBody>
          <a:bodyPr wrap="square" lIns="0" tIns="0" rIns="0" bIns="0" rtlCol="0" anchor="t"/>
          <a:lstStyle/>
          <a:p>
            <a:pPr algn="ctr" indent="0" marL="0">
              <a:buNone/>
            </a:pPr>
            <a:r>
              <a:rPr lang="en-US" sz="1000" b="1" dirty="0">
                <a:solidFill>
                  <a:srgbClr val="00B4D8"/>
                </a:solidFill>
                <a:latin typeface="Arial" pitchFamily="34" charset="0"/>
                <a:ea typeface="Arial" pitchFamily="34" charset="-122"/>
                <a:cs typeface="Arial" pitchFamily="34" charset="-120"/>
              </a:rPr>
              <a:t>DataPreparer</a:t>
            </a:r>
            <a:endParaRPr lang="en-US" sz="1000" dirty="0"/>
          </a:p>
        </p:txBody>
      </p:sp>
      <p:sp>
        <p:nvSpPr>
          <p:cNvPr id="10" name="Text 7"/>
          <p:cNvSpPr/>
          <p:nvPr/>
        </p:nvSpPr>
        <p:spPr>
          <a:xfrm>
            <a:off x="2992785" y="1144339"/>
            <a:ext cx="166378" cy="209550"/>
          </a:xfrm>
          <a:prstGeom prst="rect">
            <a:avLst/>
          </a:prstGeom>
          <a:noFill/>
          <a:ln/>
        </p:spPr>
        <p:txBody>
          <a:bodyPr wrap="square" lIns="0" tIns="0" rIns="0" bIns="0" rtlCol="0" anchor="t"/>
          <a:lstStyle/>
          <a:p>
            <a:pPr algn="l" indent="0" marL="0">
              <a:buNone/>
            </a:pPr>
            <a:r>
              <a:rPr lang="en-US" sz="1400" dirty="0">
                <a:solidFill>
                  <a:srgbClr val="64748B"/>
                </a:solidFill>
                <a:latin typeface="Arial" pitchFamily="34" charset="0"/>
                <a:ea typeface="Arial" pitchFamily="34" charset="-122"/>
                <a:cs typeface="Arial" pitchFamily="34" charset="-120"/>
              </a:rPr>
              <a:t>-&gt;</a:t>
            </a:r>
            <a:endParaRPr lang="en-US" sz="1400" dirty="0"/>
          </a:p>
        </p:txBody>
      </p:sp>
      <p:sp>
        <p:nvSpPr>
          <p:cNvPr id="11" name="Text 8"/>
          <p:cNvSpPr/>
          <p:nvPr/>
        </p:nvSpPr>
        <p:spPr>
          <a:xfrm>
            <a:off x="3232100" y="1066651"/>
            <a:ext cx="747415" cy="364927"/>
          </a:xfrm>
          <a:prstGeom prst="roundRect">
            <a:avLst>
              <a:gd name="adj" fmla="val 20881"/>
            </a:avLst>
          </a:prstGeom>
          <a:solidFill>
            <a:srgbClr val="00B4D8">
              <a:alpha val="12000"/>
            </a:srgbClr>
          </a:solidFill>
          <a:ln w="9525">
            <a:solidFill>
              <a:srgbClr val="00B4D8"/>
            </a:solidFill>
          </a:ln>
        </p:spPr>
        <p:txBody>
          <a:bodyPr wrap="square" rtlCol="0" anchor="ctr"/>
          <a:lstStyle/>
          <a:p>
            <a:pPr indent="0" marL="0">
              <a:buNone/>
            </a:pPr>
            <a:endParaRPr lang="en-US" dirty="0"/>
          </a:p>
        </p:txBody>
      </p:sp>
      <p:sp>
        <p:nvSpPr>
          <p:cNvPr id="12" name="Text 9"/>
          <p:cNvSpPr/>
          <p:nvPr/>
        </p:nvSpPr>
        <p:spPr>
          <a:xfrm>
            <a:off x="3389790" y="1177677"/>
            <a:ext cx="432036" cy="142875"/>
          </a:xfrm>
          <a:prstGeom prst="rect">
            <a:avLst/>
          </a:prstGeom>
          <a:noFill/>
          <a:ln/>
        </p:spPr>
        <p:txBody>
          <a:bodyPr wrap="square" lIns="0" tIns="0" rIns="0" bIns="0" rtlCol="0" anchor="t"/>
          <a:lstStyle/>
          <a:p>
            <a:pPr algn="ctr" indent="0" marL="0">
              <a:buNone/>
            </a:pPr>
            <a:r>
              <a:rPr lang="en-US" sz="1000" b="1" dirty="0">
                <a:solidFill>
                  <a:srgbClr val="00B4D8"/>
                </a:solidFill>
                <a:latin typeface="Arial" pitchFamily="34" charset="0"/>
                <a:ea typeface="Arial" pitchFamily="34" charset="-122"/>
                <a:cs typeface="Arial" pitchFamily="34" charset="-120"/>
              </a:rPr>
              <a:t>Trainer</a:t>
            </a:r>
            <a:endParaRPr lang="en-US" sz="1000" dirty="0"/>
          </a:p>
        </p:txBody>
      </p:sp>
      <p:sp>
        <p:nvSpPr>
          <p:cNvPr id="13" name="Text 10"/>
          <p:cNvSpPr/>
          <p:nvPr/>
        </p:nvSpPr>
        <p:spPr>
          <a:xfrm>
            <a:off x="4055715" y="1144339"/>
            <a:ext cx="166378" cy="209550"/>
          </a:xfrm>
          <a:prstGeom prst="rect">
            <a:avLst/>
          </a:prstGeom>
          <a:noFill/>
          <a:ln/>
        </p:spPr>
        <p:txBody>
          <a:bodyPr wrap="square" lIns="0" tIns="0" rIns="0" bIns="0" rtlCol="0" anchor="t"/>
          <a:lstStyle/>
          <a:p>
            <a:pPr algn="l" indent="0" marL="0">
              <a:buNone/>
            </a:pPr>
            <a:r>
              <a:rPr lang="en-US" sz="1400" dirty="0">
                <a:solidFill>
                  <a:srgbClr val="64748B"/>
                </a:solidFill>
                <a:latin typeface="Arial" pitchFamily="34" charset="0"/>
                <a:ea typeface="Arial" pitchFamily="34" charset="-122"/>
                <a:cs typeface="Arial" pitchFamily="34" charset="-120"/>
              </a:rPr>
              <a:t>-&gt;</a:t>
            </a:r>
            <a:endParaRPr lang="en-US" sz="1400" dirty="0"/>
          </a:p>
        </p:txBody>
      </p:sp>
      <p:sp>
        <p:nvSpPr>
          <p:cNvPr id="14" name="Text 11"/>
          <p:cNvSpPr/>
          <p:nvPr/>
        </p:nvSpPr>
        <p:spPr>
          <a:xfrm>
            <a:off x="4295031" y="1066651"/>
            <a:ext cx="902494" cy="364927"/>
          </a:xfrm>
          <a:prstGeom prst="roundRect">
            <a:avLst>
              <a:gd name="adj" fmla="val 20881"/>
            </a:avLst>
          </a:prstGeom>
          <a:solidFill>
            <a:srgbClr val="00B4D8">
              <a:alpha val="12000"/>
            </a:srgbClr>
          </a:solidFill>
          <a:ln w="9525">
            <a:solidFill>
              <a:srgbClr val="00B4D8"/>
            </a:solidFill>
          </a:ln>
        </p:spPr>
        <p:txBody>
          <a:bodyPr wrap="square" rtlCol="0" anchor="ctr"/>
          <a:lstStyle/>
          <a:p>
            <a:pPr indent="0" marL="0">
              <a:buNone/>
            </a:pPr>
            <a:endParaRPr lang="en-US" dirty="0"/>
          </a:p>
        </p:txBody>
      </p:sp>
      <p:sp>
        <p:nvSpPr>
          <p:cNvPr id="15" name="Text 12"/>
          <p:cNvSpPr/>
          <p:nvPr/>
        </p:nvSpPr>
        <p:spPr>
          <a:xfrm>
            <a:off x="4451169" y="1177677"/>
            <a:ext cx="590217" cy="142875"/>
          </a:xfrm>
          <a:prstGeom prst="rect">
            <a:avLst/>
          </a:prstGeom>
          <a:noFill/>
          <a:ln/>
        </p:spPr>
        <p:txBody>
          <a:bodyPr wrap="square" lIns="0" tIns="0" rIns="0" bIns="0" rtlCol="0" anchor="t"/>
          <a:lstStyle/>
          <a:p>
            <a:pPr algn="ctr" indent="0" marL="0">
              <a:buNone/>
            </a:pPr>
            <a:r>
              <a:rPr lang="en-US" sz="1000" b="1" dirty="0">
                <a:solidFill>
                  <a:srgbClr val="00B4D8"/>
                </a:solidFill>
                <a:latin typeface="Arial" pitchFamily="34" charset="0"/>
                <a:ea typeface="Arial" pitchFamily="34" charset="-122"/>
                <a:cs typeface="Arial" pitchFamily="34" charset="-120"/>
              </a:rPr>
              <a:t>Evaluator</a:t>
            </a:r>
            <a:endParaRPr lang="en-US" sz="1000" dirty="0"/>
          </a:p>
        </p:txBody>
      </p:sp>
      <p:sp>
        <p:nvSpPr>
          <p:cNvPr id="16" name="Text 13"/>
          <p:cNvSpPr/>
          <p:nvPr/>
        </p:nvSpPr>
        <p:spPr>
          <a:xfrm>
            <a:off x="5273725" y="1144339"/>
            <a:ext cx="166378" cy="209550"/>
          </a:xfrm>
          <a:prstGeom prst="rect">
            <a:avLst/>
          </a:prstGeom>
          <a:noFill/>
          <a:ln/>
        </p:spPr>
        <p:txBody>
          <a:bodyPr wrap="square" lIns="0" tIns="0" rIns="0" bIns="0" rtlCol="0" anchor="t"/>
          <a:lstStyle/>
          <a:p>
            <a:pPr algn="l" indent="0" marL="0">
              <a:buNone/>
            </a:pPr>
            <a:r>
              <a:rPr lang="en-US" sz="1400" dirty="0">
                <a:solidFill>
                  <a:srgbClr val="64748B"/>
                </a:solidFill>
                <a:latin typeface="Arial" pitchFamily="34" charset="0"/>
                <a:ea typeface="Arial" pitchFamily="34" charset="-122"/>
                <a:cs typeface="Arial" pitchFamily="34" charset="-120"/>
              </a:rPr>
              <a:t>-&gt;</a:t>
            </a:r>
            <a:endParaRPr lang="en-US" sz="1400" dirty="0"/>
          </a:p>
        </p:txBody>
      </p:sp>
      <p:sp>
        <p:nvSpPr>
          <p:cNvPr id="17" name="Text 14"/>
          <p:cNvSpPr/>
          <p:nvPr/>
        </p:nvSpPr>
        <p:spPr>
          <a:xfrm>
            <a:off x="5513040" y="1066651"/>
            <a:ext cx="944910" cy="364927"/>
          </a:xfrm>
          <a:prstGeom prst="roundRect">
            <a:avLst>
              <a:gd name="adj" fmla="val 20881"/>
            </a:avLst>
          </a:prstGeom>
          <a:solidFill>
            <a:srgbClr val="00B4D8">
              <a:alpha val="12000"/>
            </a:srgbClr>
          </a:solidFill>
          <a:ln w="9525">
            <a:solidFill>
              <a:srgbClr val="00B4D8"/>
            </a:solidFill>
          </a:ln>
        </p:spPr>
        <p:txBody>
          <a:bodyPr wrap="square" rtlCol="0" anchor="ctr"/>
          <a:lstStyle/>
          <a:p>
            <a:pPr indent="0" marL="0">
              <a:buNone/>
            </a:pPr>
            <a:endParaRPr lang="en-US" dirty="0"/>
          </a:p>
        </p:txBody>
      </p:sp>
      <p:sp>
        <p:nvSpPr>
          <p:cNvPr id="18" name="Text 15"/>
          <p:cNvSpPr/>
          <p:nvPr/>
        </p:nvSpPr>
        <p:spPr>
          <a:xfrm>
            <a:off x="5668755" y="1177677"/>
            <a:ext cx="633481" cy="142875"/>
          </a:xfrm>
          <a:prstGeom prst="rect">
            <a:avLst/>
          </a:prstGeom>
          <a:noFill/>
          <a:ln/>
        </p:spPr>
        <p:txBody>
          <a:bodyPr wrap="square" lIns="0" tIns="0" rIns="0" bIns="0" rtlCol="0" anchor="t"/>
          <a:lstStyle/>
          <a:p>
            <a:pPr algn="ctr" indent="0" marL="0">
              <a:buNone/>
            </a:pPr>
            <a:r>
              <a:rPr lang="en-US" sz="1000" b="1" dirty="0">
                <a:solidFill>
                  <a:srgbClr val="00B4D8"/>
                </a:solidFill>
                <a:latin typeface="Arial" pitchFamily="34" charset="0"/>
                <a:ea typeface="Arial" pitchFamily="34" charset="-122"/>
                <a:cs typeface="Arial" pitchFamily="34" charset="-120"/>
              </a:rPr>
              <a:t>Feasibility</a:t>
            </a:r>
            <a:endParaRPr lang="en-US" sz="1000" dirty="0"/>
          </a:p>
        </p:txBody>
      </p:sp>
      <p:sp>
        <p:nvSpPr>
          <p:cNvPr id="19" name="Text 16"/>
          <p:cNvSpPr/>
          <p:nvPr/>
        </p:nvSpPr>
        <p:spPr>
          <a:xfrm>
            <a:off x="457200" y="1634728"/>
            <a:ext cx="8394192" cy="133350"/>
          </a:xfrm>
          <a:prstGeom prst="rect">
            <a:avLst/>
          </a:prstGeom>
          <a:noFill/>
          <a:ln/>
        </p:spPr>
        <p:txBody>
          <a:bodyPr wrap="square" lIns="0" tIns="0" rIns="0" bIns="0" rtlCol="0" anchor="t"/>
          <a:lstStyle/>
          <a:p>
            <a:pPr algn="l" indent="0" marL="0">
              <a:spcAft>
                <a:spcPts val="800"/>
              </a:spcAft>
              <a:buNone/>
            </a:pPr>
            <a:r>
              <a:rPr lang="en-US" sz="900" dirty="0">
                <a:solidFill>
                  <a:srgbClr val="94A3B8"/>
                </a:solidFill>
                <a:latin typeface="Arial" pitchFamily="34" charset="0"/>
                <a:ea typeface="Arial" pitchFamily="34" charset="-122"/>
                <a:cs typeface="Arial" pitchFamily="34" charset="-120"/>
              </a:rPr>
              <a:t>KEY COMPONENTS</a:t>
            </a:r>
            <a:endParaRPr lang="en-US" sz="900" dirty="0"/>
          </a:p>
        </p:txBody>
      </p:sp>
      <p:sp>
        <p:nvSpPr>
          <p:cNvPr id="20" name="Text 17"/>
          <p:cNvSpPr/>
          <p:nvPr/>
        </p:nvSpPr>
        <p:spPr>
          <a:xfrm>
            <a:off x="457200" y="1869579"/>
            <a:ext cx="1943100" cy="1441103"/>
          </a:xfrm>
          <a:prstGeom prst="roundRect">
            <a:avLst>
              <a:gd name="adj" fmla="val 5288"/>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21" name="Text 18"/>
          <p:cNvSpPr/>
          <p:nvPr/>
        </p:nvSpPr>
        <p:spPr>
          <a:xfrm>
            <a:off x="619125" y="2006054"/>
            <a:ext cx="1651635" cy="177701"/>
          </a:xfrm>
          <a:prstGeom prst="rect">
            <a:avLst/>
          </a:prstGeom>
          <a:noFill/>
          <a:ln/>
        </p:spPr>
        <p:txBody>
          <a:bodyPr wrap="square" lIns="0" tIns="0" rIns="0" bIns="0" rtlCol="0" anchor="t"/>
          <a:lstStyle/>
          <a:p>
            <a:pPr algn="l" indent="0" marL="0">
              <a:lnSpc>
                <a:spcPts val="1400"/>
              </a:lnSpc>
              <a:spcAft>
                <a:spcPts val="600"/>
              </a:spcAft>
              <a:buNone/>
            </a:pPr>
            <a:r>
              <a:rPr lang="en-US" sz="1000" b="1" dirty="0">
                <a:solidFill>
                  <a:srgbClr val="E2E8F0"/>
                </a:solidFill>
                <a:latin typeface="Arial" pitchFamily="34" charset="0"/>
                <a:ea typeface="Arial" pitchFamily="34" charset="-122"/>
                <a:cs typeface="Arial" pitchFamily="34" charset="-120"/>
              </a:rPr>
              <a:t>HybridLegalClassifier</a:t>
            </a:r>
            <a:endParaRPr lang="en-US" sz="1000" dirty="0"/>
          </a:p>
        </p:txBody>
      </p:sp>
      <p:sp>
        <p:nvSpPr>
          <p:cNvPr id="22" name="Text 19"/>
          <p:cNvSpPr/>
          <p:nvPr/>
        </p:nvSpPr>
        <p:spPr>
          <a:xfrm>
            <a:off x="619125" y="2259955"/>
            <a:ext cx="1651635" cy="319980"/>
          </a:xfrm>
          <a:prstGeom prst="rect">
            <a:avLst/>
          </a:prstGeom>
          <a:noFill/>
          <a:ln/>
        </p:spPr>
        <p:txBody>
          <a:bodyPr wrap="square" lIns="0" tIns="0" rIns="0" bIns="0" rtlCol="0" anchor="t"/>
          <a:lstStyle/>
          <a:p>
            <a:pPr algn="l" indent="0" marL="0">
              <a:lnSpc>
                <a:spcPts val="1260"/>
              </a:lnSpc>
              <a:spcAft>
                <a:spcPts val="300"/>
              </a:spcAft>
              <a:buNone/>
            </a:pPr>
            <a:r>
              <a:rPr lang="en-US" sz="900" dirty="0">
                <a:solidFill>
                  <a:srgbClr val="94A3B8"/>
                </a:solidFill>
                <a:latin typeface="Arial" pitchFamily="34" charset="0"/>
                <a:ea typeface="Arial" pitchFamily="34" charset="-122"/>
                <a:cs typeface="Arial" pitchFamily="34" charset="-120"/>
              </a:rPr>
              <a:t>Orchestrates summarize + classify</a:t>
            </a:r>
            <a:endParaRPr lang="en-US" sz="900" dirty="0"/>
          </a:p>
        </p:txBody>
      </p:sp>
      <p:sp>
        <p:nvSpPr>
          <p:cNvPr id="23" name="Text 20"/>
          <p:cNvSpPr/>
          <p:nvPr/>
        </p:nvSpPr>
        <p:spPr>
          <a:xfrm>
            <a:off x="619125" y="2618036"/>
            <a:ext cx="1651635" cy="159990"/>
          </a:xfrm>
          <a:prstGeom prst="rect">
            <a:avLst/>
          </a:prstGeom>
          <a:noFill/>
          <a:ln/>
        </p:spPr>
        <p:txBody>
          <a:bodyPr wrap="square" lIns="0" tIns="0" rIns="0" bIns="0" rtlCol="0" anchor="t"/>
          <a:lstStyle/>
          <a:p>
            <a:pPr algn="l" indent="0" marL="0">
              <a:lnSpc>
                <a:spcPts val="1260"/>
              </a:lnSpc>
              <a:spcAft>
                <a:spcPts val="300"/>
              </a:spcAft>
              <a:buNone/>
            </a:pPr>
            <a:r>
              <a:rPr lang="en-US" sz="900" dirty="0">
                <a:solidFill>
                  <a:srgbClr val="94A3B8"/>
                </a:solidFill>
                <a:latin typeface="Arial" pitchFamily="34" charset="0"/>
                <a:ea typeface="Arial" pitchFamily="34" charset="-122"/>
                <a:cs typeface="Arial" pitchFamily="34" charset="-120"/>
              </a:rPr>
              <a:t>Routes docs by token length</a:t>
            </a:r>
            <a:endParaRPr lang="en-US" sz="900" dirty="0"/>
          </a:p>
        </p:txBody>
      </p:sp>
      <p:sp>
        <p:nvSpPr>
          <p:cNvPr id="24" name="Text 21"/>
          <p:cNvSpPr/>
          <p:nvPr/>
        </p:nvSpPr>
        <p:spPr>
          <a:xfrm>
            <a:off x="619125" y="2816126"/>
            <a:ext cx="1651635" cy="319980"/>
          </a:xfrm>
          <a:prstGeom prst="rect">
            <a:avLst/>
          </a:prstGeom>
          <a:noFill/>
          <a:ln/>
        </p:spPr>
        <p:txBody>
          <a:bodyPr wrap="square" lIns="0" tIns="0" rIns="0" bIns="0" rtlCol="0" anchor="t"/>
          <a:lstStyle/>
          <a:p>
            <a:pPr algn="l" indent="0" marL="0">
              <a:lnSpc>
                <a:spcPts val="1260"/>
              </a:lnSpc>
              <a:spcAft>
                <a:spcPts val="300"/>
              </a:spcAft>
              <a:buNone/>
            </a:pPr>
            <a:r>
              <a:rPr lang="en-US" sz="900" dirty="0">
                <a:solidFill>
                  <a:srgbClr val="94A3B8"/>
                </a:solidFill>
                <a:latin typeface="Arial" pitchFamily="34" charset="0"/>
                <a:ea typeface="Arial" pitchFamily="34" charset="-122"/>
                <a:cs typeface="Arial" pitchFamily="34" charset="-120"/>
              </a:rPr>
              <a:t>Handles preprocessing transparently</a:t>
            </a:r>
            <a:endParaRPr lang="en-US" sz="900" dirty="0"/>
          </a:p>
        </p:txBody>
      </p:sp>
      <p:sp>
        <p:nvSpPr>
          <p:cNvPr id="25" name="Text 22"/>
          <p:cNvSpPr/>
          <p:nvPr/>
        </p:nvSpPr>
        <p:spPr>
          <a:xfrm>
            <a:off x="2552700" y="1869579"/>
            <a:ext cx="1943100" cy="1441103"/>
          </a:xfrm>
          <a:prstGeom prst="roundRect">
            <a:avLst>
              <a:gd name="adj" fmla="val 5288"/>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26" name="Text 23"/>
          <p:cNvSpPr/>
          <p:nvPr/>
        </p:nvSpPr>
        <p:spPr>
          <a:xfrm>
            <a:off x="2714625" y="2006054"/>
            <a:ext cx="1651635" cy="177701"/>
          </a:xfrm>
          <a:prstGeom prst="rect">
            <a:avLst/>
          </a:prstGeom>
          <a:noFill/>
          <a:ln/>
        </p:spPr>
        <p:txBody>
          <a:bodyPr wrap="square" lIns="0" tIns="0" rIns="0" bIns="0" rtlCol="0" anchor="t"/>
          <a:lstStyle/>
          <a:p>
            <a:pPr algn="l" indent="0" marL="0">
              <a:lnSpc>
                <a:spcPts val="1400"/>
              </a:lnSpc>
              <a:spcAft>
                <a:spcPts val="600"/>
              </a:spcAft>
              <a:buNone/>
            </a:pPr>
            <a:r>
              <a:rPr lang="en-US" sz="1000" b="1" dirty="0">
                <a:solidFill>
                  <a:srgbClr val="E2E8F0"/>
                </a:solidFill>
                <a:latin typeface="Arial" pitchFamily="34" charset="0"/>
                <a:ea typeface="Arial" pitchFamily="34" charset="-122"/>
                <a:cs typeface="Arial" pitchFamily="34" charset="-120"/>
              </a:rPr>
              <a:t>SummaryCache</a:t>
            </a:r>
            <a:endParaRPr lang="en-US" sz="1000" dirty="0"/>
          </a:p>
        </p:txBody>
      </p:sp>
      <p:sp>
        <p:nvSpPr>
          <p:cNvPr id="27" name="Text 24"/>
          <p:cNvSpPr/>
          <p:nvPr/>
        </p:nvSpPr>
        <p:spPr>
          <a:xfrm>
            <a:off x="2714625" y="2259955"/>
            <a:ext cx="1651635" cy="159990"/>
          </a:xfrm>
          <a:prstGeom prst="rect">
            <a:avLst/>
          </a:prstGeom>
          <a:noFill/>
          <a:ln/>
        </p:spPr>
        <p:txBody>
          <a:bodyPr wrap="square" lIns="0" tIns="0" rIns="0" bIns="0" rtlCol="0" anchor="t"/>
          <a:lstStyle/>
          <a:p>
            <a:pPr algn="l" indent="0" marL="0">
              <a:lnSpc>
                <a:spcPts val="1260"/>
              </a:lnSpc>
              <a:spcAft>
                <a:spcPts val="300"/>
              </a:spcAft>
              <a:buNone/>
            </a:pPr>
            <a:r>
              <a:rPr lang="en-US" sz="900" dirty="0">
                <a:solidFill>
                  <a:srgbClr val="94A3B8"/>
                </a:solidFill>
                <a:latin typeface="Arial" pitchFamily="34" charset="0"/>
                <a:ea typeface="Arial" pitchFamily="34" charset="-122"/>
                <a:cs typeface="Arial" pitchFamily="34" charset="-120"/>
              </a:rPr>
              <a:t>Disk cache for LED summaries</a:t>
            </a:r>
            <a:endParaRPr lang="en-US" sz="900" dirty="0"/>
          </a:p>
        </p:txBody>
      </p:sp>
      <p:sp>
        <p:nvSpPr>
          <p:cNvPr id="28" name="Text 25"/>
          <p:cNvSpPr/>
          <p:nvPr/>
        </p:nvSpPr>
        <p:spPr>
          <a:xfrm>
            <a:off x="2714625" y="2458045"/>
            <a:ext cx="1651635" cy="159990"/>
          </a:xfrm>
          <a:prstGeom prst="rect">
            <a:avLst/>
          </a:prstGeom>
          <a:noFill/>
          <a:ln/>
        </p:spPr>
        <p:txBody>
          <a:bodyPr wrap="square" lIns="0" tIns="0" rIns="0" bIns="0" rtlCol="0" anchor="t"/>
          <a:lstStyle/>
          <a:p>
            <a:pPr algn="l" indent="0" marL="0">
              <a:lnSpc>
                <a:spcPts val="1260"/>
              </a:lnSpc>
              <a:spcAft>
                <a:spcPts val="300"/>
              </a:spcAft>
              <a:buNone/>
            </a:pPr>
            <a:r>
              <a:rPr lang="en-US" sz="900" dirty="0">
                <a:solidFill>
                  <a:srgbClr val="94A3B8"/>
                </a:solidFill>
                <a:latin typeface="Arial" pitchFamily="34" charset="0"/>
                <a:ea typeface="Arial" pitchFamily="34" charset="-122"/>
                <a:cs typeface="Arial" pitchFamily="34" charset="-120"/>
              </a:rPr>
              <a:t>Hash-based deduplication</a:t>
            </a:r>
            <a:endParaRPr lang="en-US" sz="900" dirty="0"/>
          </a:p>
        </p:txBody>
      </p:sp>
      <p:sp>
        <p:nvSpPr>
          <p:cNvPr id="29" name="Text 26"/>
          <p:cNvSpPr/>
          <p:nvPr/>
        </p:nvSpPr>
        <p:spPr>
          <a:xfrm>
            <a:off x="2714625" y="2656136"/>
            <a:ext cx="1651635" cy="159990"/>
          </a:xfrm>
          <a:prstGeom prst="rect">
            <a:avLst/>
          </a:prstGeom>
          <a:noFill/>
          <a:ln/>
        </p:spPr>
        <p:txBody>
          <a:bodyPr wrap="square" lIns="0" tIns="0" rIns="0" bIns="0" rtlCol="0" anchor="t"/>
          <a:lstStyle/>
          <a:p>
            <a:pPr algn="l" indent="0" marL="0">
              <a:lnSpc>
                <a:spcPts val="1260"/>
              </a:lnSpc>
              <a:spcAft>
                <a:spcPts val="300"/>
              </a:spcAft>
              <a:buNone/>
            </a:pPr>
            <a:r>
              <a:rPr lang="en-US" sz="900" dirty="0">
                <a:solidFill>
                  <a:srgbClr val="94A3B8"/>
                </a:solidFill>
                <a:latin typeface="Arial" pitchFamily="34" charset="0"/>
                <a:ea typeface="Arial" pitchFamily="34" charset="-122"/>
                <a:cs typeface="Arial" pitchFamily="34" charset="-120"/>
              </a:rPr>
              <a:t>5,530 cached summaries</a:t>
            </a:r>
            <a:endParaRPr lang="en-US" sz="900" dirty="0"/>
          </a:p>
        </p:txBody>
      </p:sp>
      <p:sp>
        <p:nvSpPr>
          <p:cNvPr id="30" name="Text 27"/>
          <p:cNvSpPr/>
          <p:nvPr/>
        </p:nvSpPr>
        <p:spPr>
          <a:xfrm>
            <a:off x="4648200" y="1869579"/>
            <a:ext cx="1943100" cy="1441103"/>
          </a:xfrm>
          <a:prstGeom prst="roundRect">
            <a:avLst>
              <a:gd name="adj" fmla="val 5288"/>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31" name="Text 28"/>
          <p:cNvSpPr/>
          <p:nvPr/>
        </p:nvSpPr>
        <p:spPr>
          <a:xfrm>
            <a:off x="4810125" y="2006054"/>
            <a:ext cx="1651635" cy="177701"/>
          </a:xfrm>
          <a:prstGeom prst="rect">
            <a:avLst/>
          </a:prstGeom>
          <a:noFill/>
          <a:ln/>
        </p:spPr>
        <p:txBody>
          <a:bodyPr wrap="square" lIns="0" tIns="0" rIns="0" bIns="0" rtlCol="0" anchor="t"/>
          <a:lstStyle/>
          <a:p>
            <a:pPr algn="l" indent="0" marL="0">
              <a:lnSpc>
                <a:spcPts val="1400"/>
              </a:lnSpc>
              <a:spcAft>
                <a:spcPts val="600"/>
              </a:spcAft>
              <a:buNone/>
            </a:pPr>
            <a:r>
              <a:rPr lang="en-US" sz="1000" b="1" dirty="0">
                <a:solidFill>
                  <a:srgbClr val="E2E8F0"/>
                </a:solidFill>
                <a:latin typeface="Arial" pitchFamily="34" charset="0"/>
                <a:ea typeface="Arial" pitchFamily="34" charset="-122"/>
                <a:cs typeface="Arial" pitchFamily="34" charset="-120"/>
              </a:rPr>
              <a:t>DeviceManager</a:t>
            </a:r>
            <a:endParaRPr lang="en-US" sz="1000" dirty="0"/>
          </a:p>
        </p:txBody>
      </p:sp>
      <p:sp>
        <p:nvSpPr>
          <p:cNvPr id="32" name="Text 29"/>
          <p:cNvSpPr/>
          <p:nvPr/>
        </p:nvSpPr>
        <p:spPr>
          <a:xfrm>
            <a:off x="4810125" y="2259955"/>
            <a:ext cx="1651635" cy="159990"/>
          </a:xfrm>
          <a:prstGeom prst="rect">
            <a:avLst/>
          </a:prstGeom>
          <a:noFill/>
          <a:ln/>
        </p:spPr>
        <p:txBody>
          <a:bodyPr wrap="square" lIns="0" tIns="0" rIns="0" bIns="0" rtlCol="0" anchor="t"/>
          <a:lstStyle/>
          <a:p>
            <a:pPr algn="l" indent="0" marL="0">
              <a:lnSpc>
                <a:spcPts val="1260"/>
              </a:lnSpc>
              <a:spcAft>
                <a:spcPts val="300"/>
              </a:spcAft>
              <a:buNone/>
            </a:pPr>
            <a:r>
              <a:rPr lang="en-US" sz="900" dirty="0">
                <a:solidFill>
                  <a:srgbClr val="94A3B8"/>
                </a:solidFill>
                <a:latin typeface="Arial" pitchFamily="34" charset="0"/>
                <a:ea typeface="Arial" pitchFamily="34" charset="-122"/>
                <a:cs typeface="Arial" pitchFamily="34" charset="-120"/>
              </a:rPr>
              <a:t>Auto-detect CUDA / MPS / CPU</a:t>
            </a:r>
            <a:endParaRPr lang="en-US" sz="900" dirty="0"/>
          </a:p>
        </p:txBody>
      </p:sp>
      <p:sp>
        <p:nvSpPr>
          <p:cNvPr id="33" name="Text 30"/>
          <p:cNvSpPr/>
          <p:nvPr/>
        </p:nvSpPr>
        <p:spPr>
          <a:xfrm>
            <a:off x="4810125" y="2458045"/>
            <a:ext cx="1651635" cy="159990"/>
          </a:xfrm>
          <a:prstGeom prst="rect">
            <a:avLst/>
          </a:prstGeom>
          <a:noFill/>
          <a:ln/>
        </p:spPr>
        <p:txBody>
          <a:bodyPr wrap="square" lIns="0" tIns="0" rIns="0" bIns="0" rtlCol="0" anchor="t"/>
          <a:lstStyle/>
          <a:p>
            <a:pPr algn="l" indent="0" marL="0">
              <a:lnSpc>
                <a:spcPts val="1260"/>
              </a:lnSpc>
              <a:spcAft>
                <a:spcPts val="300"/>
              </a:spcAft>
              <a:buNone/>
            </a:pPr>
            <a:r>
              <a:rPr lang="en-US" sz="900" dirty="0">
                <a:solidFill>
                  <a:srgbClr val="94A3B8"/>
                </a:solidFill>
                <a:latin typeface="Arial" pitchFamily="34" charset="0"/>
                <a:ea typeface="Arial" pitchFamily="34" charset="-122"/>
                <a:cs typeface="Arial" pitchFamily="34" charset="-120"/>
              </a:rPr>
              <a:t>Transparent device handling</a:t>
            </a:r>
            <a:endParaRPr lang="en-US" sz="900" dirty="0"/>
          </a:p>
        </p:txBody>
      </p:sp>
      <p:sp>
        <p:nvSpPr>
          <p:cNvPr id="34" name="Text 31"/>
          <p:cNvSpPr/>
          <p:nvPr/>
        </p:nvSpPr>
        <p:spPr>
          <a:xfrm>
            <a:off x="4810125" y="2656136"/>
            <a:ext cx="1651635" cy="159990"/>
          </a:xfrm>
          <a:prstGeom prst="rect">
            <a:avLst/>
          </a:prstGeom>
          <a:noFill/>
          <a:ln/>
        </p:spPr>
        <p:txBody>
          <a:bodyPr wrap="square" lIns="0" tIns="0" rIns="0" bIns="0" rtlCol="0" anchor="t"/>
          <a:lstStyle/>
          <a:p>
            <a:pPr algn="l" indent="0" marL="0">
              <a:lnSpc>
                <a:spcPts val="1260"/>
              </a:lnSpc>
              <a:spcAft>
                <a:spcPts val="300"/>
              </a:spcAft>
              <a:buNone/>
            </a:pPr>
            <a:r>
              <a:rPr lang="en-US" sz="900" dirty="0">
                <a:solidFill>
                  <a:srgbClr val="94A3B8"/>
                </a:solidFill>
                <a:latin typeface="Arial" pitchFamily="34" charset="0"/>
                <a:ea typeface="Arial" pitchFamily="34" charset="-122"/>
                <a:cs typeface="Arial" pitchFamily="34" charset="-120"/>
              </a:rPr>
              <a:t>MPS batch size optimization</a:t>
            </a:r>
            <a:endParaRPr lang="en-US" sz="900" dirty="0"/>
          </a:p>
        </p:txBody>
      </p:sp>
      <p:sp>
        <p:nvSpPr>
          <p:cNvPr id="35" name="Text 32"/>
          <p:cNvSpPr/>
          <p:nvPr/>
        </p:nvSpPr>
        <p:spPr>
          <a:xfrm>
            <a:off x="6743700" y="1869579"/>
            <a:ext cx="1943100" cy="1441103"/>
          </a:xfrm>
          <a:prstGeom prst="roundRect">
            <a:avLst>
              <a:gd name="adj" fmla="val 5288"/>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36" name="Text 33"/>
          <p:cNvSpPr/>
          <p:nvPr/>
        </p:nvSpPr>
        <p:spPr>
          <a:xfrm>
            <a:off x="6905625" y="2006054"/>
            <a:ext cx="1651635" cy="177701"/>
          </a:xfrm>
          <a:prstGeom prst="rect">
            <a:avLst/>
          </a:prstGeom>
          <a:noFill/>
          <a:ln/>
        </p:spPr>
        <p:txBody>
          <a:bodyPr wrap="square" lIns="0" tIns="0" rIns="0" bIns="0" rtlCol="0" anchor="t"/>
          <a:lstStyle/>
          <a:p>
            <a:pPr algn="l" indent="0" marL="0">
              <a:lnSpc>
                <a:spcPts val="1400"/>
              </a:lnSpc>
              <a:spcAft>
                <a:spcPts val="600"/>
              </a:spcAft>
              <a:buNone/>
            </a:pPr>
            <a:r>
              <a:rPr lang="en-US" sz="1000" b="1" dirty="0">
                <a:solidFill>
                  <a:srgbClr val="E2E8F0"/>
                </a:solidFill>
                <a:latin typeface="Arial" pitchFamily="34" charset="0"/>
                <a:ea typeface="Arial" pitchFamily="34" charset="-122"/>
                <a:cs typeface="Arial" pitchFamily="34" charset="-120"/>
              </a:rPr>
              <a:t>MultiLabelEvaluator</a:t>
            </a:r>
            <a:endParaRPr lang="en-US" sz="1000" dirty="0"/>
          </a:p>
        </p:txBody>
      </p:sp>
      <p:sp>
        <p:nvSpPr>
          <p:cNvPr id="37" name="Text 34"/>
          <p:cNvSpPr/>
          <p:nvPr/>
        </p:nvSpPr>
        <p:spPr>
          <a:xfrm>
            <a:off x="6905625" y="2259955"/>
            <a:ext cx="1651635" cy="319980"/>
          </a:xfrm>
          <a:prstGeom prst="rect">
            <a:avLst/>
          </a:prstGeom>
          <a:noFill/>
          <a:ln/>
        </p:spPr>
        <p:txBody>
          <a:bodyPr wrap="square" lIns="0" tIns="0" rIns="0" bIns="0" rtlCol="0" anchor="t"/>
          <a:lstStyle/>
          <a:p>
            <a:pPr algn="l" indent="0" marL="0">
              <a:lnSpc>
                <a:spcPts val="1260"/>
              </a:lnSpc>
              <a:spcAft>
                <a:spcPts val="300"/>
              </a:spcAft>
              <a:buNone/>
            </a:pPr>
            <a:r>
              <a:rPr lang="en-US" sz="900" dirty="0">
                <a:solidFill>
                  <a:srgbClr val="94A3B8"/>
                </a:solidFill>
                <a:latin typeface="Arial" pitchFamily="34" charset="0"/>
                <a:ea typeface="Arial" pitchFamily="34" charset="-122"/>
                <a:cs typeface="Arial" pitchFamily="34" charset="-120"/>
              </a:rPr>
              <a:t>Per-class and aggregate metrics</a:t>
            </a:r>
            <a:endParaRPr lang="en-US" sz="900" dirty="0"/>
          </a:p>
        </p:txBody>
      </p:sp>
      <p:sp>
        <p:nvSpPr>
          <p:cNvPr id="38" name="Text 35"/>
          <p:cNvSpPr/>
          <p:nvPr/>
        </p:nvSpPr>
        <p:spPr>
          <a:xfrm>
            <a:off x="6905625" y="2618036"/>
            <a:ext cx="1651635" cy="319980"/>
          </a:xfrm>
          <a:prstGeom prst="rect">
            <a:avLst/>
          </a:prstGeom>
          <a:noFill/>
          <a:ln/>
        </p:spPr>
        <p:txBody>
          <a:bodyPr wrap="square" lIns="0" tIns="0" rIns="0" bIns="0" rtlCol="0" anchor="t"/>
          <a:lstStyle/>
          <a:p>
            <a:pPr algn="l" indent="0" marL="0">
              <a:lnSpc>
                <a:spcPts val="1260"/>
              </a:lnSpc>
              <a:spcAft>
                <a:spcPts val="300"/>
              </a:spcAft>
              <a:buNone/>
            </a:pPr>
            <a:r>
              <a:rPr lang="en-US" sz="900" dirty="0">
                <a:solidFill>
                  <a:srgbClr val="94A3B8"/>
                </a:solidFill>
                <a:latin typeface="Arial" pitchFamily="34" charset="0"/>
                <a:ea typeface="Arial" pitchFamily="34" charset="-122"/>
                <a:cs typeface="Arial" pitchFamily="34" charset="-120"/>
              </a:rPr>
              <a:t>Feasibility analysis vs human kappa</a:t>
            </a:r>
            <a:endParaRPr lang="en-US" sz="900" dirty="0"/>
          </a:p>
        </p:txBody>
      </p:sp>
      <p:sp>
        <p:nvSpPr>
          <p:cNvPr id="39" name="Text 36"/>
          <p:cNvSpPr/>
          <p:nvPr/>
        </p:nvSpPr>
        <p:spPr>
          <a:xfrm>
            <a:off x="6905625" y="2976116"/>
            <a:ext cx="1651635" cy="159990"/>
          </a:xfrm>
          <a:prstGeom prst="rect">
            <a:avLst/>
          </a:prstGeom>
          <a:noFill/>
          <a:ln/>
        </p:spPr>
        <p:txBody>
          <a:bodyPr wrap="square" lIns="0" tIns="0" rIns="0" bIns="0" rtlCol="0" anchor="t"/>
          <a:lstStyle/>
          <a:p>
            <a:pPr algn="l" indent="0" marL="0">
              <a:lnSpc>
                <a:spcPts val="1260"/>
              </a:lnSpc>
              <a:spcAft>
                <a:spcPts val="300"/>
              </a:spcAft>
              <a:buNone/>
            </a:pPr>
            <a:r>
              <a:rPr lang="en-US" sz="900" dirty="0">
                <a:solidFill>
                  <a:srgbClr val="94A3B8"/>
                </a:solidFill>
                <a:latin typeface="Arial" pitchFamily="34" charset="0"/>
                <a:ea typeface="Arial" pitchFamily="34" charset="-122"/>
                <a:cs typeface="Arial" pitchFamily="34" charset="-120"/>
              </a:rPr>
              <a:t>Threshold optimization</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62000" y="1881336"/>
            <a:ext cx="7772400" cy="171450"/>
          </a:xfrm>
          <a:prstGeom prst="rect">
            <a:avLst/>
          </a:prstGeom>
          <a:noFill/>
          <a:ln/>
        </p:spPr>
        <p:txBody>
          <a:bodyPr wrap="square" lIns="0" tIns="0" rIns="0" bIns="0" rtlCol="0" anchor="t"/>
          <a:lstStyle/>
          <a:p>
            <a:pPr algn="l" indent="0" marL="0">
              <a:spcAft>
                <a:spcPts val="800"/>
              </a:spcAft>
              <a:buNone/>
            </a:pPr>
            <a:r>
              <a:rPr lang="en-US" sz="1200" dirty="0">
                <a:solidFill>
                  <a:srgbClr val="00B4D8"/>
                </a:solidFill>
                <a:latin typeface="Arial" pitchFamily="34" charset="0"/>
                <a:ea typeface="Arial" pitchFamily="34" charset="-122"/>
                <a:cs typeface="Arial" pitchFamily="34" charset="-120"/>
              </a:rPr>
              <a:t>SECTION 4</a:t>
            </a:r>
            <a:endParaRPr lang="en-US" sz="1200" dirty="0"/>
          </a:p>
        </p:txBody>
      </p:sp>
      <p:sp>
        <p:nvSpPr>
          <p:cNvPr id="3" name="Text 1"/>
          <p:cNvSpPr/>
          <p:nvPr/>
        </p:nvSpPr>
        <p:spPr>
          <a:xfrm>
            <a:off x="762000" y="2154287"/>
            <a:ext cx="7772400" cy="466725"/>
          </a:xfrm>
          <a:prstGeom prst="rect">
            <a:avLst/>
          </a:prstGeom>
          <a:noFill/>
          <a:ln/>
        </p:spPr>
        <p:txBody>
          <a:bodyPr wrap="square" lIns="0" tIns="0" rIns="0" bIns="0" rtlCol="0" anchor="t"/>
          <a:lstStyle/>
          <a:p>
            <a:pPr algn="l" indent="0" marL="0">
              <a:spcAft>
                <a:spcPts val="1200"/>
              </a:spcAft>
              <a:buNone/>
            </a:pPr>
            <a:r>
              <a:rPr lang="en-US" sz="3200" b="1" dirty="0">
                <a:solidFill>
                  <a:srgbClr val="FFFFFF"/>
                </a:solidFill>
                <a:latin typeface="Arial" pitchFamily="34" charset="0"/>
                <a:ea typeface="Arial" pitchFamily="34" charset="-122"/>
                <a:cs typeface="Arial" pitchFamily="34" charset="-120"/>
              </a:rPr>
              <a:t>Evaluation &amp; Results</a:t>
            </a:r>
            <a:endParaRPr lang="en-US" sz="3200" dirty="0"/>
          </a:p>
        </p:txBody>
      </p:sp>
      <p:pic>
        <p:nvPicPr>
          <p:cNvPr id="4" name="Image 0" descr="/Users/alessandrodibari/Ale/projects/TR_hiring_exercise/outputs/pptx_workspace/slides/accent_orange.png">    </p:cNvPr>
          <p:cNvPicPr>
            <a:picLocks noChangeAspect="1"/>
          </p:cNvPicPr>
          <p:nvPr/>
        </p:nvPicPr>
        <p:blipFill>
          <a:blip r:embed="rId2"/>
          <a:stretch>
            <a:fillRect/>
          </a:stretch>
        </p:blipFill>
        <p:spPr>
          <a:xfrm>
            <a:off x="762000" y="2868662"/>
            <a:ext cx="762000" cy="38100"/>
          </a:xfrm>
          <a:prstGeom prst="rect">
            <a:avLst/>
          </a:prstGeom>
        </p:spPr>
      </p:pic>
      <p:sp>
        <p:nvSpPr>
          <p:cNvPr id="5" name="Text 2"/>
          <p:cNvSpPr/>
          <p:nvPr/>
        </p:nvSpPr>
        <p:spPr>
          <a:xfrm>
            <a:off x="762000" y="3014663"/>
            <a:ext cx="7772400" cy="247501"/>
          </a:xfrm>
          <a:prstGeom prst="rect">
            <a:avLst/>
          </a:prstGeom>
          <a:noFill/>
          <a:ln/>
        </p:spPr>
        <p:txBody>
          <a:bodyPr wrap="square" lIns="0" tIns="0" rIns="0" bIns="0" rtlCol="0" anchor="t"/>
          <a:lstStyle/>
          <a:p>
            <a:pPr algn="l" indent="0" marL="0">
              <a:lnSpc>
                <a:spcPts val="1950"/>
              </a:lnSpc>
              <a:buNone/>
            </a:pPr>
            <a:r>
              <a:rPr lang="en-US" sz="1300" dirty="0">
                <a:solidFill>
                  <a:srgbClr val="94A3B8"/>
                </a:solidFill>
                <a:latin typeface="Arial" pitchFamily="34" charset="0"/>
                <a:ea typeface="Arial" pitchFamily="34" charset="-122"/>
                <a:cs typeface="Arial" pitchFamily="34" charset="-120"/>
              </a:rPr>
              <a:t>Honest characterization of model performance</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Users/alessandrodibari/Ale/projects/TR_hiring_exercise/outputs/pptx_workspace/slides/accent_teal.png">    </p:cNvPr>
          <p:cNvPicPr>
            <a:picLocks noChangeAspect="1"/>
          </p:cNvPicPr>
          <p:nvPr/>
        </p:nvPicPr>
        <p:blipFill>
          <a:blip r:embed="rId2"/>
          <a:stretch>
            <a:fillRect/>
          </a:stretch>
        </p:blipFill>
        <p:spPr>
          <a:xfrm>
            <a:off x="0" y="0"/>
            <a:ext cx="9144000" cy="50750"/>
          </a:xfrm>
          <a:prstGeom prst="rect">
            <a:avLst/>
          </a:prstGeom>
        </p:spPr>
      </p:pic>
      <p:sp>
        <p:nvSpPr>
          <p:cNvPr id="3" name="Text 0"/>
          <p:cNvSpPr/>
          <p:nvPr/>
        </p:nvSpPr>
        <p:spPr>
          <a:xfrm>
            <a:off x="457200" y="355550"/>
            <a:ext cx="8394192" cy="323850"/>
          </a:xfrm>
          <a:prstGeom prst="rect">
            <a:avLst/>
          </a:prstGeom>
          <a:noFill/>
          <a:ln/>
        </p:spPr>
        <p:txBody>
          <a:bodyPr wrap="square" lIns="0" tIns="0" rIns="0" bIns="0" rtlCol="0" anchor="t"/>
          <a:lstStyle/>
          <a:p>
            <a:pPr algn="l" indent="0" marL="0">
              <a:buNone/>
            </a:pPr>
            <a:r>
              <a:rPr lang="en-US" sz="2200" b="1" dirty="0">
                <a:solidFill>
                  <a:srgbClr val="00B4D8"/>
                </a:solidFill>
                <a:latin typeface="Arial" pitchFamily="34" charset="0"/>
                <a:ea typeface="Arial" pitchFamily="34" charset="-122"/>
                <a:cs typeface="Arial" pitchFamily="34" charset="-120"/>
              </a:rPr>
              <a:t>Baseline Results (TF-IDF)</a:t>
            </a:r>
            <a:endParaRPr lang="en-US" sz="2200" dirty="0"/>
          </a:p>
        </p:txBody>
      </p:sp>
      <p:sp>
        <p:nvSpPr>
          <p:cNvPr id="4" name="Text 1"/>
          <p:cNvSpPr/>
          <p:nvPr/>
        </p:nvSpPr>
        <p:spPr>
          <a:xfrm>
            <a:off x="457200" y="857101"/>
            <a:ext cx="4067607" cy="159990"/>
          </a:xfrm>
          <a:prstGeom prst="rect">
            <a:avLst/>
          </a:prstGeom>
          <a:noFill/>
          <a:ln/>
        </p:spPr>
        <p:txBody>
          <a:bodyPr wrap="square" lIns="0" tIns="0" rIns="0" bIns="0" rtlCol="0" anchor="t"/>
          <a:lstStyle/>
          <a:p>
            <a:pPr algn="l" indent="0" marL="0">
              <a:lnSpc>
                <a:spcPts val="1260"/>
              </a:lnSpc>
              <a:spcAft>
                <a:spcPts val="600"/>
              </a:spcAft>
              <a:buNone/>
            </a:pPr>
            <a:r>
              <a:rPr lang="en-US" sz="900" dirty="0">
                <a:solidFill>
                  <a:srgbClr val="94A3B8"/>
                </a:solidFill>
                <a:latin typeface="Arial" pitchFamily="34" charset="0"/>
                <a:ea typeface="Arial" pitchFamily="34" charset="-122"/>
                <a:cs typeface="Arial" pitchFamily="34" charset="-120"/>
              </a:rPr>
              <a:t>OVERALL METRICS</a:t>
            </a:r>
            <a:endParaRPr lang="en-US" sz="900" dirty="0"/>
          </a:p>
        </p:txBody>
      </p:sp>
      <p:sp>
        <p:nvSpPr>
          <p:cNvPr id="5" name="Text 2"/>
          <p:cNvSpPr/>
          <p:nvPr/>
        </p:nvSpPr>
        <p:spPr>
          <a:xfrm>
            <a:off x="457200" y="1093291"/>
            <a:ext cx="777999" cy="426690"/>
          </a:xfrm>
          <a:prstGeom prst="rect">
            <a:avLst/>
          </a:prstGeom>
          <a:noFill/>
          <a:ln/>
        </p:spPr>
        <p:txBody>
          <a:bodyPr wrap="square" lIns="0" tIns="0" rIns="0" bIns="0" rtlCol="0" anchor="t"/>
          <a:lstStyle/>
          <a:p>
            <a:pPr algn="l" indent="0" marL="0">
              <a:lnSpc>
                <a:spcPts val="3360"/>
              </a:lnSpc>
              <a:buNone/>
            </a:pPr>
            <a:r>
              <a:rPr lang="en-US" sz="2400" b="1" dirty="0">
                <a:solidFill>
                  <a:srgbClr val="00B4D8"/>
                </a:solidFill>
                <a:latin typeface="Arial" pitchFamily="34" charset="0"/>
                <a:ea typeface="Arial" pitchFamily="34" charset="-122"/>
                <a:cs typeface="Arial" pitchFamily="34" charset="-120"/>
              </a:rPr>
              <a:t>0.752</a:t>
            </a:r>
            <a:endParaRPr lang="en-US" sz="2400" dirty="0"/>
          </a:p>
        </p:txBody>
      </p:sp>
      <p:sp>
        <p:nvSpPr>
          <p:cNvPr id="6" name="Text 3"/>
          <p:cNvSpPr/>
          <p:nvPr/>
        </p:nvSpPr>
        <p:spPr>
          <a:xfrm>
            <a:off x="1321445" y="1283791"/>
            <a:ext cx="503688" cy="177701"/>
          </a:xfrm>
          <a:prstGeom prst="rect">
            <a:avLst/>
          </a:prstGeom>
          <a:noFill/>
          <a:ln/>
        </p:spPr>
        <p:txBody>
          <a:bodyPr wrap="square" lIns="0" tIns="0" rIns="0" bIns="0" rtlCol="0" anchor="t"/>
          <a:lstStyle/>
          <a:p>
            <a:pPr algn="l" indent="0" marL="0">
              <a:lnSpc>
                <a:spcPts val="1400"/>
              </a:lnSpc>
              <a:buNone/>
            </a:pPr>
            <a:r>
              <a:rPr lang="en-US" sz="1000" dirty="0">
                <a:solidFill>
                  <a:srgbClr val="94A3B8"/>
                </a:solidFill>
                <a:latin typeface="Arial" pitchFamily="34" charset="0"/>
                <a:ea typeface="Arial" pitchFamily="34" charset="-122"/>
                <a:cs typeface="Arial" pitchFamily="34" charset="-120"/>
              </a:rPr>
              <a:t>F1 Micro</a:t>
            </a:r>
            <a:endParaRPr lang="en-US" sz="1000" dirty="0"/>
          </a:p>
        </p:txBody>
      </p:sp>
      <p:sp>
        <p:nvSpPr>
          <p:cNvPr id="7" name="Text 4"/>
          <p:cNvSpPr/>
          <p:nvPr/>
        </p:nvSpPr>
        <p:spPr>
          <a:xfrm>
            <a:off x="457200" y="1621482"/>
            <a:ext cx="777999" cy="426690"/>
          </a:xfrm>
          <a:prstGeom prst="rect">
            <a:avLst/>
          </a:prstGeom>
          <a:noFill/>
          <a:ln/>
        </p:spPr>
        <p:txBody>
          <a:bodyPr wrap="square" lIns="0" tIns="0" rIns="0" bIns="0" rtlCol="0" anchor="t"/>
          <a:lstStyle/>
          <a:p>
            <a:pPr algn="l" indent="0" marL="0">
              <a:lnSpc>
                <a:spcPts val="3360"/>
              </a:lnSpc>
              <a:buNone/>
            </a:pPr>
            <a:r>
              <a:rPr lang="en-US" sz="2400" b="1" dirty="0">
                <a:solidFill>
                  <a:srgbClr val="00B4D8"/>
                </a:solidFill>
                <a:latin typeface="Arial" pitchFamily="34" charset="0"/>
                <a:ea typeface="Arial" pitchFamily="34" charset="-122"/>
                <a:cs typeface="Arial" pitchFamily="34" charset="-120"/>
              </a:rPr>
              <a:t>0.533</a:t>
            </a:r>
            <a:endParaRPr lang="en-US" sz="2400" dirty="0"/>
          </a:p>
        </p:txBody>
      </p:sp>
      <p:sp>
        <p:nvSpPr>
          <p:cNvPr id="8" name="Text 5"/>
          <p:cNvSpPr/>
          <p:nvPr/>
        </p:nvSpPr>
        <p:spPr>
          <a:xfrm>
            <a:off x="1321445" y="1811982"/>
            <a:ext cx="546952" cy="177701"/>
          </a:xfrm>
          <a:prstGeom prst="rect">
            <a:avLst/>
          </a:prstGeom>
          <a:noFill/>
          <a:ln/>
        </p:spPr>
        <p:txBody>
          <a:bodyPr wrap="square" lIns="0" tIns="0" rIns="0" bIns="0" rtlCol="0" anchor="t"/>
          <a:lstStyle/>
          <a:p>
            <a:pPr algn="l" indent="0" marL="0">
              <a:lnSpc>
                <a:spcPts val="1400"/>
              </a:lnSpc>
              <a:buNone/>
            </a:pPr>
            <a:r>
              <a:rPr lang="en-US" sz="1000" dirty="0">
                <a:solidFill>
                  <a:srgbClr val="94A3B8"/>
                </a:solidFill>
                <a:latin typeface="Arial" pitchFamily="34" charset="0"/>
                <a:ea typeface="Arial" pitchFamily="34" charset="-122"/>
                <a:cs typeface="Arial" pitchFamily="34" charset="-120"/>
              </a:rPr>
              <a:t>F1 Macro</a:t>
            </a:r>
            <a:endParaRPr lang="en-US" sz="1000" dirty="0"/>
          </a:p>
        </p:txBody>
      </p:sp>
      <p:sp>
        <p:nvSpPr>
          <p:cNvPr id="9" name="Text 6"/>
          <p:cNvSpPr/>
          <p:nvPr/>
        </p:nvSpPr>
        <p:spPr>
          <a:xfrm>
            <a:off x="457200" y="2149673"/>
            <a:ext cx="777999" cy="426690"/>
          </a:xfrm>
          <a:prstGeom prst="rect">
            <a:avLst/>
          </a:prstGeom>
          <a:noFill/>
          <a:ln/>
        </p:spPr>
        <p:txBody>
          <a:bodyPr wrap="square" lIns="0" tIns="0" rIns="0" bIns="0" rtlCol="0" anchor="t"/>
          <a:lstStyle/>
          <a:p>
            <a:pPr algn="l" indent="0" marL="0">
              <a:lnSpc>
                <a:spcPts val="3360"/>
              </a:lnSpc>
              <a:buNone/>
            </a:pPr>
            <a:r>
              <a:rPr lang="en-US" sz="2400" b="1" dirty="0">
                <a:solidFill>
                  <a:srgbClr val="00B4D8"/>
                </a:solidFill>
                <a:latin typeface="Arial" pitchFamily="34" charset="0"/>
                <a:ea typeface="Arial" pitchFamily="34" charset="-122"/>
                <a:cs typeface="Arial" pitchFamily="34" charset="-120"/>
              </a:rPr>
              <a:t>0.798</a:t>
            </a:r>
            <a:endParaRPr lang="en-US" sz="2400" dirty="0"/>
          </a:p>
        </p:txBody>
      </p:sp>
      <p:sp>
        <p:nvSpPr>
          <p:cNvPr id="10" name="Text 7"/>
          <p:cNvSpPr/>
          <p:nvPr/>
        </p:nvSpPr>
        <p:spPr>
          <a:xfrm>
            <a:off x="1321445" y="2340173"/>
            <a:ext cx="732002" cy="177701"/>
          </a:xfrm>
          <a:prstGeom prst="rect">
            <a:avLst/>
          </a:prstGeom>
          <a:noFill/>
          <a:ln/>
        </p:spPr>
        <p:txBody>
          <a:bodyPr wrap="square" lIns="0" tIns="0" rIns="0" bIns="0" rtlCol="0" anchor="t"/>
          <a:lstStyle/>
          <a:p>
            <a:pPr algn="l" indent="0" marL="0">
              <a:lnSpc>
                <a:spcPts val="1400"/>
              </a:lnSpc>
              <a:buNone/>
            </a:pPr>
            <a:r>
              <a:rPr lang="en-US" sz="1000" dirty="0">
                <a:solidFill>
                  <a:srgbClr val="94A3B8"/>
                </a:solidFill>
                <a:latin typeface="Arial" pitchFamily="34" charset="0"/>
                <a:ea typeface="Arial" pitchFamily="34" charset="-122"/>
                <a:cs typeface="Arial" pitchFamily="34" charset="-120"/>
              </a:rPr>
              <a:t>F1 Weighted</a:t>
            </a:r>
            <a:endParaRPr lang="en-US" sz="1000" dirty="0"/>
          </a:p>
        </p:txBody>
      </p:sp>
      <p:sp>
        <p:nvSpPr>
          <p:cNvPr id="11" name="Text 8"/>
          <p:cNvSpPr/>
          <p:nvPr/>
        </p:nvSpPr>
        <p:spPr>
          <a:xfrm>
            <a:off x="457200" y="2677864"/>
            <a:ext cx="4067607" cy="177701"/>
          </a:xfrm>
          <a:prstGeom prst="rect">
            <a:avLst/>
          </a:prstGeom>
          <a:noFill/>
          <a:ln/>
        </p:spPr>
        <p:txBody>
          <a:bodyPr wrap="square" lIns="0" tIns="0" rIns="0" bIns="0" rtlCol="0" anchor="t"/>
          <a:lstStyle/>
          <a:p>
            <a:pPr algn="l" indent="0" marL="0">
              <a:lnSpc>
                <a:spcPts val="1400"/>
              </a:lnSpc>
              <a:spcBef>
                <a:spcPts val="600"/>
              </a:spcBef>
              <a:spcAft>
                <a:spcPts val="500"/>
              </a:spcAft>
              <a:buNone/>
            </a:pPr>
            <a:r>
              <a:rPr lang="en-US" sz="1000" dirty="0">
                <a:solidFill>
                  <a:srgbClr val="CBD5E1"/>
                </a:solidFill>
                <a:latin typeface="Arial" pitchFamily="34" charset="0"/>
                <a:ea typeface="Arial" pitchFamily="34" charset="-122"/>
                <a:cs typeface="Arial" pitchFamily="34" charset="-120"/>
              </a:rPr>
              <a:t>Precision (micro): 0.648</a:t>
            </a:r>
            <a:endParaRPr lang="en-US" sz="1000" dirty="0"/>
          </a:p>
        </p:txBody>
      </p:sp>
      <p:sp>
        <p:nvSpPr>
          <p:cNvPr id="12" name="Text 9"/>
          <p:cNvSpPr/>
          <p:nvPr/>
        </p:nvSpPr>
        <p:spPr>
          <a:xfrm>
            <a:off x="457200" y="2918966"/>
            <a:ext cx="4067607" cy="177701"/>
          </a:xfrm>
          <a:prstGeom prst="rect">
            <a:avLst/>
          </a:prstGeom>
          <a:noFill/>
          <a:ln/>
        </p:spPr>
        <p:txBody>
          <a:bodyPr wrap="square" lIns="0" tIns="0" rIns="0" bIns="0" rtlCol="0" anchor="t"/>
          <a:lstStyle/>
          <a:p>
            <a:pPr algn="l" indent="0" marL="0">
              <a:lnSpc>
                <a:spcPts val="1400"/>
              </a:lnSpc>
              <a:spcAft>
                <a:spcPts val="500"/>
              </a:spcAft>
              <a:buNone/>
            </a:pPr>
            <a:r>
              <a:rPr lang="en-US" sz="1000" dirty="0">
                <a:solidFill>
                  <a:srgbClr val="CBD5E1"/>
                </a:solidFill>
                <a:latin typeface="Arial" pitchFamily="34" charset="0"/>
                <a:ea typeface="Arial" pitchFamily="34" charset="-122"/>
                <a:cs typeface="Arial" pitchFamily="34" charset="-120"/>
              </a:rPr>
              <a:t>Recall (micro): 0.897</a:t>
            </a:r>
            <a:endParaRPr lang="en-US" sz="1000" dirty="0"/>
          </a:p>
        </p:txBody>
      </p:sp>
      <p:sp>
        <p:nvSpPr>
          <p:cNvPr id="13" name="Text 10"/>
          <p:cNvSpPr/>
          <p:nvPr/>
        </p:nvSpPr>
        <p:spPr>
          <a:xfrm>
            <a:off x="457200" y="3223617"/>
            <a:ext cx="3987850" cy="736104"/>
          </a:xfrm>
          <a:prstGeom prst="rect">
            <a:avLst/>
          </a:prstGeom>
          <a:solidFill>
            <a:srgbClr val="00B4D8">
              <a:alpha val="8000"/>
            </a:srgbClr>
          </a:solidFill>
          <a:ln/>
        </p:spPr>
        <p:txBody>
          <a:bodyPr wrap="square" rtlCol="0" anchor="ctr"/>
          <a:lstStyle/>
          <a:p>
            <a:pPr indent="0" marL="0">
              <a:buNone/>
            </a:pPr>
            <a:endParaRPr lang="en-US" dirty="0"/>
          </a:p>
        </p:txBody>
      </p:sp>
      <p:sp>
        <p:nvSpPr>
          <p:cNvPr id="14" name="Shape 11"/>
          <p:cNvSpPr/>
          <p:nvPr/>
        </p:nvSpPr>
        <p:spPr>
          <a:xfrm>
            <a:off x="481012" y="3223617"/>
            <a:ext cx="0" cy="736104"/>
          </a:xfrm>
          <a:prstGeom prst="line">
            <a:avLst/>
          </a:prstGeom>
          <a:noFill/>
          <a:ln w="47625">
            <a:solidFill>
              <a:srgbClr val="00B4D8"/>
            </a:solidFill>
            <a:prstDash val="solid"/>
          </a:ln>
        </p:spPr>
      </p:sp>
      <p:sp>
        <p:nvSpPr>
          <p:cNvPr id="15" name="Text 12"/>
          <p:cNvSpPr/>
          <p:nvPr/>
        </p:nvSpPr>
        <p:spPr>
          <a:xfrm>
            <a:off x="682526" y="3325118"/>
            <a:ext cx="3656520" cy="533102"/>
          </a:xfrm>
          <a:prstGeom prst="rect">
            <a:avLst/>
          </a:prstGeom>
          <a:noFill/>
          <a:ln/>
        </p:spPr>
        <p:txBody>
          <a:bodyPr wrap="square" lIns="0" tIns="0" rIns="0" bIns="0" rtlCol="0" anchor="t"/>
          <a:lstStyle/>
          <a:p>
            <a:pPr algn="l" indent="0" marL="0">
              <a:lnSpc>
                <a:spcPts val="1400"/>
              </a:lnSpc>
              <a:buNone/>
            </a:pPr>
            <a:r>
              <a:rPr lang="en-US" sz="1000" b="1" dirty="0">
                <a:solidFill>
                  <a:srgbClr val="E2E8F0"/>
                </a:solidFill>
                <a:latin typeface="Arial" pitchFamily="34" charset="0"/>
                <a:ea typeface="Arial" pitchFamily="34" charset="-122"/>
                <a:cs typeface="Arial" pitchFamily="34" charset="-120"/>
              </a:rPr>
              <a:t>Key finding:</a:t>
            </a:r>
            <a:pPr algn="l" indent="0" marL="0">
              <a:lnSpc>
                <a:spcPts val="1400"/>
              </a:lnSpc>
              <a:buNone/>
            </a:pPr>
            <a:r>
              <a:rPr lang="en-US" sz="1000" dirty="0">
                <a:solidFill>
                  <a:srgbClr val="E2E8F0"/>
                </a:solidFill>
                <a:latin typeface="Arial" pitchFamily="34" charset="0"/>
                <a:ea typeface="Arial" pitchFamily="34" charset="-122"/>
                <a:cs typeface="Arial" pitchFamily="34" charset="-120"/>
              </a:rPr>
              <a:t> Performance correlates with sample size. Postures with 500+ samples achieve F1 &gt; 0.92. Can the transformer beat this?</a:t>
            </a:r>
            <a:endParaRPr lang="en-US" sz="1000" dirty="0"/>
          </a:p>
        </p:txBody>
      </p:sp>
      <p:sp>
        <p:nvSpPr>
          <p:cNvPr id="16" name="Text 13"/>
          <p:cNvSpPr/>
          <p:nvPr/>
        </p:nvSpPr>
        <p:spPr>
          <a:xfrm>
            <a:off x="4698950" y="857101"/>
            <a:ext cx="4067607" cy="159990"/>
          </a:xfrm>
          <a:prstGeom prst="rect">
            <a:avLst/>
          </a:prstGeom>
          <a:noFill/>
          <a:ln/>
        </p:spPr>
        <p:txBody>
          <a:bodyPr wrap="square" lIns="0" tIns="0" rIns="0" bIns="0" rtlCol="0" anchor="t"/>
          <a:lstStyle/>
          <a:p>
            <a:pPr algn="l" indent="0" marL="0">
              <a:lnSpc>
                <a:spcPts val="1260"/>
              </a:lnSpc>
              <a:spcAft>
                <a:spcPts val="600"/>
              </a:spcAft>
              <a:buNone/>
            </a:pPr>
            <a:r>
              <a:rPr lang="en-US" sz="900" dirty="0">
                <a:solidFill>
                  <a:srgbClr val="94A3B8"/>
                </a:solidFill>
                <a:latin typeface="Arial" pitchFamily="34" charset="0"/>
                <a:ea typeface="Arial" pitchFamily="34" charset="-122"/>
                <a:cs typeface="Arial" pitchFamily="34" charset="-120"/>
              </a:rPr>
              <a:t>TOP PERFORMERS</a:t>
            </a:r>
            <a:endParaRPr lang="en-US" sz="900" dirty="0"/>
          </a:p>
        </p:txBody>
      </p:sp>
      <p:sp>
        <p:nvSpPr>
          <p:cNvPr id="17" name="Shape 14"/>
          <p:cNvSpPr/>
          <p:nvPr/>
        </p:nvSpPr>
        <p:spPr>
          <a:xfrm>
            <a:off x="4698950" y="1393775"/>
            <a:ext cx="3987850" cy="0"/>
          </a:xfrm>
          <a:prstGeom prst="line">
            <a:avLst/>
          </a:prstGeom>
          <a:noFill/>
          <a:ln w="9525">
            <a:solidFill>
              <a:srgbClr val="FFFFFF"/>
            </a:solidFill>
            <a:prstDash val="solid"/>
          </a:ln>
        </p:spPr>
      </p:sp>
      <p:sp>
        <p:nvSpPr>
          <p:cNvPr id="18" name="Text 15"/>
          <p:cNvSpPr/>
          <p:nvPr/>
        </p:nvSpPr>
        <p:spPr>
          <a:xfrm>
            <a:off x="4698950" y="1156692"/>
            <a:ext cx="950449" cy="168920"/>
          </a:xfrm>
          <a:prstGeom prst="rect">
            <a:avLst/>
          </a:prstGeom>
          <a:noFill/>
          <a:ln/>
        </p:spPr>
        <p:txBody>
          <a:bodyPr wrap="square" lIns="0" tIns="0" rIns="0" bIns="0" rtlCol="0" anchor="t"/>
          <a:lstStyle/>
          <a:p>
            <a:pPr algn="l" indent="0" marL="0">
              <a:lnSpc>
                <a:spcPts val="1330"/>
              </a:lnSpc>
              <a:buNone/>
            </a:pPr>
            <a:r>
              <a:rPr lang="en-US" sz="950" dirty="0">
                <a:solidFill>
                  <a:srgbClr val="CBD5E1"/>
                </a:solidFill>
                <a:latin typeface="Arial" pitchFamily="34" charset="0"/>
                <a:ea typeface="Arial" pitchFamily="34" charset="-122"/>
                <a:cs typeface="Arial" pitchFamily="34" charset="-120"/>
              </a:rPr>
              <a:t>Appellate Review</a:t>
            </a:r>
            <a:endParaRPr lang="en-US" sz="950" dirty="0"/>
          </a:p>
        </p:txBody>
      </p:sp>
      <p:sp>
        <p:nvSpPr>
          <p:cNvPr id="19" name="Text 16"/>
          <p:cNvSpPr/>
          <p:nvPr/>
        </p:nvSpPr>
        <p:spPr>
          <a:xfrm>
            <a:off x="8384977" y="1156692"/>
            <a:ext cx="307860" cy="168920"/>
          </a:xfrm>
          <a:prstGeom prst="rect">
            <a:avLst/>
          </a:prstGeom>
          <a:noFill/>
          <a:ln/>
        </p:spPr>
        <p:txBody>
          <a:bodyPr wrap="square" lIns="0" tIns="0" rIns="0" bIns="0" rtlCol="0" anchor="t"/>
          <a:lstStyle/>
          <a:p>
            <a:pPr algn="l" indent="0" marL="0">
              <a:lnSpc>
                <a:spcPts val="1330"/>
              </a:lnSpc>
              <a:buNone/>
            </a:pPr>
            <a:r>
              <a:rPr lang="en-US" sz="950" b="1" dirty="0">
                <a:solidFill>
                  <a:srgbClr val="22C55E"/>
                </a:solidFill>
                <a:latin typeface="Arial" pitchFamily="34" charset="0"/>
                <a:ea typeface="Arial" pitchFamily="34" charset="-122"/>
                <a:cs typeface="Arial" pitchFamily="34" charset="-120"/>
              </a:rPr>
              <a:t>0.940</a:t>
            </a:r>
            <a:endParaRPr lang="en-US" sz="950" dirty="0"/>
          </a:p>
        </p:txBody>
      </p:sp>
      <p:sp>
        <p:nvSpPr>
          <p:cNvPr id="20" name="Shape 17"/>
          <p:cNvSpPr/>
          <p:nvPr/>
        </p:nvSpPr>
        <p:spPr>
          <a:xfrm>
            <a:off x="4698950" y="1699022"/>
            <a:ext cx="3987850" cy="0"/>
          </a:xfrm>
          <a:prstGeom prst="line">
            <a:avLst/>
          </a:prstGeom>
          <a:noFill/>
          <a:ln w="9525">
            <a:solidFill>
              <a:srgbClr val="FFFFFF"/>
            </a:solidFill>
            <a:prstDash val="solid"/>
          </a:ln>
        </p:spPr>
      </p:sp>
      <p:sp>
        <p:nvSpPr>
          <p:cNvPr id="21" name="Text 18"/>
          <p:cNvSpPr/>
          <p:nvPr/>
        </p:nvSpPr>
        <p:spPr>
          <a:xfrm>
            <a:off x="4698950" y="1461939"/>
            <a:ext cx="574581" cy="168920"/>
          </a:xfrm>
          <a:prstGeom prst="rect">
            <a:avLst/>
          </a:prstGeom>
          <a:noFill/>
          <a:ln/>
        </p:spPr>
        <p:txBody>
          <a:bodyPr wrap="square" lIns="0" tIns="0" rIns="0" bIns="0" rtlCol="0" anchor="t"/>
          <a:lstStyle/>
          <a:p>
            <a:pPr algn="l" indent="0" marL="0">
              <a:lnSpc>
                <a:spcPts val="1330"/>
              </a:lnSpc>
              <a:buNone/>
            </a:pPr>
            <a:r>
              <a:rPr lang="en-US" sz="950" dirty="0">
                <a:solidFill>
                  <a:srgbClr val="CBD5E1"/>
                </a:solidFill>
                <a:latin typeface="Arial" pitchFamily="34" charset="0"/>
                <a:ea typeface="Arial" pitchFamily="34" charset="-122"/>
                <a:cs typeface="Arial" pitchFamily="34" charset="-120"/>
              </a:rPr>
              <a:t>On Appeal</a:t>
            </a:r>
            <a:endParaRPr lang="en-US" sz="950" dirty="0"/>
          </a:p>
        </p:txBody>
      </p:sp>
      <p:sp>
        <p:nvSpPr>
          <p:cNvPr id="22" name="Text 19"/>
          <p:cNvSpPr/>
          <p:nvPr/>
        </p:nvSpPr>
        <p:spPr>
          <a:xfrm>
            <a:off x="8384977" y="1461939"/>
            <a:ext cx="307860" cy="168920"/>
          </a:xfrm>
          <a:prstGeom prst="rect">
            <a:avLst/>
          </a:prstGeom>
          <a:noFill/>
          <a:ln/>
        </p:spPr>
        <p:txBody>
          <a:bodyPr wrap="square" lIns="0" tIns="0" rIns="0" bIns="0" rtlCol="0" anchor="t"/>
          <a:lstStyle/>
          <a:p>
            <a:pPr algn="l" indent="0" marL="0">
              <a:lnSpc>
                <a:spcPts val="1330"/>
              </a:lnSpc>
              <a:buNone/>
            </a:pPr>
            <a:r>
              <a:rPr lang="en-US" sz="950" b="1" dirty="0">
                <a:solidFill>
                  <a:srgbClr val="22C55E"/>
                </a:solidFill>
                <a:latin typeface="Arial" pitchFamily="34" charset="0"/>
                <a:ea typeface="Arial" pitchFamily="34" charset="-122"/>
                <a:cs typeface="Arial" pitchFamily="34" charset="-120"/>
              </a:rPr>
              <a:t>0.915</a:t>
            </a:r>
            <a:endParaRPr lang="en-US" sz="950" dirty="0"/>
          </a:p>
        </p:txBody>
      </p:sp>
      <p:sp>
        <p:nvSpPr>
          <p:cNvPr id="23" name="Shape 20"/>
          <p:cNvSpPr/>
          <p:nvPr/>
        </p:nvSpPr>
        <p:spPr>
          <a:xfrm>
            <a:off x="4698950" y="2004268"/>
            <a:ext cx="3987850" cy="0"/>
          </a:xfrm>
          <a:prstGeom prst="line">
            <a:avLst/>
          </a:prstGeom>
          <a:noFill/>
          <a:ln w="9525">
            <a:solidFill>
              <a:srgbClr val="FFFFFF"/>
            </a:solidFill>
            <a:prstDash val="solid"/>
          </a:ln>
        </p:spPr>
      </p:sp>
      <p:sp>
        <p:nvSpPr>
          <p:cNvPr id="24" name="Text 21"/>
          <p:cNvSpPr/>
          <p:nvPr/>
        </p:nvSpPr>
        <p:spPr>
          <a:xfrm>
            <a:off x="4698950" y="1767185"/>
            <a:ext cx="1421955" cy="168920"/>
          </a:xfrm>
          <a:prstGeom prst="rect">
            <a:avLst/>
          </a:prstGeom>
          <a:noFill/>
          <a:ln/>
        </p:spPr>
        <p:txBody>
          <a:bodyPr wrap="square" lIns="0" tIns="0" rIns="0" bIns="0" rtlCol="0" anchor="t"/>
          <a:lstStyle/>
          <a:p>
            <a:pPr algn="l" indent="0" marL="0">
              <a:lnSpc>
                <a:spcPts val="1330"/>
              </a:lnSpc>
              <a:buNone/>
            </a:pPr>
            <a:r>
              <a:rPr lang="en-US" sz="950" dirty="0">
                <a:solidFill>
                  <a:srgbClr val="CBD5E1"/>
                </a:solidFill>
                <a:latin typeface="Arial" pitchFamily="34" charset="0"/>
                <a:ea typeface="Arial" pitchFamily="34" charset="-122"/>
                <a:cs typeface="Arial" pitchFamily="34" charset="-120"/>
              </a:rPr>
              <a:t>Review of Admin Decision</a:t>
            </a:r>
            <a:endParaRPr lang="en-US" sz="950" dirty="0"/>
          </a:p>
        </p:txBody>
      </p:sp>
      <p:sp>
        <p:nvSpPr>
          <p:cNvPr id="25" name="Text 22"/>
          <p:cNvSpPr/>
          <p:nvPr/>
        </p:nvSpPr>
        <p:spPr>
          <a:xfrm>
            <a:off x="8384977" y="1767185"/>
            <a:ext cx="307860" cy="168920"/>
          </a:xfrm>
          <a:prstGeom prst="rect">
            <a:avLst/>
          </a:prstGeom>
          <a:noFill/>
          <a:ln/>
        </p:spPr>
        <p:txBody>
          <a:bodyPr wrap="square" lIns="0" tIns="0" rIns="0" bIns="0" rtlCol="0" anchor="t"/>
          <a:lstStyle/>
          <a:p>
            <a:pPr algn="l" indent="0" marL="0">
              <a:lnSpc>
                <a:spcPts val="1330"/>
              </a:lnSpc>
              <a:buNone/>
            </a:pPr>
            <a:r>
              <a:rPr lang="en-US" sz="950" b="1" dirty="0">
                <a:solidFill>
                  <a:srgbClr val="22C55E"/>
                </a:solidFill>
                <a:latin typeface="Arial" pitchFamily="34" charset="0"/>
                <a:ea typeface="Arial" pitchFamily="34" charset="-122"/>
                <a:cs typeface="Arial" pitchFamily="34" charset="-120"/>
              </a:rPr>
              <a:t>0.908</a:t>
            </a:r>
            <a:endParaRPr lang="en-US" sz="950" dirty="0"/>
          </a:p>
        </p:txBody>
      </p:sp>
      <p:sp>
        <p:nvSpPr>
          <p:cNvPr id="26" name="Shape 23"/>
          <p:cNvSpPr/>
          <p:nvPr/>
        </p:nvSpPr>
        <p:spPr>
          <a:xfrm>
            <a:off x="4698950" y="2309515"/>
            <a:ext cx="3987850" cy="0"/>
          </a:xfrm>
          <a:prstGeom prst="line">
            <a:avLst/>
          </a:prstGeom>
          <a:noFill/>
          <a:ln w="9525">
            <a:solidFill>
              <a:srgbClr val="FFFFFF"/>
            </a:solidFill>
            <a:prstDash val="solid"/>
          </a:ln>
        </p:spPr>
      </p:sp>
      <p:sp>
        <p:nvSpPr>
          <p:cNvPr id="27" name="Text 24"/>
          <p:cNvSpPr/>
          <p:nvPr/>
        </p:nvSpPr>
        <p:spPr>
          <a:xfrm>
            <a:off x="4698950" y="2072432"/>
            <a:ext cx="1011930" cy="168920"/>
          </a:xfrm>
          <a:prstGeom prst="rect">
            <a:avLst/>
          </a:prstGeom>
          <a:noFill/>
          <a:ln/>
        </p:spPr>
        <p:txBody>
          <a:bodyPr wrap="square" lIns="0" tIns="0" rIns="0" bIns="0" rtlCol="0" anchor="t"/>
          <a:lstStyle/>
          <a:p>
            <a:pPr algn="l" indent="0" marL="0">
              <a:lnSpc>
                <a:spcPts val="1330"/>
              </a:lnSpc>
              <a:buNone/>
            </a:pPr>
            <a:r>
              <a:rPr lang="en-US" sz="950" dirty="0">
                <a:solidFill>
                  <a:srgbClr val="CBD5E1"/>
                </a:solidFill>
                <a:latin typeface="Arial" pitchFamily="34" charset="0"/>
                <a:ea typeface="Arial" pitchFamily="34" charset="-122"/>
                <a:cs typeface="Arial" pitchFamily="34" charset="-120"/>
              </a:rPr>
              <a:t>Compel Arbitration</a:t>
            </a:r>
            <a:endParaRPr lang="en-US" sz="950" dirty="0"/>
          </a:p>
        </p:txBody>
      </p:sp>
      <p:sp>
        <p:nvSpPr>
          <p:cNvPr id="28" name="Text 25"/>
          <p:cNvSpPr/>
          <p:nvPr/>
        </p:nvSpPr>
        <p:spPr>
          <a:xfrm>
            <a:off x="8384977" y="2072432"/>
            <a:ext cx="307860" cy="168920"/>
          </a:xfrm>
          <a:prstGeom prst="rect">
            <a:avLst/>
          </a:prstGeom>
          <a:noFill/>
          <a:ln/>
        </p:spPr>
        <p:txBody>
          <a:bodyPr wrap="square" lIns="0" tIns="0" rIns="0" bIns="0" rtlCol="0" anchor="t"/>
          <a:lstStyle/>
          <a:p>
            <a:pPr algn="l" indent="0" marL="0">
              <a:lnSpc>
                <a:spcPts val="1330"/>
              </a:lnSpc>
              <a:buNone/>
            </a:pPr>
            <a:r>
              <a:rPr lang="en-US" sz="950" b="1" dirty="0">
                <a:solidFill>
                  <a:srgbClr val="22C55E"/>
                </a:solidFill>
                <a:latin typeface="Arial" pitchFamily="34" charset="0"/>
                <a:ea typeface="Arial" pitchFamily="34" charset="-122"/>
                <a:cs typeface="Arial" pitchFamily="34" charset="-120"/>
              </a:rPr>
              <a:t>0.848</a:t>
            </a:r>
            <a:endParaRPr lang="en-US" sz="950" dirty="0"/>
          </a:p>
        </p:txBody>
      </p:sp>
      <p:sp>
        <p:nvSpPr>
          <p:cNvPr id="29" name="Shape 26"/>
          <p:cNvSpPr/>
          <p:nvPr/>
        </p:nvSpPr>
        <p:spPr>
          <a:xfrm>
            <a:off x="4698950" y="2614761"/>
            <a:ext cx="3987850" cy="0"/>
          </a:xfrm>
          <a:prstGeom prst="line">
            <a:avLst/>
          </a:prstGeom>
          <a:noFill/>
          <a:ln w="9525">
            <a:solidFill>
              <a:srgbClr val="FFFFFF"/>
            </a:solidFill>
            <a:prstDash val="solid"/>
          </a:ln>
        </p:spPr>
      </p:sp>
      <p:sp>
        <p:nvSpPr>
          <p:cNvPr id="30" name="Text 27"/>
          <p:cNvSpPr/>
          <p:nvPr/>
        </p:nvSpPr>
        <p:spPr>
          <a:xfrm>
            <a:off x="4698950" y="2377678"/>
            <a:ext cx="836444" cy="168920"/>
          </a:xfrm>
          <a:prstGeom prst="rect">
            <a:avLst/>
          </a:prstGeom>
          <a:noFill/>
          <a:ln/>
        </p:spPr>
        <p:txBody>
          <a:bodyPr wrap="square" lIns="0" tIns="0" rIns="0" bIns="0" rtlCol="0" anchor="t"/>
          <a:lstStyle/>
          <a:p>
            <a:pPr algn="l" indent="0" marL="0">
              <a:lnSpc>
                <a:spcPts val="1330"/>
              </a:lnSpc>
              <a:buNone/>
            </a:pPr>
            <a:r>
              <a:rPr lang="en-US" sz="950" dirty="0">
                <a:solidFill>
                  <a:srgbClr val="CBD5E1"/>
                </a:solidFill>
                <a:latin typeface="Arial" pitchFamily="34" charset="0"/>
                <a:ea typeface="Arial" pitchFamily="34" charset="-122"/>
                <a:cs typeface="Arial" pitchFamily="34" charset="-120"/>
              </a:rPr>
              <a:t>Transfer Venue</a:t>
            </a:r>
            <a:endParaRPr lang="en-US" sz="950" dirty="0"/>
          </a:p>
        </p:txBody>
      </p:sp>
      <p:sp>
        <p:nvSpPr>
          <p:cNvPr id="31" name="Text 28"/>
          <p:cNvSpPr/>
          <p:nvPr/>
        </p:nvSpPr>
        <p:spPr>
          <a:xfrm>
            <a:off x="8384977" y="2377678"/>
            <a:ext cx="307860" cy="168920"/>
          </a:xfrm>
          <a:prstGeom prst="rect">
            <a:avLst/>
          </a:prstGeom>
          <a:noFill/>
          <a:ln/>
        </p:spPr>
        <p:txBody>
          <a:bodyPr wrap="square" lIns="0" tIns="0" rIns="0" bIns="0" rtlCol="0" anchor="t"/>
          <a:lstStyle/>
          <a:p>
            <a:pPr algn="l" indent="0" marL="0">
              <a:lnSpc>
                <a:spcPts val="1330"/>
              </a:lnSpc>
              <a:buNone/>
            </a:pPr>
            <a:r>
              <a:rPr lang="en-US" sz="950" b="1" dirty="0">
                <a:solidFill>
                  <a:srgbClr val="22C55E"/>
                </a:solidFill>
                <a:latin typeface="Arial" pitchFamily="34" charset="0"/>
                <a:ea typeface="Arial" pitchFamily="34" charset="-122"/>
                <a:cs typeface="Arial" pitchFamily="34" charset="-120"/>
              </a:rPr>
              <a:t>0.824</a:t>
            </a:r>
            <a:endParaRPr lang="en-US" sz="950" dirty="0"/>
          </a:p>
        </p:txBody>
      </p:sp>
      <p:sp>
        <p:nvSpPr>
          <p:cNvPr id="32" name="Text 29"/>
          <p:cNvSpPr/>
          <p:nvPr/>
        </p:nvSpPr>
        <p:spPr>
          <a:xfrm>
            <a:off x="4698950" y="2746474"/>
            <a:ext cx="4067607" cy="159990"/>
          </a:xfrm>
          <a:prstGeom prst="rect">
            <a:avLst/>
          </a:prstGeom>
          <a:noFill/>
          <a:ln/>
        </p:spPr>
        <p:txBody>
          <a:bodyPr wrap="square" lIns="0" tIns="0" rIns="0" bIns="0" rtlCol="0" anchor="t"/>
          <a:lstStyle/>
          <a:p>
            <a:pPr algn="l" indent="0" marL="0">
              <a:lnSpc>
                <a:spcPts val="1260"/>
              </a:lnSpc>
              <a:spcBef>
                <a:spcPts val="1000"/>
              </a:spcBef>
              <a:spcAft>
                <a:spcPts val="600"/>
              </a:spcAft>
              <a:buNone/>
            </a:pPr>
            <a:r>
              <a:rPr lang="en-US" sz="900" dirty="0">
                <a:solidFill>
                  <a:srgbClr val="94A3B8"/>
                </a:solidFill>
                <a:latin typeface="Arial" pitchFamily="34" charset="0"/>
                <a:ea typeface="Arial" pitchFamily="34" charset="-122"/>
                <a:cs typeface="Arial" pitchFamily="34" charset="-120"/>
              </a:rPr>
              <a:t>BOTTOM PERFORMERS</a:t>
            </a:r>
            <a:endParaRPr lang="en-US" sz="900" dirty="0"/>
          </a:p>
        </p:txBody>
      </p:sp>
      <p:sp>
        <p:nvSpPr>
          <p:cNvPr id="33" name="Shape 30"/>
          <p:cNvSpPr/>
          <p:nvPr/>
        </p:nvSpPr>
        <p:spPr>
          <a:xfrm>
            <a:off x="4698950" y="3283148"/>
            <a:ext cx="3987850" cy="0"/>
          </a:xfrm>
          <a:prstGeom prst="line">
            <a:avLst/>
          </a:prstGeom>
          <a:noFill/>
          <a:ln w="9525">
            <a:solidFill>
              <a:srgbClr val="FFFFFF"/>
            </a:solidFill>
            <a:prstDash val="solid"/>
          </a:ln>
        </p:spPr>
      </p:sp>
      <p:sp>
        <p:nvSpPr>
          <p:cNvPr id="34" name="Text 31"/>
          <p:cNvSpPr/>
          <p:nvPr/>
        </p:nvSpPr>
        <p:spPr>
          <a:xfrm>
            <a:off x="4698950" y="3046065"/>
            <a:ext cx="1162368" cy="168920"/>
          </a:xfrm>
          <a:prstGeom prst="rect">
            <a:avLst/>
          </a:prstGeom>
          <a:noFill/>
          <a:ln/>
        </p:spPr>
        <p:txBody>
          <a:bodyPr wrap="square" lIns="0" tIns="0" rIns="0" bIns="0" rtlCol="0" anchor="t"/>
          <a:lstStyle/>
          <a:p>
            <a:pPr algn="l" indent="0" marL="0">
              <a:lnSpc>
                <a:spcPts val="1330"/>
              </a:lnSpc>
              <a:buNone/>
            </a:pPr>
            <a:r>
              <a:rPr lang="en-US" sz="950" dirty="0">
                <a:solidFill>
                  <a:srgbClr val="CBD5E1"/>
                </a:solidFill>
                <a:latin typeface="Arial" pitchFamily="34" charset="0"/>
                <a:ea typeface="Arial" pitchFamily="34" charset="-122"/>
                <a:cs typeface="Arial" pitchFamily="34" charset="-120"/>
              </a:rPr>
              <a:t>Permanent Injunction</a:t>
            </a:r>
            <a:endParaRPr lang="en-US" sz="950" dirty="0"/>
          </a:p>
        </p:txBody>
      </p:sp>
      <p:sp>
        <p:nvSpPr>
          <p:cNvPr id="35" name="Text 32"/>
          <p:cNvSpPr/>
          <p:nvPr/>
        </p:nvSpPr>
        <p:spPr>
          <a:xfrm>
            <a:off x="8384977" y="3046065"/>
            <a:ext cx="307860" cy="168920"/>
          </a:xfrm>
          <a:prstGeom prst="rect">
            <a:avLst/>
          </a:prstGeom>
          <a:noFill/>
          <a:ln/>
        </p:spPr>
        <p:txBody>
          <a:bodyPr wrap="square" lIns="0" tIns="0" rIns="0" bIns="0" rtlCol="0" anchor="t"/>
          <a:lstStyle/>
          <a:p>
            <a:pPr algn="l" indent="0" marL="0">
              <a:lnSpc>
                <a:spcPts val="1330"/>
              </a:lnSpc>
              <a:buNone/>
            </a:pPr>
            <a:r>
              <a:rPr lang="en-US" sz="950" b="1" dirty="0">
                <a:solidFill>
                  <a:srgbClr val="EF4444"/>
                </a:solidFill>
                <a:latin typeface="Arial" pitchFamily="34" charset="0"/>
                <a:ea typeface="Arial" pitchFamily="34" charset="-122"/>
                <a:cs typeface="Arial" pitchFamily="34" charset="-120"/>
              </a:rPr>
              <a:t>0.143</a:t>
            </a:r>
            <a:endParaRPr lang="en-US" sz="950" dirty="0"/>
          </a:p>
        </p:txBody>
      </p:sp>
      <p:sp>
        <p:nvSpPr>
          <p:cNvPr id="36" name="Shape 33"/>
          <p:cNvSpPr/>
          <p:nvPr/>
        </p:nvSpPr>
        <p:spPr>
          <a:xfrm>
            <a:off x="4698950" y="3588395"/>
            <a:ext cx="3987850" cy="0"/>
          </a:xfrm>
          <a:prstGeom prst="line">
            <a:avLst/>
          </a:prstGeom>
          <a:noFill/>
          <a:ln w="9525">
            <a:solidFill>
              <a:srgbClr val="FFFFFF"/>
            </a:solidFill>
            <a:prstDash val="solid"/>
          </a:ln>
        </p:spPr>
      </p:sp>
      <p:sp>
        <p:nvSpPr>
          <p:cNvPr id="37" name="Text 34"/>
          <p:cNvSpPr/>
          <p:nvPr/>
        </p:nvSpPr>
        <p:spPr>
          <a:xfrm>
            <a:off x="4698950" y="3351312"/>
            <a:ext cx="1071286" cy="168920"/>
          </a:xfrm>
          <a:prstGeom prst="rect">
            <a:avLst/>
          </a:prstGeom>
          <a:noFill/>
          <a:ln/>
        </p:spPr>
        <p:txBody>
          <a:bodyPr wrap="square" lIns="0" tIns="0" rIns="0" bIns="0" rtlCol="0" anchor="t"/>
          <a:lstStyle/>
          <a:p>
            <a:pPr algn="l" indent="0" marL="0">
              <a:lnSpc>
                <a:spcPts val="1330"/>
              </a:lnSpc>
              <a:buNone/>
            </a:pPr>
            <a:r>
              <a:rPr lang="en-US" sz="950" dirty="0">
                <a:solidFill>
                  <a:srgbClr val="CBD5E1"/>
                </a:solidFill>
                <a:latin typeface="Arial" pitchFamily="34" charset="0"/>
                <a:ea typeface="Arial" pitchFamily="34" charset="-122"/>
                <a:cs typeface="Arial" pitchFamily="34" charset="-120"/>
              </a:rPr>
              <a:t>Set Aside or Vacate</a:t>
            </a:r>
            <a:endParaRPr lang="en-US" sz="950" dirty="0"/>
          </a:p>
        </p:txBody>
      </p:sp>
      <p:sp>
        <p:nvSpPr>
          <p:cNvPr id="38" name="Text 35"/>
          <p:cNvSpPr/>
          <p:nvPr/>
        </p:nvSpPr>
        <p:spPr>
          <a:xfrm>
            <a:off x="8384977" y="3351312"/>
            <a:ext cx="307860" cy="168920"/>
          </a:xfrm>
          <a:prstGeom prst="rect">
            <a:avLst/>
          </a:prstGeom>
          <a:noFill/>
          <a:ln/>
        </p:spPr>
        <p:txBody>
          <a:bodyPr wrap="square" lIns="0" tIns="0" rIns="0" bIns="0" rtlCol="0" anchor="t"/>
          <a:lstStyle/>
          <a:p>
            <a:pPr algn="l" indent="0" marL="0">
              <a:lnSpc>
                <a:spcPts val="1330"/>
              </a:lnSpc>
              <a:buNone/>
            </a:pPr>
            <a:r>
              <a:rPr lang="en-US" sz="950" b="1" dirty="0">
                <a:solidFill>
                  <a:srgbClr val="EF4444"/>
                </a:solidFill>
                <a:latin typeface="Arial" pitchFamily="34" charset="0"/>
                <a:ea typeface="Arial" pitchFamily="34" charset="-122"/>
                <a:cs typeface="Arial" pitchFamily="34" charset="-120"/>
              </a:rPr>
              <a:t>0.179</a:t>
            </a:r>
            <a:endParaRPr lang="en-US" sz="950" dirty="0"/>
          </a:p>
        </p:txBody>
      </p:sp>
      <p:sp>
        <p:nvSpPr>
          <p:cNvPr id="39" name="Shape 36"/>
          <p:cNvSpPr/>
          <p:nvPr/>
        </p:nvSpPr>
        <p:spPr>
          <a:xfrm>
            <a:off x="4698950" y="3893641"/>
            <a:ext cx="3987850" cy="0"/>
          </a:xfrm>
          <a:prstGeom prst="line">
            <a:avLst/>
          </a:prstGeom>
          <a:noFill/>
          <a:ln w="9525">
            <a:solidFill>
              <a:srgbClr val="FFFFFF"/>
            </a:solidFill>
            <a:prstDash val="solid"/>
          </a:ln>
        </p:spPr>
      </p:sp>
      <p:sp>
        <p:nvSpPr>
          <p:cNvPr id="40" name="Text 37"/>
          <p:cNvSpPr/>
          <p:nvPr/>
        </p:nvSpPr>
        <p:spPr>
          <a:xfrm>
            <a:off x="4698950" y="3656558"/>
            <a:ext cx="888968" cy="168920"/>
          </a:xfrm>
          <a:prstGeom prst="rect">
            <a:avLst/>
          </a:prstGeom>
          <a:noFill/>
          <a:ln/>
        </p:spPr>
        <p:txBody>
          <a:bodyPr wrap="square" lIns="0" tIns="0" rIns="0" bIns="0" rtlCol="0" anchor="t"/>
          <a:lstStyle/>
          <a:p>
            <a:pPr algn="l" indent="0" marL="0">
              <a:lnSpc>
                <a:spcPts val="1330"/>
              </a:lnSpc>
              <a:buNone/>
            </a:pPr>
            <a:r>
              <a:rPr lang="en-US" sz="950" dirty="0">
                <a:solidFill>
                  <a:srgbClr val="CBD5E1"/>
                </a:solidFill>
                <a:latin typeface="Arial" pitchFamily="34" charset="0"/>
                <a:ea typeface="Arial" pitchFamily="34" charset="-122"/>
                <a:cs typeface="Arial" pitchFamily="34" charset="-120"/>
              </a:rPr>
              <a:t>Reconsideration</a:t>
            </a:r>
            <a:endParaRPr lang="en-US" sz="950" dirty="0"/>
          </a:p>
        </p:txBody>
      </p:sp>
      <p:sp>
        <p:nvSpPr>
          <p:cNvPr id="41" name="Text 38"/>
          <p:cNvSpPr/>
          <p:nvPr/>
        </p:nvSpPr>
        <p:spPr>
          <a:xfrm>
            <a:off x="8384977" y="3656558"/>
            <a:ext cx="307860" cy="168920"/>
          </a:xfrm>
          <a:prstGeom prst="rect">
            <a:avLst/>
          </a:prstGeom>
          <a:noFill/>
          <a:ln/>
        </p:spPr>
        <p:txBody>
          <a:bodyPr wrap="square" lIns="0" tIns="0" rIns="0" bIns="0" rtlCol="0" anchor="t"/>
          <a:lstStyle/>
          <a:p>
            <a:pPr algn="l" indent="0" marL="0">
              <a:lnSpc>
                <a:spcPts val="1330"/>
              </a:lnSpc>
              <a:buNone/>
            </a:pPr>
            <a:r>
              <a:rPr lang="en-US" sz="950" b="1" dirty="0">
                <a:solidFill>
                  <a:srgbClr val="EF4444"/>
                </a:solidFill>
                <a:latin typeface="Arial" pitchFamily="34" charset="0"/>
                <a:ea typeface="Arial" pitchFamily="34" charset="-122"/>
                <a:cs typeface="Arial" pitchFamily="34" charset="-120"/>
              </a:rPr>
              <a:t>0.195</a:t>
            </a:r>
            <a:endParaRPr lang="en-US" sz="950" dirty="0"/>
          </a:p>
        </p:txBody>
      </p:sp>
      <p:sp>
        <p:nvSpPr>
          <p:cNvPr id="42" name="Shape 39"/>
          <p:cNvSpPr/>
          <p:nvPr/>
        </p:nvSpPr>
        <p:spPr>
          <a:xfrm>
            <a:off x="4698950" y="4198888"/>
            <a:ext cx="3987850" cy="0"/>
          </a:xfrm>
          <a:prstGeom prst="line">
            <a:avLst/>
          </a:prstGeom>
          <a:noFill/>
          <a:ln w="9525">
            <a:solidFill>
              <a:srgbClr val="FFFFFF"/>
            </a:solidFill>
            <a:prstDash val="solid"/>
          </a:ln>
        </p:spPr>
      </p:sp>
      <p:sp>
        <p:nvSpPr>
          <p:cNvPr id="43" name="Text 40"/>
          <p:cNvSpPr/>
          <p:nvPr/>
        </p:nvSpPr>
        <p:spPr>
          <a:xfrm>
            <a:off x="4698950" y="3961805"/>
            <a:ext cx="827336" cy="168920"/>
          </a:xfrm>
          <a:prstGeom prst="rect">
            <a:avLst/>
          </a:prstGeom>
          <a:noFill/>
          <a:ln/>
        </p:spPr>
        <p:txBody>
          <a:bodyPr wrap="square" lIns="0" tIns="0" rIns="0" bIns="0" rtlCol="0" anchor="t"/>
          <a:lstStyle/>
          <a:p>
            <a:pPr algn="l" indent="0" marL="0">
              <a:lnSpc>
                <a:spcPts val="1330"/>
              </a:lnSpc>
              <a:buNone/>
            </a:pPr>
            <a:r>
              <a:rPr lang="en-US" sz="950" dirty="0">
                <a:solidFill>
                  <a:srgbClr val="CBD5E1"/>
                </a:solidFill>
                <a:latin typeface="Arial" pitchFamily="34" charset="0"/>
                <a:ea typeface="Arial" pitchFamily="34" charset="-122"/>
                <a:cs typeface="Arial" pitchFamily="34" charset="-120"/>
              </a:rPr>
              <a:t>Strike Pleading</a:t>
            </a:r>
            <a:endParaRPr lang="en-US" sz="950" dirty="0"/>
          </a:p>
        </p:txBody>
      </p:sp>
      <p:sp>
        <p:nvSpPr>
          <p:cNvPr id="44" name="Text 41"/>
          <p:cNvSpPr/>
          <p:nvPr/>
        </p:nvSpPr>
        <p:spPr>
          <a:xfrm>
            <a:off x="8384977" y="3961805"/>
            <a:ext cx="307860" cy="168920"/>
          </a:xfrm>
          <a:prstGeom prst="rect">
            <a:avLst/>
          </a:prstGeom>
          <a:noFill/>
          <a:ln/>
        </p:spPr>
        <p:txBody>
          <a:bodyPr wrap="square" lIns="0" tIns="0" rIns="0" bIns="0" rtlCol="0" anchor="t"/>
          <a:lstStyle/>
          <a:p>
            <a:pPr algn="l" indent="0" marL="0">
              <a:lnSpc>
                <a:spcPts val="1330"/>
              </a:lnSpc>
              <a:buNone/>
            </a:pPr>
            <a:r>
              <a:rPr lang="en-US" sz="950" b="1" dirty="0">
                <a:solidFill>
                  <a:srgbClr val="EF4444"/>
                </a:solidFill>
                <a:latin typeface="Arial" pitchFamily="34" charset="0"/>
                <a:ea typeface="Arial" pitchFamily="34" charset="-122"/>
                <a:cs typeface="Arial" pitchFamily="34" charset="-120"/>
              </a:rPr>
              <a:t>0.216</a:t>
            </a:r>
            <a:endParaRPr lang="en-US" sz="950" dirty="0"/>
          </a:p>
        </p:txBody>
      </p:sp>
      <p:sp>
        <p:nvSpPr>
          <p:cNvPr id="45" name="Shape 42"/>
          <p:cNvSpPr/>
          <p:nvPr/>
        </p:nvSpPr>
        <p:spPr>
          <a:xfrm>
            <a:off x="4698950" y="4504134"/>
            <a:ext cx="3987850" cy="0"/>
          </a:xfrm>
          <a:prstGeom prst="line">
            <a:avLst/>
          </a:prstGeom>
          <a:noFill/>
          <a:ln w="9525">
            <a:solidFill>
              <a:srgbClr val="FFFFFF"/>
            </a:solidFill>
            <a:prstDash val="solid"/>
          </a:ln>
        </p:spPr>
      </p:sp>
      <p:sp>
        <p:nvSpPr>
          <p:cNvPr id="46" name="Text 43"/>
          <p:cNvSpPr/>
          <p:nvPr/>
        </p:nvSpPr>
        <p:spPr>
          <a:xfrm>
            <a:off x="4698950" y="4267051"/>
            <a:ext cx="895496" cy="168920"/>
          </a:xfrm>
          <a:prstGeom prst="rect">
            <a:avLst/>
          </a:prstGeom>
          <a:noFill/>
          <a:ln/>
        </p:spPr>
        <p:txBody>
          <a:bodyPr wrap="square" lIns="0" tIns="0" rIns="0" bIns="0" rtlCol="0" anchor="t"/>
          <a:lstStyle/>
          <a:p>
            <a:pPr algn="l" indent="0" marL="0">
              <a:lnSpc>
                <a:spcPts val="1330"/>
              </a:lnSpc>
              <a:buNone/>
            </a:pPr>
            <a:r>
              <a:rPr lang="en-US" sz="950" dirty="0">
                <a:solidFill>
                  <a:srgbClr val="CBD5E1"/>
                </a:solidFill>
                <a:latin typeface="Arial" pitchFamily="34" charset="0"/>
                <a:ea typeface="Arial" pitchFamily="34" charset="-122"/>
                <a:cs typeface="Arial" pitchFamily="34" charset="-120"/>
              </a:rPr>
              <a:t>Motion for Costs</a:t>
            </a:r>
            <a:endParaRPr lang="en-US" sz="950" dirty="0"/>
          </a:p>
        </p:txBody>
      </p:sp>
      <p:sp>
        <p:nvSpPr>
          <p:cNvPr id="47" name="Text 44"/>
          <p:cNvSpPr/>
          <p:nvPr/>
        </p:nvSpPr>
        <p:spPr>
          <a:xfrm>
            <a:off x="8384977" y="4267051"/>
            <a:ext cx="307860" cy="168920"/>
          </a:xfrm>
          <a:prstGeom prst="rect">
            <a:avLst/>
          </a:prstGeom>
          <a:noFill/>
          <a:ln/>
        </p:spPr>
        <p:txBody>
          <a:bodyPr wrap="square" lIns="0" tIns="0" rIns="0" bIns="0" rtlCol="0" anchor="t"/>
          <a:lstStyle/>
          <a:p>
            <a:pPr algn="l" indent="0" marL="0">
              <a:lnSpc>
                <a:spcPts val="1330"/>
              </a:lnSpc>
              <a:buNone/>
            </a:pPr>
            <a:r>
              <a:rPr lang="en-US" sz="950" b="1" dirty="0">
                <a:solidFill>
                  <a:srgbClr val="EF4444"/>
                </a:solidFill>
                <a:latin typeface="Arial" pitchFamily="34" charset="0"/>
                <a:ea typeface="Arial" pitchFamily="34" charset="-122"/>
                <a:cs typeface="Arial" pitchFamily="34" charset="-120"/>
              </a:rPr>
              <a:t>0.247</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Users/alessandrodibari/Ale/projects/TR_hiring_exercise/outputs/pptx_workspace/slides/accent_teal.png">    </p:cNvPr>
          <p:cNvPicPr>
            <a:picLocks noChangeAspect="1"/>
          </p:cNvPicPr>
          <p:nvPr/>
        </p:nvPicPr>
        <p:blipFill>
          <a:blip r:embed="rId2"/>
          <a:stretch>
            <a:fillRect/>
          </a:stretch>
        </p:blipFill>
        <p:spPr>
          <a:xfrm>
            <a:off x="0" y="0"/>
            <a:ext cx="9144000" cy="50750"/>
          </a:xfrm>
          <a:prstGeom prst="rect">
            <a:avLst/>
          </a:prstGeom>
        </p:spPr>
      </p:pic>
      <p:sp>
        <p:nvSpPr>
          <p:cNvPr id="3" name="Text 0"/>
          <p:cNvSpPr/>
          <p:nvPr/>
        </p:nvSpPr>
        <p:spPr>
          <a:xfrm>
            <a:off x="457200" y="304651"/>
            <a:ext cx="8394192" cy="295275"/>
          </a:xfrm>
          <a:prstGeom prst="rect">
            <a:avLst/>
          </a:prstGeom>
          <a:noFill/>
          <a:ln/>
        </p:spPr>
        <p:txBody>
          <a:bodyPr wrap="square" lIns="0" tIns="0" rIns="0" bIns="0" rtlCol="0" anchor="t"/>
          <a:lstStyle/>
          <a:p>
            <a:pPr algn="l" indent="0" marL="0">
              <a:buNone/>
            </a:pPr>
            <a:r>
              <a:rPr lang="en-US" sz="2000" dirty="0">
                <a:solidFill>
                  <a:srgbClr val="00B4D8"/>
                </a:solidFill>
                <a:latin typeface="Arial" pitchFamily="34" charset="0"/>
                <a:ea typeface="Arial" pitchFamily="34" charset="-122"/>
                <a:cs typeface="Arial" pitchFamily="34" charset="-120"/>
              </a:rPr>
              <a:t>Threshold Optimization: </a:t>
            </a:r>
            <a:pPr algn="l" indent="0" marL="0">
              <a:buNone/>
            </a:pPr>
            <a:r>
              <a:rPr lang="en-US" sz="2000" b="1" dirty="0">
                <a:solidFill>
                  <a:srgbClr val="22C55E"/>
                </a:solidFill>
                <a:latin typeface="Arial" pitchFamily="34" charset="0"/>
                <a:ea typeface="Arial" pitchFamily="34" charset="-122"/>
                <a:cs typeface="Arial" pitchFamily="34" charset="-120"/>
              </a:rPr>
              <a:t>Transformer Wins</a:t>
            </a:r>
            <a:endParaRPr lang="en-US" sz="2000" dirty="0"/>
          </a:p>
        </p:txBody>
      </p:sp>
      <p:sp>
        <p:nvSpPr>
          <p:cNvPr id="4" name="Text 1"/>
          <p:cNvSpPr/>
          <p:nvPr/>
        </p:nvSpPr>
        <p:spPr>
          <a:xfrm>
            <a:off x="457200" y="726877"/>
            <a:ext cx="8394192" cy="133350"/>
          </a:xfrm>
          <a:prstGeom prst="rect">
            <a:avLst/>
          </a:prstGeom>
          <a:noFill/>
          <a:ln/>
        </p:spPr>
        <p:txBody>
          <a:bodyPr wrap="square" lIns="0" tIns="0" rIns="0" bIns="0" rtlCol="0" anchor="t"/>
          <a:lstStyle/>
          <a:p>
            <a:pPr algn="l" indent="0" marL="0">
              <a:spcAft>
                <a:spcPts val="600"/>
              </a:spcAft>
              <a:buNone/>
            </a:pPr>
            <a:r>
              <a:rPr lang="en-US" sz="900" dirty="0">
                <a:solidFill>
                  <a:srgbClr val="94A3B8"/>
                </a:solidFill>
                <a:latin typeface="Arial" pitchFamily="34" charset="0"/>
                <a:ea typeface="Arial" pitchFamily="34" charset="-122"/>
                <a:cs typeface="Arial" pitchFamily="34" charset="-120"/>
              </a:rPr>
              <a:t>MODEL COMPARISON (TEST SET)</a:t>
            </a:r>
            <a:endParaRPr lang="en-US" sz="900" dirty="0"/>
          </a:p>
        </p:txBody>
      </p:sp>
      <p:sp>
        <p:nvSpPr>
          <p:cNvPr id="5" name="Shape 2"/>
          <p:cNvSpPr/>
          <p:nvPr/>
        </p:nvSpPr>
        <p:spPr>
          <a:xfrm>
            <a:off x="457200" y="1231702"/>
            <a:ext cx="8229600" cy="0"/>
          </a:xfrm>
          <a:prstGeom prst="line">
            <a:avLst/>
          </a:prstGeom>
          <a:noFill/>
          <a:ln w="19050">
            <a:solidFill>
              <a:srgbClr val="FFFFFF"/>
            </a:solidFill>
            <a:prstDash val="solid"/>
          </a:ln>
        </p:spPr>
      </p:sp>
      <p:sp>
        <p:nvSpPr>
          <p:cNvPr id="6" name="Text 3"/>
          <p:cNvSpPr/>
          <p:nvPr/>
        </p:nvSpPr>
        <p:spPr>
          <a:xfrm>
            <a:off x="457200" y="1012627"/>
            <a:ext cx="1937028" cy="133350"/>
          </a:xfrm>
          <a:prstGeom prst="rect">
            <a:avLst/>
          </a:prstGeom>
          <a:noFill/>
          <a:ln/>
        </p:spPr>
        <p:txBody>
          <a:bodyPr wrap="square" lIns="0" tIns="0" rIns="0" bIns="0" rtlCol="0" anchor="t"/>
          <a:lstStyle/>
          <a:p>
            <a:pPr algn="l" indent="0" marL="0">
              <a:buNone/>
            </a:pPr>
            <a:r>
              <a:rPr lang="en-US" sz="900" b="1" dirty="0">
                <a:solidFill>
                  <a:srgbClr val="94A3B8"/>
                </a:solidFill>
                <a:latin typeface="Arial" pitchFamily="34" charset="0"/>
                <a:ea typeface="Arial" pitchFamily="34" charset="-122"/>
                <a:cs typeface="Arial" pitchFamily="34" charset="-120"/>
              </a:rPr>
              <a:t>Metric</a:t>
            </a:r>
            <a:endParaRPr lang="en-US" sz="900" dirty="0"/>
          </a:p>
        </p:txBody>
      </p:sp>
      <p:sp>
        <p:nvSpPr>
          <p:cNvPr id="7" name="Text 4"/>
          <p:cNvSpPr/>
          <p:nvPr/>
        </p:nvSpPr>
        <p:spPr>
          <a:xfrm>
            <a:off x="2340420" y="1012627"/>
            <a:ext cx="1614291" cy="133350"/>
          </a:xfrm>
          <a:prstGeom prst="rect">
            <a:avLst/>
          </a:prstGeom>
          <a:noFill/>
          <a:ln/>
        </p:spPr>
        <p:txBody>
          <a:bodyPr wrap="square" lIns="0" tIns="0" rIns="0" bIns="0" rtlCol="0" anchor="t"/>
          <a:lstStyle/>
          <a:p>
            <a:pPr algn="ctr" indent="0" marL="0">
              <a:buNone/>
            </a:pPr>
            <a:r>
              <a:rPr lang="en-US" sz="900" b="1" dirty="0">
                <a:solidFill>
                  <a:srgbClr val="94A3B8"/>
                </a:solidFill>
                <a:latin typeface="Arial" pitchFamily="34" charset="0"/>
                <a:ea typeface="Arial" pitchFamily="34" charset="-122"/>
                <a:cs typeface="Arial" pitchFamily="34" charset="-120"/>
              </a:rPr>
              <a:t>TF-IDF</a:t>
            </a:r>
            <a:endParaRPr lang="en-US" sz="900" dirty="0"/>
          </a:p>
        </p:txBody>
      </p:sp>
      <p:sp>
        <p:nvSpPr>
          <p:cNvPr id="8" name="Text 5"/>
          <p:cNvSpPr/>
          <p:nvPr/>
        </p:nvSpPr>
        <p:spPr>
          <a:xfrm>
            <a:off x="3923059" y="1012627"/>
            <a:ext cx="1614291" cy="133350"/>
          </a:xfrm>
          <a:prstGeom prst="rect">
            <a:avLst/>
          </a:prstGeom>
          <a:noFill/>
          <a:ln/>
        </p:spPr>
        <p:txBody>
          <a:bodyPr wrap="square" lIns="0" tIns="0" rIns="0" bIns="0" rtlCol="0" anchor="t"/>
          <a:lstStyle/>
          <a:p>
            <a:pPr algn="ctr" indent="0" marL="0">
              <a:buNone/>
            </a:pPr>
            <a:r>
              <a:rPr lang="en-US" sz="900" b="1" dirty="0">
                <a:solidFill>
                  <a:srgbClr val="94A3B8"/>
                </a:solidFill>
                <a:latin typeface="Arial" pitchFamily="34" charset="0"/>
                <a:ea typeface="Arial" pitchFamily="34" charset="-122"/>
                <a:cs typeface="Arial" pitchFamily="34" charset="-120"/>
              </a:rPr>
              <a:t>LF (0.5)</a:t>
            </a:r>
            <a:endParaRPr lang="en-US" sz="900" dirty="0"/>
          </a:p>
        </p:txBody>
      </p:sp>
      <p:sp>
        <p:nvSpPr>
          <p:cNvPr id="9" name="Text 6"/>
          <p:cNvSpPr/>
          <p:nvPr/>
        </p:nvSpPr>
        <p:spPr>
          <a:xfrm>
            <a:off x="5505697" y="1012627"/>
            <a:ext cx="1614291" cy="133350"/>
          </a:xfrm>
          <a:prstGeom prst="rect">
            <a:avLst/>
          </a:prstGeom>
          <a:noFill/>
          <a:ln/>
        </p:spPr>
        <p:txBody>
          <a:bodyPr wrap="square" lIns="0" tIns="0" rIns="0" bIns="0" rtlCol="0" anchor="t"/>
          <a:lstStyle/>
          <a:p>
            <a:pPr algn="ctr" indent="0" marL="0">
              <a:buNone/>
            </a:pPr>
            <a:r>
              <a:rPr lang="en-US" sz="900" b="1" dirty="0">
                <a:solidFill>
                  <a:srgbClr val="94A3B8"/>
                </a:solidFill>
                <a:latin typeface="Arial" pitchFamily="34" charset="0"/>
                <a:ea typeface="Arial" pitchFamily="34" charset="-122"/>
                <a:cs typeface="Arial" pitchFamily="34" charset="-120"/>
              </a:rPr>
              <a:t>LF (0.6)</a:t>
            </a:r>
            <a:endParaRPr lang="en-US" sz="900" dirty="0"/>
          </a:p>
        </p:txBody>
      </p:sp>
      <p:sp>
        <p:nvSpPr>
          <p:cNvPr id="10" name="Text 7"/>
          <p:cNvSpPr/>
          <p:nvPr/>
        </p:nvSpPr>
        <p:spPr>
          <a:xfrm>
            <a:off x="7088335" y="1012627"/>
            <a:ext cx="1614291" cy="133350"/>
          </a:xfrm>
          <a:prstGeom prst="rect">
            <a:avLst/>
          </a:prstGeom>
          <a:noFill/>
          <a:ln/>
        </p:spPr>
        <p:txBody>
          <a:bodyPr wrap="square" lIns="0" tIns="0" rIns="0" bIns="0" rtlCol="0" anchor="t"/>
          <a:lstStyle/>
          <a:p>
            <a:pPr algn="ctr" indent="0" marL="0">
              <a:buNone/>
            </a:pPr>
            <a:r>
              <a:rPr lang="en-US" sz="900" b="1" dirty="0">
                <a:solidFill>
                  <a:srgbClr val="22C55E"/>
                </a:solidFill>
                <a:latin typeface="Arial" pitchFamily="34" charset="0"/>
                <a:ea typeface="Arial" pitchFamily="34" charset="-122"/>
                <a:cs typeface="Arial" pitchFamily="34" charset="-120"/>
              </a:rPr>
              <a:t>LF Per-Class</a:t>
            </a:r>
            <a:endParaRPr lang="en-US" sz="900" dirty="0"/>
          </a:p>
        </p:txBody>
      </p:sp>
      <p:sp>
        <p:nvSpPr>
          <p:cNvPr id="11" name="Text 8"/>
          <p:cNvSpPr/>
          <p:nvPr/>
        </p:nvSpPr>
        <p:spPr>
          <a:xfrm>
            <a:off x="457200" y="1241227"/>
            <a:ext cx="8229600" cy="279202"/>
          </a:xfrm>
          <a:prstGeom prst="roundRect">
            <a:avLst>
              <a:gd name="adj" fmla="val 13646"/>
            </a:avLst>
          </a:prstGeom>
          <a:solidFill>
            <a:srgbClr val="22C55E">
              <a:alpha val="6000"/>
            </a:srgbClr>
          </a:solidFill>
          <a:ln/>
        </p:spPr>
        <p:txBody>
          <a:bodyPr wrap="square" rtlCol="0" anchor="ctr"/>
          <a:lstStyle/>
          <a:p>
            <a:pPr indent="0" marL="0">
              <a:buNone/>
            </a:pPr>
            <a:endParaRPr lang="en-US" dirty="0"/>
          </a:p>
        </p:txBody>
      </p:sp>
      <p:sp>
        <p:nvSpPr>
          <p:cNvPr id="12" name="Shape 9"/>
          <p:cNvSpPr/>
          <p:nvPr/>
        </p:nvSpPr>
        <p:spPr>
          <a:xfrm>
            <a:off x="457200" y="1515666"/>
            <a:ext cx="8229600" cy="0"/>
          </a:xfrm>
          <a:prstGeom prst="line">
            <a:avLst/>
          </a:prstGeom>
          <a:noFill/>
          <a:ln w="9525">
            <a:solidFill>
              <a:srgbClr val="22C55E"/>
            </a:solidFill>
            <a:prstDash val="solid"/>
          </a:ln>
        </p:spPr>
      </p:sp>
      <p:sp>
        <p:nvSpPr>
          <p:cNvPr id="13" name="Text 10"/>
          <p:cNvSpPr/>
          <p:nvPr/>
        </p:nvSpPr>
        <p:spPr>
          <a:xfrm>
            <a:off x="457200" y="1304627"/>
            <a:ext cx="1937028" cy="142875"/>
          </a:xfrm>
          <a:prstGeom prst="rect">
            <a:avLst/>
          </a:prstGeom>
          <a:noFill/>
          <a:ln/>
        </p:spPr>
        <p:txBody>
          <a:bodyPr wrap="square" lIns="0" tIns="0" rIns="0" bIns="0" rtlCol="0" anchor="t"/>
          <a:lstStyle/>
          <a:p>
            <a:pPr algn="l" indent="0" marL="0">
              <a:buNone/>
            </a:pPr>
            <a:r>
              <a:rPr lang="en-US" sz="1000" b="1" dirty="0">
                <a:solidFill>
                  <a:srgbClr val="E2E8F0"/>
                </a:solidFill>
                <a:latin typeface="Arial" pitchFamily="34" charset="0"/>
                <a:ea typeface="Arial" pitchFamily="34" charset="-122"/>
                <a:cs typeface="Arial" pitchFamily="34" charset="-120"/>
              </a:rPr>
              <a:t>F1 Micro</a:t>
            </a:r>
            <a:endParaRPr lang="en-US" sz="1000" dirty="0"/>
          </a:p>
        </p:txBody>
      </p:sp>
      <p:sp>
        <p:nvSpPr>
          <p:cNvPr id="14" name="Text 11"/>
          <p:cNvSpPr/>
          <p:nvPr/>
        </p:nvSpPr>
        <p:spPr>
          <a:xfrm>
            <a:off x="2340420" y="1304627"/>
            <a:ext cx="1614291" cy="142875"/>
          </a:xfrm>
          <a:prstGeom prst="rect">
            <a:avLst/>
          </a:prstGeom>
          <a:noFill/>
          <a:ln/>
        </p:spPr>
        <p:txBody>
          <a:bodyPr wrap="square" lIns="0" tIns="0" rIns="0" bIns="0" rtlCol="0" anchor="t"/>
          <a:lstStyle/>
          <a:p>
            <a:pPr algn="ctr" indent="0" marL="0">
              <a:buNone/>
            </a:pPr>
            <a:r>
              <a:rPr lang="en-US" sz="1000" dirty="0">
                <a:solidFill>
                  <a:srgbClr val="94A3B8"/>
                </a:solidFill>
                <a:latin typeface="Arial" pitchFamily="34" charset="0"/>
                <a:ea typeface="Arial" pitchFamily="34" charset="-122"/>
                <a:cs typeface="Arial" pitchFamily="34" charset="-120"/>
              </a:rPr>
              <a:t>0.7524</a:t>
            </a:r>
            <a:endParaRPr lang="en-US" sz="1000" dirty="0"/>
          </a:p>
        </p:txBody>
      </p:sp>
      <p:sp>
        <p:nvSpPr>
          <p:cNvPr id="15" name="Text 12"/>
          <p:cNvSpPr/>
          <p:nvPr/>
        </p:nvSpPr>
        <p:spPr>
          <a:xfrm>
            <a:off x="3923059" y="1304627"/>
            <a:ext cx="1614291" cy="142875"/>
          </a:xfrm>
          <a:prstGeom prst="rect">
            <a:avLst/>
          </a:prstGeom>
          <a:noFill/>
          <a:ln/>
        </p:spPr>
        <p:txBody>
          <a:bodyPr wrap="square" lIns="0" tIns="0" rIns="0" bIns="0" rtlCol="0" anchor="t"/>
          <a:lstStyle/>
          <a:p>
            <a:pPr algn="ctr" indent="0" marL="0">
              <a:buNone/>
            </a:pPr>
            <a:r>
              <a:rPr lang="en-US" sz="1000" dirty="0">
                <a:solidFill>
                  <a:srgbClr val="64748B"/>
                </a:solidFill>
                <a:latin typeface="Arial" pitchFamily="34" charset="0"/>
                <a:ea typeface="Arial" pitchFamily="34" charset="-122"/>
                <a:cs typeface="Arial" pitchFamily="34" charset="-120"/>
              </a:rPr>
              <a:t>0.6333</a:t>
            </a:r>
            <a:endParaRPr lang="en-US" sz="1000" dirty="0"/>
          </a:p>
        </p:txBody>
      </p:sp>
      <p:sp>
        <p:nvSpPr>
          <p:cNvPr id="16" name="Text 13"/>
          <p:cNvSpPr/>
          <p:nvPr/>
        </p:nvSpPr>
        <p:spPr>
          <a:xfrm>
            <a:off x="5505697" y="1304627"/>
            <a:ext cx="1614291" cy="142875"/>
          </a:xfrm>
          <a:prstGeom prst="rect">
            <a:avLst/>
          </a:prstGeom>
          <a:noFill/>
          <a:ln/>
        </p:spPr>
        <p:txBody>
          <a:bodyPr wrap="square" lIns="0" tIns="0" rIns="0" bIns="0" rtlCol="0" anchor="t"/>
          <a:lstStyle/>
          <a:p>
            <a:pPr algn="ctr" indent="0" marL="0">
              <a:buNone/>
            </a:pPr>
            <a:r>
              <a:rPr lang="en-US" sz="1000" dirty="0">
                <a:solidFill>
                  <a:srgbClr val="94A3B8"/>
                </a:solidFill>
                <a:latin typeface="Arial" pitchFamily="34" charset="0"/>
                <a:ea typeface="Arial" pitchFamily="34" charset="-122"/>
                <a:cs typeface="Arial" pitchFamily="34" charset="-120"/>
              </a:rPr>
              <a:t>0.7018</a:t>
            </a:r>
            <a:endParaRPr lang="en-US" sz="1000" dirty="0"/>
          </a:p>
        </p:txBody>
      </p:sp>
      <p:sp>
        <p:nvSpPr>
          <p:cNvPr id="17" name="Text 14"/>
          <p:cNvSpPr/>
          <p:nvPr/>
        </p:nvSpPr>
        <p:spPr>
          <a:xfrm>
            <a:off x="7088335" y="1304627"/>
            <a:ext cx="1614291" cy="142875"/>
          </a:xfrm>
          <a:prstGeom prst="rect">
            <a:avLst/>
          </a:prstGeom>
          <a:noFill/>
          <a:ln/>
        </p:spPr>
        <p:txBody>
          <a:bodyPr wrap="square" lIns="0" tIns="0" rIns="0" bIns="0" rtlCol="0" anchor="t"/>
          <a:lstStyle/>
          <a:p>
            <a:pPr algn="ctr" indent="0" marL="0">
              <a:buNone/>
            </a:pPr>
            <a:r>
              <a:rPr lang="en-US" sz="1000" b="1" dirty="0">
                <a:solidFill>
                  <a:srgbClr val="22C55E"/>
                </a:solidFill>
                <a:latin typeface="Arial" pitchFamily="34" charset="0"/>
                <a:ea typeface="Arial" pitchFamily="34" charset="-122"/>
                <a:cs typeface="Arial" pitchFamily="34" charset="-120"/>
              </a:rPr>
              <a:t>0.7735</a:t>
            </a:r>
            <a:endParaRPr lang="en-US" sz="1000" dirty="0"/>
          </a:p>
        </p:txBody>
      </p:sp>
      <p:sp>
        <p:nvSpPr>
          <p:cNvPr id="18" name="Text 15"/>
          <p:cNvSpPr/>
          <p:nvPr/>
        </p:nvSpPr>
        <p:spPr>
          <a:xfrm>
            <a:off x="457200" y="1520428"/>
            <a:ext cx="8229600" cy="279202"/>
          </a:xfrm>
          <a:prstGeom prst="roundRect">
            <a:avLst>
              <a:gd name="adj" fmla="val 13646"/>
            </a:avLst>
          </a:prstGeom>
          <a:solidFill>
            <a:srgbClr val="22C55E">
              <a:alpha val="6000"/>
            </a:srgbClr>
          </a:solidFill>
          <a:ln/>
        </p:spPr>
        <p:txBody>
          <a:bodyPr wrap="square" rtlCol="0" anchor="ctr"/>
          <a:lstStyle/>
          <a:p>
            <a:pPr indent="0" marL="0">
              <a:buNone/>
            </a:pPr>
            <a:endParaRPr lang="en-US" dirty="0"/>
          </a:p>
        </p:txBody>
      </p:sp>
      <p:sp>
        <p:nvSpPr>
          <p:cNvPr id="19" name="Shape 16"/>
          <p:cNvSpPr/>
          <p:nvPr/>
        </p:nvSpPr>
        <p:spPr>
          <a:xfrm>
            <a:off x="457200" y="1794867"/>
            <a:ext cx="8229600" cy="0"/>
          </a:xfrm>
          <a:prstGeom prst="line">
            <a:avLst/>
          </a:prstGeom>
          <a:noFill/>
          <a:ln w="9525">
            <a:solidFill>
              <a:srgbClr val="22C55E"/>
            </a:solidFill>
            <a:prstDash val="solid"/>
          </a:ln>
        </p:spPr>
      </p:sp>
      <p:sp>
        <p:nvSpPr>
          <p:cNvPr id="20" name="Text 17"/>
          <p:cNvSpPr/>
          <p:nvPr/>
        </p:nvSpPr>
        <p:spPr>
          <a:xfrm>
            <a:off x="457200" y="1583829"/>
            <a:ext cx="1937028" cy="142875"/>
          </a:xfrm>
          <a:prstGeom prst="rect">
            <a:avLst/>
          </a:prstGeom>
          <a:noFill/>
          <a:ln/>
        </p:spPr>
        <p:txBody>
          <a:bodyPr wrap="square" lIns="0" tIns="0" rIns="0" bIns="0" rtlCol="0" anchor="t"/>
          <a:lstStyle/>
          <a:p>
            <a:pPr algn="l" indent="0" marL="0">
              <a:buNone/>
            </a:pPr>
            <a:r>
              <a:rPr lang="en-US" sz="1000" b="1" dirty="0">
                <a:solidFill>
                  <a:srgbClr val="E2E8F0"/>
                </a:solidFill>
                <a:latin typeface="Arial" pitchFamily="34" charset="0"/>
                <a:ea typeface="Arial" pitchFamily="34" charset="-122"/>
                <a:cs typeface="Arial" pitchFamily="34" charset="-120"/>
              </a:rPr>
              <a:t>F1 Macro</a:t>
            </a:r>
            <a:endParaRPr lang="en-US" sz="1000" dirty="0"/>
          </a:p>
        </p:txBody>
      </p:sp>
      <p:sp>
        <p:nvSpPr>
          <p:cNvPr id="21" name="Text 18"/>
          <p:cNvSpPr/>
          <p:nvPr/>
        </p:nvSpPr>
        <p:spPr>
          <a:xfrm>
            <a:off x="2340420" y="1583829"/>
            <a:ext cx="1614291" cy="142875"/>
          </a:xfrm>
          <a:prstGeom prst="rect">
            <a:avLst/>
          </a:prstGeom>
          <a:noFill/>
          <a:ln/>
        </p:spPr>
        <p:txBody>
          <a:bodyPr wrap="square" lIns="0" tIns="0" rIns="0" bIns="0" rtlCol="0" anchor="t"/>
          <a:lstStyle/>
          <a:p>
            <a:pPr algn="ctr" indent="0" marL="0">
              <a:buNone/>
            </a:pPr>
            <a:r>
              <a:rPr lang="en-US" sz="1000" dirty="0">
                <a:solidFill>
                  <a:srgbClr val="94A3B8"/>
                </a:solidFill>
                <a:latin typeface="Arial" pitchFamily="34" charset="0"/>
                <a:ea typeface="Arial" pitchFamily="34" charset="-122"/>
                <a:cs typeface="Arial" pitchFamily="34" charset="-120"/>
              </a:rPr>
              <a:t>0.5330</a:t>
            </a:r>
            <a:endParaRPr lang="en-US" sz="1000" dirty="0"/>
          </a:p>
        </p:txBody>
      </p:sp>
      <p:sp>
        <p:nvSpPr>
          <p:cNvPr id="22" name="Text 19"/>
          <p:cNvSpPr/>
          <p:nvPr/>
        </p:nvSpPr>
        <p:spPr>
          <a:xfrm>
            <a:off x="3923059" y="1583829"/>
            <a:ext cx="1614291" cy="142875"/>
          </a:xfrm>
          <a:prstGeom prst="rect">
            <a:avLst/>
          </a:prstGeom>
          <a:noFill/>
          <a:ln/>
        </p:spPr>
        <p:txBody>
          <a:bodyPr wrap="square" lIns="0" tIns="0" rIns="0" bIns="0" rtlCol="0" anchor="t"/>
          <a:lstStyle/>
          <a:p>
            <a:pPr algn="ctr" indent="0" marL="0">
              <a:buNone/>
            </a:pPr>
            <a:r>
              <a:rPr lang="en-US" sz="1000" dirty="0">
                <a:solidFill>
                  <a:srgbClr val="64748B"/>
                </a:solidFill>
                <a:latin typeface="Arial" pitchFamily="34" charset="0"/>
                <a:ea typeface="Arial" pitchFamily="34" charset="-122"/>
                <a:cs typeface="Arial" pitchFamily="34" charset="-120"/>
              </a:rPr>
              <a:t>0.4718</a:t>
            </a:r>
            <a:endParaRPr lang="en-US" sz="1000" dirty="0"/>
          </a:p>
        </p:txBody>
      </p:sp>
      <p:sp>
        <p:nvSpPr>
          <p:cNvPr id="23" name="Text 20"/>
          <p:cNvSpPr/>
          <p:nvPr/>
        </p:nvSpPr>
        <p:spPr>
          <a:xfrm>
            <a:off x="5505697" y="1583829"/>
            <a:ext cx="1614291" cy="142875"/>
          </a:xfrm>
          <a:prstGeom prst="rect">
            <a:avLst/>
          </a:prstGeom>
          <a:noFill/>
          <a:ln/>
        </p:spPr>
        <p:txBody>
          <a:bodyPr wrap="square" lIns="0" tIns="0" rIns="0" bIns="0" rtlCol="0" anchor="t"/>
          <a:lstStyle/>
          <a:p>
            <a:pPr algn="ctr" indent="0" marL="0">
              <a:buNone/>
            </a:pPr>
            <a:r>
              <a:rPr lang="en-US" sz="1000" dirty="0">
                <a:solidFill>
                  <a:srgbClr val="94A3B8"/>
                </a:solidFill>
                <a:latin typeface="Arial" pitchFamily="34" charset="0"/>
                <a:ea typeface="Arial" pitchFamily="34" charset="-122"/>
                <a:cs typeface="Arial" pitchFamily="34" charset="-120"/>
              </a:rPr>
              <a:t>0.5420</a:t>
            </a:r>
            <a:endParaRPr lang="en-US" sz="1000" dirty="0"/>
          </a:p>
        </p:txBody>
      </p:sp>
      <p:sp>
        <p:nvSpPr>
          <p:cNvPr id="24" name="Text 21"/>
          <p:cNvSpPr/>
          <p:nvPr/>
        </p:nvSpPr>
        <p:spPr>
          <a:xfrm>
            <a:off x="7088335" y="1583829"/>
            <a:ext cx="1614291" cy="142875"/>
          </a:xfrm>
          <a:prstGeom prst="rect">
            <a:avLst/>
          </a:prstGeom>
          <a:noFill/>
          <a:ln/>
        </p:spPr>
        <p:txBody>
          <a:bodyPr wrap="square" lIns="0" tIns="0" rIns="0" bIns="0" rtlCol="0" anchor="t"/>
          <a:lstStyle/>
          <a:p>
            <a:pPr algn="ctr" indent="0" marL="0">
              <a:buNone/>
            </a:pPr>
            <a:r>
              <a:rPr lang="en-US" sz="1000" b="1" dirty="0">
                <a:solidFill>
                  <a:srgbClr val="22C55E"/>
                </a:solidFill>
                <a:latin typeface="Arial" pitchFamily="34" charset="0"/>
                <a:ea typeface="Arial" pitchFamily="34" charset="-122"/>
                <a:cs typeface="Arial" pitchFamily="34" charset="-120"/>
              </a:rPr>
              <a:t>0.6000</a:t>
            </a:r>
            <a:endParaRPr lang="en-US" sz="1000" dirty="0"/>
          </a:p>
        </p:txBody>
      </p:sp>
      <p:sp>
        <p:nvSpPr>
          <p:cNvPr id="25" name="Shape 22"/>
          <p:cNvSpPr/>
          <p:nvPr/>
        </p:nvSpPr>
        <p:spPr>
          <a:xfrm>
            <a:off x="457200" y="2074069"/>
            <a:ext cx="8229600" cy="0"/>
          </a:xfrm>
          <a:prstGeom prst="line">
            <a:avLst/>
          </a:prstGeom>
          <a:noFill/>
          <a:ln w="9525">
            <a:solidFill>
              <a:srgbClr val="FFFFFF"/>
            </a:solidFill>
            <a:prstDash val="solid"/>
          </a:ln>
        </p:spPr>
      </p:sp>
      <p:sp>
        <p:nvSpPr>
          <p:cNvPr id="26" name="Text 23"/>
          <p:cNvSpPr/>
          <p:nvPr/>
        </p:nvSpPr>
        <p:spPr>
          <a:xfrm>
            <a:off x="457200" y="1863030"/>
            <a:ext cx="1937028" cy="142875"/>
          </a:xfrm>
          <a:prstGeom prst="rect">
            <a:avLst/>
          </a:prstGeom>
          <a:noFill/>
          <a:ln/>
        </p:spPr>
        <p:txBody>
          <a:bodyPr wrap="square" lIns="0" tIns="0" rIns="0" bIns="0" rtlCol="0" anchor="t"/>
          <a:lstStyle/>
          <a:p>
            <a:pPr algn="l" indent="0" marL="0">
              <a:buNone/>
            </a:pPr>
            <a:r>
              <a:rPr lang="en-US" sz="1000" dirty="0">
                <a:solidFill>
                  <a:srgbClr val="CBD5E1"/>
                </a:solidFill>
                <a:latin typeface="Arial" pitchFamily="34" charset="0"/>
                <a:ea typeface="Arial" pitchFamily="34" charset="-122"/>
                <a:cs typeface="Arial" pitchFamily="34" charset="-120"/>
              </a:rPr>
              <a:t>Precision</a:t>
            </a:r>
            <a:endParaRPr lang="en-US" sz="1000" dirty="0"/>
          </a:p>
        </p:txBody>
      </p:sp>
      <p:sp>
        <p:nvSpPr>
          <p:cNvPr id="27" name="Text 24"/>
          <p:cNvSpPr/>
          <p:nvPr/>
        </p:nvSpPr>
        <p:spPr>
          <a:xfrm>
            <a:off x="2340420" y="1863030"/>
            <a:ext cx="1614291" cy="142875"/>
          </a:xfrm>
          <a:prstGeom prst="rect">
            <a:avLst/>
          </a:prstGeom>
          <a:noFill/>
          <a:ln/>
        </p:spPr>
        <p:txBody>
          <a:bodyPr wrap="square" lIns="0" tIns="0" rIns="0" bIns="0" rtlCol="0" anchor="t"/>
          <a:lstStyle/>
          <a:p>
            <a:pPr algn="ctr" indent="0" marL="0">
              <a:buNone/>
            </a:pPr>
            <a:r>
              <a:rPr lang="en-US" sz="1000" dirty="0">
                <a:solidFill>
                  <a:srgbClr val="94A3B8"/>
                </a:solidFill>
                <a:latin typeface="Arial" pitchFamily="34" charset="0"/>
                <a:ea typeface="Arial" pitchFamily="34" charset="-122"/>
                <a:cs typeface="Arial" pitchFamily="34" charset="-120"/>
              </a:rPr>
              <a:t>0.6482</a:t>
            </a:r>
            <a:endParaRPr lang="en-US" sz="1000" dirty="0"/>
          </a:p>
        </p:txBody>
      </p:sp>
      <p:sp>
        <p:nvSpPr>
          <p:cNvPr id="28" name="Text 25"/>
          <p:cNvSpPr/>
          <p:nvPr/>
        </p:nvSpPr>
        <p:spPr>
          <a:xfrm>
            <a:off x="3923059" y="1863030"/>
            <a:ext cx="1614291" cy="142875"/>
          </a:xfrm>
          <a:prstGeom prst="rect">
            <a:avLst/>
          </a:prstGeom>
          <a:noFill/>
          <a:ln/>
        </p:spPr>
        <p:txBody>
          <a:bodyPr wrap="square" lIns="0" tIns="0" rIns="0" bIns="0" rtlCol="0" anchor="t"/>
          <a:lstStyle/>
          <a:p>
            <a:pPr algn="ctr" indent="0" marL="0">
              <a:buNone/>
            </a:pPr>
            <a:r>
              <a:rPr lang="en-US" sz="1000" dirty="0">
                <a:solidFill>
                  <a:srgbClr val="64748B"/>
                </a:solidFill>
                <a:latin typeface="Arial" pitchFamily="34" charset="0"/>
                <a:ea typeface="Arial" pitchFamily="34" charset="-122"/>
                <a:cs typeface="Arial" pitchFamily="34" charset="-120"/>
              </a:rPr>
              <a:t>0.4785</a:t>
            </a:r>
            <a:endParaRPr lang="en-US" sz="1000" dirty="0"/>
          </a:p>
        </p:txBody>
      </p:sp>
      <p:sp>
        <p:nvSpPr>
          <p:cNvPr id="29" name="Text 26"/>
          <p:cNvSpPr/>
          <p:nvPr/>
        </p:nvSpPr>
        <p:spPr>
          <a:xfrm>
            <a:off x="5505697" y="1863030"/>
            <a:ext cx="1614291" cy="142875"/>
          </a:xfrm>
          <a:prstGeom prst="rect">
            <a:avLst/>
          </a:prstGeom>
          <a:noFill/>
          <a:ln/>
        </p:spPr>
        <p:txBody>
          <a:bodyPr wrap="square" lIns="0" tIns="0" rIns="0" bIns="0" rtlCol="0" anchor="t"/>
          <a:lstStyle/>
          <a:p>
            <a:pPr algn="ctr" indent="0" marL="0">
              <a:buNone/>
            </a:pPr>
            <a:r>
              <a:rPr lang="en-US" sz="1000" dirty="0">
                <a:solidFill>
                  <a:srgbClr val="94A3B8"/>
                </a:solidFill>
                <a:latin typeface="Arial" pitchFamily="34" charset="0"/>
                <a:ea typeface="Arial" pitchFamily="34" charset="-122"/>
                <a:cs typeface="Arial" pitchFamily="34" charset="-120"/>
              </a:rPr>
              <a:t>0.5853</a:t>
            </a:r>
            <a:endParaRPr lang="en-US" sz="1000" dirty="0"/>
          </a:p>
        </p:txBody>
      </p:sp>
      <p:sp>
        <p:nvSpPr>
          <p:cNvPr id="30" name="Text 27"/>
          <p:cNvSpPr/>
          <p:nvPr/>
        </p:nvSpPr>
        <p:spPr>
          <a:xfrm>
            <a:off x="7088335" y="1863030"/>
            <a:ext cx="1614291" cy="142875"/>
          </a:xfrm>
          <a:prstGeom prst="rect">
            <a:avLst/>
          </a:prstGeom>
          <a:noFill/>
          <a:ln/>
        </p:spPr>
        <p:txBody>
          <a:bodyPr wrap="square" lIns="0" tIns="0" rIns="0" bIns="0" rtlCol="0" anchor="t"/>
          <a:lstStyle/>
          <a:p>
            <a:pPr algn="ctr" indent="0" marL="0">
              <a:buNone/>
            </a:pPr>
            <a:r>
              <a:rPr lang="en-US" sz="1000" dirty="0">
                <a:solidFill>
                  <a:srgbClr val="94A3B8"/>
                </a:solidFill>
                <a:latin typeface="Arial" pitchFamily="34" charset="0"/>
                <a:ea typeface="Arial" pitchFamily="34" charset="-122"/>
                <a:cs typeface="Arial" pitchFamily="34" charset="-120"/>
              </a:rPr>
              <a:t>0.7116</a:t>
            </a:r>
            <a:endParaRPr lang="en-US" sz="1000" dirty="0"/>
          </a:p>
        </p:txBody>
      </p:sp>
      <p:sp>
        <p:nvSpPr>
          <p:cNvPr id="31" name="Shape 28"/>
          <p:cNvSpPr/>
          <p:nvPr/>
        </p:nvSpPr>
        <p:spPr>
          <a:xfrm>
            <a:off x="457200" y="2353270"/>
            <a:ext cx="8229600" cy="0"/>
          </a:xfrm>
          <a:prstGeom prst="line">
            <a:avLst/>
          </a:prstGeom>
          <a:noFill/>
          <a:ln w="9525">
            <a:solidFill>
              <a:srgbClr val="FFFFFF"/>
            </a:solidFill>
            <a:prstDash val="solid"/>
          </a:ln>
        </p:spPr>
      </p:sp>
      <p:sp>
        <p:nvSpPr>
          <p:cNvPr id="32" name="Text 29"/>
          <p:cNvSpPr/>
          <p:nvPr/>
        </p:nvSpPr>
        <p:spPr>
          <a:xfrm>
            <a:off x="457200" y="2142232"/>
            <a:ext cx="1937028" cy="142875"/>
          </a:xfrm>
          <a:prstGeom prst="rect">
            <a:avLst/>
          </a:prstGeom>
          <a:noFill/>
          <a:ln/>
        </p:spPr>
        <p:txBody>
          <a:bodyPr wrap="square" lIns="0" tIns="0" rIns="0" bIns="0" rtlCol="0" anchor="t"/>
          <a:lstStyle/>
          <a:p>
            <a:pPr algn="l" indent="0" marL="0">
              <a:buNone/>
            </a:pPr>
            <a:r>
              <a:rPr lang="en-US" sz="1000" dirty="0">
                <a:solidFill>
                  <a:srgbClr val="CBD5E1"/>
                </a:solidFill>
                <a:latin typeface="Arial" pitchFamily="34" charset="0"/>
                <a:ea typeface="Arial" pitchFamily="34" charset="-122"/>
                <a:cs typeface="Arial" pitchFamily="34" charset="-120"/>
              </a:rPr>
              <a:t>Recall</a:t>
            </a:r>
            <a:endParaRPr lang="en-US" sz="1000" dirty="0"/>
          </a:p>
        </p:txBody>
      </p:sp>
      <p:sp>
        <p:nvSpPr>
          <p:cNvPr id="33" name="Text 30"/>
          <p:cNvSpPr/>
          <p:nvPr/>
        </p:nvSpPr>
        <p:spPr>
          <a:xfrm>
            <a:off x="2340420" y="2142232"/>
            <a:ext cx="1614291" cy="142875"/>
          </a:xfrm>
          <a:prstGeom prst="rect">
            <a:avLst/>
          </a:prstGeom>
          <a:noFill/>
          <a:ln/>
        </p:spPr>
        <p:txBody>
          <a:bodyPr wrap="square" lIns="0" tIns="0" rIns="0" bIns="0" rtlCol="0" anchor="t"/>
          <a:lstStyle/>
          <a:p>
            <a:pPr algn="ctr" indent="0" marL="0">
              <a:buNone/>
            </a:pPr>
            <a:r>
              <a:rPr lang="en-US" sz="1000" dirty="0">
                <a:solidFill>
                  <a:srgbClr val="94A3B8"/>
                </a:solidFill>
                <a:latin typeface="Arial" pitchFamily="34" charset="0"/>
                <a:ea typeface="Arial" pitchFamily="34" charset="-122"/>
                <a:cs typeface="Arial" pitchFamily="34" charset="-120"/>
              </a:rPr>
              <a:t>0.8966</a:t>
            </a:r>
            <a:endParaRPr lang="en-US" sz="1000" dirty="0"/>
          </a:p>
        </p:txBody>
      </p:sp>
      <p:sp>
        <p:nvSpPr>
          <p:cNvPr id="34" name="Text 31"/>
          <p:cNvSpPr/>
          <p:nvPr/>
        </p:nvSpPr>
        <p:spPr>
          <a:xfrm>
            <a:off x="3923059" y="2142232"/>
            <a:ext cx="1614291" cy="142875"/>
          </a:xfrm>
          <a:prstGeom prst="rect">
            <a:avLst/>
          </a:prstGeom>
          <a:noFill/>
          <a:ln/>
        </p:spPr>
        <p:txBody>
          <a:bodyPr wrap="square" lIns="0" tIns="0" rIns="0" bIns="0" rtlCol="0" anchor="t"/>
          <a:lstStyle/>
          <a:p>
            <a:pPr algn="ctr" indent="0" marL="0">
              <a:buNone/>
            </a:pPr>
            <a:r>
              <a:rPr lang="en-US" sz="1000" dirty="0">
                <a:solidFill>
                  <a:srgbClr val="64748B"/>
                </a:solidFill>
                <a:latin typeface="Arial" pitchFamily="34" charset="0"/>
                <a:ea typeface="Arial" pitchFamily="34" charset="-122"/>
                <a:cs typeface="Arial" pitchFamily="34" charset="-120"/>
              </a:rPr>
              <a:t>0.9363</a:t>
            </a:r>
            <a:endParaRPr lang="en-US" sz="1000" dirty="0"/>
          </a:p>
        </p:txBody>
      </p:sp>
      <p:sp>
        <p:nvSpPr>
          <p:cNvPr id="35" name="Text 32"/>
          <p:cNvSpPr/>
          <p:nvPr/>
        </p:nvSpPr>
        <p:spPr>
          <a:xfrm>
            <a:off x="5505697" y="2142232"/>
            <a:ext cx="1614291" cy="142875"/>
          </a:xfrm>
          <a:prstGeom prst="rect">
            <a:avLst/>
          </a:prstGeom>
          <a:noFill/>
          <a:ln/>
        </p:spPr>
        <p:txBody>
          <a:bodyPr wrap="square" lIns="0" tIns="0" rIns="0" bIns="0" rtlCol="0" anchor="t"/>
          <a:lstStyle/>
          <a:p>
            <a:pPr algn="ctr" indent="0" marL="0">
              <a:buNone/>
            </a:pPr>
            <a:r>
              <a:rPr lang="en-US" sz="1000" dirty="0">
                <a:solidFill>
                  <a:srgbClr val="94A3B8"/>
                </a:solidFill>
                <a:latin typeface="Arial" pitchFamily="34" charset="0"/>
                <a:ea typeface="Arial" pitchFamily="34" charset="-122"/>
                <a:cs typeface="Arial" pitchFamily="34" charset="-120"/>
              </a:rPr>
              <a:t>0.8764</a:t>
            </a:r>
            <a:endParaRPr lang="en-US" sz="1000" dirty="0"/>
          </a:p>
        </p:txBody>
      </p:sp>
      <p:sp>
        <p:nvSpPr>
          <p:cNvPr id="36" name="Text 33"/>
          <p:cNvSpPr/>
          <p:nvPr/>
        </p:nvSpPr>
        <p:spPr>
          <a:xfrm>
            <a:off x="7088335" y="2142232"/>
            <a:ext cx="1614291" cy="142875"/>
          </a:xfrm>
          <a:prstGeom prst="rect">
            <a:avLst/>
          </a:prstGeom>
          <a:noFill/>
          <a:ln/>
        </p:spPr>
        <p:txBody>
          <a:bodyPr wrap="square" lIns="0" tIns="0" rIns="0" bIns="0" rtlCol="0" anchor="t"/>
          <a:lstStyle/>
          <a:p>
            <a:pPr algn="ctr" indent="0" marL="0">
              <a:buNone/>
            </a:pPr>
            <a:r>
              <a:rPr lang="en-US" sz="1000" dirty="0">
                <a:solidFill>
                  <a:srgbClr val="94A3B8"/>
                </a:solidFill>
                <a:latin typeface="Arial" pitchFamily="34" charset="0"/>
                <a:ea typeface="Arial" pitchFamily="34" charset="-122"/>
                <a:cs typeface="Arial" pitchFamily="34" charset="-120"/>
              </a:rPr>
              <a:t>0.8472</a:t>
            </a:r>
            <a:endParaRPr lang="en-US" sz="1000" dirty="0"/>
          </a:p>
        </p:txBody>
      </p:sp>
      <p:sp>
        <p:nvSpPr>
          <p:cNvPr id="37" name="Text 34"/>
          <p:cNvSpPr/>
          <p:nvPr/>
        </p:nvSpPr>
        <p:spPr>
          <a:xfrm>
            <a:off x="457200" y="2459534"/>
            <a:ext cx="4435822" cy="2683966"/>
          </a:xfrm>
          <a:prstGeom prst="rect">
            <a:avLst/>
          </a:prstGeom>
          <a:solidFill>
            <a:srgbClr val="00B4D8">
              <a:alpha val="8000"/>
            </a:srgbClr>
          </a:solidFill>
          <a:ln/>
        </p:spPr>
        <p:txBody>
          <a:bodyPr wrap="square" rtlCol="0" anchor="ctr"/>
          <a:lstStyle/>
          <a:p>
            <a:pPr indent="0" marL="0">
              <a:buNone/>
            </a:pPr>
            <a:endParaRPr lang="en-US" dirty="0"/>
          </a:p>
        </p:txBody>
      </p:sp>
      <p:sp>
        <p:nvSpPr>
          <p:cNvPr id="38" name="Shape 35"/>
          <p:cNvSpPr/>
          <p:nvPr/>
        </p:nvSpPr>
        <p:spPr>
          <a:xfrm>
            <a:off x="481012" y="2459534"/>
            <a:ext cx="0" cy="2683966"/>
          </a:xfrm>
          <a:prstGeom prst="line">
            <a:avLst/>
          </a:prstGeom>
          <a:noFill/>
          <a:ln w="47625">
            <a:solidFill>
              <a:srgbClr val="00B4D8"/>
            </a:solidFill>
            <a:prstDash val="solid"/>
          </a:ln>
        </p:spPr>
      </p:sp>
      <p:sp>
        <p:nvSpPr>
          <p:cNvPr id="39" name="Text 36"/>
          <p:cNvSpPr/>
          <p:nvPr/>
        </p:nvSpPr>
        <p:spPr>
          <a:xfrm>
            <a:off x="657225" y="2561034"/>
            <a:ext cx="4165065" cy="164902"/>
          </a:xfrm>
          <a:prstGeom prst="rect">
            <a:avLst/>
          </a:prstGeom>
          <a:noFill/>
          <a:ln/>
        </p:spPr>
        <p:txBody>
          <a:bodyPr wrap="square" lIns="0" tIns="0" rIns="0" bIns="0" rtlCol="0" anchor="t"/>
          <a:lstStyle/>
          <a:p>
            <a:pPr algn="l" indent="0" marL="0">
              <a:lnSpc>
                <a:spcPts val="1300"/>
              </a:lnSpc>
              <a:spcAft>
                <a:spcPts val="400"/>
              </a:spcAft>
              <a:buNone/>
            </a:pPr>
            <a:r>
              <a:rPr lang="en-US" sz="1000" b="1" dirty="0">
                <a:solidFill>
                  <a:srgbClr val="00B4D8"/>
                </a:solidFill>
                <a:latin typeface="Arial" pitchFamily="34" charset="0"/>
                <a:ea typeface="Arial" pitchFamily="34" charset="-122"/>
                <a:cs typeface="Arial" pitchFamily="34" charset="-120"/>
              </a:rPr>
              <a:t>Why LF (0.5) failed, and how Per-Class fixed it</a:t>
            </a:r>
            <a:endParaRPr lang="en-US" sz="1000" dirty="0"/>
          </a:p>
        </p:txBody>
      </p:sp>
      <p:sp>
        <p:nvSpPr>
          <p:cNvPr id="40" name="Text 37"/>
          <p:cNvSpPr/>
          <p:nvPr/>
        </p:nvSpPr>
        <p:spPr>
          <a:xfrm>
            <a:off x="657225" y="2776686"/>
            <a:ext cx="4165065" cy="313730"/>
          </a:xfrm>
          <a:prstGeom prst="rect">
            <a:avLst/>
          </a:prstGeom>
          <a:noFill/>
          <a:ln/>
        </p:spPr>
        <p:txBody>
          <a:bodyPr wrap="square" lIns="0" tIns="0" rIns="0" bIns="0" rtlCol="0" anchor="t"/>
          <a:lstStyle/>
          <a:p>
            <a:pPr algn="l" indent="0" marL="0">
              <a:lnSpc>
                <a:spcPts val="1235"/>
              </a:lnSpc>
              <a:spcAft>
                <a:spcPts val="300"/>
              </a:spcAft>
              <a:buNone/>
            </a:pPr>
            <a:r>
              <a:rPr lang="en-US" sz="950" dirty="0">
                <a:solidFill>
                  <a:srgbClr val="E2E8F0"/>
                </a:solidFill>
                <a:latin typeface="Arial" pitchFamily="34" charset="0"/>
                <a:ea typeface="Arial" pitchFamily="34" charset="-122"/>
                <a:cs typeface="Arial" pitchFamily="34" charset="-120"/>
              </a:rPr>
              <a:t>At threshold 0.5, the model over-predicted: high recall (0.94) but low precision (0.48) — see table above.</a:t>
            </a:r>
            <a:endParaRPr lang="en-US" sz="950" dirty="0"/>
          </a:p>
        </p:txBody>
      </p:sp>
      <p:sp>
        <p:nvSpPr>
          <p:cNvPr id="41" name="Text 38"/>
          <p:cNvSpPr/>
          <p:nvPr/>
        </p:nvSpPr>
        <p:spPr>
          <a:xfrm>
            <a:off x="657225" y="3128516"/>
            <a:ext cx="4165065" cy="470595"/>
          </a:xfrm>
          <a:prstGeom prst="rect">
            <a:avLst/>
          </a:prstGeom>
          <a:noFill/>
          <a:ln/>
        </p:spPr>
        <p:txBody>
          <a:bodyPr wrap="square" lIns="0" tIns="0" rIns="0" bIns="0" rtlCol="0" anchor="t"/>
          <a:lstStyle/>
          <a:p>
            <a:pPr algn="l" indent="0" marL="0">
              <a:lnSpc>
                <a:spcPts val="1235"/>
              </a:lnSpc>
              <a:spcAft>
                <a:spcPts val="300"/>
              </a:spcAft>
              <a:buNone/>
            </a:pPr>
            <a:r>
              <a:rPr lang="en-US" sz="950" dirty="0">
                <a:solidFill>
                  <a:srgbClr val="E2E8F0"/>
                </a:solidFill>
                <a:latin typeface="Arial" pitchFamily="34" charset="0"/>
                <a:ea typeface="Arial" pitchFamily="34" charset="-122"/>
                <a:cs typeface="Arial" pitchFamily="34" charset="-120"/>
              </a:rPr>
              <a:t>Per-class optimization found the best threshold per label on the </a:t>
            </a:r>
            <a:pPr algn="l" indent="0" marL="0">
              <a:lnSpc>
                <a:spcPts val="1235"/>
              </a:lnSpc>
              <a:spcAft>
                <a:spcPts val="300"/>
              </a:spcAft>
              <a:buNone/>
            </a:pPr>
            <a:r>
              <a:rPr lang="en-US" sz="950" b="1" dirty="0">
                <a:solidFill>
                  <a:srgbClr val="E2E8F0"/>
                </a:solidFill>
                <a:latin typeface="Arial" pitchFamily="34" charset="0"/>
                <a:ea typeface="Arial" pitchFamily="34" charset="-122"/>
                <a:cs typeface="Arial" pitchFamily="34" charset="-120"/>
              </a:rPr>
              <a:t>validation set</a:t>
            </a:r>
            <a:pPr algn="l" indent="0" marL="0">
              <a:lnSpc>
                <a:spcPts val="1235"/>
              </a:lnSpc>
              <a:spcAft>
                <a:spcPts val="300"/>
              </a:spcAft>
              <a:buNone/>
            </a:pPr>
            <a:r>
              <a:rPr lang="en-US" sz="950" dirty="0">
                <a:solidFill>
                  <a:srgbClr val="E2E8F0"/>
                </a:solidFill>
                <a:latin typeface="Arial" pitchFamily="34" charset="0"/>
                <a:ea typeface="Arial" pitchFamily="34" charset="-122"/>
                <a:cs typeface="Arial" pitchFamily="34" charset="-120"/>
              </a:rPr>
              <a:t> (range: 0.45-0.90), then applied to </a:t>
            </a:r>
            <a:pPr algn="l" indent="0" marL="0">
              <a:lnSpc>
                <a:spcPts val="1235"/>
              </a:lnSpc>
              <a:spcAft>
                <a:spcPts val="300"/>
              </a:spcAft>
              <a:buNone/>
            </a:pPr>
            <a:r>
              <a:rPr lang="en-US" sz="950" b="1" dirty="0">
                <a:solidFill>
                  <a:srgbClr val="E2E8F0"/>
                </a:solidFill>
                <a:latin typeface="Arial" pitchFamily="34" charset="0"/>
                <a:ea typeface="Arial" pitchFamily="34" charset="-122"/>
                <a:cs typeface="Arial" pitchFamily="34" charset="-120"/>
              </a:rPr>
              <a:t>test set</a:t>
            </a:r>
            <a:pPr algn="l" indent="0" marL="0">
              <a:lnSpc>
                <a:spcPts val="1235"/>
              </a:lnSpc>
              <a:spcAft>
                <a:spcPts val="300"/>
              </a:spcAft>
              <a:buNone/>
            </a:pPr>
            <a:r>
              <a:rPr lang="en-US" sz="950" dirty="0">
                <a:solidFill>
                  <a:srgbClr val="E2E8F0"/>
                </a:solidFill>
                <a:latin typeface="Arial" pitchFamily="34" charset="0"/>
                <a:ea typeface="Arial" pitchFamily="34" charset="-122"/>
                <a:cs typeface="Arial" pitchFamily="34" charset="-120"/>
              </a:rPr>
              <a:t>. Result: precision jumped to 0.71, F1 Micro to 0.77.</a:t>
            </a:r>
            <a:endParaRPr lang="en-US" sz="950" dirty="0"/>
          </a:p>
        </p:txBody>
      </p:sp>
      <p:sp>
        <p:nvSpPr>
          <p:cNvPr id="42" name="Text 39"/>
          <p:cNvSpPr/>
          <p:nvPr/>
        </p:nvSpPr>
        <p:spPr>
          <a:xfrm>
            <a:off x="5096173" y="2459534"/>
            <a:ext cx="3590627" cy="2683966"/>
          </a:xfrm>
          <a:prstGeom prst="roundRect">
            <a:avLst>
              <a:gd name="adj" fmla="val 2839"/>
            </a:avLst>
          </a:prstGeom>
          <a:solidFill>
            <a:srgbClr val="22C55E">
              <a:alpha val="8000"/>
            </a:srgbClr>
          </a:solidFill>
          <a:ln w="9525">
            <a:solidFill>
              <a:srgbClr val="22C55E"/>
            </a:solidFill>
          </a:ln>
        </p:spPr>
        <p:txBody>
          <a:bodyPr wrap="square" rtlCol="0" anchor="ctr"/>
          <a:lstStyle/>
          <a:p>
            <a:pPr indent="0" marL="0">
              <a:buNone/>
            </a:pPr>
            <a:endParaRPr lang="en-US" dirty="0"/>
          </a:p>
        </p:txBody>
      </p:sp>
      <p:sp>
        <p:nvSpPr>
          <p:cNvPr id="43" name="Text 40"/>
          <p:cNvSpPr/>
          <p:nvPr/>
        </p:nvSpPr>
        <p:spPr>
          <a:xfrm>
            <a:off x="5225430" y="3280916"/>
            <a:ext cx="3332113" cy="323850"/>
          </a:xfrm>
          <a:prstGeom prst="rect">
            <a:avLst/>
          </a:prstGeom>
          <a:noFill/>
          <a:ln/>
        </p:spPr>
        <p:txBody>
          <a:bodyPr wrap="square" lIns="0" tIns="0" rIns="0" bIns="0" rtlCol="0" anchor="t"/>
          <a:lstStyle/>
          <a:p>
            <a:pPr algn="ctr" indent="0" marL="0">
              <a:spcAft>
                <a:spcPts val="200"/>
              </a:spcAft>
              <a:buNone/>
            </a:pPr>
            <a:r>
              <a:rPr lang="en-US" sz="2200" b="1" dirty="0">
                <a:solidFill>
                  <a:srgbClr val="22C55E"/>
                </a:solidFill>
                <a:latin typeface="Arial" pitchFamily="34" charset="0"/>
                <a:ea typeface="Arial" pitchFamily="34" charset="-122"/>
                <a:cs typeface="Arial" pitchFamily="34" charset="-120"/>
              </a:rPr>
              <a:t>+2.1%</a:t>
            </a:r>
            <a:endParaRPr lang="en-US" sz="2200" dirty="0"/>
          </a:p>
        </p:txBody>
      </p:sp>
      <p:sp>
        <p:nvSpPr>
          <p:cNvPr id="44" name="Text 41"/>
          <p:cNvSpPr/>
          <p:nvPr/>
        </p:nvSpPr>
        <p:spPr>
          <a:xfrm>
            <a:off x="5225430" y="3630067"/>
            <a:ext cx="3332113" cy="133350"/>
          </a:xfrm>
          <a:prstGeom prst="rect">
            <a:avLst/>
          </a:prstGeom>
          <a:noFill/>
          <a:ln/>
        </p:spPr>
        <p:txBody>
          <a:bodyPr wrap="square" lIns="0" tIns="0" rIns="0" bIns="0" rtlCol="0" anchor="t"/>
          <a:lstStyle/>
          <a:p>
            <a:pPr algn="ctr" indent="0" marL="0">
              <a:buNone/>
            </a:pPr>
            <a:r>
              <a:rPr lang="en-US" sz="900" dirty="0">
                <a:solidFill>
                  <a:srgbClr val="E2E8F0"/>
                </a:solidFill>
                <a:latin typeface="Arial" pitchFamily="34" charset="0"/>
                <a:ea typeface="Arial" pitchFamily="34" charset="-122"/>
                <a:cs typeface="Arial" pitchFamily="34" charset="-120"/>
              </a:rPr>
              <a:t>F1 Micro vs TF-IDF</a:t>
            </a:r>
            <a:endParaRPr lang="en-US" sz="900" dirty="0"/>
          </a:p>
        </p:txBody>
      </p:sp>
      <p:sp>
        <p:nvSpPr>
          <p:cNvPr id="45" name="Text 42"/>
          <p:cNvSpPr/>
          <p:nvPr/>
        </p:nvSpPr>
        <p:spPr>
          <a:xfrm>
            <a:off x="5225430" y="3839617"/>
            <a:ext cx="3332113" cy="323850"/>
          </a:xfrm>
          <a:prstGeom prst="rect">
            <a:avLst/>
          </a:prstGeom>
          <a:noFill/>
          <a:ln/>
        </p:spPr>
        <p:txBody>
          <a:bodyPr wrap="square" lIns="0" tIns="0" rIns="0" bIns="0" rtlCol="0" anchor="t"/>
          <a:lstStyle/>
          <a:p>
            <a:pPr algn="ctr" indent="0" marL="0">
              <a:spcBef>
                <a:spcPts val="600"/>
              </a:spcBef>
              <a:spcAft>
                <a:spcPts val="200"/>
              </a:spcAft>
              <a:buNone/>
            </a:pPr>
            <a:r>
              <a:rPr lang="en-US" sz="2200" b="1" dirty="0">
                <a:solidFill>
                  <a:srgbClr val="22C55E"/>
                </a:solidFill>
                <a:latin typeface="Arial" pitchFamily="34" charset="0"/>
                <a:ea typeface="Arial" pitchFamily="34" charset="-122"/>
                <a:cs typeface="Arial" pitchFamily="34" charset="-120"/>
              </a:rPr>
              <a:t>+6.7%</a:t>
            </a:r>
            <a:endParaRPr lang="en-US" sz="2200" dirty="0"/>
          </a:p>
        </p:txBody>
      </p:sp>
      <p:sp>
        <p:nvSpPr>
          <p:cNvPr id="46" name="Text 43"/>
          <p:cNvSpPr/>
          <p:nvPr/>
        </p:nvSpPr>
        <p:spPr>
          <a:xfrm>
            <a:off x="5225430" y="4188768"/>
            <a:ext cx="3332113" cy="133350"/>
          </a:xfrm>
          <a:prstGeom prst="rect">
            <a:avLst/>
          </a:prstGeom>
          <a:noFill/>
          <a:ln/>
        </p:spPr>
        <p:txBody>
          <a:bodyPr wrap="square" lIns="0" tIns="0" rIns="0" bIns="0" rtlCol="0" anchor="t"/>
          <a:lstStyle/>
          <a:p>
            <a:pPr algn="ctr" indent="0" marL="0">
              <a:buNone/>
            </a:pPr>
            <a:r>
              <a:rPr lang="en-US" sz="900" dirty="0">
                <a:solidFill>
                  <a:srgbClr val="E2E8F0"/>
                </a:solidFill>
                <a:latin typeface="Arial" pitchFamily="34" charset="0"/>
                <a:ea typeface="Arial" pitchFamily="34" charset="-122"/>
                <a:cs typeface="Arial" pitchFamily="34" charset="-120"/>
              </a:rPr>
              <a:t>F1 Macro vs TF-IDF</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Users/alessandrodibari/Ale/projects/TR_hiring_exercise/outputs/pptx_workspace/slides/accent_teal.png">    </p:cNvPr>
          <p:cNvPicPr>
            <a:picLocks noChangeAspect="1"/>
          </p:cNvPicPr>
          <p:nvPr/>
        </p:nvPicPr>
        <p:blipFill>
          <a:blip r:embed="rId2"/>
          <a:stretch>
            <a:fillRect/>
          </a:stretch>
        </p:blipFill>
        <p:spPr>
          <a:xfrm>
            <a:off x="0" y="0"/>
            <a:ext cx="9144000" cy="50750"/>
          </a:xfrm>
          <a:prstGeom prst="rect">
            <a:avLst/>
          </a:prstGeom>
        </p:spPr>
      </p:pic>
      <p:sp>
        <p:nvSpPr>
          <p:cNvPr id="3" name="Text 0"/>
          <p:cNvSpPr/>
          <p:nvPr/>
        </p:nvSpPr>
        <p:spPr>
          <a:xfrm>
            <a:off x="457200" y="304651"/>
            <a:ext cx="8394192" cy="295275"/>
          </a:xfrm>
          <a:prstGeom prst="rect">
            <a:avLst/>
          </a:prstGeom>
          <a:noFill/>
          <a:ln/>
        </p:spPr>
        <p:txBody>
          <a:bodyPr wrap="square" lIns="0" tIns="0" rIns="0" bIns="0" rtlCol="0" anchor="t"/>
          <a:lstStyle/>
          <a:p>
            <a:pPr algn="l" indent="0" marL="0">
              <a:buNone/>
            </a:pPr>
            <a:r>
              <a:rPr lang="en-US" sz="2000" b="1" dirty="0">
                <a:solidFill>
                  <a:srgbClr val="00B4D8"/>
                </a:solidFill>
                <a:latin typeface="Arial" pitchFamily="34" charset="0"/>
                <a:ea typeface="Arial" pitchFamily="34" charset="-122"/>
                <a:cs typeface="Arial" pitchFamily="34" charset="-120"/>
              </a:rPr>
              <a:t>Feasibility Analysis vs Human Agreement</a:t>
            </a:r>
            <a:endParaRPr lang="en-US" sz="2000" dirty="0"/>
          </a:p>
        </p:txBody>
      </p:sp>
      <p:sp>
        <p:nvSpPr>
          <p:cNvPr id="4" name="Text 1"/>
          <p:cNvSpPr/>
          <p:nvPr/>
        </p:nvSpPr>
        <p:spPr>
          <a:xfrm>
            <a:off x="457200" y="726877"/>
            <a:ext cx="4093413" cy="140196"/>
          </a:xfrm>
          <a:prstGeom prst="rect">
            <a:avLst/>
          </a:prstGeom>
          <a:noFill/>
          <a:ln/>
        </p:spPr>
        <p:txBody>
          <a:bodyPr wrap="square" lIns="0" tIns="0" rIns="0" bIns="0" rtlCol="0" anchor="t"/>
          <a:lstStyle/>
          <a:p>
            <a:pPr algn="l" indent="0" marL="0">
              <a:lnSpc>
                <a:spcPts val="1105"/>
              </a:lnSpc>
              <a:spcAft>
                <a:spcPts val="500"/>
              </a:spcAft>
              <a:buNone/>
            </a:pPr>
            <a:r>
              <a:rPr lang="en-US" sz="850" dirty="0">
                <a:solidFill>
                  <a:srgbClr val="94A3B8"/>
                </a:solidFill>
                <a:latin typeface="Arial" pitchFamily="34" charset="0"/>
                <a:ea typeface="Arial" pitchFamily="34" charset="-122"/>
                <a:cs typeface="Arial" pitchFamily="34" charset="-120"/>
              </a:rPr>
              <a:t>RECOMMENDED TIERED DEPLOYMENT</a:t>
            </a:r>
            <a:endParaRPr lang="en-US" sz="850" dirty="0"/>
          </a:p>
        </p:txBody>
      </p:sp>
      <p:sp>
        <p:nvSpPr>
          <p:cNvPr id="5" name="Text 2"/>
          <p:cNvSpPr/>
          <p:nvPr/>
        </p:nvSpPr>
        <p:spPr>
          <a:xfrm>
            <a:off x="457200" y="930473"/>
            <a:ext cx="4013150" cy="615851"/>
          </a:xfrm>
          <a:prstGeom prst="roundRect">
            <a:avLst>
              <a:gd name="adj" fmla="val 12373"/>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6" name="Text 3"/>
          <p:cNvSpPr/>
          <p:nvPr/>
        </p:nvSpPr>
        <p:spPr>
          <a:xfrm>
            <a:off x="593675" y="1028849"/>
            <a:ext cx="419100" cy="419100"/>
          </a:xfrm>
          <a:prstGeom prst="roundRect">
            <a:avLst>
              <a:gd name="adj" fmla="val 218182"/>
            </a:avLst>
          </a:prstGeom>
          <a:solidFill>
            <a:srgbClr val="22C55E">
              <a:alpha val="20000"/>
            </a:srgbClr>
          </a:solidFill>
          <a:ln w="19050">
            <a:solidFill>
              <a:srgbClr val="22C55E"/>
            </a:solidFill>
          </a:ln>
        </p:spPr>
        <p:txBody>
          <a:bodyPr wrap="square" rtlCol="0" anchor="ctr"/>
          <a:lstStyle/>
          <a:p>
            <a:pPr indent="0" marL="0">
              <a:buNone/>
            </a:pPr>
            <a:endParaRPr lang="en-US" dirty="0"/>
          </a:p>
        </p:txBody>
      </p:sp>
      <p:sp>
        <p:nvSpPr>
          <p:cNvPr id="7" name="Text 4"/>
          <p:cNvSpPr/>
          <p:nvPr/>
        </p:nvSpPr>
        <p:spPr>
          <a:xfrm>
            <a:off x="757238" y="1131094"/>
            <a:ext cx="93663" cy="214461"/>
          </a:xfrm>
          <a:prstGeom prst="rect">
            <a:avLst/>
          </a:prstGeom>
          <a:noFill/>
          <a:ln/>
        </p:spPr>
        <p:txBody>
          <a:bodyPr wrap="square" lIns="0" tIns="0" rIns="0" bIns="0" rtlCol="0" anchor="t"/>
          <a:lstStyle/>
          <a:p>
            <a:pPr algn="l" indent="0" marL="0">
              <a:lnSpc>
                <a:spcPts val="1690"/>
              </a:lnSpc>
              <a:buNone/>
            </a:pPr>
            <a:r>
              <a:rPr lang="en-US" sz="1300" b="1" dirty="0">
                <a:solidFill>
                  <a:srgbClr val="22C55E"/>
                </a:solidFill>
                <a:latin typeface="Arial" pitchFamily="34" charset="0"/>
                <a:ea typeface="Arial" pitchFamily="34" charset="-122"/>
                <a:cs typeface="Arial" pitchFamily="34" charset="-120"/>
              </a:rPr>
              <a:t>1</a:t>
            </a:r>
            <a:endParaRPr lang="en-US" sz="1300" dirty="0"/>
          </a:p>
        </p:txBody>
      </p:sp>
      <p:sp>
        <p:nvSpPr>
          <p:cNvPr id="8" name="Text 5"/>
          <p:cNvSpPr/>
          <p:nvPr/>
        </p:nvSpPr>
        <p:spPr>
          <a:xfrm>
            <a:off x="1139726" y="1079450"/>
            <a:ext cx="2108112" cy="164902"/>
          </a:xfrm>
          <a:prstGeom prst="rect">
            <a:avLst/>
          </a:prstGeom>
          <a:noFill/>
          <a:ln/>
        </p:spPr>
        <p:txBody>
          <a:bodyPr wrap="square" lIns="0" tIns="0" rIns="0" bIns="0" rtlCol="0" anchor="t"/>
          <a:lstStyle/>
          <a:p>
            <a:pPr algn="l" indent="0" marL="0">
              <a:lnSpc>
                <a:spcPts val="1300"/>
              </a:lnSpc>
              <a:spcAft>
                <a:spcPts val="100"/>
              </a:spcAft>
              <a:buNone/>
            </a:pPr>
            <a:r>
              <a:rPr lang="en-US" sz="1000" b="1" dirty="0">
                <a:solidFill>
                  <a:srgbClr val="E2E8F0"/>
                </a:solidFill>
                <a:latin typeface="Arial" pitchFamily="34" charset="0"/>
                <a:ea typeface="Arial" pitchFamily="34" charset="-122"/>
                <a:cs typeface="Arial" pitchFamily="34" charset="-120"/>
              </a:rPr>
              <a:t>Full Automation</a:t>
            </a:r>
            <a:endParaRPr lang="en-US" sz="1000" dirty="0"/>
          </a:p>
        </p:txBody>
      </p:sp>
      <p:sp>
        <p:nvSpPr>
          <p:cNvPr id="9" name="Text 6"/>
          <p:cNvSpPr/>
          <p:nvPr/>
        </p:nvSpPr>
        <p:spPr>
          <a:xfrm>
            <a:off x="1139726" y="1257002"/>
            <a:ext cx="2108112" cy="140196"/>
          </a:xfrm>
          <a:prstGeom prst="rect">
            <a:avLst/>
          </a:prstGeom>
          <a:noFill/>
          <a:ln/>
        </p:spPr>
        <p:txBody>
          <a:bodyPr wrap="square" lIns="0" tIns="0" rIns="0" bIns="0" rtlCol="0" anchor="t"/>
          <a:lstStyle/>
          <a:p>
            <a:pPr algn="l" indent="0" marL="0">
              <a:lnSpc>
                <a:spcPts val="1105"/>
              </a:lnSpc>
              <a:buNone/>
            </a:pPr>
            <a:r>
              <a:rPr lang="en-US" sz="850" dirty="0">
                <a:solidFill>
                  <a:srgbClr val="94A3B8"/>
                </a:solidFill>
                <a:latin typeface="Arial" pitchFamily="34" charset="0"/>
                <a:ea typeface="Arial" pitchFamily="34" charset="-122"/>
                <a:cs typeface="Arial" pitchFamily="34" charset="-120"/>
              </a:rPr>
              <a:t>Appellate Review (F1=0.95, highest kappa)</a:t>
            </a:r>
            <a:endParaRPr lang="en-US" sz="850" dirty="0"/>
          </a:p>
        </p:txBody>
      </p:sp>
      <p:sp>
        <p:nvSpPr>
          <p:cNvPr id="10" name="Text 7"/>
          <p:cNvSpPr/>
          <p:nvPr/>
        </p:nvSpPr>
        <p:spPr>
          <a:xfrm>
            <a:off x="457200" y="1609725"/>
            <a:ext cx="4013150" cy="615851"/>
          </a:xfrm>
          <a:prstGeom prst="roundRect">
            <a:avLst>
              <a:gd name="adj" fmla="val 12373"/>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11" name="Text 8"/>
          <p:cNvSpPr/>
          <p:nvPr/>
        </p:nvSpPr>
        <p:spPr>
          <a:xfrm>
            <a:off x="593675" y="1708100"/>
            <a:ext cx="419100" cy="419100"/>
          </a:xfrm>
          <a:prstGeom prst="roundRect">
            <a:avLst>
              <a:gd name="adj" fmla="val 218182"/>
            </a:avLst>
          </a:prstGeom>
          <a:solidFill>
            <a:srgbClr val="EAB308">
              <a:alpha val="20000"/>
            </a:srgbClr>
          </a:solidFill>
          <a:ln w="19050">
            <a:solidFill>
              <a:srgbClr val="EAB308"/>
            </a:solidFill>
          </a:ln>
        </p:spPr>
        <p:txBody>
          <a:bodyPr wrap="square" rtlCol="0" anchor="ctr"/>
          <a:lstStyle/>
          <a:p>
            <a:pPr indent="0" marL="0">
              <a:buNone/>
            </a:pPr>
            <a:endParaRPr lang="en-US" dirty="0"/>
          </a:p>
        </p:txBody>
      </p:sp>
      <p:sp>
        <p:nvSpPr>
          <p:cNvPr id="12" name="Text 9"/>
          <p:cNvSpPr/>
          <p:nvPr/>
        </p:nvSpPr>
        <p:spPr>
          <a:xfrm>
            <a:off x="711398" y="1810345"/>
            <a:ext cx="187327" cy="214461"/>
          </a:xfrm>
          <a:prstGeom prst="rect">
            <a:avLst/>
          </a:prstGeom>
          <a:noFill/>
          <a:ln/>
        </p:spPr>
        <p:txBody>
          <a:bodyPr wrap="square" lIns="0" tIns="0" rIns="0" bIns="0" rtlCol="0" anchor="t"/>
          <a:lstStyle/>
          <a:p>
            <a:pPr algn="l" indent="0" marL="0">
              <a:lnSpc>
                <a:spcPts val="1690"/>
              </a:lnSpc>
              <a:buNone/>
            </a:pPr>
            <a:r>
              <a:rPr lang="en-US" sz="1300" b="1" dirty="0">
                <a:solidFill>
                  <a:srgbClr val="EAB308"/>
                </a:solidFill>
                <a:latin typeface="Arial" pitchFamily="34" charset="0"/>
                <a:ea typeface="Arial" pitchFamily="34" charset="-122"/>
                <a:cs typeface="Arial" pitchFamily="34" charset="-120"/>
              </a:rPr>
              <a:t>12</a:t>
            </a:r>
            <a:endParaRPr lang="en-US" sz="1300" dirty="0"/>
          </a:p>
        </p:txBody>
      </p:sp>
      <p:sp>
        <p:nvSpPr>
          <p:cNvPr id="13" name="Text 10"/>
          <p:cNvSpPr/>
          <p:nvPr/>
        </p:nvSpPr>
        <p:spPr>
          <a:xfrm>
            <a:off x="1139726" y="1758702"/>
            <a:ext cx="2187354" cy="164902"/>
          </a:xfrm>
          <a:prstGeom prst="rect">
            <a:avLst/>
          </a:prstGeom>
          <a:noFill/>
          <a:ln/>
        </p:spPr>
        <p:txBody>
          <a:bodyPr wrap="square" lIns="0" tIns="0" rIns="0" bIns="0" rtlCol="0" anchor="t"/>
          <a:lstStyle/>
          <a:p>
            <a:pPr algn="l" indent="0" marL="0">
              <a:lnSpc>
                <a:spcPts val="1300"/>
              </a:lnSpc>
              <a:spcAft>
                <a:spcPts val="100"/>
              </a:spcAft>
              <a:buNone/>
            </a:pPr>
            <a:r>
              <a:rPr lang="en-US" sz="1000" b="1" dirty="0">
                <a:solidFill>
                  <a:srgbClr val="E2E8F0"/>
                </a:solidFill>
                <a:latin typeface="Arial" pitchFamily="34" charset="0"/>
                <a:ea typeface="Arial" pitchFamily="34" charset="-122"/>
                <a:cs typeface="Arial" pitchFamily="34" charset="-120"/>
              </a:rPr>
              <a:t>Assisted Labeling</a:t>
            </a:r>
            <a:endParaRPr lang="en-US" sz="1000" dirty="0"/>
          </a:p>
        </p:txBody>
      </p:sp>
      <p:sp>
        <p:nvSpPr>
          <p:cNvPr id="14" name="Text 11"/>
          <p:cNvSpPr/>
          <p:nvPr/>
        </p:nvSpPr>
        <p:spPr>
          <a:xfrm>
            <a:off x="1139726" y="1936254"/>
            <a:ext cx="2187354" cy="140196"/>
          </a:xfrm>
          <a:prstGeom prst="rect">
            <a:avLst/>
          </a:prstGeom>
          <a:noFill/>
          <a:ln/>
        </p:spPr>
        <p:txBody>
          <a:bodyPr wrap="square" lIns="0" tIns="0" rIns="0" bIns="0" rtlCol="0" anchor="t"/>
          <a:lstStyle/>
          <a:p>
            <a:pPr algn="l" indent="0" marL="0">
              <a:lnSpc>
                <a:spcPts val="1105"/>
              </a:lnSpc>
              <a:buNone/>
            </a:pPr>
            <a:r>
              <a:rPr lang="en-US" sz="850" dirty="0">
                <a:solidFill>
                  <a:srgbClr val="94A3B8"/>
                </a:solidFill>
                <a:latin typeface="Arial" pitchFamily="34" charset="0"/>
                <a:ea typeface="Arial" pitchFamily="34" charset="-122"/>
                <a:cs typeface="Arial" pitchFamily="34" charset="-120"/>
              </a:rPr>
              <a:t>Model labels + human review (F1: 0.63-0.93)</a:t>
            </a:r>
            <a:endParaRPr lang="en-US" sz="850" dirty="0"/>
          </a:p>
        </p:txBody>
      </p:sp>
      <p:sp>
        <p:nvSpPr>
          <p:cNvPr id="15" name="Text 12"/>
          <p:cNvSpPr/>
          <p:nvPr/>
        </p:nvSpPr>
        <p:spPr>
          <a:xfrm>
            <a:off x="457200" y="2288977"/>
            <a:ext cx="4013150" cy="615851"/>
          </a:xfrm>
          <a:prstGeom prst="roundRect">
            <a:avLst>
              <a:gd name="adj" fmla="val 12373"/>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16" name="Text 13"/>
          <p:cNvSpPr/>
          <p:nvPr/>
        </p:nvSpPr>
        <p:spPr>
          <a:xfrm>
            <a:off x="593675" y="2387352"/>
            <a:ext cx="419100" cy="419100"/>
          </a:xfrm>
          <a:prstGeom prst="roundRect">
            <a:avLst>
              <a:gd name="adj" fmla="val 218182"/>
            </a:avLst>
          </a:prstGeom>
          <a:solidFill>
            <a:srgbClr val="E76F51">
              <a:alpha val="20000"/>
            </a:srgbClr>
          </a:solidFill>
          <a:ln w="19050">
            <a:solidFill>
              <a:srgbClr val="E76F51"/>
            </a:solidFill>
          </a:ln>
        </p:spPr>
        <p:txBody>
          <a:bodyPr wrap="square" rtlCol="0" anchor="ctr"/>
          <a:lstStyle/>
          <a:p>
            <a:pPr indent="0" marL="0">
              <a:buNone/>
            </a:pPr>
            <a:endParaRPr lang="en-US" dirty="0"/>
          </a:p>
        </p:txBody>
      </p:sp>
      <p:sp>
        <p:nvSpPr>
          <p:cNvPr id="17" name="Text 14"/>
          <p:cNvSpPr/>
          <p:nvPr/>
        </p:nvSpPr>
        <p:spPr>
          <a:xfrm>
            <a:off x="715863" y="2489597"/>
            <a:ext cx="178067" cy="214461"/>
          </a:xfrm>
          <a:prstGeom prst="rect">
            <a:avLst/>
          </a:prstGeom>
          <a:noFill/>
          <a:ln/>
        </p:spPr>
        <p:txBody>
          <a:bodyPr wrap="square" lIns="0" tIns="0" rIns="0" bIns="0" rtlCol="0" anchor="t"/>
          <a:lstStyle/>
          <a:p>
            <a:pPr algn="l" indent="0" marL="0">
              <a:lnSpc>
                <a:spcPts val="1690"/>
              </a:lnSpc>
              <a:buNone/>
            </a:pPr>
            <a:r>
              <a:rPr lang="en-US" sz="1300" b="1" dirty="0">
                <a:solidFill>
                  <a:srgbClr val="E76F51"/>
                </a:solidFill>
                <a:latin typeface="Arial" pitchFamily="34" charset="0"/>
                <a:ea typeface="Arial" pitchFamily="34" charset="-122"/>
                <a:cs typeface="Arial" pitchFamily="34" charset="-120"/>
              </a:rPr>
              <a:t>11</a:t>
            </a:r>
            <a:endParaRPr lang="en-US" sz="1300" dirty="0"/>
          </a:p>
        </p:txBody>
      </p:sp>
      <p:sp>
        <p:nvSpPr>
          <p:cNvPr id="18" name="Text 15"/>
          <p:cNvSpPr/>
          <p:nvPr/>
        </p:nvSpPr>
        <p:spPr>
          <a:xfrm>
            <a:off x="1139726" y="2437954"/>
            <a:ext cx="2337489" cy="164902"/>
          </a:xfrm>
          <a:prstGeom prst="rect">
            <a:avLst/>
          </a:prstGeom>
          <a:noFill/>
          <a:ln/>
        </p:spPr>
        <p:txBody>
          <a:bodyPr wrap="square" lIns="0" tIns="0" rIns="0" bIns="0" rtlCol="0" anchor="t"/>
          <a:lstStyle/>
          <a:p>
            <a:pPr algn="l" indent="0" marL="0">
              <a:lnSpc>
                <a:spcPts val="1300"/>
              </a:lnSpc>
              <a:spcAft>
                <a:spcPts val="100"/>
              </a:spcAft>
              <a:buNone/>
            </a:pPr>
            <a:r>
              <a:rPr lang="en-US" sz="1000" b="1" dirty="0">
                <a:solidFill>
                  <a:srgbClr val="E2E8F0"/>
                </a:solidFill>
                <a:latin typeface="Arial" pitchFamily="34" charset="0"/>
                <a:ea typeface="Arial" pitchFamily="34" charset="-122"/>
                <a:cs typeface="Arial" pitchFamily="34" charset="-120"/>
              </a:rPr>
              <a:t>Human Review</a:t>
            </a:r>
            <a:endParaRPr lang="en-US" sz="1000" dirty="0"/>
          </a:p>
        </p:txBody>
      </p:sp>
      <p:sp>
        <p:nvSpPr>
          <p:cNvPr id="19" name="Text 16"/>
          <p:cNvSpPr/>
          <p:nvPr/>
        </p:nvSpPr>
        <p:spPr>
          <a:xfrm>
            <a:off x="1139726" y="2615505"/>
            <a:ext cx="2337489" cy="140196"/>
          </a:xfrm>
          <a:prstGeom prst="rect">
            <a:avLst/>
          </a:prstGeom>
          <a:noFill/>
          <a:ln/>
        </p:spPr>
        <p:txBody>
          <a:bodyPr wrap="square" lIns="0" tIns="0" rIns="0" bIns="0" rtlCol="0" anchor="t"/>
          <a:lstStyle/>
          <a:p>
            <a:pPr algn="l" indent="0" marL="0">
              <a:lnSpc>
                <a:spcPts val="1105"/>
              </a:lnSpc>
              <a:buNone/>
            </a:pPr>
            <a:r>
              <a:rPr lang="en-US" sz="850" dirty="0">
                <a:solidFill>
                  <a:srgbClr val="94A3B8"/>
                </a:solidFill>
                <a:latin typeface="Arial" pitchFamily="34" charset="0"/>
                <a:ea typeface="Arial" pitchFamily="34" charset="-122"/>
                <a:cs typeface="Arial" pitchFamily="34" charset="-120"/>
              </a:rPr>
              <a:t>Model suggests, human decides (F1: 0.50-0.63)</a:t>
            </a:r>
            <a:endParaRPr lang="en-US" sz="850" dirty="0"/>
          </a:p>
        </p:txBody>
      </p:sp>
      <p:sp>
        <p:nvSpPr>
          <p:cNvPr id="20" name="Text 17"/>
          <p:cNvSpPr/>
          <p:nvPr/>
        </p:nvSpPr>
        <p:spPr>
          <a:xfrm>
            <a:off x="457200" y="2968228"/>
            <a:ext cx="4013150" cy="615851"/>
          </a:xfrm>
          <a:prstGeom prst="roundRect">
            <a:avLst>
              <a:gd name="adj" fmla="val 12373"/>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21" name="Text 18"/>
          <p:cNvSpPr/>
          <p:nvPr/>
        </p:nvSpPr>
        <p:spPr>
          <a:xfrm>
            <a:off x="593675" y="3066604"/>
            <a:ext cx="419100" cy="419100"/>
          </a:xfrm>
          <a:prstGeom prst="roundRect">
            <a:avLst>
              <a:gd name="adj" fmla="val 218182"/>
            </a:avLst>
          </a:prstGeom>
          <a:solidFill>
            <a:srgbClr val="EF4444">
              <a:alpha val="20000"/>
            </a:srgbClr>
          </a:solidFill>
          <a:ln w="19050">
            <a:solidFill>
              <a:srgbClr val="EF4444"/>
            </a:solidFill>
          </a:ln>
        </p:spPr>
        <p:txBody>
          <a:bodyPr wrap="square" rtlCol="0" anchor="ctr"/>
          <a:lstStyle/>
          <a:p>
            <a:pPr indent="0" marL="0">
              <a:buNone/>
            </a:pPr>
            <a:endParaRPr lang="en-US" dirty="0"/>
          </a:p>
        </p:txBody>
      </p:sp>
      <p:sp>
        <p:nvSpPr>
          <p:cNvPr id="22" name="Text 19"/>
          <p:cNvSpPr/>
          <p:nvPr/>
        </p:nvSpPr>
        <p:spPr>
          <a:xfrm>
            <a:off x="711398" y="3168848"/>
            <a:ext cx="187327" cy="214461"/>
          </a:xfrm>
          <a:prstGeom prst="rect">
            <a:avLst/>
          </a:prstGeom>
          <a:noFill/>
          <a:ln/>
        </p:spPr>
        <p:txBody>
          <a:bodyPr wrap="square" lIns="0" tIns="0" rIns="0" bIns="0" rtlCol="0" anchor="t"/>
          <a:lstStyle/>
          <a:p>
            <a:pPr algn="l" indent="0" marL="0">
              <a:lnSpc>
                <a:spcPts val="1690"/>
              </a:lnSpc>
              <a:buNone/>
            </a:pPr>
            <a:r>
              <a:rPr lang="en-US" sz="1300" b="1" dirty="0">
                <a:solidFill>
                  <a:srgbClr val="EF4444"/>
                </a:solidFill>
                <a:latin typeface="Arial" pitchFamily="34" charset="0"/>
                <a:ea typeface="Arial" pitchFamily="34" charset="-122"/>
                <a:cs typeface="Arial" pitchFamily="34" charset="-120"/>
              </a:rPr>
              <a:t>17</a:t>
            </a:r>
            <a:endParaRPr lang="en-US" sz="1300" dirty="0"/>
          </a:p>
        </p:txBody>
      </p:sp>
      <p:sp>
        <p:nvSpPr>
          <p:cNvPr id="23" name="Text 20"/>
          <p:cNvSpPr/>
          <p:nvPr/>
        </p:nvSpPr>
        <p:spPr>
          <a:xfrm>
            <a:off x="1139726" y="3117205"/>
            <a:ext cx="1989704" cy="164902"/>
          </a:xfrm>
          <a:prstGeom prst="rect">
            <a:avLst/>
          </a:prstGeom>
          <a:noFill/>
          <a:ln/>
        </p:spPr>
        <p:txBody>
          <a:bodyPr wrap="square" lIns="0" tIns="0" rIns="0" bIns="0" rtlCol="0" anchor="t"/>
          <a:lstStyle/>
          <a:p>
            <a:pPr algn="l" indent="0" marL="0">
              <a:lnSpc>
                <a:spcPts val="1300"/>
              </a:lnSpc>
              <a:spcAft>
                <a:spcPts val="100"/>
              </a:spcAft>
              <a:buNone/>
            </a:pPr>
            <a:r>
              <a:rPr lang="en-US" sz="1000" b="1" dirty="0">
                <a:solidFill>
                  <a:srgbClr val="E2E8F0"/>
                </a:solidFill>
                <a:latin typeface="Arial" pitchFamily="34" charset="0"/>
                <a:ea typeface="Arial" pitchFamily="34" charset="-122"/>
                <a:cs typeface="Arial" pitchFamily="34" charset="-120"/>
              </a:rPr>
              <a:t>Human Only</a:t>
            </a:r>
            <a:endParaRPr lang="en-US" sz="1000" dirty="0"/>
          </a:p>
        </p:txBody>
      </p:sp>
      <p:sp>
        <p:nvSpPr>
          <p:cNvPr id="24" name="Text 21"/>
          <p:cNvSpPr/>
          <p:nvPr/>
        </p:nvSpPr>
        <p:spPr>
          <a:xfrm>
            <a:off x="1139726" y="3294757"/>
            <a:ext cx="1989704" cy="140196"/>
          </a:xfrm>
          <a:prstGeom prst="rect">
            <a:avLst/>
          </a:prstGeom>
          <a:noFill/>
          <a:ln/>
        </p:spPr>
        <p:txBody>
          <a:bodyPr wrap="square" lIns="0" tIns="0" rIns="0" bIns="0" rtlCol="0" anchor="t"/>
          <a:lstStyle/>
          <a:p>
            <a:pPr algn="l" indent="0" marL="0">
              <a:lnSpc>
                <a:spcPts val="1105"/>
              </a:lnSpc>
              <a:buNone/>
            </a:pPr>
            <a:r>
              <a:rPr lang="en-US" sz="850" dirty="0">
                <a:solidFill>
                  <a:srgbClr val="94A3B8"/>
                </a:solidFill>
                <a:latin typeface="Arial" pitchFamily="34" charset="0"/>
                <a:ea typeface="Arial" pitchFamily="34" charset="-122"/>
                <a:cs typeface="Arial" pitchFamily="34" charset="-120"/>
              </a:rPr>
              <a:t>Insufficient model confidence (F1 &lt; 0.50)</a:t>
            </a:r>
            <a:endParaRPr lang="en-US" sz="850" dirty="0"/>
          </a:p>
        </p:txBody>
      </p:sp>
      <p:sp>
        <p:nvSpPr>
          <p:cNvPr id="25" name="Text 22"/>
          <p:cNvSpPr/>
          <p:nvPr/>
        </p:nvSpPr>
        <p:spPr>
          <a:xfrm>
            <a:off x="457200" y="3660279"/>
            <a:ext cx="4013150" cy="451842"/>
          </a:xfrm>
          <a:prstGeom prst="roundRect">
            <a:avLst>
              <a:gd name="adj" fmla="val 16864"/>
            </a:avLst>
          </a:prstGeom>
          <a:solidFill>
            <a:srgbClr val="00B4D8">
              <a:alpha val="6000"/>
            </a:srgbClr>
          </a:solidFill>
          <a:ln w="9525">
            <a:solidFill>
              <a:srgbClr val="00B4D8"/>
            </a:solidFill>
          </a:ln>
        </p:spPr>
        <p:txBody>
          <a:bodyPr wrap="square" rtlCol="0" anchor="ctr"/>
          <a:lstStyle/>
          <a:p>
            <a:pPr indent="0" marL="0">
              <a:buNone/>
            </a:pPr>
            <a:endParaRPr lang="en-US" dirty="0"/>
          </a:p>
        </p:txBody>
      </p:sp>
      <p:sp>
        <p:nvSpPr>
          <p:cNvPr id="26" name="Text 23"/>
          <p:cNvSpPr/>
          <p:nvPr/>
        </p:nvSpPr>
        <p:spPr>
          <a:xfrm>
            <a:off x="593675" y="3746004"/>
            <a:ext cx="3815004" cy="280392"/>
          </a:xfrm>
          <a:prstGeom prst="rect">
            <a:avLst/>
          </a:prstGeom>
          <a:noFill/>
          <a:ln/>
        </p:spPr>
        <p:txBody>
          <a:bodyPr wrap="square" lIns="0" tIns="0" rIns="0" bIns="0" rtlCol="0" anchor="t"/>
          <a:lstStyle/>
          <a:p>
            <a:pPr algn="l" indent="0" marL="0">
              <a:lnSpc>
                <a:spcPts val="1105"/>
              </a:lnSpc>
              <a:buNone/>
            </a:pPr>
            <a:r>
              <a:rPr lang="en-US" sz="850" b="1" dirty="0">
                <a:solidFill>
                  <a:srgbClr val="00B4D8"/>
                </a:solidFill>
                <a:latin typeface="Arial" pitchFamily="34" charset="0"/>
                <a:ea typeface="Arial" pitchFamily="34" charset="-122"/>
                <a:cs typeface="Arial" pitchFamily="34" charset="-120"/>
              </a:rPr>
              <a:t>Per-class thresholds</a:t>
            </a:r>
            <a:pPr algn="l" indent="0" marL="0">
              <a:lnSpc>
                <a:spcPts val="1105"/>
              </a:lnSpc>
              <a:buNone/>
            </a:pPr>
            <a:r>
              <a:rPr lang="en-US" sz="850" dirty="0">
                <a:solidFill>
                  <a:srgbClr val="94A3B8"/>
                </a:solidFill>
                <a:latin typeface="Arial" pitchFamily="34" charset="0"/>
                <a:ea typeface="Arial" pitchFamily="34" charset="-122"/>
                <a:cs typeface="Arial" pitchFamily="34" charset="-120"/>
              </a:rPr>
              <a:t> push more classes into automation tiers. LF Per-Class: +2.1% F1 Micro, +6.7% F1 Macro vs baseline.</a:t>
            </a:r>
            <a:endParaRPr lang="en-US" sz="850" dirty="0"/>
          </a:p>
        </p:txBody>
      </p:sp>
      <p:sp>
        <p:nvSpPr>
          <p:cNvPr id="27" name="Text 24"/>
          <p:cNvSpPr/>
          <p:nvPr/>
        </p:nvSpPr>
        <p:spPr>
          <a:xfrm>
            <a:off x="4673501" y="726877"/>
            <a:ext cx="4093565" cy="140196"/>
          </a:xfrm>
          <a:prstGeom prst="rect">
            <a:avLst/>
          </a:prstGeom>
          <a:noFill/>
          <a:ln/>
        </p:spPr>
        <p:txBody>
          <a:bodyPr wrap="square" lIns="0" tIns="0" rIns="0" bIns="0" rtlCol="0" anchor="t"/>
          <a:lstStyle/>
          <a:p>
            <a:pPr algn="l" indent="0" marL="0">
              <a:lnSpc>
                <a:spcPts val="1105"/>
              </a:lnSpc>
              <a:spcAft>
                <a:spcPts val="500"/>
              </a:spcAft>
              <a:buNone/>
            </a:pPr>
            <a:r>
              <a:rPr lang="en-US" sz="850" dirty="0">
                <a:solidFill>
                  <a:srgbClr val="94A3B8"/>
                </a:solidFill>
                <a:latin typeface="Arial" pitchFamily="34" charset="0"/>
                <a:ea typeface="Arial" pitchFamily="34" charset="-122"/>
                <a:cs typeface="Arial" pitchFamily="34" charset="-120"/>
              </a:rPr>
              <a:t>BASELINE FEASIBILITY (TF-IDF)</a:t>
            </a:r>
            <a:endParaRPr lang="en-US" sz="850" dirty="0"/>
          </a:p>
        </p:txBody>
      </p:sp>
      <p:sp>
        <p:nvSpPr>
          <p:cNvPr id="28" name="Shape 25"/>
          <p:cNvSpPr/>
          <p:nvPr/>
        </p:nvSpPr>
        <p:spPr>
          <a:xfrm>
            <a:off x="4673501" y="1193602"/>
            <a:ext cx="4013299" cy="0"/>
          </a:xfrm>
          <a:prstGeom prst="line">
            <a:avLst/>
          </a:prstGeom>
          <a:noFill/>
          <a:ln w="9525">
            <a:solidFill>
              <a:srgbClr val="FFFFFF"/>
            </a:solidFill>
            <a:prstDash val="solid"/>
          </a:ln>
        </p:spPr>
      </p:sp>
      <p:sp>
        <p:nvSpPr>
          <p:cNvPr id="29" name="Text 26"/>
          <p:cNvSpPr/>
          <p:nvPr/>
        </p:nvSpPr>
        <p:spPr>
          <a:xfrm>
            <a:off x="4673501" y="981224"/>
            <a:ext cx="1401764" cy="156865"/>
          </a:xfrm>
          <a:prstGeom prst="rect">
            <a:avLst/>
          </a:prstGeom>
          <a:noFill/>
          <a:ln/>
        </p:spPr>
        <p:txBody>
          <a:bodyPr wrap="square" lIns="0" tIns="0" rIns="0" bIns="0" rtlCol="0" anchor="t"/>
          <a:lstStyle/>
          <a:p>
            <a:pPr algn="l" indent="0" marL="0">
              <a:lnSpc>
                <a:spcPts val="1235"/>
              </a:lnSpc>
              <a:buNone/>
            </a:pPr>
            <a:r>
              <a:rPr lang="en-US" sz="950" dirty="0">
                <a:solidFill>
                  <a:srgbClr val="94A3B8"/>
                </a:solidFill>
                <a:latin typeface="Arial" pitchFamily="34" charset="0"/>
                <a:ea typeface="Arial" pitchFamily="34" charset="-122"/>
                <a:cs typeface="Arial" pitchFamily="34" charset="-120"/>
              </a:rPr>
              <a:t>Automatable (F1 &gt;= 0.63)</a:t>
            </a:r>
            <a:endParaRPr lang="en-US" sz="950" dirty="0"/>
          </a:p>
        </p:txBody>
      </p:sp>
      <p:sp>
        <p:nvSpPr>
          <p:cNvPr id="30" name="Text 27"/>
          <p:cNvSpPr/>
          <p:nvPr/>
        </p:nvSpPr>
        <p:spPr>
          <a:xfrm>
            <a:off x="8318004" y="981224"/>
            <a:ext cx="376172" cy="156865"/>
          </a:xfrm>
          <a:prstGeom prst="rect">
            <a:avLst/>
          </a:prstGeom>
          <a:noFill/>
          <a:ln/>
        </p:spPr>
        <p:txBody>
          <a:bodyPr wrap="square" lIns="0" tIns="0" rIns="0" bIns="0" rtlCol="0" anchor="t"/>
          <a:lstStyle/>
          <a:p>
            <a:pPr algn="l" indent="0" marL="0">
              <a:lnSpc>
                <a:spcPts val="1235"/>
              </a:lnSpc>
              <a:buNone/>
            </a:pPr>
            <a:r>
              <a:rPr lang="en-US" sz="950" b="1" dirty="0">
                <a:solidFill>
                  <a:srgbClr val="E2E8F0"/>
                </a:solidFill>
                <a:latin typeface="Arial" pitchFamily="34" charset="0"/>
                <a:ea typeface="Arial" pitchFamily="34" charset="-122"/>
                <a:cs typeface="Arial" pitchFamily="34" charset="-120"/>
              </a:rPr>
              <a:t>13 / 41</a:t>
            </a:r>
            <a:endParaRPr lang="en-US" sz="950" dirty="0"/>
          </a:p>
        </p:txBody>
      </p:sp>
      <p:sp>
        <p:nvSpPr>
          <p:cNvPr id="31" name="Shape 28"/>
          <p:cNvSpPr/>
          <p:nvPr/>
        </p:nvSpPr>
        <p:spPr>
          <a:xfrm>
            <a:off x="4673501" y="1461492"/>
            <a:ext cx="4013299" cy="0"/>
          </a:xfrm>
          <a:prstGeom prst="line">
            <a:avLst/>
          </a:prstGeom>
          <a:noFill/>
          <a:ln w="9525">
            <a:solidFill>
              <a:srgbClr val="FFFFFF"/>
            </a:solidFill>
            <a:prstDash val="solid"/>
          </a:ln>
        </p:spPr>
      </p:sp>
      <p:sp>
        <p:nvSpPr>
          <p:cNvPr id="32" name="Text 29"/>
          <p:cNvSpPr/>
          <p:nvPr/>
        </p:nvSpPr>
        <p:spPr>
          <a:xfrm>
            <a:off x="4673501" y="1249114"/>
            <a:ext cx="1593190" cy="156865"/>
          </a:xfrm>
          <a:prstGeom prst="rect">
            <a:avLst/>
          </a:prstGeom>
          <a:noFill/>
          <a:ln/>
        </p:spPr>
        <p:txBody>
          <a:bodyPr wrap="square" lIns="0" tIns="0" rIns="0" bIns="0" rtlCol="0" anchor="t"/>
          <a:lstStyle/>
          <a:p>
            <a:pPr algn="l" indent="0" marL="0">
              <a:lnSpc>
                <a:spcPts val="1235"/>
              </a:lnSpc>
              <a:buNone/>
            </a:pPr>
            <a:r>
              <a:rPr lang="en-US" sz="950" dirty="0">
                <a:solidFill>
                  <a:srgbClr val="94A3B8"/>
                </a:solidFill>
                <a:latin typeface="Arial" pitchFamily="34" charset="0"/>
                <a:ea typeface="Arial" pitchFamily="34" charset="-122"/>
                <a:cs typeface="Arial" pitchFamily="34" charset="-120"/>
              </a:rPr>
              <a:t>High confidence (F1 &gt;= 0.93)</a:t>
            </a:r>
            <a:endParaRPr lang="en-US" sz="950" dirty="0"/>
          </a:p>
        </p:txBody>
      </p:sp>
      <p:sp>
        <p:nvSpPr>
          <p:cNvPr id="33" name="Text 30"/>
          <p:cNvSpPr/>
          <p:nvPr/>
        </p:nvSpPr>
        <p:spPr>
          <a:xfrm>
            <a:off x="8384977" y="1249114"/>
            <a:ext cx="307860" cy="156865"/>
          </a:xfrm>
          <a:prstGeom prst="rect">
            <a:avLst/>
          </a:prstGeom>
          <a:noFill/>
          <a:ln/>
        </p:spPr>
        <p:txBody>
          <a:bodyPr wrap="square" lIns="0" tIns="0" rIns="0" bIns="0" rtlCol="0" anchor="t"/>
          <a:lstStyle/>
          <a:p>
            <a:pPr algn="l" indent="0" marL="0">
              <a:lnSpc>
                <a:spcPts val="1235"/>
              </a:lnSpc>
              <a:buNone/>
            </a:pPr>
            <a:r>
              <a:rPr lang="en-US" sz="950" b="1" dirty="0">
                <a:solidFill>
                  <a:srgbClr val="E2E8F0"/>
                </a:solidFill>
                <a:latin typeface="Arial" pitchFamily="34" charset="0"/>
                <a:ea typeface="Arial" pitchFamily="34" charset="-122"/>
                <a:cs typeface="Arial" pitchFamily="34" charset="-120"/>
              </a:rPr>
              <a:t>1 / 41</a:t>
            </a:r>
            <a:endParaRPr lang="en-US" sz="950" dirty="0"/>
          </a:p>
        </p:txBody>
      </p:sp>
      <p:sp>
        <p:nvSpPr>
          <p:cNvPr id="34" name="Shape 31"/>
          <p:cNvSpPr/>
          <p:nvPr/>
        </p:nvSpPr>
        <p:spPr>
          <a:xfrm>
            <a:off x="4673501" y="1729383"/>
            <a:ext cx="4013299" cy="0"/>
          </a:xfrm>
          <a:prstGeom prst="line">
            <a:avLst/>
          </a:prstGeom>
          <a:noFill/>
          <a:ln w="9525">
            <a:solidFill>
              <a:srgbClr val="FFFFFF"/>
            </a:solidFill>
            <a:prstDash val="solid"/>
          </a:ln>
        </p:spPr>
      </p:sp>
      <p:sp>
        <p:nvSpPr>
          <p:cNvPr id="35" name="Text 32"/>
          <p:cNvSpPr/>
          <p:nvPr/>
        </p:nvSpPr>
        <p:spPr>
          <a:xfrm>
            <a:off x="4673501" y="1517005"/>
            <a:ext cx="1380967" cy="156865"/>
          </a:xfrm>
          <a:prstGeom prst="rect">
            <a:avLst/>
          </a:prstGeom>
          <a:noFill/>
          <a:ln/>
        </p:spPr>
        <p:txBody>
          <a:bodyPr wrap="square" lIns="0" tIns="0" rIns="0" bIns="0" rtlCol="0" anchor="t"/>
          <a:lstStyle/>
          <a:p>
            <a:pPr algn="l" indent="0" marL="0">
              <a:lnSpc>
                <a:spcPts val="1235"/>
              </a:lnSpc>
              <a:buNone/>
            </a:pPr>
            <a:r>
              <a:rPr lang="en-US" sz="950" dirty="0">
                <a:solidFill>
                  <a:srgbClr val="94A3B8"/>
                </a:solidFill>
                <a:latin typeface="Arial" pitchFamily="34" charset="0"/>
                <a:ea typeface="Arial" pitchFamily="34" charset="-122"/>
                <a:cs typeface="Arial" pitchFamily="34" charset="-120"/>
              </a:rPr>
              <a:t>Needs review (0.50-0.63)</a:t>
            </a:r>
            <a:endParaRPr lang="en-US" sz="950" dirty="0"/>
          </a:p>
        </p:txBody>
      </p:sp>
      <p:sp>
        <p:nvSpPr>
          <p:cNvPr id="36" name="Text 33"/>
          <p:cNvSpPr/>
          <p:nvPr/>
        </p:nvSpPr>
        <p:spPr>
          <a:xfrm>
            <a:off x="8324552" y="1517005"/>
            <a:ext cx="369493" cy="156865"/>
          </a:xfrm>
          <a:prstGeom prst="rect">
            <a:avLst/>
          </a:prstGeom>
          <a:noFill/>
          <a:ln/>
        </p:spPr>
        <p:txBody>
          <a:bodyPr wrap="square" lIns="0" tIns="0" rIns="0" bIns="0" rtlCol="0" anchor="t"/>
          <a:lstStyle/>
          <a:p>
            <a:pPr algn="l" indent="0" marL="0">
              <a:lnSpc>
                <a:spcPts val="1235"/>
              </a:lnSpc>
              <a:buNone/>
            </a:pPr>
            <a:r>
              <a:rPr lang="en-US" sz="950" b="1" dirty="0">
                <a:solidFill>
                  <a:srgbClr val="E2E8F0"/>
                </a:solidFill>
                <a:latin typeface="Arial" pitchFamily="34" charset="0"/>
                <a:ea typeface="Arial" pitchFamily="34" charset="-122"/>
                <a:cs typeface="Arial" pitchFamily="34" charset="-120"/>
              </a:rPr>
              <a:t>11 / 41</a:t>
            </a:r>
            <a:endParaRPr lang="en-US" sz="950" dirty="0"/>
          </a:p>
        </p:txBody>
      </p:sp>
      <p:sp>
        <p:nvSpPr>
          <p:cNvPr id="37" name="Shape 34"/>
          <p:cNvSpPr/>
          <p:nvPr/>
        </p:nvSpPr>
        <p:spPr>
          <a:xfrm>
            <a:off x="4673501" y="1997273"/>
            <a:ext cx="4013299" cy="0"/>
          </a:xfrm>
          <a:prstGeom prst="line">
            <a:avLst/>
          </a:prstGeom>
          <a:noFill/>
          <a:ln w="9525">
            <a:solidFill>
              <a:srgbClr val="FFFFFF"/>
            </a:solidFill>
            <a:prstDash val="solid"/>
          </a:ln>
        </p:spPr>
      </p:sp>
      <p:sp>
        <p:nvSpPr>
          <p:cNvPr id="38" name="Text 35"/>
          <p:cNvSpPr/>
          <p:nvPr/>
        </p:nvSpPr>
        <p:spPr>
          <a:xfrm>
            <a:off x="4673501" y="1784896"/>
            <a:ext cx="1288822" cy="156865"/>
          </a:xfrm>
          <a:prstGeom prst="rect">
            <a:avLst/>
          </a:prstGeom>
          <a:noFill/>
          <a:ln/>
        </p:spPr>
        <p:txBody>
          <a:bodyPr wrap="square" lIns="0" tIns="0" rIns="0" bIns="0" rtlCol="0" anchor="t"/>
          <a:lstStyle/>
          <a:p>
            <a:pPr algn="l" indent="0" marL="0">
              <a:lnSpc>
                <a:spcPts val="1235"/>
              </a:lnSpc>
              <a:buNone/>
            </a:pPr>
            <a:r>
              <a:rPr lang="en-US" sz="950" dirty="0">
                <a:solidFill>
                  <a:srgbClr val="94A3B8"/>
                </a:solidFill>
                <a:latin typeface="Arial" pitchFamily="34" charset="0"/>
                <a:ea typeface="Arial" pitchFamily="34" charset="-122"/>
                <a:cs typeface="Arial" pitchFamily="34" charset="-120"/>
              </a:rPr>
              <a:t>Not feasible (F1 &lt; 0.50)</a:t>
            </a:r>
            <a:endParaRPr lang="en-US" sz="950" dirty="0"/>
          </a:p>
        </p:txBody>
      </p:sp>
      <p:sp>
        <p:nvSpPr>
          <p:cNvPr id="39" name="Text 36"/>
          <p:cNvSpPr/>
          <p:nvPr/>
        </p:nvSpPr>
        <p:spPr>
          <a:xfrm>
            <a:off x="8318004" y="1784896"/>
            <a:ext cx="376172" cy="156865"/>
          </a:xfrm>
          <a:prstGeom prst="rect">
            <a:avLst/>
          </a:prstGeom>
          <a:noFill/>
          <a:ln/>
        </p:spPr>
        <p:txBody>
          <a:bodyPr wrap="square" lIns="0" tIns="0" rIns="0" bIns="0" rtlCol="0" anchor="t"/>
          <a:lstStyle/>
          <a:p>
            <a:pPr algn="l" indent="0" marL="0">
              <a:lnSpc>
                <a:spcPts val="1235"/>
              </a:lnSpc>
              <a:buNone/>
            </a:pPr>
            <a:r>
              <a:rPr lang="en-US" sz="950" b="1" dirty="0">
                <a:solidFill>
                  <a:srgbClr val="E2E8F0"/>
                </a:solidFill>
                <a:latin typeface="Arial" pitchFamily="34" charset="0"/>
                <a:ea typeface="Arial" pitchFamily="34" charset="-122"/>
                <a:cs typeface="Arial" pitchFamily="34" charset="-120"/>
              </a:rPr>
              <a:t>17 / 41</a:t>
            </a:r>
            <a:endParaRPr lang="en-US" sz="950" dirty="0"/>
          </a:p>
        </p:txBody>
      </p:sp>
      <p:sp>
        <p:nvSpPr>
          <p:cNvPr id="40" name="Text 37"/>
          <p:cNvSpPr/>
          <p:nvPr/>
        </p:nvSpPr>
        <p:spPr>
          <a:xfrm>
            <a:off x="4673501" y="2103537"/>
            <a:ext cx="4093565" cy="140196"/>
          </a:xfrm>
          <a:prstGeom prst="rect">
            <a:avLst/>
          </a:prstGeom>
          <a:noFill/>
          <a:ln/>
        </p:spPr>
        <p:txBody>
          <a:bodyPr wrap="square" lIns="0" tIns="0" rIns="0" bIns="0" rtlCol="0" anchor="t"/>
          <a:lstStyle/>
          <a:p>
            <a:pPr algn="l" indent="0" marL="0">
              <a:lnSpc>
                <a:spcPts val="1105"/>
              </a:lnSpc>
              <a:spcBef>
                <a:spcPts val="800"/>
              </a:spcBef>
              <a:spcAft>
                <a:spcPts val="500"/>
              </a:spcAft>
              <a:buNone/>
            </a:pPr>
            <a:r>
              <a:rPr lang="en-US" sz="850" dirty="0">
                <a:solidFill>
                  <a:srgbClr val="94A3B8"/>
                </a:solidFill>
                <a:latin typeface="Arial" pitchFamily="34" charset="0"/>
                <a:ea typeface="Arial" pitchFamily="34" charset="-122"/>
                <a:cs typeface="Arial" pitchFamily="34" charset="-120"/>
              </a:rPr>
              <a:t>BEST MODEL (LF PER-CLASS THRESHOLDS)</a:t>
            </a:r>
            <a:endParaRPr lang="en-US" sz="850" dirty="0"/>
          </a:p>
        </p:txBody>
      </p:sp>
      <p:sp>
        <p:nvSpPr>
          <p:cNvPr id="41" name="Shape 38"/>
          <p:cNvSpPr/>
          <p:nvPr/>
        </p:nvSpPr>
        <p:spPr>
          <a:xfrm>
            <a:off x="4673501" y="2570262"/>
            <a:ext cx="4013299" cy="0"/>
          </a:xfrm>
          <a:prstGeom prst="line">
            <a:avLst/>
          </a:prstGeom>
          <a:noFill/>
          <a:ln w="9525">
            <a:solidFill>
              <a:srgbClr val="FFFFFF"/>
            </a:solidFill>
            <a:prstDash val="solid"/>
          </a:ln>
        </p:spPr>
      </p:sp>
      <p:sp>
        <p:nvSpPr>
          <p:cNvPr id="42" name="Text 39"/>
          <p:cNvSpPr/>
          <p:nvPr/>
        </p:nvSpPr>
        <p:spPr>
          <a:xfrm>
            <a:off x="4673501" y="2357884"/>
            <a:ext cx="478488" cy="156865"/>
          </a:xfrm>
          <a:prstGeom prst="rect">
            <a:avLst/>
          </a:prstGeom>
          <a:noFill/>
          <a:ln/>
        </p:spPr>
        <p:txBody>
          <a:bodyPr wrap="square" lIns="0" tIns="0" rIns="0" bIns="0" rtlCol="0" anchor="t"/>
          <a:lstStyle/>
          <a:p>
            <a:pPr algn="l" indent="0" marL="0">
              <a:lnSpc>
                <a:spcPts val="1235"/>
              </a:lnSpc>
              <a:buNone/>
            </a:pPr>
            <a:r>
              <a:rPr lang="en-US" sz="950" dirty="0">
                <a:solidFill>
                  <a:srgbClr val="94A3B8"/>
                </a:solidFill>
                <a:latin typeface="Arial" pitchFamily="34" charset="0"/>
                <a:ea typeface="Arial" pitchFamily="34" charset="-122"/>
                <a:cs typeface="Arial" pitchFamily="34" charset="-120"/>
              </a:rPr>
              <a:t>F1 Micro</a:t>
            </a:r>
            <a:endParaRPr lang="en-US" sz="950" dirty="0"/>
          </a:p>
        </p:txBody>
      </p:sp>
      <p:sp>
        <p:nvSpPr>
          <p:cNvPr id="43" name="Text 40"/>
          <p:cNvSpPr/>
          <p:nvPr/>
        </p:nvSpPr>
        <p:spPr>
          <a:xfrm>
            <a:off x="7858869" y="2357884"/>
            <a:ext cx="844489" cy="156865"/>
          </a:xfrm>
          <a:prstGeom prst="rect">
            <a:avLst/>
          </a:prstGeom>
          <a:noFill/>
          <a:ln/>
        </p:spPr>
        <p:txBody>
          <a:bodyPr wrap="square" lIns="0" tIns="0" rIns="0" bIns="0" rtlCol="0" anchor="t"/>
          <a:lstStyle/>
          <a:p>
            <a:pPr algn="l" indent="0" marL="0">
              <a:lnSpc>
                <a:spcPts val="1235"/>
              </a:lnSpc>
              <a:buNone/>
            </a:pPr>
            <a:r>
              <a:rPr lang="en-US" sz="950" b="1" dirty="0">
                <a:solidFill>
                  <a:srgbClr val="22C55E"/>
                </a:solidFill>
                <a:latin typeface="Arial" pitchFamily="34" charset="0"/>
                <a:ea typeface="Arial" pitchFamily="34" charset="-122"/>
                <a:cs typeface="Arial" pitchFamily="34" charset="-120"/>
              </a:rPr>
              <a:t>0.7735 (+2.1%)</a:t>
            </a:r>
            <a:endParaRPr lang="en-US" sz="950" dirty="0"/>
          </a:p>
        </p:txBody>
      </p:sp>
      <p:sp>
        <p:nvSpPr>
          <p:cNvPr id="44" name="Shape 41"/>
          <p:cNvSpPr/>
          <p:nvPr/>
        </p:nvSpPr>
        <p:spPr>
          <a:xfrm>
            <a:off x="4673501" y="2838152"/>
            <a:ext cx="4013299" cy="0"/>
          </a:xfrm>
          <a:prstGeom prst="line">
            <a:avLst/>
          </a:prstGeom>
          <a:noFill/>
          <a:ln w="9525">
            <a:solidFill>
              <a:srgbClr val="FFFFFF"/>
            </a:solidFill>
            <a:prstDash val="solid"/>
          </a:ln>
        </p:spPr>
      </p:sp>
      <p:sp>
        <p:nvSpPr>
          <p:cNvPr id="45" name="Text 42"/>
          <p:cNvSpPr/>
          <p:nvPr/>
        </p:nvSpPr>
        <p:spPr>
          <a:xfrm>
            <a:off x="4673501" y="2625775"/>
            <a:ext cx="519476" cy="156865"/>
          </a:xfrm>
          <a:prstGeom prst="rect">
            <a:avLst/>
          </a:prstGeom>
          <a:noFill/>
          <a:ln/>
        </p:spPr>
        <p:txBody>
          <a:bodyPr wrap="square" lIns="0" tIns="0" rIns="0" bIns="0" rtlCol="0" anchor="t"/>
          <a:lstStyle/>
          <a:p>
            <a:pPr algn="l" indent="0" marL="0">
              <a:lnSpc>
                <a:spcPts val="1235"/>
              </a:lnSpc>
              <a:buNone/>
            </a:pPr>
            <a:r>
              <a:rPr lang="en-US" sz="950" dirty="0">
                <a:solidFill>
                  <a:srgbClr val="94A3B8"/>
                </a:solidFill>
                <a:latin typeface="Arial" pitchFamily="34" charset="0"/>
                <a:ea typeface="Arial" pitchFamily="34" charset="-122"/>
                <a:cs typeface="Arial" pitchFamily="34" charset="-120"/>
              </a:rPr>
              <a:t>F1 Macro</a:t>
            </a:r>
            <a:endParaRPr lang="en-US" sz="950" dirty="0"/>
          </a:p>
        </p:txBody>
      </p:sp>
      <p:sp>
        <p:nvSpPr>
          <p:cNvPr id="46" name="Text 43"/>
          <p:cNvSpPr/>
          <p:nvPr/>
        </p:nvSpPr>
        <p:spPr>
          <a:xfrm>
            <a:off x="7858869" y="2625775"/>
            <a:ext cx="844489" cy="156865"/>
          </a:xfrm>
          <a:prstGeom prst="rect">
            <a:avLst/>
          </a:prstGeom>
          <a:noFill/>
          <a:ln/>
        </p:spPr>
        <p:txBody>
          <a:bodyPr wrap="square" lIns="0" tIns="0" rIns="0" bIns="0" rtlCol="0" anchor="t"/>
          <a:lstStyle/>
          <a:p>
            <a:pPr algn="l" indent="0" marL="0">
              <a:lnSpc>
                <a:spcPts val="1235"/>
              </a:lnSpc>
              <a:buNone/>
            </a:pPr>
            <a:r>
              <a:rPr lang="en-US" sz="950" b="1" dirty="0">
                <a:solidFill>
                  <a:srgbClr val="22C55E"/>
                </a:solidFill>
                <a:latin typeface="Arial" pitchFamily="34" charset="0"/>
                <a:ea typeface="Arial" pitchFamily="34" charset="-122"/>
                <a:cs typeface="Arial" pitchFamily="34" charset="-120"/>
              </a:rPr>
              <a:t>0.6000 (+6.7%)</a:t>
            </a:r>
            <a:endParaRPr lang="en-US" sz="950" dirty="0"/>
          </a:p>
        </p:txBody>
      </p:sp>
      <p:sp>
        <p:nvSpPr>
          <p:cNvPr id="47" name="Text 44"/>
          <p:cNvSpPr/>
          <p:nvPr/>
        </p:nvSpPr>
        <p:spPr>
          <a:xfrm>
            <a:off x="4673501" y="2944416"/>
            <a:ext cx="4093565" cy="140196"/>
          </a:xfrm>
          <a:prstGeom prst="rect">
            <a:avLst/>
          </a:prstGeom>
          <a:noFill/>
          <a:ln/>
        </p:spPr>
        <p:txBody>
          <a:bodyPr wrap="square" lIns="0" tIns="0" rIns="0" bIns="0" rtlCol="0" anchor="t"/>
          <a:lstStyle/>
          <a:p>
            <a:pPr algn="l" indent="0" marL="0">
              <a:lnSpc>
                <a:spcPts val="1105"/>
              </a:lnSpc>
              <a:spcBef>
                <a:spcPts val="800"/>
              </a:spcBef>
              <a:spcAft>
                <a:spcPts val="500"/>
              </a:spcAft>
              <a:buNone/>
            </a:pPr>
            <a:r>
              <a:rPr lang="en-US" sz="850" dirty="0">
                <a:solidFill>
                  <a:srgbClr val="94A3B8"/>
                </a:solidFill>
                <a:latin typeface="Arial" pitchFamily="34" charset="0"/>
                <a:ea typeface="Arial" pitchFamily="34" charset="-122"/>
                <a:cs typeface="Arial" pitchFamily="34" charset="-120"/>
              </a:rPr>
              <a:t>HUMAN BENCHMARK</a:t>
            </a:r>
            <a:endParaRPr lang="en-US" sz="850" dirty="0"/>
          </a:p>
        </p:txBody>
      </p:sp>
      <p:sp>
        <p:nvSpPr>
          <p:cNvPr id="48" name="Shape 45"/>
          <p:cNvSpPr/>
          <p:nvPr/>
        </p:nvSpPr>
        <p:spPr>
          <a:xfrm>
            <a:off x="4673501" y="3411141"/>
            <a:ext cx="4013299" cy="0"/>
          </a:xfrm>
          <a:prstGeom prst="line">
            <a:avLst/>
          </a:prstGeom>
          <a:noFill/>
          <a:ln w="9525">
            <a:solidFill>
              <a:srgbClr val="FFFFFF"/>
            </a:solidFill>
            <a:prstDash val="solid"/>
          </a:ln>
        </p:spPr>
      </p:sp>
      <p:sp>
        <p:nvSpPr>
          <p:cNvPr id="49" name="Text 46"/>
          <p:cNvSpPr/>
          <p:nvPr/>
        </p:nvSpPr>
        <p:spPr>
          <a:xfrm>
            <a:off x="4673501" y="3198763"/>
            <a:ext cx="1165556" cy="156865"/>
          </a:xfrm>
          <a:prstGeom prst="rect">
            <a:avLst/>
          </a:prstGeom>
          <a:noFill/>
          <a:ln/>
        </p:spPr>
        <p:txBody>
          <a:bodyPr wrap="square" lIns="0" tIns="0" rIns="0" bIns="0" rtlCol="0" anchor="t"/>
          <a:lstStyle/>
          <a:p>
            <a:pPr algn="l" indent="0" marL="0">
              <a:lnSpc>
                <a:spcPts val="1235"/>
              </a:lnSpc>
              <a:buNone/>
            </a:pPr>
            <a:r>
              <a:rPr lang="en-US" sz="950" dirty="0">
                <a:solidFill>
                  <a:srgbClr val="94A3B8"/>
                </a:solidFill>
                <a:latin typeface="Arial" pitchFamily="34" charset="0"/>
                <a:ea typeface="Arial" pitchFamily="34" charset="-122"/>
                <a:cs typeface="Arial" pitchFamily="34" charset="-120"/>
              </a:rPr>
              <a:t>Cohen's kappa range</a:t>
            </a:r>
            <a:endParaRPr lang="en-US" sz="950" dirty="0"/>
          </a:p>
        </p:txBody>
      </p:sp>
      <p:sp>
        <p:nvSpPr>
          <p:cNvPr id="50" name="Text 47"/>
          <p:cNvSpPr/>
          <p:nvPr/>
        </p:nvSpPr>
        <p:spPr>
          <a:xfrm>
            <a:off x="8110240" y="3198763"/>
            <a:ext cx="588091" cy="156865"/>
          </a:xfrm>
          <a:prstGeom prst="rect">
            <a:avLst/>
          </a:prstGeom>
          <a:noFill/>
          <a:ln/>
        </p:spPr>
        <p:txBody>
          <a:bodyPr wrap="square" lIns="0" tIns="0" rIns="0" bIns="0" rtlCol="0" anchor="t"/>
          <a:lstStyle/>
          <a:p>
            <a:pPr algn="l" indent="0" marL="0">
              <a:lnSpc>
                <a:spcPts val="1235"/>
              </a:lnSpc>
              <a:buNone/>
            </a:pPr>
            <a:r>
              <a:rPr lang="en-US" sz="950" b="1" dirty="0">
                <a:solidFill>
                  <a:srgbClr val="E2E8F0"/>
                </a:solidFill>
                <a:latin typeface="Arial" pitchFamily="34" charset="0"/>
                <a:ea typeface="Arial" pitchFamily="34" charset="-122"/>
                <a:cs typeface="Arial" pitchFamily="34" charset="-120"/>
              </a:rPr>
              <a:t>0.63 - 0.93</a:t>
            </a:r>
            <a:endParaRPr lang="en-US" sz="950" dirty="0"/>
          </a:p>
        </p:txBody>
      </p:sp>
      <p:sp>
        <p:nvSpPr>
          <p:cNvPr id="51" name="Shape 48"/>
          <p:cNvSpPr/>
          <p:nvPr/>
        </p:nvSpPr>
        <p:spPr>
          <a:xfrm>
            <a:off x="4673501" y="3679031"/>
            <a:ext cx="4013299" cy="0"/>
          </a:xfrm>
          <a:prstGeom prst="line">
            <a:avLst/>
          </a:prstGeom>
          <a:noFill/>
          <a:ln w="9525">
            <a:solidFill>
              <a:srgbClr val="FFFFFF"/>
            </a:solidFill>
            <a:prstDash val="solid"/>
          </a:ln>
        </p:spPr>
      </p:sp>
      <p:sp>
        <p:nvSpPr>
          <p:cNvPr id="52" name="Text 49"/>
          <p:cNvSpPr/>
          <p:nvPr/>
        </p:nvSpPr>
        <p:spPr>
          <a:xfrm>
            <a:off x="4673501" y="3466654"/>
            <a:ext cx="1483587" cy="156865"/>
          </a:xfrm>
          <a:prstGeom prst="rect">
            <a:avLst/>
          </a:prstGeom>
          <a:noFill/>
          <a:ln/>
        </p:spPr>
        <p:txBody>
          <a:bodyPr wrap="square" lIns="0" tIns="0" rIns="0" bIns="0" rtlCol="0" anchor="t"/>
          <a:lstStyle/>
          <a:p>
            <a:pPr algn="l" indent="0" marL="0">
              <a:lnSpc>
                <a:spcPts val="1235"/>
              </a:lnSpc>
              <a:buNone/>
            </a:pPr>
            <a:r>
              <a:rPr lang="en-US" sz="950" dirty="0">
                <a:solidFill>
                  <a:srgbClr val="94A3B8"/>
                </a:solidFill>
                <a:latin typeface="Arial" pitchFamily="34" charset="0"/>
                <a:ea typeface="Arial" pitchFamily="34" charset="-122"/>
                <a:cs typeface="Arial" pitchFamily="34" charset="-120"/>
              </a:rPr>
              <a:t>Highest (Appellate Review)</a:t>
            </a:r>
            <a:endParaRPr lang="en-US" sz="950" dirty="0"/>
          </a:p>
        </p:txBody>
      </p:sp>
      <p:sp>
        <p:nvSpPr>
          <p:cNvPr id="53" name="Text 50"/>
          <p:cNvSpPr/>
          <p:nvPr/>
        </p:nvSpPr>
        <p:spPr>
          <a:xfrm>
            <a:off x="8452098" y="3466654"/>
            <a:ext cx="239396" cy="156865"/>
          </a:xfrm>
          <a:prstGeom prst="rect">
            <a:avLst/>
          </a:prstGeom>
          <a:noFill/>
          <a:ln/>
        </p:spPr>
        <p:txBody>
          <a:bodyPr wrap="square" lIns="0" tIns="0" rIns="0" bIns="0" rtlCol="0" anchor="t"/>
          <a:lstStyle/>
          <a:p>
            <a:pPr algn="l" indent="0" marL="0">
              <a:lnSpc>
                <a:spcPts val="1235"/>
              </a:lnSpc>
              <a:buNone/>
            </a:pPr>
            <a:r>
              <a:rPr lang="en-US" sz="950" b="1" dirty="0">
                <a:solidFill>
                  <a:srgbClr val="E2E8F0"/>
                </a:solidFill>
                <a:latin typeface="Arial" pitchFamily="34" charset="0"/>
                <a:ea typeface="Arial" pitchFamily="34" charset="-122"/>
                <a:cs typeface="Arial" pitchFamily="34" charset="-120"/>
              </a:rPr>
              <a:t>0.93</a:t>
            </a:r>
            <a:endParaRPr lang="en-US" sz="950" dirty="0"/>
          </a:p>
        </p:txBody>
      </p:sp>
      <p:sp>
        <p:nvSpPr>
          <p:cNvPr id="54" name="Shape 51"/>
          <p:cNvSpPr/>
          <p:nvPr/>
        </p:nvSpPr>
        <p:spPr>
          <a:xfrm>
            <a:off x="4673501" y="3946922"/>
            <a:ext cx="4013299" cy="0"/>
          </a:xfrm>
          <a:prstGeom prst="line">
            <a:avLst/>
          </a:prstGeom>
          <a:noFill/>
          <a:ln w="9525">
            <a:solidFill>
              <a:srgbClr val="FFFFFF"/>
            </a:solidFill>
            <a:prstDash val="solid"/>
          </a:ln>
        </p:spPr>
      </p:sp>
      <p:sp>
        <p:nvSpPr>
          <p:cNvPr id="55" name="Text 52"/>
          <p:cNvSpPr/>
          <p:nvPr/>
        </p:nvSpPr>
        <p:spPr>
          <a:xfrm>
            <a:off x="4673501" y="3734544"/>
            <a:ext cx="1123355" cy="156865"/>
          </a:xfrm>
          <a:prstGeom prst="rect">
            <a:avLst/>
          </a:prstGeom>
          <a:noFill/>
          <a:ln/>
        </p:spPr>
        <p:txBody>
          <a:bodyPr wrap="square" lIns="0" tIns="0" rIns="0" bIns="0" rtlCol="0" anchor="t"/>
          <a:lstStyle/>
          <a:p>
            <a:pPr algn="l" indent="0" marL="0">
              <a:lnSpc>
                <a:spcPts val="1235"/>
              </a:lnSpc>
              <a:buNone/>
            </a:pPr>
            <a:r>
              <a:rPr lang="en-US" sz="950" dirty="0">
                <a:solidFill>
                  <a:srgbClr val="94A3B8"/>
                </a:solidFill>
                <a:latin typeface="Arial" pitchFamily="34" charset="0"/>
                <a:ea typeface="Arial" pitchFamily="34" charset="-122"/>
                <a:cs typeface="Arial" pitchFamily="34" charset="-120"/>
              </a:rPr>
              <a:t>Lowest (Trial Phase)</a:t>
            </a:r>
            <a:endParaRPr lang="en-US" sz="950" dirty="0"/>
          </a:p>
        </p:txBody>
      </p:sp>
      <p:sp>
        <p:nvSpPr>
          <p:cNvPr id="56" name="Text 53"/>
          <p:cNvSpPr/>
          <p:nvPr/>
        </p:nvSpPr>
        <p:spPr>
          <a:xfrm>
            <a:off x="8452098" y="3734544"/>
            <a:ext cx="239396" cy="156865"/>
          </a:xfrm>
          <a:prstGeom prst="rect">
            <a:avLst/>
          </a:prstGeom>
          <a:noFill/>
          <a:ln/>
        </p:spPr>
        <p:txBody>
          <a:bodyPr wrap="square" lIns="0" tIns="0" rIns="0" bIns="0" rtlCol="0" anchor="t"/>
          <a:lstStyle/>
          <a:p>
            <a:pPr algn="l" indent="0" marL="0">
              <a:lnSpc>
                <a:spcPts val="1235"/>
              </a:lnSpc>
              <a:buNone/>
            </a:pPr>
            <a:r>
              <a:rPr lang="en-US" sz="950" b="1" dirty="0">
                <a:solidFill>
                  <a:srgbClr val="E2E8F0"/>
                </a:solidFill>
                <a:latin typeface="Arial" pitchFamily="34" charset="0"/>
                <a:ea typeface="Arial" pitchFamily="34" charset="-122"/>
                <a:cs typeface="Arial" pitchFamily="34" charset="-120"/>
              </a:rPr>
              <a:t>0.63</a:t>
            </a:r>
            <a:endParaRPr lang="en-US" sz="950" dirty="0"/>
          </a:p>
        </p:txBody>
      </p:sp>
      <p:sp>
        <p:nvSpPr>
          <p:cNvPr id="57" name="Text 54"/>
          <p:cNvSpPr/>
          <p:nvPr/>
        </p:nvSpPr>
        <p:spPr>
          <a:xfrm>
            <a:off x="4673501" y="4027884"/>
            <a:ext cx="4013299" cy="940594"/>
          </a:xfrm>
          <a:prstGeom prst="roundRect">
            <a:avLst>
              <a:gd name="adj" fmla="val 8101"/>
            </a:avLst>
          </a:prstGeom>
          <a:solidFill>
            <a:srgbClr val="22C55E">
              <a:alpha val="8000"/>
            </a:srgbClr>
          </a:solidFill>
          <a:ln w="9525">
            <a:solidFill>
              <a:srgbClr val="22C55E"/>
            </a:solidFill>
          </a:ln>
        </p:spPr>
        <p:txBody>
          <a:bodyPr wrap="square" rtlCol="0" anchor="ctr"/>
          <a:lstStyle/>
          <a:p>
            <a:pPr indent="0" marL="0">
              <a:buNone/>
            </a:pPr>
            <a:endParaRPr lang="en-US" dirty="0"/>
          </a:p>
        </p:txBody>
      </p:sp>
      <p:sp>
        <p:nvSpPr>
          <p:cNvPr id="58" name="Text 55"/>
          <p:cNvSpPr/>
          <p:nvPr/>
        </p:nvSpPr>
        <p:spPr>
          <a:xfrm>
            <a:off x="4772573" y="4138910"/>
            <a:ext cx="3815155" cy="396180"/>
          </a:xfrm>
          <a:prstGeom prst="rect">
            <a:avLst/>
          </a:prstGeom>
          <a:noFill/>
          <a:ln/>
        </p:spPr>
        <p:txBody>
          <a:bodyPr wrap="square" lIns="0" tIns="0" rIns="0" bIns="0" rtlCol="0" anchor="t"/>
          <a:lstStyle/>
          <a:p>
            <a:pPr algn="ctr" indent="0" marL="0">
              <a:lnSpc>
                <a:spcPts val="3120"/>
              </a:lnSpc>
              <a:spcAft>
                <a:spcPts val="200"/>
              </a:spcAft>
              <a:buNone/>
            </a:pPr>
            <a:r>
              <a:rPr lang="en-US" sz="2400" b="1" dirty="0">
                <a:solidFill>
                  <a:srgbClr val="22C55E"/>
                </a:solidFill>
                <a:latin typeface="Arial" pitchFamily="34" charset="0"/>
                <a:ea typeface="Arial" pitchFamily="34" charset="-122"/>
                <a:cs typeface="Arial" pitchFamily="34" charset="-120"/>
              </a:rPr>
              <a:t>~92%</a:t>
            </a:r>
            <a:endParaRPr lang="en-US" sz="2400" dirty="0"/>
          </a:p>
        </p:txBody>
      </p:sp>
      <p:sp>
        <p:nvSpPr>
          <p:cNvPr id="59" name="Text 56"/>
          <p:cNvSpPr/>
          <p:nvPr/>
        </p:nvSpPr>
        <p:spPr>
          <a:xfrm>
            <a:off x="4772573" y="4560391"/>
            <a:ext cx="3815155" cy="148530"/>
          </a:xfrm>
          <a:prstGeom prst="rect">
            <a:avLst/>
          </a:prstGeom>
          <a:noFill/>
          <a:ln/>
        </p:spPr>
        <p:txBody>
          <a:bodyPr wrap="square" lIns="0" tIns="0" rIns="0" bIns="0" rtlCol="0" anchor="t"/>
          <a:lstStyle/>
          <a:p>
            <a:pPr algn="ctr" indent="0" marL="0">
              <a:lnSpc>
                <a:spcPts val="1170"/>
              </a:lnSpc>
              <a:buNone/>
            </a:pPr>
            <a:r>
              <a:rPr lang="en-US" sz="900" dirty="0">
                <a:solidFill>
                  <a:srgbClr val="E2E8F0"/>
                </a:solidFill>
                <a:latin typeface="Arial" pitchFamily="34" charset="0"/>
                <a:ea typeface="Arial" pitchFamily="34" charset="-122"/>
                <a:cs typeface="Arial" pitchFamily="34" charset="-120"/>
              </a:rPr>
              <a:t>of labeling volume covered by automatable</a:t>
            </a:r>
            <a:endParaRPr lang="en-US" sz="900" dirty="0"/>
          </a:p>
        </p:txBody>
      </p:sp>
      <p:sp>
        <p:nvSpPr>
          <p:cNvPr id="60" name="Text 57"/>
          <p:cNvSpPr/>
          <p:nvPr/>
        </p:nvSpPr>
        <p:spPr>
          <a:xfrm>
            <a:off x="4772573" y="4708922"/>
            <a:ext cx="3815155" cy="148530"/>
          </a:xfrm>
          <a:prstGeom prst="rect">
            <a:avLst/>
          </a:prstGeom>
          <a:noFill/>
          <a:ln/>
        </p:spPr>
        <p:txBody>
          <a:bodyPr wrap="square" lIns="0" tIns="0" rIns="0" bIns="0" rtlCol="0" anchor="t"/>
          <a:lstStyle/>
          <a:p>
            <a:pPr algn="ctr" indent="0" marL="0">
              <a:lnSpc>
                <a:spcPts val="1170"/>
              </a:lnSpc>
              <a:buNone/>
            </a:pPr>
            <a:r>
              <a:rPr lang="en-US" sz="900" dirty="0">
                <a:solidFill>
                  <a:srgbClr val="E2E8F0"/>
                </a:solidFill>
                <a:latin typeface="Arial" pitchFamily="34" charset="0"/>
                <a:ea typeface="Arial" pitchFamily="34" charset="-122"/>
                <a:cs typeface="Arial" pitchFamily="34" charset="-120"/>
              </a:rPr>
              <a:t>or review-tier classes (by sample count)</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Users/alessandrodibari/Ale/projects/TR_hiring_exercise/outputs/pptx_workspace/slides/accent_teal.png">    </p:cNvPr>
          <p:cNvPicPr>
            <a:picLocks noChangeAspect="1"/>
          </p:cNvPicPr>
          <p:nvPr/>
        </p:nvPicPr>
        <p:blipFill>
          <a:blip r:embed="rId2"/>
          <a:stretch>
            <a:fillRect/>
          </a:stretch>
        </p:blipFill>
        <p:spPr>
          <a:xfrm>
            <a:off x="0" y="0"/>
            <a:ext cx="9144000" cy="50750"/>
          </a:xfrm>
          <a:prstGeom prst="rect">
            <a:avLst/>
          </a:prstGeom>
        </p:spPr>
      </p:pic>
      <p:sp>
        <p:nvSpPr>
          <p:cNvPr id="3" name="Text 0"/>
          <p:cNvSpPr/>
          <p:nvPr/>
        </p:nvSpPr>
        <p:spPr>
          <a:xfrm>
            <a:off x="457200" y="330101"/>
            <a:ext cx="8394192" cy="323850"/>
          </a:xfrm>
          <a:prstGeom prst="rect">
            <a:avLst/>
          </a:prstGeom>
          <a:noFill/>
          <a:ln/>
        </p:spPr>
        <p:txBody>
          <a:bodyPr wrap="square" lIns="0" tIns="0" rIns="0" bIns="0" rtlCol="0" anchor="t"/>
          <a:lstStyle/>
          <a:p>
            <a:pPr algn="l" indent="0" marL="0">
              <a:buNone/>
            </a:pPr>
            <a:r>
              <a:rPr lang="en-US" sz="2200" b="1" dirty="0">
                <a:solidFill>
                  <a:srgbClr val="00B4D8"/>
                </a:solidFill>
                <a:latin typeface="Arial" pitchFamily="34" charset="0"/>
                <a:ea typeface="Arial" pitchFamily="34" charset="-122"/>
                <a:cs typeface="Arial" pitchFamily="34" charset="-120"/>
              </a:rPr>
              <a:t>Key Insights and Takeaways</a:t>
            </a:r>
            <a:endParaRPr lang="en-US" sz="2200" dirty="0"/>
          </a:p>
        </p:txBody>
      </p:sp>
      <p:sp>
        <p:nvSpPr>
          <p:cNvPr id="4" name="Text 1"/>
          <p:cNvSpPr/>
          <p:nvPr/>
        </p:nvSpPr>
        <p:spPr>
          <a:xfrm>
            <a:off x="457200" y="831652"/>
            <a:ext cx="298400" cy="298400"/>
          </a:xfrm>
          <a:prstGeom prst="roundRect">
            <a:avLst>
              <a:gd name="adj" fmla="val 306434"/>
            </a:avLst>
          </a:prstGeom>
          <a:solidFill>
            <a:srgbClr val="00B4D8">
              <a:alpha val="15000"/>
            </a:srgbClr>
          </a:solidFill>
          <a:ln w="9525">
            <a:solidFill>
              <a:srgbClr val="00B4D8"/>
            </a:solidFill>
          </a:ln>
        </p:spPr>
        <p:txBody>
          <a:bodyPr wrap="square" rtlCol="0" anchor="ctr"/>
          <a:lstStyle/>
          <a:p>
            <a:pPr indent="0" marL="0">
              <a:buNone/>
            </a:pPr>
            <a:endParaRPr lang="en-US" dirty="0"/>
          </a:p>
        </p:txBody>
      </p:sp>
      <p:sp>
        <p:nvSpPr>
          <p:cNvPr id="5" name="Text 2"/>
          <p:cNvSpPr/>
          <p:nvPr/>
        </p:nvSpPr>
        <p:spPr>
          <a:xfrm>
            <a:off x="571054" y="909340"/>
            <a:ext cx="72107" cy="142875"/>
          </a:xfrm>
          <a:prstGeom prst="rect">
            <a:avLst/>
          </a:prstGeom>
          <a:noFill/>
          <a:ln/>
        </p:spPr>
        <p:txBody>
          <a:bodyPr wrap="square" lIns="0" tIns="0" rIns="0" bIns="0" rtlCol="0" anchor="t"/>
          <a:lstStyle/>
          <a:p>
            <a:pPr algn="l" indent="0" marL="0">
              <a:buNone/>
            </a:pPr>
            <a:r>
              <a:rPr lang="en-US" sz="1000" b="1" dirty="0">
                <a:solidFill>
                  <a:srgbClr val="00B4D8"/>
                </a:solidFill>
                <a:latin typeface="Arial" pitchFamily="34" charset="0"/>
                <a:ea typeface="Arial" pitchFamily="34" charset="-122"/>
                <a:cs typeface="Arial" pitchFamily="34" charset="-120"/>
              </a:rPr>
              <a:t>1</a:t>
            </a:r>
            <a:endParaRPr lang="en-US" sz="1000" dirty="0"/>
          </a:p>
        </p:txBody>
      </p:sp>
      <p:sp>
        <p:nvSpPr>
          <p:cNvPr id="6" name="Text 3"/>
          <p:cNvSpPr/>
          <p:nvPr/>
        </p:nvSpPr>
        <p:spPr>
          <a:xfrm>
            <a:off x="882551" y="806351"/>
            <a:ext cx="4993312" cy="179933"/>
          </a:xfrm>
          <a:prstGeom prst="rect">
            <a:avLst/>
          </a:prstGeom>
          <a:noFill/>
          <a:ln/>
        </p:spPr>
        <p:txBody>
          <a:bodyPr wrap="square" lIns="0" tIns="0" rIns="0" bIns="0" rtlCol="0" anchor="t"/>
          <a:lstStyle/>
          <a:p>
            <a:pPr algn="l" indent="0" marL="0">
              <a:lnSpc>
                <a:spcPts val="1418"/>
              </a:lnSpc>
              <a:spcAft>
                <a:spcPts val="200"/>
              </a:spcAft>
              <a:buNone/>
            </a:pPr>
            <a:r>
              <a:rPr lang="en-US" sz="1050" b="1" dirty="0">
                <a:solidFill>
                  <a:srgbClr val="E2E8F0"/>
                </a:solidFill>
                <a:latin typeface="Arial" pitchFamily="34" charset="0"/>
                <a:ea typeface="Arial" pitchFamily="34" charset="-122"/>
                <a:cs typeface="Arial" pitchFamily="34" charset="-120"/>
              </a:rPr>
              <a:t>Sample size is the strongest predictor of model performance</a:t>
            </a:r>
            <a:endParaRPr lang="en-US" sz="1050" dirty="0"/>
          </a:p>
        </p:txBody>
      </p:sp>
      <p:sp>
        <p:nvSpPr>
          <p:cNvPr id="7" name="Text 4"/>
          <p:cNvSpPr/>
          <p:nvPr/>
        </p:nvSpPr>
        <p:spPr>
          <a:xfrm>
            <a:off x="882551" y="1011585"/>
            <a:ext cx="4993312" cy="154186"/>
          </a:xfrm>
          <a:prstGeom prst="rect">
            <a:avLst/>
          </a:prstGeom>
          <a:noFill/>
          <a:ln/>
        </p:spPr>
        <p:txBody>
          <a:bodyPr wrap="square" lIns="0" tIns="0" rIns="0" bIns="0" rtlCol="0" anchor="t"/>
          <a:lstStyle/>
          <a:p>
            <a:pPr algn="l" indent="0" marL="0">
              <a:lnSpc>
                <a:spcPts val="1215"/>
              </a:lnSpc>
              <a:buNone/>
            </a:pPr>
            <a:r>
              <a:rPr lang="en-US" sz="900" dirty="0">
                <a:solidFill>
                  <a:srgbClr val="94A3B8"/>
                </a:solidFill>
                <a:latin typeface="Arial" pitchFamily="34" charset="0"/>
                <a:ea typeface="Arial" pitchFamily="34" charset="-122"/>
                <a:cs typeface="Arial" pitchFamily="34" charset="-120"/>
              </a:rPr>
              <a:t>Postures with 500+ samples achieve F1 &gt; 0.92; rare postures (&lt;50 samples) struggle below 0.50</a:t>
            </a:r>
            <a:endParaRPr lang="en-US" sz="900" dirty="0"/>
          </a:p>
        </p:txBody>
      </p:sp>
      <p:sp>
        <p:nvSpPr>
          <p:cNvPr id="8" name="Text 5"/>
          <p:cNvSpPr/>
          <p:nvPr/>
        </p:nvSpPr>
        <p:spPr>
          <a:xfrm>
            <a:off x="457200" y="1292572"/>
            <a:ext cx="298400" cy="298400"/>
          </a:xfrm>
          <a:prstGeom prst="roundRect">
            <a:avLst>
              <a:gd name="adj" fmla="val 306434"/>
            </a:avLst>
          </a:prstGeom>
          <a:solidFill>
            <a:srgbClr val="00B4D8">
              <a:alpha val="15000"/>
            </a:srgbClr>
          </a:solidFill>
          <a:ln w="9525">
            <a:solidFill>
              <a:srgbClr val="00B4D8"/>
            </a:solidFill>
          </a:ln>
        </p:spPr>
        <p:txBody>
          <a:bodyPr wrap="square" rtlCol="0" anchor="ctr"/>
          <a:lstStyle/>
          <a:p>
            <a:pPr indent="0" marL="0">
              <a:buNone/>
            </a:pPr>
            <a:endParaRPr lang="en-US" dirty="0"/>
          </a:p>
        </p:txBody>
      </p:sp>
      <p:sp>
        <p:nvSpPr>
          <p:cNvPr id="9" name="Text 6"/>
          <p:cNvSpPr/>
          <p:nvPr/>
        </p:nvSpPr>
        <p:spPr>
          <a:xfrm>
            <a:off x="571054" y="1370261"/>
            <a:ext cx="72107" cy="142875"/>
          </a:xfrm>
          <a:prstGeom prst="rect">
            <a:avLst/>
          </a:prstGeom>
          <a:noFill/>
          <a:ln/>
        </p:spPr>
        <p:txBody>
          <a:bodyPr wrap="square" lIns="0" tIns="0" rIns="0" bIns="0" rtlCol="0" anchor="t"/>
          <a:lstStyle/>
          <a:p>
            <a:pPr algn="l" indent="0" marL="0">
              <a:buNone/>
            </a:pPr>
            <a:r>
              <a:rPr lang="en-US" sz="1000" b="1" dirty="0">
                <a:solidFill>
                  <a:srgbClr val="00B4D8"/>
                </a:solidFill>
                <a:latin typeface="Arial" pitchFamily="34" charset="0"/>
                <a:ea typeface="Arial" pitchFamily="34" charset="-122"/>
                <a:cs typeface="Arial" pitchFamily="34" charset="-120"/>
              </a:rPr>
              <a:t>2</a:t>
            </a:r>
            <a:endParaRPr lang="en-US" sz="1000" dirty="0"/>
          </a:p>
        </p:txBody>
      </p:sp>
      <p:sp>
        <p:nvSpPr>
          <p:cNvPr id="10" name="Text 7"/>
          <p:cNvSpPr/>
          <p:nvPr/>
        </p:nvSpPr>
        <p:spPr>
          <a:xfrm>
            <a:off x="882551" y="1267271"/>
            <a:ext cx="6285777" cy="179933"/>
          </a:xfrm>
          <a:prstGeom prst="rect">
            <a:avLst/>
          </a:prstGeom>
          <a:noFill/>
          <a:ln/>
        </p:spPr>
        <p:txBody>
          <a:bodyPr wrap="square" lIns="0" tIns="0" rIns="0" bIns="0" rtlCol="0" anchor="t"/>
          <a:lstStyle/>
          <a:p>
            <a:pPr algn="l" indent="0" marL="0">
              <a:lnSpc>
                <a:spcPts val="1418"/>
              </a:lnSpc>
              <a:spcAft>
                <a:spcPts val="200"/>
              </a:spcAft>
              <a:buNone/>
            </a:pPr>
            <a:r>
              <a:rPr lang="en-US" sz="1050" b="1" dirty="0">
                <a:solidFill>
                  <a:srgbClr val="E2E8F0"/>
                </a:solidFill>
                <a:latin typeface="Arial" pitchFamily="34" charset="0"/>
                <a:ea typeface="Arial" pitchFamily="34" charset="-122"/>
                <a:cs typeface="Arial" pitchFamily="34" charset="-120"/>
              </a:rPr>
              <a:t>Per-class threshold optimization unlocked the transformer's potential</a:t>
            </a:r>
            <a:endParaRPr lang="en-US" sz="1050" dirty="0"/>
          </a:p>
        </p:txBody>
      </p:sp>
      <p:sp>
        <p:nvSpPr>
          <p:cNvPr id="11" name="Text 8"/>
          <p:cNvSpPr/>
          <p:nvPr/>
        </p:nvSpPr>
        <p:spPr>
          <a:xfrm>
            <a:off x="882551" y="1472505"/>
            <a:ext cx="6285777" cy="154186"/>
          </a:xfrm>
          <a:prstGeom prst="rect">
            <a:avLst/>
          </a:prstGeom>
          <a:noFill/>
          <a:ln/>
        </p:spPr>
        <p:txBody>
          <a:bodyPr wrap="square" lIns="0" tIns="0" rIns="0" bIns="0" rtlCol="0" anchor="t"/>
          <a:lstStyle/>
          <a:p>
            <a:pPr algn="l" indent="0" marL="0">
              <a:lnSpc>
                <a:spcPts val="1215"/>
              </a:lnSpc>
              <a:buNone/>
            </a:pPr>
            <a:r>
              <a:rPr lang="en-US" sz="900" dirty="0">
                <a:solidFill>
                  <a:srgbClr val="94A3B8"/>
                </a:solidFill>
                <a:latin typeface="Arial" pitchFamily="34" charset="0"/>
                <a:ea typeface="Arial" pitchFamily="34" charset="-122"/>
                <a:cs typeface="Arial" pitchFamily="34" charset="-120"/>
              </a:rPr>
              <a:t>Default 0.5 threshold caused over-prediction. Per-class tuning (+2.1% F1 Micro, +6.7% F1 Macro) made it the best model.</a:t>
            </a:r>
            <a:endParaRPr lang="en-US" sz="900" dirty="0"/>
          </a:p>
        </p:txBody>
      </p:sp>
      <p:sp>
        <p:nvSpPr>
          <p:cNvPr id="12" name="Text 9"/>
          <p:cNvSpPr/>
          <p:nvPr/>
        </p:nvSpPr>
        <p:spPr>
          <a:xfrm>
            <a:off x="457200" y="1753493"/>
            <a:ext cx="298400" cy="298400"/>
          </a:xfrm>
          <a:prstGeom prst="roundRect">
            <a:avLst>
              <a:gd name="adj" fmla="val 306434"/>
            </a:avLst>
          </a:prstGeom>
          <a:solidFill>
            <a:srgbClr val="00B4D8">
              <a:alpha val="15000"/>
            </a:srgbClr>
          </a:solidFill>
          <a:ln w="9525">
            <a:solidFill>
              <a:srgbClr val="00B4D8"/>
            </a:solidFill>
          </a:ln>
        </p:spPr>
        <p:txBody>
          <a:bodyPr wrap="square" rtlCol="0" anchor="ctr"/>
          <a:lstStyle/>
          <a:p>
            <a:pPr indent="0" marL="0">
              <a:buNone/>
            </a:pPr>
            <a:endParaRPr lang="en-US" dirty="0"/>
          </a:p>
        </p:txBody>
      </p:sp>
      <p:sp>
        <p:nvSpPr>
          <p:cNvPr id="13" name="Text 10"/>
          <p:cNvSpPr/>
          <p:nvPr/>
        </p:nvSpPr>
        <p:spPr>
          <a:xfrm>
            <a:off x="571054" y="1831181"/>
            <a:ext cx="72107" cy="142875"/>
          </a:xfrm>
          <a:prstGeom prst="rect">
            <a:avLst/>
          </a:prstGeom>
          <a:noFill/>
          <a:ln/>
        </p:spPr>
        <p:txBody>
          <a:bodyPr wrap="square" lIns="0" tIns="0" rIns="0" bIns="0" rtlCol="0" anchor="t"/>
          <a:lstStyle/>
          <a:p>
            <a:pPr algn="l" indent="0" marL="0">
              <a:buNone/>
            </a:pPr>
            <a:r>
              <a:rPr lang="en-US" sz="1000" b="1" dirty="0">
                <a:solidFill>
                  <a:srgbClr val="00B4D8"/>
                </a:solidFill>
                <a:latin typeface="Arial" pitchFamily="34" charset="0"/>
                <a:ea typeface="Arial" pitchFamily="34" charset="-122"/>
                <a:cs typeface="Arial" pitchFamily="34" charset="-120"/>
              </a:rPr>
              <a:t>3</a:t>
            </a:r>
            <a:endParaRPr lang="en-US" sz="1000" dirty="0"/>
          </a:p>
        </p:txBody>
      </p:sp>
      <p:sp>
        <p:nvSpPr>
          <p:cNvPr id="14" name="Text 11"/>
          <p:cNvSpPr/>
          <p:nvPr/>
        </p:nvSpPr>
        <p:spPr>
          <a:xfrm>
            <a:off x="882551" y="1728192"/>
            <a:ext cx="5272632" cy="179933"/>
          </a:xfrm>
          <a:prstGeom prst="rect">
            <a:avLst/>
          </a:prstGeom>
          <a:noFill/>
          <a:ln/>
        </p:spPr>
        <p:txBody>
          <a:bodyPr wrap="square" lIns="0" tIns="0" rIns="0" bIns="0" rtlCol="0" anchor="t"/>
          <a:lstStyle/>
          <a:p>
            <a:pPr algn="l" indent="0" marL="0">
              <a:lnSpc>
                <a:spcPts val="1418"/>
              </a:lnSpc>
              <a:spcAft>
                <a:spcPts val="200"/>
              </a:spcAft>
              <a:buNone/>
            </a:pPr>
            <a:r>
              <a:rPr lang="en-US" sz="1050" b="1" dirty="0">
                <a:solidFill>
                  <a:srgbClr val="E2E8F0"/>
                </a:solidFill>
                <a:latin typeface="Arial" pitchFamily="34" charset="0"/>
                <a:ea typeface="Arial" pitchFamily="34" charset="-122"/>
                <a:cs typeface="Arial" pitchFamily="34" charset="-120"/>
              </a:rPr>
              <a:t>Document length is a real engineering challenge</a:t>
            </a:r>
            <a:endParaRPr lang="en-US" sz="1050" dirty="0"/>
          </a:p>
        </p:txBody>
      </p:sp>
      <p:sp>
        <p:nvSpPr>
          <p:cNvPr id="15" name="Text 12"/>
          <p:cNvSpPr/>
          <p:nvPr/>
        </p:nvSpPr>
        <p:spPr>
          <a:xfrm>
            <a:off x="882551" y="1933426"/>
            <a:ext cx="5272632" cy="154186"/>
          </a:xfrm>
          <a:prstGeom prst="rect">
            <a:avLst/>
          </a:prstGeom>
          <a:noFill/>
          <a:ln/>
        </p:spPr>
        <p:txBody>
          <a:bodyPr wrap="square" lIns="0" tIns="0" rIns="0" bIns="0" rtlCol="0" anchor="t"/>
          <a:lstStyle/>
          <a:p>
            <a:pPr algn="l" indent="0" marL="0">
              <a:lnSpc>
                <a:spcPts val="1215"/>
              </a:lnSpc>
              <a:buNone/>
            </a:pPr>
            <a:r>
              <a:rPr lang="en-US" sz="900" dirty="0">
                <a:solidFill>
                  <a:srgbClr val="94A3B8"/>
                </a:solidFill>
                <a:latin typeface="Arial" pitchFamily="34" charset="0"/>
                <a:ea typeface="Arial" pitchFamily="34" charset="-122"/>
                <a:cs typeface="Arial" pitchFamily="34" charset="-120"/>
              </a:rPr>
              <a:t>Median 2,693 tokens. Only 4.1% fit BERT. Summarization adds complexity and some information loss.</a:t>
            </a:r>
            <a:endParaRPr lang="en-US" sz="900" dirty="0"/>
          </a:p>
        </p:txBody>
      </p:sp>
      <p:sp>
        <p:nvSpPr>
          <p:cNvPr id="16" name="Text 13"/>
          <p:cNvSpPr/>
          <p:nvPr/>
        </p:nvSpPr>
        <p:spPr>
          <a:xfrm>
            <a:off x="457200" y="2214414"/>
            <a:ext cx="298400" cy="298400"/>
          </a:xfrm>
          <a:prstGeom prst="roundRect">
            <a:avLst>
              <a:gd name="adj" fmla="val 306434"/>
            </a:avLst>
          </a:prstGeom>
          <a:solidFill>
            <a:srgbClr val="00B4D8">
              <a:alpha val="15000"/>
            </a:srgbClr>
          </a:solidFill>
          <a:ln w="9525">
            <a:solidFill>
              <a:srgbClr val="00B4D8"/>
            </a:solidFill>
          </a:ln>
        </p:spPr>
        <p:txBody>
          <a:bodyPr wrap="square" rtlCol="0" anchor="ctr"/>
          <a:lstStyle/>
          <a:p>
            <a:pPr indent="0" marL="0">
              <a:buNone/>
            </a:pPr>
            <a:endParaRPr lang="en-US" dirty="0"/>
          </a:p>
        </p:txBody>
      </p:sp>
      <p:sp>
        <p:nvSpPr>
          <p:cNvPr id="17" name="Text 14"/>
          <p:cNvSpPr/>
          <p:nvPr/>
        </p:nvSpPr>
        <p:spPr>
          <a:xfrm>
            <a:off x="571054" y="2292102"/>
            <a:ext cx="72107" cy="142875"/>
          </a:xfrm>
          <a:prstGeom prst="rect">
            <a:avLst/>
          </a:prstGeom>
          <a:noFill/>
          <a:ln/>
        </p:spPr>
        <p:txBody>
          <a:bodyPr wrap="square" lIns="0" tIns="0" rIns="0" bIns="0" rtlCol="0" anchor="t"/>
          <a:lstStyle/>
          <a:p>
            <a:pPr algn="l" indent="0" marL="0">
              <a:buNone/>
            </a:pPr>
            <a:r>
              <a:rPr lang="en-US" sz="1000" b="1" dirty="0">
                <a:solidFill>
                  <a:srgbClr val="00B4D8"/>
                </a:solidFill>
                <a:latin typeface="Arial" pitchFamily="34" charset="0"/>
                <a:ea typeface="Arial" pitchFamily="34" charset="-122"/>
                <a:cs typeface="Arial" pitchFamily="34" charset="-120"/>
              </a:rPr>
              <a:t>4</a:t>
            </a:r>
            <a:endParaRPr lang="en-US" sz="1000" dirty="0"/>
          </a:p>
        </p:txBody>
      </p:sp>
      <p:sp>
        <p:nvSpPr>
          <p:cNvPr id="18" name="Text 15"/>
          <p:cNvSpPr/>
          <p:nvPr/>
        </p:nvSpPr>
        <p:spPr>
          <a:xfrm>
            <a:off x="882551" y="2189113"/>
            <a:ext cx="4938510" cy="179933"/>
          </a:xfrm>
          <a:prstGeom prst="rect">
            <a:avLst/>
          </a:prstGeom>
          <a:noFill/>
          <a:ln/>
        </p:spPr>
        <p:txBody>
          <a:bodyPr wrap="square" lIns="0" tIns="0" rIns="0" bIns="0" rtlCol="0" anchor="t"/>
          <a:lstStyle/>
          <a:p>
            <a:pPr algn="l" indent="0" marL="0">
              <a:lnSpc>
                <a:spcPts val="1418"/>
              </a:lnSpc>
              <a:spcAft>
                <a:spcPts val="200"/>
              </a:spcAft>
              <a:buNone/>
            </a:pPr>
            <a:r>
              <a:rPr lang="en-US" sz="1050" b="1" dirty="0">
                <a:solidFill>
                  <a:srgbClr val="E2E8F0"/>
                </a:solidFill>
                <a:latin typeface="Arial" pitchFamily="34" charset="0"/>
                <a:ea typeface="Arial" pitchFamily="34" charset="-122"/>
                <a:cs typeface="Arial" pitchFamily="34" charset="-120"/>
              </a:rPr>
              <a:t>Multi-label nature adds significant complexity</a:t>
            </a:r>
            <a:endParaRPr lang="en-US" sz="1050" dirty="0"/>
          </a:p>
        </p:txBody>
      </p:sp>
      <p:sp>
        <p:nvSpPr>
          <p:cNvPr id="19" name="Text 16"/>
          <p:cNvSpPr/>
          <p:nvPr/>
        </p:nvSpPr>
        <p:spPr>
          <a:xfrm>
            <a:off x="882551" y="2394347"/>
            <a:ext cx="4938510" cy="154186"/>
          </a:xfrm>
          <a:prstGeom prst="rect">
            <a:avLst/>
          </a:prstGeom>
          <a:noFill/>
          <a:ln/>
        </p:spPr>
        <p:txBody>
          <a:bodyPr wrap="square" lIns="0" tIns="0" rIns="0" bIns="0" rtlCol="0" anchor="t"/>
          <a:lstStyle/>
          <a:p>
            <a:pPr algn="l" indent="0" marL="0">
              <a:lnSpc>
                <a:spcPts val="1215"/>
              </a:lnSpc>
              <a:buNone/>
            </a:pPr>
            <a:r>
              <a:rPr lang="en-US" sz="900" dirty="0">
                <a:solidFill>
                  <a:srgbClr val="94A3B8"/>
                </a:solidFill>
                <a:latin typeface="Arial" pitchFamily="34" charset="0"/>
                <a:ea typeface="Arial" pitchFamily="34" charset="-122"/>
                <a:cs typeface="Arial" pitchFamily="34" charset="-120"/>
              </a:rPr>
              <a:t>49.8% multi-label docs. Labels encode orthogonal dimensions (stage, motion, proceeding type).</a:t>
            </a:r>
            <a:endParaRPr lang="en-US" sz="900" dirty="0"/>
          </a:p>
        </p:txBody>
      </p:sp>
      <p:sp>
        <p:nvSpPr>
          <p:cNvPr id="20" name="Text 17"/>
          <p:cNvSpPr/>
          <p:nvPr/>
        </p:nvSpPr>
        <p:spPr>
          <a:xfrm>
            <a:off x="457200" y="2675483"/>
            <a:ext cx="8229600" cy="812602"/>
          </a:xfrm>
          <a:prstGeom prst="roundRect">
            <a:avLst>
              <a:gd name="adj" fmla="val 9377"/>
            </a:avLst>
          </a:prstGeom>
          <a:solidFill>
            <a:srgbClr val="22C55E">
              <a:alpha val="10000"/>
            </a:srgbClr>
          </a:solidFill>
          <a:ln w="9525">
            <a:solidFill>
              <a:srgbClr val="22C55E"/>
            </a:solidFill>
          </a:ln>
        </p:spPr>
        <p:txBody>
          <a:bodyPr wrap="square" rtlCol="0" anchor="ctr"/>
          <a:lstStyle/>
          <a:p>
            <a:pPr indent="0" marL="0">
              <a:buNone/>
            </a:pPr>
            <a:endParaRPr lang="en-US" dirty="0"/>
          </a:p>
        </p:txBody>
      </p:sp>
      <p:sp>
        <p:nvSpPr>
          <p:cNvPr id="21" name="Text 18"/>
          <p:cNvSpPr/>
          <p:nvPr/>
        </p:nvSpPr>
        <p:spPr>
          <a:xfrm>
            <a:off x="644426" y="2811959"/>
            <a:ext cx="8012251" cy="152400"/>
          </a:xfrm>
          <a:prstGeom prst="rect">
            <a:avLst/>
          </a:prstGeom>
          <a:noFill/>
          <a:ln/>
        </p:spPr>
        <p:txBody>
          <a:bodyPr wrap="square" lIns="0" tIns="0" rIns="0" bIns="0" rtlCol="0" anchor="t"/>
          <a:lstStyle/>
          <a:p>
            <a:pPr algn="l" indent="0" marL="0">
              <a:spcAft>
                <a:spcPts val="500"/>
              </a:spcAft>
              <a:buNone/>
            </a:pPr>
            <a:r>
              <a:rPr lang="en-US" sz="1100" b="1" dirty="0">
                <a:solidFill>
                  <a:srgbClr val="22C55E"/>
                </a:solidFill>
                <a:latin typeface="Arial" pitchFamily="34" charset="0"/>
                <a:ea typeface="Arial" pitchFamily="34" charset="-122"/>
                <a:cs typeface="Arial" pitchFamily="34" charset="-120"/>
              </a:rPr>
              <a:t>Business Recommendation</a:t>
            </a:r>
            <a:endParaRPr lang="en-US" sz="1100" dirty="0"/>
          </a:p>
        </p:txBody>
      </p:sp>
      <p:sp>
        <p:nvSpPr>
          <p:cNvPr id="22" name="Text 19"/>
          <p:cNvSpPr/>
          <p:nvPr/>
        </p:nvSpPr>
        <p:spPr>
          <a:xfrm>
            <a:off x="644426" y="3027759"/>
            <a:ext cx="8012251" cy="285750"/>
          </a:xfrm>
          <a:prstGeom prst="rect">
            <a:avLst/>
          </a:prstGeom>
          <a:noFill/>
          <a:ln/>
        </p:spPr>
        <p:txBody>
          <a:bodyPr wrap="square" lIns="0" tIns="0" rIns="0" bIns="0" rtlCol="0" anchor="t"/>
          <a:lstStyle/>
          <a:p>
            <a:pPr algn="l" indent="0" marL="0">
              <a:spcAft>
                <a:spcPts val="300"/>
              </a:spcAft>
              <a:buNone/>
            </a:pPr>
            <a:r>
              <a:rPr lang="en-US" sz="1000" dirty="0">
                <a:solidFill>
                  <a:srgbClr val="E2E8F0"/>
                </a:solidFill>
                <a:latin typeface="Arial" pitchFamily="34" charset="0"/>
                <a:ea typeface="Arial" pitchFamily="34" charset="-122"/>
                <a:cs typeface="Arial" pitchFamily="34" charset="-120"/>
              </a:rPr>
              <a:t>Partial automation is feasible for high-frequency postures. A tiered deployment strategy (auto / assisted / human) can cover ~92% of labeling volume, with the best model achieving F1 Micro 0.77.</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Users/alessandrodibari/Ale/projects/TR_hiring_exercise/outputs/pptx_workspace/slides/accent_teal.png">    </p:cNvPr>
          <p:cNvPicPr>
            <a:picLocks noChangeAspect="1"/>
          </p:cNvPicPr>
          <p:nvPr/>
        </p:nvPicPr>
        <p:blipFill>
          <a:blip r:embed="rId2"/>
          <a:stretch>
            <a:fillRect/>
          </a:stretch>
        </p:blipFill>
        <p:spPr>
          <a:xfrm>
            <a:off x="0" y="0"/>
            <a:ext cx="9144000" cy="50750"/>
          </a:xfrm>
          <a:prstGeom prst="rect">
            <a:avLst/>
          </a:prstGeom>
        </p:spPr>
      </p:pic>
      <p:sp>
        <p:nvSpPr>
          <p:cNvPr id="3" name="Text 0"/>
          <p:cNvSpPr/>
          <p:nvPr/>
        </p:nvSpPr>
        <p:spPr>
          <a:xfrm>
            <a:off x="457200" y="355550"/>
            <a:ext cx="8394192" cy="323850"/>
          </a:xfrm>
          <a:prstGeom prst="rect">
            <a:avLst/>
          </a:prstGeom>
          <a:noFill/>
          <a:ln/>
        </p:spPr>
        <p:txBody>
          <a:bodyPr wrap="square" lIns="0" tIns="0" rIns="0" bIns="0" rtlCol="0" anchor="t"/>
          <a:lstStyle/>
          <a:p>
            <a:pPr algn="l" indent="0" marL="0">
              <a:buNone/>
            </a:pPr>
            <a:r>
              <a:rPr lang="en-US" sz="2200" b="1" dirty="0">
                <a:solidFill>
                  <a:srgbClr val="00B4D8"/>
                </a:solidFill>
                <a:latin typeface="Arial" pitchFamily="34" charset="0"/>
                <a:ea typeface="Arial" pitchFamily="34" charset="-122"/>
                <a:cs typeface="Arial" pitchFamily="34" charset="-120"/>
              </a:rPr>
              <a:t>Next Steps</a:t>
            </a:r>
            <a:endParaRPr lang="en-US" sz="2200" dirty="0"/>
          </a:p>
        </p:txBody>
      </p:sp>
      <p:sp>
        <p:nvSpPr>
          <p:cNvPr id="4" name="Text 1"/>
          <p:cNvSpPr/>
          <p:nvPr/>
        </p:nvSpPr>
        <p:spPr>
          <a:xfrm>
            <a:off x="457200" y="831800"/>
            <a:ext cx="4093413" cy="133350"/>
          </a:xfrm>
          <a:prstGeom prst="rect">
            <a:avLst/>
          </a:prstGeom>
          <a:noFill/>
          <a:ln/>
        </p:spPr>
        <p:txBody>
          <a:bodyPr wrap="square" lIns="0" tIns="0" rIns="0" bIns="0" rtlCol="0" anchor="t"/>
          <a:lstStyle/>
          <a:p>
            <a:pPr algn="l" indent="0" marL="0">
              <a:spcAft>
                <a:spcPts val="600"/>
              </a:spcAft>
              <a:buNone/>
            </a:pPr>
            <a:r>
              <a:rPr lang="en-US" sz="900" dirty="0">
                <a:solidFill>
                  <a:srgbClr val="94A3B8"/>
                </a:solidFill>
                <a:latin typeface="Arial" pitchFamily="34" charset="0"/>
                <a:ea typeface="Arial" pitchFamily="34" charset="-122"/>
                <a:cs typeface="Arial" pitchFamily="34" charset="-120"/>
              </a:rPr>
              <a:t>MODEL IMPROVEMENTS</a:t>
            </a:r>
            <a:endParaRPr lang="en-US" sz="900" dirty="0"/>
          </a:p>
        </p:txBody>
      </p:sp>
      <p:sp>
        <p:nvSpPr>
          <p:cNvPr id="5" name="Text 2"/>
          <p:cNvSpPr/>
          <p:nvPr/>
        </p:nvSpPr>
        <p:spPr>
          <a:xfrm>
            <a:off x="457200" y="1041350"/>
            <a:ext cx="4013150" cy="705445"/>
          </a:xfrm>
          <a:prstGeom prst="roundRect">
            <a:avLst>
              <a:gd name="adj" fmla="val 10802"/>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6" name="Text 3"/>
          <p:cNvSpPr/>
          <p:nvPr/>
        </p:nvSpPr>
        <p:spPr>
          <a:xfrm>
            <a:off x="619125" y="1152376"/>
            <a:ext cx="3763086" cy="164902"/>
          </a:xfrm>
          <a:prstGeom prst="rect">
            <a:avLst/>
          </a:prstGeom>
          <a:noFill/>
          <a:ln/>
        </p:spPr>
        <p:txBody>
          <a:bodyPr wrap="square" lIns="0" tIns="0" rIns="0" bIns="0" rtlCol="0" anchor="t"/>
          <a:lstStyle/>
          <a:p>
            <a:pPr algn="l" indent="0" marL="0">
              <a:lnSpc>
                <a:spcPts val="1300"/>
              </a:lnSpc>
              <a:spcAft>
                <a:spcPts val="300"/>
              </a:spcAft>
              <a:buNone/>
            </a:pPr>
            <a:r>
              <a:rPr lang="en-US" sz="1000" b="1" dirty="0">
                <a:solidFill>
                  <a:srgbClr val="00B4D8"/>
                </a:solidFill>
                <a:latin typeface="Arial" pitchFamily="34" charset="0"/>
                <a:ea typeface="Arial" pitchFamily="34" charset="-122"/>
                <a:cs typeface="Arial" pitchFamily="34" charset="-120"/>
              </a:rPr>
              <a:t>GPU Training Infrastructure</a:t>
            </a:r>
            <a:endParaRPr lang="en-US" sz="1000" dirty="0"/>
          </a:p>
        </p:txBody>
      </p:sp>
      <p:sp>
        <p:nvSpPr>
          <p:cNvPr id="7" name="Text 4"/>
          <p:cNvSpPr/>
          <p:nvPr/>
        </p:nvSpPr>
        <p:spPr>
          <a:xfrm>
            <a:off x="619125" y="1355378"/>
            <a:ext cx="3763086" cy="280392"/>
          </a:xfrm>
          <a:prstGeom prst="rect">
            <a:avLst/>
          </a:prstGeom>
          <a:noFill/>
          <a:ln/>
        </p:spPr>
        <p:txBody>
          <a:bodyPr wrap="square" lIns="0" tIns="0" rIns="0" bIns="0" rtlCol="0" anchor="t"/>
          <a:lstStyle/>
          <a:p>
            <a:pPr algn="l" indent="0" marL="0">
              <a:lnSpc>
                <a:spcPts val="1105"/>
              </a:lnSpc>
              <a:buNone/>
            </a:pPr>
            <a:r>
              <a:rPr lang="en-US" sz="850" dirty="0">
                <a:solidFill>
                  <a:srgbClr val="94A3B8"/>
                </a:solidFill>
                <a:latin typeface="Arial" pitchFamily="34" charset="0"/>
                <a:ea typeface="Arial" pitchFamily="34" charset="-122"/>
                <a:cs typeface="Arial" pitchFamily="34" charset="-120"/>
              </a:rPr>
              <a:t>Train on CUDA cluster: larger batches, more epochs, proper hyperparameter search</a:t>
            </a:r>
            <a:endParaRPr lang="en-US" sz="850" dirty="0"/>
          </a:p>
        </p:txBody>
      </p:sp>
      <p:sp>
        <p:nvSpPr>
          <p:cNvPr id="8" name="Text 5"/>
          <p:cNvSpPr/>
          <p:nvPr/>
        </p:nvSpPr>
        <p:spPr>
          <a:xfrm>
            <a:off x="457200" y="1822996"/>
            <a:ext cx="4013150" cy="705445"/>
          </a:xfrm>
          <a:prstGeom prst="roundRect">
            <a:avLst>
              <a:gd name="adj" fmla="val 10802"/>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9" name="Text 6"/>
          <p:cNvSpPr/>
          <p:nvPr/>
        </p:nvSpPr>
        <p:spPr>
          <a:xfrm>
            <a:off x="619125" y="1934021"/>
            <a:ext cx="3763086" cy="164902"/>
          </a:xfrm>
          <a:prstGeom prst="rect">
            <a:avLst/>
          </a:prstGeom>
          <a:noFill/>
          <a:ln/>
        </p:spPr>
        <p:txBody>
          <a:bodyPr wrap="square" lIns="0" tIns="0" rIns="0" bIns="0" rtlCol="0" anchor="t"/>
          <a:lstStyle/>
          <a:p>
            <a:pPr algn="l" indent="0" marL="0">
              <a:lnSpc>
                <a:spcPts val="1300"/>
              </a:lnSpc>
              <a:spcAft>
                <a:spcPts val="300"/>
              </a:spcAft>
              <a:buNone/>
            </a:pPr>
            <a:r>
              <a:rPr lang="en-US" sz="1000" b="1" dirty="0">
                <a:solidFill>
                  <a:srgbClr val="00B4D8"/>
                </a:solidFill>
                <a:latin typeface="Arial" pitchFamily="34" charset="0"/>
                <a:ea typeface="Arial" pitchFamily="34" charset="-122"/>
                <a:cs typeface="Arial" pitchFamily="34" charset="-120"/>
              </a:rPr>
              <a:t>Hierarchical Classification</a:t>
            </a:r>
            <a:endParaRPr lang="en-US" sz="1000" dirty="0"/>
          </a:p>
        </p:txBody>
      </p:sp>
      <p:sp>
        <p:nvSpPr>
          <p:cNvPr id="10" name="Text 7"/>
          <p:cNvSpPr/>
          <p:nvPr/>
        </p:nvSpPr>
        <p:spPr>
          <a:xfrm>
            <a:off x="619125" y="2137023"/>
            <a:ext cx="3763086" cy="280392"/>
          </a:xfrm>
          <a:prstGeom prst="rect">
            <a:avLst/>
          </a:prstGeom>
          <a:noFill/>
          <a:ln/>
        </p:spPr>
        <p:txBody>
          <a:bodyPr wrap="square" lIns="0" tIns="0" rIns="0" bIns="0" rtlCol="0" anchor="t"/>
          <a:lstStyle/>
          <a:p>
            <a:pPr algn="l" indent="0" marL="0">
              <a:lnSpc>
                <a:spcPts val="1105"/>
              </a:lnSpc>
              <a:buNone/>
            </a:pPr>
            <a:r>
              <a:rPr lang="en-US" sz="850" dirty="0">
                <a:solidFill>
                  <a:srgbClr val="94A3B8"/>
                </a:solidFill>
                <a:latin typeface="Arial" pitchFamily="34" charset="0"/>
                <a:ea typeface="Arial" pitchFamily="34" charset="-122"/>
                <a:cs typeface="Arial" pitchFamily="34" charset="-120"/>
              </a:rPr>
              <a:t>Leverage ontology structure: shared encoder with multi-task heads per dimension</a:t>
            </a:r>
            <a:endParaRPr lang="en-US" sz="850" dirty="0"/>
          </a:p>
        </p:txBody>
      </p:sp>
      <p:sp>
        <p:nvSpPr>
          <p:cNvPr id="11" name="Text 8"/>
          <p:cNvSpPr/>
          <p:nvPr/>
        </p:nvSpPr>
        <p:spPr>
          <a:xfrm>
            <a:off x="457200" y="2604641"/>
            <a:ext cx="4013150" cy="705445"/>
          </a:xfrm>
          <a:prstGeom prst="roundRect">
            <a:avLst>
              <a:gd name="adj" fmla="val 10802"/>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12" name="Text 9"/>
          <p:cNvSpPr/>
          <p:nvPr/>
        </p:nvSpPr>
        <p:spPr>
          <a:xfrm>
            <a:off x="619125" y="2715667"/>
            <a:ext cx="3763086" cy="164902"/>
          </a:xfrm>
          <a:prstGeom prst="rect">
            <a:avLst/>
          </a:prstGeom>
          <a:noFill/>
          <a:ln/>
        </p:spPr>
        <p:txBody>
          <a:bodyPr wrap="square" lIns="0" tIns="0" rIns="0" bIns="0" rtlCol="0" anchor="t"/>
          <a:lstStyle/>
          <a:p>
            <a:pPr algn="l" indent="0" marL="0">
              <a:lnSpc>
                <a:spcPts val="1300"/>
              </a:lnSpc>
              <a:spcAft>
                <a:spcPts val="300"/>
              </a:spcAft>
              <a:buNone/>
            </a:pPr>
            <a:r>
              <a:rPr lang="en-US" sz="1000" b="1" dirty="0">
                <a:solidFill>
                  <a:srgbClr val="00B4D8"/>
                </a:solidFill>
                <a:latin typeface="Arial" pitchFamily="34" charset="0"/>
                <a:ea typeface="Arial" pitchFamily="34" charset="-122"/>
                <a:cs typeface="Arial" pitchFamily="34" charset="-120"/>
              </a:rPr>
              <a:t>Data Augmentation</a:t>
            </a:r>
            <a:endParaRPr lang="en-US" sz="1000" dirty="0"/>
          </a:p>
        </p:txBody>
      </p:sp>
      <p:sp>
        <p:nvSpPr>
          <p:cNvPr id="13" name="Text 10"/>
          <p:cNvSpPr/>
          <p:nvPr/>
        </p:nvSpPr>
        <p:spPr>
          <a:xfrm>
            <a:off x="619125" y="2918668"/>
            <a:ext cx="3763086" cy="280392"/>
          </a:xfrm>
          <a:prstGeom prst="rect">
            <a:avLst/>
          </a:prstGeom>
          <a:noFill/>
          <a:ln/>
        </p:spPr>
        <p:txBody>
          <a:bodyPr wrap="square" lIns="0" tIns="0" rIns="0" bIns="0" rtlCol="0" anchor="t"/>
          <a:lstStyle/>
          <a:p>
            <a:pPr algn="l" indent="0" marL="0">
              <a:lnSpc>
                <a:spcPts val="1105"/>
              </a:lnSpc>
              <a:buNone/>
            </a:pPr>
            <a:r>
              <a:rPr lang="en-US" sz="850" dirty="0">
                <a:solidFill>
                  <a:srgbClr val="94A3B8"/>
                </a:solidFill>
                <a:latin typeface="Arial" pitchFamily="34" charset="0"/>
                <a:ea typeface="Arial" pitchFamily="34" charset="-122"/>
                <a:cs typeface="Arial" pitchFamily="34" charset="-120"/>
              </a:rPr>
              <a:t>Oversample rare classes, back-translation, synonym replacement for legal terms</a:t>
            </a:r>
            <a:endParaRPr lang="en-US" sz="850" dirty="0"/>
          </a:p>
        </p:txBody>
      </p:sp>
      <p:sp>
        <p:nvSpPr>
          <p:cNvPr id="14" name="Text 11"/>
          <p:cNvSpPr/>
          <p:nvPr/>
        </p:nvSpPr>
        <p:spPr>
          <a:xfrm>
            <a:off x="457200" y="3386286"/>
            <a:ext cx="4013150" cy="705445"/>
          </a:xfrm>
          <a:prstGeom prst="roundRect">
            <a:avLst>
              <a:gd name="adj" fmla="val 10802"/>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15" name="Text 12"/>
          <p:cNvSpPr/>
          <p:nvPr/>
        </p:nvSpPr>
        <p:spPr>
          <a:xfrm>
            <a:off x="619125" y="3497312"/>
            <a:ext cx="3763086" cy="164902"/>
          </a:xfrm>
          <a:prstGeom prst="rect">
            <a:avLst/>
          </a:prstGeom>
          <a:noFill/>
          <a:ln/>
        </p:spPr>
        <p:txBody>
          <a:bodyPr wrap="square" lIns="0" tIns="0" rIns="0" bIns="0" rtlCol="0" anchor="t"/>
          <a:lstStyle/>
          <a:p>
            <a:pPr algn="l" indent="0" marL="0">
              <a:lnSpc>
                <a:spcPts val="1300"/>
              </a:lnSpc>
              <a:spcAft>
                <a:spcPts val="300"/>
              </a:spcAft>
              <a:buNone/>
            </a:pPr>
            <a:r>
              <a:rPr lang="en-US" sz="1000" b="1" dirty="0">
                <a:solidFill>
                  <a:srgbClr val="00B4D8"/>
                </a:solidFill>
                <a:latin typeface="Arial" pitchFamily="34" charset="0"/>
                <a:ea typeface="Arial" pitchFamily="34" charset="-122"/>
                <a:cs typeface="Arial" pitchFamily="34" charset="-120"/>
              </a:rPr>
              <a:t>Ensemble Strategy</a:t>
            </a:r>
            <a:endParaRPr lang="en-US" sz="1000" dirty="0"/>
          </a:p>
        </p:txBody>
      </p:sp>
      <p:sp>
        <p:nvSpPr>
          <p:cNvPr id="16" name="Text 13"/>
          <p:cNvSpPr/>
          <p:nvPr/>
        </p:nvSpPr>
        <p:spPr>
          <a:xfrm>
            <a:off x="619125" y="3700314"/>
            <a:ext cx="3763086" cy="280392"/>
          </a:xfrm>
          <a:prstGeom prst="rect">
            <a:avLst/>
          </a:prstGeom>
          <a:noFill/>
          <a:ln/>
        </p:spPr>
        <p:txBody>
          <a:bodyPr wrap="square" lIns="0" tIns="0" rIns="0" bIns="0" rtlCol="0" anchor="t"/>
          <a:lstStyle/>
          <a:p>
            <a:pPr algn="l" indent="0" marL="0">
              <a:lnSpc>
                <a:spcPts val="1105"/>
              </a:lnSpc>
              <a:buNone/>
            </a:pPr>
            <a:r>
              <a:rPr lang="en-US" sz="850" dirty="0">
                <a:solidFill>
                  <a:srgbClr val="94A3B8"/>
                </a:solidFill>
                <a:latin typeface="Arial" pitchFamily="34" charset="0"/>
                <a:ea typeface="Arial" pitchFamily="34" charset="-122"/>
                <a:cs typeface="Arial" pitchFamily="34" charset="-120"/>
              </a:rPr>
              <a:t>Combine TF-IDF + Transformer predictions (weighted by per-class confidence)</a:t>
            </a:r>
            <a:endParaRPr lang="en-US" sz="850" dirty="0"/>
          </a:p>
        </p:txBody>
      </p:sp>
      <p:sp>
        <p:nvSpPr>
          <p:cNvPr id="17" name="Text 14"/>
          <p:cNvSpPr/>
          <p:nvPr/>
        </p:nvSpPr>
        <p:spPr>
          <a:xfrm>
            <a:off x="457200" y="4167932"/>
            <a:ext cx="4013150" cy="565249"/>
          </a:xfrm>
          <a:prstGeom prst="roundRect">
            <a:avLst>
              <a:gd name="adj" fmla="val 13481"/>
            </a:avLst>
          </a:prstGeom>
          <a:solidFill>
            <a:srgbClr val="FFFFFF">
              <a:alpha val="4000"/>
            </a:srgbClr>
          </a:solidFill>
          <a:ln w="9525">
            <a:solidFill>
              <a:srgbClr val="FFFFFF"/>
            </a:solidFill>
          </a:ln>
        </p:spPr>
        <p:txBody>
          <a:bodyPr wrap="square" rtlCol="0" anchor="ctr"/>
          <a:lstStyle/>
          <a:p>
            <a:pPr indent="0" marL="0">
              <a:buNone/>
            </a:pPr>
            <a:endParaRPr lang="en-US" dirty="0"/>
          </a:p>
        </p:txBody>
      </p:sp>
      <p:sp>
        <p:nvSpPr>
          <p:cNvPr id="18" name="Text 15"/>
          <p:cNvSpPr/>
          <p:nvPr/>
        </p:nvSpPr>
        <p:spPr>
          <a:xfrm>
            <a:off x="619125" y="4278957"/>
            <a:ext cx="3763086" cy="164902"/>
          </a:xfrm>
          <a:prstGeom prst="rect">
            <a:avLst/>
          </a:prstGeom>
          <a:noFill/>
          <a:ln/>
        </p:spPr>
        <p:txBody>
          <a:bodyPr wrap="square" lIns="0" tIns="0" rIns="0" bIns="0" rtlCol="0" anchor="t"/>
          <a:lstStyle/>
          <a:p>
            <a:pPr algn="l" indent="0" marL="0">
              <a:lnSpc>
                <a:spcPts val="1300"/>
              </a:lnSpc>
              <a:spcAft>
                <a:spcPts val="300"/>
              </a:spcAft>
              <a:buNone/>
            </a:pPr>
            <a:r>
              <a:rPr lang="en-US" sz="1000" b="1" dirty="0">
                <a:solidFill>
                  <a:srgbClr val="00B4D8"/>
                </a:solidFill>
                <a:latin typeface="Arial" pitchFamily="34" charset="0"/>
                <a:ea typeface="Arial" pitchFamily="34" charset="-122"/>
                <a:cs typeface="Arial" pitchFamily="34" charset="-120"/>
              </a:rPr>
              <a:t>Threshold Optimization</a:t>
            </a:r>
            <a:endParaRPr lang="en-US" sz="1000" dirty="0"/>
          </a:p>
        </p:txBody>
      </p:sp>
      <p:sp>
        <p:nvSpPr>
          <p:cNvPr id="19" name="Text 16"/>
          <p:cNvSpPr/>
          <p:nvPr/>
        </p:nvSpPr>
        <p:spPr>
          <a:xfrm>
            <a:off x="619125" y="4481959"/>
            <a:ext cx="3763086" cy="140196"/>
          </a:xfrm>
          <a:prstGeom prst="rect">
            <a:avLst/>
          </a:prstGeom>
          <a:noFill/>
          <a:ln/>
        </p:spPr>
        <p:txBody>
          <a:bodyPr wrap="square" lIns="0" tIns="0" rIns="0" bIns="0" rtlCol="0" anchor="t"/>
          <a:lstStyle/>
          <a:p>
            <a:pPr algn="l" indent="0" marL="0">
              <a:lnSpc>
                <a:spcPts val="1105"/>
              </a:lnSpc>
              <a:buNone/>
            </a:pPr>
            <a:r>
              <a:rPr lang="en-US" sz="850" dirty="0">
                <a:solidFill>
                  <a:srgbClr val="94A3B8"/>
                </a:solidFill>
                <a:latin typeface="Arial" pitchFamily="34" charset="0"/>
                <a:ea typeface="Arial" pitchFamily="34" charset="-122"/>
                <a:cs typeface="Arial" pitchFamily="34" charset="-120"/>
              </a:rPr>
              <a:t>Per-class threshold tuning instead of global 0.5 cutoff</a:t>
            </a:r>
            <a:endParaRPr lang="en-US" sz="850" dirty="0"/>
          </a:p>
        </p:txBody>
      </p:sp>
      <p:sp>
        <p:nvSpPr>
          <p:cNvPr id="20" name="Text 17"/>
          <p:cNvSpPr/>
          <p:nvPr/>
        </p:nvSpPr>
        <p:spPr>
          <a:xfrm>
            <a:off x="4673501" y="831800"/>
            <a:ext cx="4093565" cy="133350"/>
          </a:xfrm>
          <a:prstGeom prst="rect">
            <a:avLst/>
          </a:prstGeom>
          <a:noFill/>
          <a:ln/>
        </p:spPr>
        <p:txBody>
          <a:bodyPr wrap="square" lIns="0" tIns="0" rIns="0" bIns="0" rtlCol="0" anchor="t"/>
          <a:lstStyle/>
          <a:p>
            <a:pPr algn="l" indent="0" marL="0">
              <a:spcAft>
                <a:spcPts val="600"/>
              </a:spcAft>
              <a:buNone/>
            </a:pPr>
            <a:r>
              <a:rPr lang="en-US" sz="900" dirty="0">
                <a:solidFill>
                  <a:srgbClr val="94A3B8"/>
                </a:solidFill>
                <a:latin typeface="Arial" pitchFamily="34" charset="0"/>
                <a:ea typeface="Arial" pitchFamily="34" charset="-122"/>
                <a:cs typeface="Arial" pitchFamily="34" charset="-120"/>
              </a:rPr>
              <a:t>PRODUCTION PATH</a:t>
            </a:r>
            <a:endParaRPr lang="en-US" sz="900" dirty="0"/>
          </a:p>
        </p:txBody>
      </p:sp>
      <p:sp>
        <p:nvSpPr>
          <p:cNvPr id="21" name="Text 18"/>
          <p:cNvSpPr/>
          <p:nvPr/>
        </p:nvSpPr>
        <p:spPr>
          <a:xfrm>
            <a:off x="4673501" y="1041350"/>
            <a:ext cx="4013299" cy="565249"/>
          </a:xfrm>
          <a:prstGeom prst="roundRect">
            <a:avLst>
              <a:gd name="adj" fmla="val 13481"/>
            </a:avLst>
          </a:prstGeom>
          <a:solidFill>
            <a:srgbClr val="E76F51">
              <a:alpha val="8000"/>
            </a:srgbClr>
          </a:solidFill>
          <a:ln w="9525">
            <a:solidFill>
              <a:srgbClr val="E76F51"/>
            </a:solidFill>
          </a:ln>
        </p:spPr>
        <p:txBody>
          <a:bodyPr wrap="square" rtlCol="0" anchor="ctr"/>
          <a:lstStyle/>
          <a:p>
            <a:pPr indent="0" marL="0">
              <a:buNone/>
            </a:pPr>
            <a:endParaRPr lang="en-US" dirty="0"/>
          </a:p>
        </p:txBody>
      </p:sp>
      <p:sp>
        <p:nvSpPr>
          <p:cNvPr id="22" name="Text 19"/>
          <p:cNvSpPr/>
          <p:nvPr/>
        </p:nvSpPr>
        <p:spPr>
          <a:xfrm>
            <a:off x="4835426" y="1152376"/>
            <a:ext cx="3763238" cy="164902"/>
          </a:xfrm>
          <a:prstGeom prst="rect">
            <a:avLst/>
          </a:prstGeom>
          <a:noFill/>
          <a:ln/>
        </p:spPr>
        <p:txBody>
          <a:bodyPr wrap="square" lIns="0" tIns="0" rIns="0" bIns="0" rtlCol="0" anchor="t"/>
          <a:lstStyle/>
          <a:p>
            <a:pPr algn="l" indent="0" marL="0">
              <a:lnSpc>
                <a:spcPts val="1300"/>
              </a:lnSpc>
              <a:spcAft>
                <a:spcPts val="300"/>
              </a:spcAft>
              <a:buNone/>
            </a:pPr>
            <a:r>
              <a:rPr lang="en-US" sz="1000" b="1" dirty="0">
                <a:solidFill>
                  <a:srgbClr val="E76F51"/>
                </a:solidFill>
                <a:latin typeface="Arial" pitchFamily="34" charset="0"/>
                <a:ea typeface="Arial" pitchFamily="34" charset="-122"/>
                <a:cs typeface="Arial" pitchFamily="34" charset="-120"/>
              </a:rPr>
              <a:t>Confidence-Based Routing</a:t>
            </a:r>
            <a:endParaRPr lang="en-US" sz="1000" dirty="0"/>
          </a:p>
        </p:txBody>
      </p:sp>
      <p:sp>
        <p:nvSpPr>
          <p:cNvPr id="23" name="Text 20"/>
          <p:cNvSpPr/>
          <p:nvPr/>
        </p:nvSpPr>
        <p:spPr>
          <a:xfrm>
            <a:off x="4835426" y="1355378"/>
            <a:ext cx="3763238" cy="140196"/>
          </a:xfrm>
          <a:prstGeom prst="rect">
            <a:avLst/>
          </a:prstGeom>
          <a:noFill/>
          <a:ln/>
        </p:spPr>
        <p:txBody>
          <a:bodyPr wrap="square" lIns="0" tIns="0" rIns="0" bIns="0" rtlCol="0" anchor="t"/>
          <a:lstStyle/>
          <a:p>
            <a:pPr algn="l" indent="0" marL="0">
              <a:lnSpc>
                <a:spcPts val="1105"/>
              </a:lnSpc>
              <a:buNone/>
            </a:pPr>
            <a:r>
              <a:rPr lang="en-US" sz="850" dirty="0">
                <a:solidFill>
                  <a:srgbClr val="94A3B8"/>
                </a:solidFill>
                <a:latin typeface="Arial" pitchFamily="34" charset="0"/>
                <a:ea typeface="Arial" pitchFamily="34" charset="-122"/>
                <a:cs typeface="Arial" pitchFamily="34" charset="-120"/>
              </a:rPr>
              <a:t>High confidence: auto-label. Low confidence: route to human reviewer</a:t>
            </a:r>
            <a:endParaRPr lang="en-US" sz="850" dirty="0"/>
          </a:p>
        </p:txBody>
      </p:sp>
      <p:sp>
        <p:nvSpPr>
          <p:cNvPr id="24" name="Text 21"/>
          <p:cNvSpPr/>
          <p:nvPr/>
        </p:nvSpPr>
        <p:spPr>
          <a:xfrm>
            <a:off x="4673501" y="1682800"/>
            <a:ext cx="4013299" cy="705445"/>
          </a:xfrm>
          <a:prstGeom prst="roundRect">
            <a:avLst>
              <a:gd name="adj" fmla="val 10802"/>
            </a:avLst>
          </a:prstGeom>
          <a:solidFill>
            <a:srgbClr val="E76F51">
              <a:alpha val="8000"/>
            </a:srgbClr>
          </a:solidFill>
          <a:ln w="9525">
            <a:solidFill>
              <a:srgbClr val="E76F51"/>
            </a:solidFill>
          </a:ln>
        </p:spPr>
        <p:txBody>
          <a:bodyPr wrap="square" rtlCol="0" anchor="ctr"/>
          <a:lstStyle/>
          <a:p>
            <a:pPr indent="0" marL="0">
              <a:buNone/>
            </a:pPr>
            <a:endParaRPr lang="en-US" dirty="0"/>
          </a:p>
        </p:txBody>
      </p:sp>
      <p:sp>
        <p:nvSpPr>
          <p:cNvPr id="25" name="Text 22"/>
          <p:cNvSpPr/>
          <p:nvPr/>
        </p:nvSpPr>
        <p:spPr>
          <a:xfrm>
            <a:off x="4835426" y="1793825"/>
            <a:ext cx="3763238" cy="164902"/>
          </a:xfrm>
          <a:prstGeom prst="rect">
            <a:avLst/>
          </a:prstGeom>
          <a:noFill/>
          <a:ln/>
        </p:spPr>
        <p:txBody>
          <a:bodyPr wrap="square" lIns="0" tIns="0" rIns="0" bIns="0" rtlCol="0" anchor="t"/>
          <a:lstStyle/>
          <a:p>
            <a:pPr algn="l" indent="0" marL="0">
              <a:lnSpc>
                <a:spcPts val="1300"/>
              </a:lnSpc>
              <a:spcAft>
                <a:spcPts val="300"/>
              </a:spcAft>
              <a:buNone/>
            </a:pPr>
            <a:r>
              <a:rPr lang="en-US" sz="1000" b="1" dirty="0">
                <a:solidFill>
                  <a:srgbClr val="E76F51"/>
                </a:solidFill>
                <a:latin typeface="Arial" pitchFamily="34" charset="0"/>
                <a:ea typeface="Arial" pitchFamily="34" charset="-122"/>
                <a:cs typeface="Arial" pitchFamily="34" charset="-120"/>
              </a:rPr>
              <a:t>Active Learning Pipeline</a:t>
            </a:r>
            <a:endParaRPr lang="en-US" sz="1000" dirty="0"/>
          </a:p>
        </p:txBody>
      </p:sp>
      <p:sp>
        <p:nvSpPr>
          <p:cNvPr id="26" name="Text 23"/>
          <p:cNvSpPr/>
          <p:nvPr/>
        </p:nvSpPr>
        <p:spPr>
          <a:xfrm>
            <a:off x="4835426" y="1996827"/>
            <a:ext cx="3763238" cy="280392"/>
          </a:xfrm>
          <a:prstGeom prst="rect">
            <a:avLst/>
          </a:prstGeom>
          <a:noFill/>
          <a:ln/>
        </p:spPr>
        <p:txBody>
          <a:bodyPr wrap="square" lIns="0" tIns="0" rIns="0" bIns="0" rtlCol="0" anchor="t"/>
          <a:lstStyle/>
          <a:p>
            <a:pPr algn="l" indent="0" marL="0">
              <a:lnSpc>
                <a:spcPts val="1105"/>
              </a:lnSpc>
              <a:buNone/>
            </a:pPr>
            <a:r>
              <a:rPr lang="en-US" sz="850" dirty="0">
                <a:solidFill>
                  <a:srgbClr val="94A3B8"/>
                </a:solidFill>
                <a:latin typeface="Arial" pitchFamily="34" charset="0"/>
                <a:ea typeface="Arial" pitchFamily="34" charset="-122"/>
                <a:cs typeface="Arial" pitchFamily="34" charset="-120"/>
              </a:rPr>
              <a:t>Model flags uncertain predictions for human annotation, continuously improves</a:t>
            </a:r>
            <a:endParaRPr lang="en-US" sz="850" dirty="0"/>
          </a:p>
        </p:txBody>
      </p:sp>
      <p:sp>
        <p:nvSpPr>
          <p:cNvPr id="27" name="Text 24"/>
          <p:cNvSpPr/>
          <p:nvPr/>
        </p:nvSpPr>
        <p:spPr>
          <a:xfrm>
            <a:off x="4673501" y="2464445"/>
            <a:ext cx="4013299" cy="565249"/>
          </a:xfrm>
          <a:prstGeom prst="roundRect">
            <a:avLst>
              <a:gd name="adj" fmla="val 13481"/>
            </a:avLst>
          </a:prstGeom>
          <a:solidFill>
            <a:srgbClr val="E76F51">
              <a:alpha val="8000"/>
            </a:srgbClr>
          </a:solidFill>
          <a:ln w="9525">
            <a:solidFill>
              <a:srgbClr val="E76F51"/>
            </a:solidFill>
          </a:ln>
        </p:spPr>
        <p:txBody>
          <a:bodyPr wrap="square" rtlCol="0" anchor="ctr"/>
          <a:lstStyle/>
          <a:p>
            <a:pPr indent="0" marL="0">
              <a:buNone/>
            </a:pPr>
            <a:endParaRPr lang="en-US" dirty="0"/>
          </a:p>
        </p:txBody>
      </p:sp>
      <p:sp>
        <p:nvSpPr>
          <p:cNvPr id="28" name="Text 25"/>
          <p:cNvSpPr/>
          <p:nvPr/>
        </p:nvSpPr>
        <p:spPr>
          <a:xfrm>
            <a:off x="4835426" y="2575471"/>
            <a:ext cx="3763238" cy="164902"/>
          </a:xfrm>
          <a:prstGeom prst="rect">
            <a:avLst/>
          </a:prstGeom>
          <a:noFill/>
          <a:ln/>
        </p:spPr>
        <p:txBody>
          <a:bodyPr wrap="square" lIns="0" tIns="0" rIns="0" bIns="0" rtlCol="0" anchor="t"/>
          <a:lstStyle/>
          <a:p>
            <a:pPr algn="l" indent="0" marL="0">
              <a:lnSpc>
                <a:spcPts val="1300"/>
              </a:lnSpc>
              <a:spcAft>
                <a:spcPts val="300"/>
              </a:spcAft>
              <a:buNone/>
            </a:pPr>
            <a:r>
              <a:rPr lang="en-US" sz="1000" b="1" dirty="0">
                <a:solidFill>
                  <a:srgbClr val="E76F51"/>
                </a:solidFill>
                <a:latin typeface="Arial" pitchFamily="34" charset="0"/>
                <a:ea typeface="Arial" pitchFamily="34" charset="-122"/>
                <a:cs typeface="Arial" pitchFamily="34" charset="-120"/>
              </a:rPr>
              <a:t>Monitoring &amp; Drift Detection</a:t>
            </a:r>
            <a:endParaRPr lang="en-US" sz="1000" dirty="0"/>
          </a:p>
        </p:txBody>
      </p:sp>
      <p:sp>
        <p:nvSpPr>
          <p:cNvPr id="29" name="Text 26"/>
          <p:cNvSpPr/>
          <p:nvPr/>
        </p:nvSpPr>
        <p:spPr>
          <a:xfrm>
            <a:off x="4835426" y="2778472"/>
            <a:ext cx="3763238" cy="140196"/>
          </a:xfrm>
          <a:prstGeom prst="rect">
            <a:avLst/>
          </a:prstGeom>
          <a:noFill/>
          <a:ln/>
        </p:spPr>
        <p:txBody>
          <a:bodyPr wrap="square" lIns="0" tIns="0" rIns="0" bIns="0" rtlCol="0" anchor="t"/>
          <a:lstStyle/>
          <a:p>
            <a:pPr algn="l" indent="0" marL="0">
              <a:lnSpc>
                <a:spcPts val="1105"/>
              </a:lnSpc>
              <a:buNone/>
            </a:pPr>
            <a:r>
              <a:rPr lang="en-US" sz="850" dirty="0">
                <a:solidFill>
                  <a:srgbClr val="94A3B8"/>
                </a:solidFill>
                <a:latin typeface="Arial" pitchFamily="34" charset="0"/>
                <a:ea typeface="Arial" pitchFamily="34" charset="-122"/>
                <a:cs typeface="Arial" pitchFamily="34" charset="-120"/>
              </a:rPr>
              <a:t>Track prediction distributions over time, alert on concept drift</a:t>
            </a:r>
            <a:endParaRPr lang="en-US" sz="850" dirty="0"/>
          </a:p>
        </p:txBody>
      </p:sp>
      <p:sp>
        <p:nvSpPr>
          <p:cNvPr id="30" name="Text 27"/>
          <p:cNvSpPr/>
          <p:nvPr/>
        </p:nvSpPr>
        <p:spPr>
          <a:xfrm>
            <a:off x="4673501" y="3105894"/>
            <a:ext cx="4013299" cy="705445"/>
          </a:xfrm>
          <a:prstGeom prst="roundRect">
            <a:avLst>
              <a:gd name="adj" fmla="val 10802"/>
            </a:avLst>
          </a:prstGeom>
          <a:solidFill>
            <a:srgbClr val="E76F51">
              <a:alpha val="8000"/>
            </a:srgbClr>
          </a:solidFill>
          <a:ln w="9525">
            <a:solidFill>
              <a:srgbClr val="E76F51"/>
            </a:solidFill>
          </a:ln>
        </p:spPr>
        <p:txBody>
          <a:bodyPr wrap="square" rtlCol="0" anchor="ctr"/>
          <a:lstStyle/>
          <a:p>
            <a:pPr indent="0" marL="0">
              <a:buNone/>
            </a:pPr>
            <a:endParaRPr lang="en-US" dirty="0"/>
          </a:p>
        </p:txBody>
      </p:sp>
      <p:sp>
        <p:nvSpPr>
          <p:cNvPr id="31" name="Text 28"/>
          <p:cNvSpPr/>
          <p:nvPr/>
        </p:nvSpPr>
        <p:spPr>
          <a:xfrm>
            <a:off x="4835426" y="3216920"/>
            <a:ext cx="3763238" cy="164902"/>
          </a:xfrm>
          <a:prstGeom prst="rect">
            <a:avLst/>
          </a:prstGeom>
          <a:noFill/>
          <a:ln/>
        </p:spPr>
        <p:txBody>
          <a:bodyPr wrap="square" lIns="0" tIns="0" rIns="0" bIns="0" rtlCol="0" anchor="t"/>
          <a:lstStyle/>
          <a:p>
            <a:pPr algn="l" indent="0" marL="0">
              <a:lnSpc>
                <a:spcPts val="1300"/>
              </a:lnSpc>
              <a:spcAft>
                <a:spcPts val="300"/>
              </a:spcAft>
              <a:buNone/>
            </a:pPr>
            <a:r>
              <a:rPr lang="en-US" sz="1000" b="1" dirty="0">
                <a:solidFill>
                  <a:srgbClr val="E76F51"/>
                </a:solidFill>
                <a:latin typeface="Arial" pitchFamily="34" charset="0"/>
                <a:ea typeface="Arial" pitchFamily="34" charset="-122"/>
                <a:cs typeface="Arial" pitchFamily="34" charset="-120"/>
              </a:rPr>
              <a:t>A/B Testing Framework</a:t>
            </a:r>
            <a:endParaRPr lang="en-US" sz="1000" dirty="0"/>
          </a:p>
        </p:txBody>
      </p:sp>
      <p:sp>
        <p:nvSpPr>
          <p:cNvPr id="32" name="Text 29"/>
          <p:cNvSpPr/>
          <p:nvPr/>
        </p:nvSpPr>
        <p:spPr>
          <a:xfrm>
            <a:off x="4835426" y="3419921"/>
            <a:ext cx="3763238" cy="280392"/>
          </a:xfrm>
          <a:prstGeom prst="rect">
            <a:avLst/>
          </a:prstGeom>
          <a:noFill/>
          <a:ln/>
        </p:spPr>
        <p:txBody>
          <a:bodyPr wrap="square" lIns="0" tIns="0" rIns="0" bIns="0" rtlCol="0" anchor="t"/>
          <a:lstStyle/>
          <a:p>
            <a:pPr algn="l" indent="0" marL="0">
              <a:lnSpc>
                <a:spcPts val="1105"/>
              </a:lnSpc>
              <a:buNone/>
            </a:pPr>
            <a:r>
              <a:rPr lang="en-US" sz="850" dirty="0">
                <a:solidFill>
                  <a:srgbClr val="94A3B8"/>
                </a:solidFill>
                <a:latin typeface="Arial" pitchFamily="34" charset="0"/>
                <a:ea typeface="Arial" pitchFamily="34" charset="-122"/>
                <a:cs typeface="Arial" pitchFamily="34" charset="-120"/>
              </a:rPr>
              <a:t>Compare model labels vs human labels on live data to measure real-world accuracy</a:t>
            </a:r>
            <a:endParaRPr lang="en-US" sz="850" dirty="0"/>
          </a:p>
        </p:txBody>
      </p:sp>
      <p:sp>
        <p:nvSpPr>
          <p:cNvPr id="33" name="Text 30"/>
          <p:cNvSpPr/>
          <p:nvPr/>
        </p:nvSpPr>
        <p:spPr>
          <a:xfrm>
            <a:off x="4673501" y="3887539"/>
            <a:ext cx="4013299" cy="705445"/>
          </a:xfrm>
          <a:prstGeom prst="roundRect">
            <a:avLst>
              <a:gd name="adj" fmla="val 10802"/>
            </a:avLst>
          </a:prstGeom>
          <a:solidFill>
            <a:srgbClr val="E76F51">
              <a:alpha val="8000"/>
            </a:srgbClr>
          </a:solidFill>
          <a:ln w="9525">
            <a:solidFill>
              <a:srgbClr val="E76F51"/>
            </a:solidFill>
          </a:ln>
        </p:spPr>
        <p:txBody>
          <a:bodyPr wrap="square" rtlCol="0" anchor="ctr"/>
          <a:lstStyle/>
          <a:p>
            <a:pPr indent="0" marL="0">
              <a:buNone/>
            </a:pPr>
            <a:endParaRPr lang="en-US" dirty="0"/>
          </a:p>
        </p:txBody>
      </p:sp>
      <p:sp>
        <p:nvSpPr>
          <p:cNvPr id="34" name="Text 31"/>
          <p:cNvSpPr/>
          <p:nvPr/>
        </p:nvSpPr>
        <p:spPr>
          <a:xfrm>
            <a:off x="4835426" y="3998565"/>
            <a:ext cx="3763238" cy="164902"/>
          </a:xfrm>
          <a:prstGeom prst="rect">
            <a:avLst/>
          </a:prstGeom>
          <a:noFill/>
          <a:ln/>
        </p:spPr>
        <p:txBody>
          <a:bodyPr wrap="square" lIns="0" tIns="0" rIns="0" bIns="0" rtlCol="0" anchor="t"/>
          <a:lstStyle/>
          <a:p>
            <a:pPr algn="l" indent="0" marL="0">
              <a:lnSpc>
                <a:spcPts val="1300"/>
              </a:lnSpc>
              <a:spcAft>
                <a:spcPts val="300"/>
              </a:spcAft>
              <a:buNone/>
            </a:pPr>
            <a:r>
              <a:rPr lang="en-US" sz="1000" b="1" dirty="0">
                <a:solidFill>
                  <a:srgbClr val="E76F51"/>
                </a:solidFill>
                <a:latin typeface="Arial" pitchFamily="34" charset="0"/>
                <a:ea typeface="Arial" pitchFamily="34" charset="-122"/>
                <a:cs typeface="Arial" pitchFamily="34" charset="-120"/>
              </a:rPr>
              <a:t>Incremental Retraining</a:t>
            </a:r>
            <a:endParaRPr lang="en-US" sz="1000" dirty="0"/>
          </a:p>
        </p:txBody>
      </p:sp>
      <p:sp>
        <p:nvSpPr>
          <p:cNvPr id="35" name="Text 32"/>
          <p:cNvSpPr/>
          <p:nvPr/>
        </p:nvSpPr>
        <p:spPr>
          <a:xfrm>
            <a:off x="4835426" y="4201567"/>
            <a:ext cx="3763238" cy="280392"/>
          </a:xfrm>
          <a:prstGeom prst="rect">
            <a:avLst/>
          </a:prstGeom>
          <a:noFill/>
          <a:ln/>
        </p:spPr>
        <p:txBody>
          <a:bodyPr wrap="square" lIns="0" tIns="0" rIns="0" bIns="0" rtlCol="0" anchor="t"/>
          <a:lstStyle/>
          <a:p>
            <a:pPr algn="l" indent="0" marL="0">
              <a:lnSpc>
                <a:spcPts val="1105"/>
              </a:lnSpc>
              <a:buNone/>
            </a:pPr>
            <a:r>
              <a:rPr lang="en-US" sz="850" dirty="0">
                <a:solidFill>
                  <a:srgbClr val="94A3B8"/>
                </a:solidFill>
                <a:latin typeface="Arial" pitchFamily="34" charset="0"/>
                <a:ea typeface="Arial" pitchFamily="34" charset="-122"/>
                <a:cs typeface="Arial" pitchFamily="34" charset="-120"/>
              </a:rPr>
              <a:t>Periodic model updates as new labeled data accumulates from human review</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401587" y="1501825"/>
            <a:ext cx="2340676" cy="523875"/>
          </a:xfrm>
          <a:prstGeom prst="rect">
            <a:avLst/>
          </a:prstGeom>
          <a:noFill/>
          <a:ln/>
        </p:spPr>
        <p:txBody>
          <a:bodyPr wrap="square" lIns="0" tIns="0" rIns="0" bIns="0" rtlCol="0" anchor="t"/>
          <a:lstStyle/>
          <a:p>
            <a:pPr algn="ctr" indent="0" marL="0">
              <a:spcAft>
                <a:spcPts val="600"/>
              </a:spcAft>
              <a:buNone/>
            </a:pPr>
            <a:r>
              <a:rPr lang="en-US" sz="3600" b="1" dirty="0">
                <a:solidFill>
                  <a:srgbClr val="FFFFFF"/>
                </a:solidFill>
                <a:latin typeface="Arial" pitchFamily="34" charset="0"/>
                <a:ea typeface="Arial" pitchFamily="34" charset="-122"/>
                <a:cs typeface="Arial" pitchFamily="34" charset="-120"/>
              </a:rPr>
              <a:t>Thank You</a:t>
            </a:r>
            <a:endParaRPr lang="en-US" sz="3600" dirty="0"/>
          </a:p>
        </p:txBody>
      </p:sp>
      <p:sp>
        <p:nvSpPr>
          <p:cNvPr id="3" name="Text 1"/>
          <p:cNvSpPr/>
          <p:nvPr/>
        </p:nvSpPr>
        <p:spPr>
          <a:xfrm>
            <a:off x="3916811" y="2101900"/>
            <a:ext cx="1310378" cy="295275"/>
          </a:xfrm>
          <a:prstGeom prst="rect">
            <a:avLst/>
          </a:prstGeom>
          <a:noFill/>
          <a:ln/>
        </p:spPr>
        <p:txBody>
          <a:bodyPr wrap="square" lIns="0" tIns="0" rIns="0" bIns="0" rtlCol="0" anchor="t"/>
          <a:lstStyle/>
          <a:p>
            <a:pPr algn="ctr" indent="0" marL="0">
              <a:spcAft>
                <a:spcPts val="3000"/>
              </a:spcAft>
              <a:buNone/>
            </a:pPr>
            <a:r>
              <a:rPr lang="en-US" sz="2000" dirty="0">
                <a:solidFill>
                  <a:srgbClr val="00B4D8"/>
                </a:solidFill>
                <a:latin typeface="Arial" pitchFamily="34" charset="0"/>
                <a:ea typeface="Arial" pitchFamily="34" charset="-122"/>
                <a:cs typeface="Arial" pitchFamily="34" charset="-120"/>
              </a:rPr>
              <a:t>Questions?</a:t>
            </a:r>
            <a:endParaRPr lang="en-US" sz="2000" dirty="0"/>
          </a:p>
        </p:txBody>
      </p:sp>
      <p:pic>
        <p:nvPicPr>
          <p:cNvPr id="4" name="Image 0" descr="/Users/alessandrodibari/Ale/projects/TR_hiring_exercise/outputs/pptx_workspace/slides/accent_teal.png">    </p:cNvPr>
          <p:cNvPicPr>
            <a:picLocks noChangeAspect="1"/>
          </p:cNvPicPr>
          <p:nvPr/>
        </p:nvPicPr>
        <p:blipFill>
          <a:blip r:embed="rId2"/>
          <a:stretch>
            <a:fillRect/>
          </a:stretch>
        </p:blipFill>
        <p:spPr>
          <a:xfrm>
            <a:off x="4064050" y="2873425"/>
            <a:ext cx="1015901" cy="38100"/>
          </a:xfrm>
          <a:prstGeom prst="rect">
            <a:avLst/>
          </a:prstGeom>
        </p:spPr>
      </p:pic>
      <p:sp>
        <p:nvSpPr>
          <p:cNvPr id="5" name="Text 2"/>
          <p:cNvSpPr/>
          <p:nvPr/>
        </p:nvSpPr>
        <p:spPr>
          <a:xfrm>
            <a:off x="3928348" y="3197275"/>
            <a:ext cx="1287304" cy="171450"/>
          </a:xfrm>
          <a:prstGeom prst="rect">
            <a:avLst/>
          </a:prstGeom>
          <a:noFill/>
          <a:ln/>
        </p:spPr>
        <p:txBody>
          <a:bodyPr wrap="square" lIns="0" tIns="0" rIns="0" bIns="0" rtlCol="0" anchor="t"/>
          <a:lstStyle/>
          <a:p>
            <a:pPr algn="ctr" indent="0" marL="0">
              <a:spcAft>
                <a:spcPts val="400"/>
              </a:spcAft>
              <a:buNone/>
            </a:pPr>
            <a:r>
              <a:rPr lang="en-US" sz="1200" dirty="0">
                <a:solidFill>
                  <a:srgbClr val="94A3B8"/>
                </a:solidFill>
                <a:latin typeface="Arial" pitchFamily="34" charset="0"/>
                <a:ea typeface="Arial" pitchFamily="34" charset="-122"/>
                <a:cs typeface="Arial" pitchFamily="34" charset="-120"/>
              </a:rPr>
              <a:t>Alessandro Di Bari</a:t>
            </a:r>
            <a:endParaRPr lang="en-US" sz="1200" dirty="0"/>
          </a:p>
        </p:txBody>
      </p:sp>
      <p:sp>
        <p:nvSpPr>
          <p:cNvPr id="6" name="Text 3"/>
          <p:cNvSpPr/>
          <p:nvPr/>
        </p:nvSpPr>
        <p:spPr>
          <a:xfrm>
            <a:off x="3098736" y="3419475"/>
            <a:ext cx="2946529" cy="171450"/>
          </a:xfrm>
          <a:prstGeom prst="rect">
            <a:avLst/>
          </a:prstGeom>
          <a:noFill/>
          <a:ln/>
        </p:spPr>
        <p:txBody>
          <a:bodyPr wrap="square" lIns="0" tIns="0" rIns="0" bIns="0" rtlCol="0" anchor="t"/>
          <a:lstStyle/>
          <a:p>
            <a:pPr algn="ctr" indent="0" marL="0">
              <a:spcAft>
                <a:spcPts val="400"/>
              </a:spcAft>
              <a:buNone/>
            </a:pPr>
            <a:r>
              <a:rPr lang="en-US" sz="1200" dirty="0">
                <a:solidFill>
                  <a:srgbClr val="94A3B8"/>
                </a:solidFill>
                <a:latin typeface="Arial" pitchFamily="34" charset="0"/>
                <a:ea typeface="Arial" pitchFamily="34" charset="-122"/>
                <a:cs typeface="Arial" pitchFamily="34" charset="-120"/>
              </a:rPr>
              <a:t>Thomson Reuters Data Science Challenge</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Procedural Posture Classification - Feasibility Study</dc:title>
  <dc:subject>PptxGenJS Presentation</dc:subject>
  <dc:creator>Alessandro Di Bari</dc:creator>
  <cp:lastModifiedBy>Alessandro Di Bari</cp:lastModifiedBy>
  <cp:revision>1</cp:revision>
  <dcterms:created xsi:type="dcterms:W3CDTF">2026-02-10T21:46:34Z</dcterms:created>
  <dcterms:modified xsi:type="dcterms:W3CDTF">2026-02-10T21:46:34Z</dcterms:modified>
</cp:coreProperties>
</file>