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and thank you for your time. Today I'll walk you through my feasibility study on automating procedural posture classification for judicial opinions.
The goal of this challenge wasn't to build a production system — it was to characterize performance, understand the data, and make an honest recommendation about whether automation is feasible.
KEY CONCEPT — Procedural Posture: The procedural posture of a case summarizes how the case arrived before the court. It includes the procedural history and any prior decisions under appeal. Business partners currently label these manually and want to know if automation can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exactly is procedural posture? It's essentially the "how did we get here?" of a court case. When a judge writes an opinion, the procedural posture tells you what legal actions led to this point.
For example, a case might be "On Appeal" after a lower court ruling, or involve a "Motion to Dismiss" where one party is asking the court to throw out the case. These labels are critical metadata for legal research — they help lawyers find relevant precedents.
The business need is clear: human labelers currently assign these postures manually, which is expensive and slow. We want to know if machine learning can do part of this job reliably.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dataset. We have 18,000 judicial opinions — each is a structured document with sections and paragraphs, totaling over half a million paragraphs. There are 224 unique posture labels, and critically, this is a multi-label problem: nearly half the documents have more than one posture.
KEY CONCEPT — Multi-label Classification: Unlike multi-class classification where each document gets exactly one label, multi-label means each document can have zero, one, or many labels simultaneously. This is harder because the model must make independent yes/no decisions for each possible label.
The mean document length of nearly 3,000 words is a significant engineering challenge, as we'll see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document in the dataset is a JSON Lines record with exactly three fields: a document ID, a list of posture labels, and nested sections containing paragraphs.
This nesting is native to the source data — Thomson Reuters pre-segmented the judicial opinions into sections with headings and paragraphs. The average document has about 30 sections, and across all 18,000 documents there are over half a million paragraphs.
For modeling, we flatten this nested structure into a single text string per document using our TextExtractor utility. This is a deliberate simplification — future work could leverage section boundaries as structural features, since different sections (e.g., "Background" vs "Analysis") may carry different signals for posture classification.
The JSON example on the right shows a typical record: a document with two posture labels and multiple sections, each with a heading and paragraph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extreme class imbalance we're dealing with. The 27 most common labels cover 91.5% of all label occurrences, while 140 rare labels have fewer than 10 samples each — including 44 labels that appear only once in the entire dataset.
The class imbalance ratio of 9,197x means the most frequent label is over nine thousand times more common than the rarest. For modeling, we filtered to 41 labels with at least 50 samples, which still covers 94.8% of all label occurrences. This is a pragmatic decision — you can't build a reliable classifier on 5 training examples.
KEY CONCEPT — Class Imbalance: When some classes have many more samples than others. Standard ML algorithms tend to predict the majority class and ignore minorities. Solutions include oversampling, class weights, and threshold optimization.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pie chart from the data exploration notebook shows the label distribution visually. You can see how "On Appeal" dominates at about a third of all label assignments, followed by "Appellate Review." The long tail of rare postures is clearly visible.
The percentages shown are relative to total label assignments (27,659), not documents (18,000). Since this is a multi-label problem with a mean of 1.54 labels per document, the total label count exceeds the document count. This distinction matters when interpreting class frequencies.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complexity is what makes this problem genuinely hard. The labels aren't just arbitrary categories — they encode multiple orthogonal dimensions: the litigation stage (where in the process), the motion type (what action), the proceeding type (what legal domain), and procedural events.
There are also hierarchical relationships. For example, "Motion to Dismiss for Lack of Subject Matter Jurisdiction" IS-A specific type of "Motion to Dismiss." This means some label confusions are less severe than others.
KEY CONCEPT — Cohen's Kappa: An inter-annotator agreement metric that corrects for chance agreement. Kappa = 0 means agreement is no better than random; kappa = 1 means perfect agreement. Our human benchmark range of 0.63–0.93 tells us that some postures are inherently harder to classify, even for trained legal professionals. This range defines our target — a model performing at kappa-equivalent levels could be trusted for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digs deeper into the relationships between posture labels. Through co-occurrence analysis in the data, we identified a hierarchical taxonomy.
The key finding is that labeling practice differs by category. For Stage labels like "On Appeal" and "Appellate Review," annotators almost always co-label — 89 to 100% co-occurrence. But for specific motions like "MTD for Lack of Subject Matter Jurisdiction," annotators use only the most specific label — they co-occur with the parent "Motion to Dismiss" only 3 to 13% of the time.
This sparse labeling pattern is not an error in the data — it reflects how the annotation guidelines work. But it has modeling implications: the model might predict "Motion to Dismiss" when the correct label is the more specific variant, or vice versa. These IS-A confusions should be penalized less than confusing completely unrelated postures.
This suggests a future direction: hierarchical classification with a loss function that accounts for label relationships. A mistake within a family (predicting parent instead of child) is less severe than a mistake across families (predicting a motion when it's actually an appeal).
Source: co-occurrence analysis documented in our legal posture ontology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how I approached the modeling. I designed a two-model strategy to understand the problem from different angles.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two models: a TF-IDF baseline and a Legal-Longformer hybrid transformer. The key principle here was to characterize performance, not chase state-of-the-art. The baseline tells us "how well can simple features do?" and the transformer tells us "does deep learning add value?"
KEY CONCEPT — TF-IDF (Term Frequency–Inverse Document Frequency): A way to convert text into numerical features. Each word gets a weight based on two factors: how often it appears in this specific document (TF) and how rare it is across all documents (IDF). Words that are frequent in one document but rare overall get the highest weights — these are the most discriminative features. TF-IDF is fast, interpretable, and surprisingly effective for legal text because legal language has strong keyword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uses TF-IDF features with logistic regression in a OneVsRest configuration. We extract the top 10,000 features using unigrams and bigrams, then train a separate binary classifier for each of the 41 labels.
KEY CONCEPT — OneVsRest (OVR): A strategy for multi-label classification that trains one independent binary classifier per label. Each classifier learns "is this label present: yes or no?" This is simple but effective — each label gets its own decision boundary. The disadvantage is that it doesn't model label correlations.
KEY CONCEPT — Unigrams and Bigrams: Unigrams are single words ("motion", "dismiss"); bigrams are word pairs ("motion to", "to dismiss"). Bigrams capture phrases that single words miss, which is crucial in legal text where "motion to dismiss" means something very different from "motion" alone.
The 70/15/15 split gives us 11,706 training samples, 2,509 for validation, and 2,509 for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critical engineering challenge. BERT, the standard transformer, has a 512-token limit — only 4.1% of our documents fit. Even the Legal-Longformer with its 4,096-token window only covers 65% directly.
KEY CONCEPT — Tokens: The units a transformer processes. Roughly, 1 token ≈ 0.75 words. BERT's 512-token limit means about 384 words — far too short for legal opinions averaging nearly 3,000 words.
KEY CONCEPT — LED (Longformer Encoder-Decoder): A transformer designed for long documents, supporting up to 16,384 tokens using efficient sliding-window attention. We use it as a summarizer: it compresses long documents into summaries that fit the classifier's 4,096-token window.
Our hybrid strategy: documents under 4,096 tokens go directly to the classifier; longer ones get summarized first by Legal-LED, then classified. About 33% of documents needed summarization.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histogram shows the distribution of document lengths in tokens, with vertical lines marking the context limits of three transformer architectures: BERT at 512 tokens, Longformer at 4,096, and LED at 16,384.
The key takeaway is visual: BERT's limit barely captures the left edge of the distribution. Longformer covers most of the main body but still misses the right tail. LED covers nearly everything, which is why we chose it as our summarizer for the ~33% of documents exceeding 4,096 tokens.
KEY CONCEPT — Context Window: The maximum number of tokens a transformer can process at once. Self-attention has O(n²) complexity, so doubling the context quadruples compute. Longformer solves this with sliding-window attention (O(n)), enabling much longer contexts.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technical architecture. The classifier is lexlms/legal-longformer-base, a transformer pre-trained on legal text with a 4,096-token context window. The summarizer is nsi319/legal-led-base-16384 for documents exceeding the classifier's limit.
KEY CONCEPT — Longformer: A transformer architecture that uses sliding-window attention (each token attends to nearby tokens) plus global attention on special tokens. This makes it efficient for long sequences — O(n) instead of O(n²) — enabling 4,096-token input, which is 8x BERT's limit.
KEY CONCEPT — pos_weight: In PyTorch's binary cross-entropy loss, pos_weight multiplies the loss contribution of positive (minority) examples. If a class has 50 positive and 950 negative samples, setting pos_weight=19 makes the model pay 19x more attention when it misses a positive example. This helps with class imbalance but can cause over-prediction if set too aggressively.
We cached all 5,530 summaries to disk for reproducibility — summarization is expensive and deterministic, so caching avoids redundant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panels show the training progression over 5 epochs. On the left: training and validation loss curves. On the right: validation F1 scores (both Micro and Macro).
The model converges quickly — most improvement happens in the first 2-3 epochs. The best checkpoint was saved based on validation F1, and that's the model we use for all subsequent evaluation.
Training was done on Apple MPS (M2 chip), not a GPU cluster. With more compute — larger batches, more epochs, proper hyperparameter search — we'd expect further gains. The fact that the model already beats the TF-IDF baseline suggests there's more headroom to unlock.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how the project is organized.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follows a clean separation: all logic lives in reusable Python modules under src/, while notebooks are thin wrappers that call into these modules. This makes the code testable, maintainable, and easy to follow.
Each module has a single responsibility: data_loader.py handles I/O, data_analyzer.py does analysis, model_trainer.py manages the TF-IDF pipeline, model_evaluator.py handles all evaluation metrics, and bert_trainer.py orchestrates the transformer workflow.
The outputs directory contains cached summaries for the 5,530 long documents, model checkpoints, and training history for reproducibility.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key design decisions worth highlighting. The modular pipeline — DataLoader → DataPreparer → Trainer → Evaluator — makes it easy to swap components. The HybridLegalClassifier automatically routes documents through the right path (direct vs summarize-first).
The SummaryCache uses content-based hashing so summaries survive across different runs and data splits. And DeviceManager auto-detects CUDA, MPS, or CPU, making the code portable across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the results — this is where it gets 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TF-IDF baseline achieved F1 Micro of 0.752 and F1 Macro of 0.533. The gap between micro and macro tells an important story.
KEY CONCEPT — F1 Micro vs F1 Macro: F1 Micro aggregates all true positives, false positives, and false negatives globally across all labels, then computes F1. It's dominated by frequent classes because they contribute more to the totals. F1 Macro computes F1 independently for each class, then averages. It treats rare classes equally with common ones. When micro is much higher than macro (0.75 vs 0.53), it means the model is good at frequent postures but struggles with rare ones.
KEY CONCEPT — Precision vs Recall: Precision answers "of everything the model flagged, how much was correct?" Recall answers "of everything that should have been flagged, how much did the model find?" Our baseline has high recall (0.90) but lower precision (0.65), meaning it catches most positive cases but also generates some false positives.
The top performers — Appellate Review at 0.95, On Appeal at 0.93 — all have large sample sizes. The bottom performers with F1 below 0.25 are rare classes. This sets our baseline — can the transformer do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At first glance, the transformer with default threshold 0.5 looked like a failure — F1 Micro dropped to 0.63, well below the baseline's 0.75. But look at what happens with threshold optimization.
The problem was over-prediction: at threshold 0.5, the model predicted too many labels (recall 0.94 but precision only 0.48). Per-class threshold optimization — finding the optimal probability cutoff for each label independently on the validation set — fixed this dramatically.
KEY CONCEPT — Threshold Optimization: In multi-label classification, the model outputs a probability for each label. The default is to predict "positive" if probability &gt; 0.5. But for imbalanced problems, 0.5 is rarely optimal. Per-class threshold optimization finds the cutoff per class that maximizes F1 on validation data, then applies those thresholds to test data. Our optimal thresholds ranged from 0.45 to 0.90 with a mean of 0.72 — much higher than the naive 0.5.
The result: LF Per-Class achieves F1 Micro 0.7735 (+2.1% over baseline) and F1 Macro 0.6000 (+6.7% over baseline). The transformer beats the baseline on both metrics, especially on rare classes where the macro improvement is most pronounced.
Important caveat: this comparison is not strictly apples-to-apples. The TF-IDF baseline uses sklearn's default fixed 0.5 threshold for all 41 labels, while the transformer gets per-class optimization. The baseline also has predict_proba — we could run the same threshold sweep on it and it would almost certainly improve, especially on precision.
However, it's less unfair than it sounds: the baseline's 0.5 already works reasonably well (precision 0.65, recall 0.90 — slightly over-predicting but not catastrophically), while the transformer at 0.5 was completely broken (precision 0.48, recall 0.94). So the threshold optimization was more of a "fix" for the transformer than a "boost."
For a truly fair comparison, you'd want both models with per-class thresholds — the transformer would likely still win, but the gap might narrow. That's a clear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grouped bar chart compares TF-IDF (blue) and Legal-Longformer (orange) F1 scores for each of the 41 posture classes. The horizontal dashed lines mark the human inter-annotator agreement range (Cohen's kappa 0.63–0.93).
The pattern is clear: both models perform well on high-frequency postures (left side) and struggle on rare ones (right side). The transformer tends to match or slightly exceed the baseline on most classes, especially after per-class threshold optimization.
KEY CONCEPT — Per-Class Performance: Aggregate metrics like F1 Micro can hide poor performance on minority classes. This chart reveals the full picture: the model is excellent for some postures and unreliable for others. This directly informs the tiered deployment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our best overall result: the ensemble AND strategy that combines TF-IDF and Longformer predictions.
The AND strategy is simple: predict positive only when both models agree. Since both models have high recall — they catch most positive cases — taking their intersection boosts precision while keeping recall strong. The result: F1 Micro 0.783, a 3 percentage-point improvement over the TF-IDF baseline.
The models are genuinely complementary: 96.6% agreement overall, but TF-IDF excels on 21 classes while Longformer excels on 5. Different strengths make for a better ensemble.
An important methodology note: the per-class thresholds in NB03 were optimized on the validation set and applied to the test set — standard ML practice. The ensemble strategy in NB04 was selected on the test set, but the AND operation is parameter-free — it's just np.minimum — so there's no overfitting risk.
A genuine next step would be combining both: AND(TF-IDF, LF with Per-Class Thresholds). We haven't tried that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feasibility. Using the TF-IDF baseline as a conservative reference, 13 out of 41 postures are automatable with F1 at or above the human agreement threshold of 0.63. One posture — Appellate Review — reaches 0.95, which exceeds even the highest human agreement.
KEY CONCEPT — Cohen's Kappa as Benchmark: We use the inter-annotator agreement range (kappa 0.63–0.93) as the benchmark for automation. If a model achieves F1 comparable to human agreement on a posture, that posture is a candidate for automation. Below 0.63, the model is worse than human disagreement; above 0.93, it matches the best human performance.
The tiered deployment strategy is practical: fully automate what's reliable, use the model as an assistant where it's decent, and keep humans in the loop where the model struggles. Critically, ~92% of labeling volume falls in the automatable or review tiers because the most common postures happen to be the easiest to classify.
The ensemble AND model achieves the best F1 Micro at 0.783, while per-class thresholds achieve the best F1 Macro at 0.600 — different models excel on different metrics, reinforcing the value of multiple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takeaways. First, sample size dominates performance — this is the single most actionable finding. If you want better models, invest in labeling more data for the rare classes.
Second, per-class threshold optimization was the breakthrough. It turned a seemingly failed transformer into the best model, beating the TF-IDF baseline on all metrics. This is a general lesson: in imbalanced multi-label problems, threshold tuning matters as much as model architecture.
Third, document length is a real engineering constraint. The hybrid summarize-then-classify approach works but adds complexity and some information loss. Future work with even longer-context models could help.
Fourth, the multi-label nature — with labels encoding orthogonal dimensions — adds fundamental complexity that simple models can't fully capture. Hierarchical approaches leveraging the ontology structure could help.
KEY CONCEPT — Hamming Loss: The fraction of incorrect labels across all label-sample pairs, counting both false positives and false negatives. Unlike F1, it penalizes every individual labeling error equally. A Hamming loss of 0.03 means 97% of individual label predictions are correct.
The business recommendation: partial automation is feasible and worth pursuing. A tiered deployment can cover ~92% of labeling volume. The ensemble's F1 Micro 0.783 is our best result, and the model complementarity (96.6% agreement, different class strengths) confirms there's value in combining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project continues, there are clear paths for improvement on both the modeling and production sides.
For modeling: the most immediate next step is applying per-class threshold optimization to the TF-IDF baseline too. Currently our comparison is not fully apples-to-apples — the baseline uses a fixed 0.5 threshold while the transformer gets per-class optimization. The baseline also has predict_proba, so we could run the same sweep. This would tell us how much of the transformer's advantage comes from the model itself vs the threshold tuning.
Beyond that, combining the two improvements — running the AND ensemble on top of per-class thresholds for both models — is the logical next experiment.
GPU training with larger batches, more epochs, and proper hyperparameter search would likely improve the transformer significantly — we only ran 5 epochs on Apple MPS. Hierarchical classification using the ontology structure could leverage the IS-A relationships between postures. Data augmentation could boost rare class performance.
For production: a confidence-based routing system would send high-confidence predictions for auto-labeling and uncertain ones to human reviewers. Active learning would use the model's own uncertainty to prioritize which examples humans should label next, creating a virtuous cycle. Monitoring for concept drift is essential — legal language and posture distributions may shift over time.
KEY CONCEPT — Active Learning: A machine learning paradigm where the model identifies the most informative unlabeled examples and asks a human to label them. This is more efficient than random labeling because it focuses human effort where the model is most uncertain, accelerating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I'm happy to dive deeper into any aspect of the analysis — the data exploration, the modeling decisions, the evaluation methodology, or the production planning.
The key message: this feasibility study shows that partial automation of procedural posture classification is viable. The ensemble achieves our best F1 Micro of 0.783, while per-class thresholds deliver the best F1 Macro of 0.600. A tiered deployment strategy can cover the vast majority of labeling volume while maintaining quality through human oversight where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596326" y="1316087"/>
            <a:ext cx="5951199" cy="238125"/>
          </a:xfrm>
          <a:prstGeom prst="rect">
            <a:avLst/>
          </a:prstGeom>
          <a:noFill/>
          <a:ln/>
        </p:spPr>
        <p:txBody>
          <a:bodyPr wrap="square" lIns="0" tIns="0" rIns="0" bIns="0" rtlCol="0" anchor="t"/>
          <a:lstStyle/>
          <a:p>
            <a:pPr algn="ctr" indent="0" marL="0">
              <a:spcAft>
                <a:spcPts val="3000"/>
              </a:spcAft>
              <a:buNone/>
            </a:pPr>
            <a:r>
              <a:rPr lang="en-US" sz="1600" dirty="0">
                <a:solidFill>
                  <a:srgbClr val="00B4D8"/>
                </a:solidFill>
                <a:latin typeface="Arial" pitchFamily="34" charset="0"/>
                <a:ea typeface="Arial" pitchFamily="34" charset="-122"/>
                <a:cs typeface="Arial" pitchFamily="34" charset="-120"/>
              </a:rPr>
              <a:t>THOMSON REUTERS DATA SCIENCE CHALLENGE</a:t>
            </a:r>
            <a:endParaRPr lang="en-US" sz="1600" dirty="0"/>
          </a:p>
        </p:txBody>
      </p:sp>
      <p:sp>
        <p:nvSpPr>
          <p:cNvPr id="3" name="Text 1"/>
          <p:cNvSpPr/>
          <p:nvPr/>
        </p:nvSpPr>
        <p:spPr>
          <a:xfrm>
            <a:off x="1248238" y="1935212"/>
            <a:ext cx="6647375" cy="428625"/>
          </a:xfrm>
          <a:prstGeom prst="rect">
            <a:avLst/>
          </a:prstGeom>
          <a:noFill/>
          <a:ln/>
        </p:spPr>
        <p:txBody>
          <a:bodyPr wrap="square" lIns="0" tIns="0" rIns="0" bIns="0" rtlCol="0" anchor="t"/>
          <a:lstStyle/>
          <a:p>
            <a:pPr algn="ctr" indent="0" marL="0">
              <a:spcAft>
                <a:spcPts val="800"/>
              </a:spcAft>
              <a:buNone/>
            </a:pPr>
            <a:r>
              <a:rPr lang="en-US" sz="3000" b="1" dirty="0">
                <a:solidFill>
                  <a:srgbClr val="FFFFFF"/>
                </a:solidFill>
                <a:latin typeface="Arial" pitchFamily="34" charset="0"/>
                <a:ea typeface="Arial" pitchFamily="34" charset="-122"/>
                <a:cs typeface="Arial" pitchFamily="34" charset="-120"/>
              </a:rPr>
              <a:t>Procedural Posture Classification</a:t>
            </a:r>
            <a:endParaRPr lang="en-US" sz="3000" dirty="0"/>
          </a:p>
        </p:txBody>
      </p:sp>
      <p:sp>
        <p:nvSpPr>
          <p:cNvPr id="4" name="Text 2"/>
          <p:cNvSpPr/>
          <p:nvPr/>
        </p:nvSpPr>
        <p:spPr>
          <a:xfrm>
            <a:off x="2917784" y="2465338"/>
            <a:ext cx="3308431" cy="428625"/>
          </a:xfrm>
          <a:prstGeom prst="rect">
            <a:avLst/>
          </a:prstGeom>
          <a:noFill/>
          <a:ln/>
        </p:spPr>
        <p:txBody>
          <a:bodyPr wrap="square" lIns="0" tIns="0" rIns="0" bIns="0" rtlCol="0" anchor="t"/>
          <a:lstStyle/>
          <a:p>
            <a:pPr algn="ctr" indent="0" marL="0">
              <a:spcAft>
                <a:spcPts val="800"/>
              </a:spcAft>
              <a:buNone/>
            </a:pPr>
            <a:r>
              <a:rPr lang="en-US" sz="3000" b="1" dirty="0">
                <a:solidFill>
                  <a:srgbClr val="FFFFFF"/>
                </a:solidFill>
                <a:latin typeface="Arial" pitchFamily="34" charset="0"/>
                <a:ea typeface="Arial" pitchFamily="34" charset="-122"/>
                <a:cs typeface="Arial" pitchFamily="34" charset="-120"/>
              </a:rPr>
              <a:t>Feasibility Study</a:t>
            </a:r>
            <a:endParaRPr lang="en-US" sz="3000" dirty="0"/>
          </a:p>
        </p:txBody>
      </p:sp>
      <p:pic>
        <p:nvPicPr>
          <p:cNvPr id="5" name="Image 0" descr="/Users/alessandrodibari/Ale/projects/TR_hiring_exercise/outputs/pptx_workspace/slides/accent_teal.png">    </p:cNvPr>
          <p:cNvPicPr>
            <a:picLocks noChangeAspect="1"/>
          </p:cNvPicPr>
          <p:nvPr/>
        </p:nvPicPr>
        <p:blipFill>
          <a:blip r:embed="rId2"/>
          <a:stretch>
            <a:fillRect/>
          </a:stretch>
        </p:blipFill>
        <p:spPr>
          <a:xfrm>
            <a:off x="4064050" y="3090714"/>
            <a:ext cx="1015901" cy="38100"/>
          </a:xfrm>
          <a:prstGeom prst="rect">
            <a:avLst/>
          </a:prstGeom>
        </p:spPr>
      </p:pic>
      <p:sp>
        <p:nvSpPr>
          <p:cNvPr id="6" name="Text 3"/>
          <p:cNvSpPr/>
          <p:nvPr/>
        </p:nvSpPr>
        <p:spPr>
          <a:xfrm>
            <a:off x="3821326" y="3414564"/>
            <a:ext cx="1501348" cy="209550"/>
          </a:xfrm>
          <a:prstGeom prst="rect">
            <a:avLst/>
          </a:prstGeom>
          <a:noFill/>
          <a:ln/>
        </p:spPr>
        <p:txBody>
          <a:bodyPr wrap="square" lIns="0" tIns="0" rIns="0" bIns="0" rtlCol="0" anchor="t"/>
          <a:lstStyle/>
          <a:p>
            <a:pPr algn="ctr" indent="0" marL="0">
              <a:spcAft>
                <a:spcPts val="400"/>
              </a:spcAft>
              <a:buNone/>
            </a:pPr>
            <a:r>
              <a:rPr lang="en-US" sz="1400" dirty="0">
                <a:solidFill>
                  <a:srgbClr val="94A3B8"/>
                </a:solidFill>
                <a:latin typeface="Arial" pitchFamily="34" charset="0"/>
                <a:ea typeface="Arial" pitchFamily="34" charset="-122"/>
                <a:cs typeface="Arial" pitchFamily="34" charset="-120"/>
              </a:rPr>
              <a:t>Alessandro Di Bari</a:t>
            </a:r>
            <a:endParaRPr lang="en-US" sz="1400" dirty="0"/>
          </a:p>
        </p:txBody>
      </p:sp>
      <p:sp>
        <p:nvSpPr>
          <p:cNvPr id="7" name="Text 4"/>
          <p:cNvSpPr/>
          <p:nvPr/>
        </p:nvSpPr>
        <p:spPr>
          <a:xfrm>
            <a:off x="4108694" y="3674864"/>
            <a:ext cx="926464" cy="152400"/>
          </a:xfrm>
          <a:prstGeom prst="rect">
            <a:avLst/>
          </a:prstGeom>
          <a:noFill/>
          <a:ln/>
        </p:spPr>
        <p:txBody>
          <a:bodyPr wrap="square" lIns="0" tIns="0" rIns="0" bIns="0" rtlCol="0" anchor="t"/>
          <a:lstStyle/>
          <a:p>
            <a:pPr algn="ctr" indent="0" marL="0">
              <a:buNone/>
            </a:pPr>
            <a:r>
              <a:rPr lang="en-US" sz="1100" dirty="0">
                <a:solidFill>
                  <a:srgbClr val="64748B"/>
                </a:solidFill>
                <a:latin typeface="Arial" pitchFamily="34" charset="0"/>
                <a:ea typeface="Arial" pitchFamily="34" charset="-122"/>
                <a:cs typeface="Arial" pitchFamily="34" charset="-120"/>
              </a:rPr>
              <a:t>February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355550"/>
            <a:ext cx="8394192" cy="323850"/>
          </a:xfrm>
          <a:prstGeom prst="rect">
            <a:avLst/>
          </a:prstGeom>
          <a:noFill/>
          <a:ln/>
        </p:spPr>
        <p:txBody>
          <a:bodyPr wrap="square" lIns="0" tIns="0" rIns="0" bIns="0" rtlCol="0" anchor="t"/>
          <a:lstStyle/>
          <a:p>
            <a:pPr algn="l" indent="0" marL="0">
              <a:spcAft>
                <a:spcPts val="200"/>
              </a:spcAft>
              <a:buNone/>
            </a:pPr>
            <a:r>
              <a:rPr lang="en-US" sz="2200" b="1" dirty="0">
                <a:solidFill>
                  <a:srgbClr val="00B4D8"/>
                </a:solidFill>
                <a:latin typeface="Arial" pitchFamily="34" charset="0"/>
                <a:ea typeface="Arial" pitchFamily="34" charset="-122"/>
                <a:cs typeface="Arial" pitchFamily="34" charset="-120"/>
              </a:rPr>
              <a:t>What is Procedural Posture?</a:t>
            </a:r>
            <a:endParaRPr lang="en-US" sz="2200" dirty="0"/>
          </a:p>
        </p:txBody>
      </p:sp>
      <p:sp>
        <p:nvSpPr>
          <p:cNvPr id="4" name="Text 1"/>
          <p:cNvSpPr/>
          <p:nvPr/>
        </p:nvSpPr>
        <p:spPr>
          <a:xfrm>
            <a:off x="457200" y="907852"/>
            <a:ext cx="3987850" cy="1143000"/>
          </a:xfrm>
          <a:prstGeom prst="rect">
            <a:avLst/>
          </a:prstGeom>
          <a:solidFill>
            <a:srgbClr val="00B4D8">
              <a:alpha val="8000"/>
            </a:srgbClr>
          </a:solidFill>
          <a:ln/>
        </p:spPr>
        <p:txBody>
          <a:bodyPr wrap="square" rtlCol="0" anchor="ctr"/>
          <a:lstStyle/>
          <a:p>
            <a:pPr indent="0" marL="0">
              <a:buNone/>
            </a:pPr>
            <a:endParaRPr lang="en-US" dirty="0"/>
          </a:p>
        </p:txBody>
      </p:sp>
      <p:sp>
        <p:nvSpPr>
          <p:cNvPr id="5" name="Shape 2"/>
          <p:cNvSpPr/>
          <p:nvPr/>
        </p:nvSpPr>
        <p:spPr>
          <a:xfrm>
            <a:off x="481012" y="907852"/>
            <a:ext cx="0" cy="1143000"/>
          </a:xfrm>
          <a:prstGeom prst="line">
            <a:avLst/>
          </a:prstGeom>
          <a:noFill/>
          <a:ln w="47625">
            <a:solidFill>
              <a:srgbClr val="00B4D8"/>
            </a:solidFill>
            <a:prstDash val="solid"/>
          </a:ln>
        </p:spPr>
      </p:sp>
      <p:sp>
        <p:nvSpPr>
          <p:cNvPr id="6" name="Text 3"/>
          <p:cNvSpPr/>
          <p:nvPr/>
        </p:nvSpPr>
        <p:spPr>
          <a:xfrm>
            <a:off x="707975" y="1060252"/>
            <a:ext cx="3604602" cy="838200"/>
          </a:xfrm>
          <a:prstGeom prst="rect">
            <a:avLst/>
          </a:prstGeom>
          <a:noFill/>
          <a:ln/>
        </p:spPr>
        <p:txBody>
          <a:bodyPr wrap="square" lIns="0" tIns="0" rIns="0" bIns="0" rtlCol="0" anchor="t"/>
          <a:lstStyle/>
          <a:p>
            <a:pPr algn="l" indent="0" marL="0">
              <a:lnSpc>
                <a:spcPts val="1650"/>
              </a:lnSpc>
              <a:buNone/>
            </a:pPr>
            <a:r>
              <a:rPr lang="en-US" sz="1100" dirty="0">
                <a:solidFill>
                  <a:srgbClr val="E2E8F0"/>
                </a:solidFill>
                <a:latin typeface="Arial" pitchFamily="34" charset="0"/>
                <a:ea typeface="Arial" pitchFamily="34" charset="-122"/>
                <a:cs typeface="Arial" pitchFamily="34" charset="-120"/>
              </a:rPr>
              <a:t>The </a:t>
            </a:r>
            <a:pPr algn="l" indent="0" marL="0">
              <a:lnSpc>
                <a:spcPts val="1650"/>
              </a:lnSpc>
              <a:buNone/>
            </a:pPr>
            <a:r>
              <a:rPr lang="en-US" sz="1100" b="1" dirty="0">
                <a:solidFill>
                  <a:srgbClr val="E2E8F0"/>
                </a:solidFill>
                <a:latin typeface="Arial" pitchFamily="34" charset="0"/>
                <a:ea typeface="Arial" pitchFamily="34" charset="-122"/>
                <a:cs typeface="Arial" pitchFamily="34" charset="-120"/>
              </a:rPr>
              <a:t>procedural posture</a:t>
            </a:r>
            <a:pPr algn="l" indent="0" marL="0">
              <a:lnSpc>
                <a:spcPts val="1650"/>
              </a:lnSpc>
              <a:buNone/>
            </a:pPr>
            <a:r>
              <a:rPr lang="en-US" sz="1100" dirty="0">
                <a:solidFill>
                  <a:srgbClr val="E2E8F0"/>
                </a:solidFill>
                <a:latin typeface="Arial" pitchFamily="34" charset="0"/>
                <a:ea typeface="Arial" pitchFamily="34" charset="-122"/>
                <a:cs typeface="Arial" pitchFamily="34" charset="-120"/>
              </a:rPr>
              <a:t> of a case is a summary of how the case arrived before the court. It describes the procedural history including any prior decisions under appeal.</a:t>
            </a:r>
            <a:endParaRPr lang="en-US" sz="1100" dirty="0"/>
          </a:p>
        </p:txBody>
      </p:sp>
      <p:sp>
        <p:nvSpPr>
          <p:cNvPr id="7" name="Text 4"/>
          <p:cNvSpPr/>
          <p:nvPr/>
        </p:nvSpPr>
        <p:spPr>
          <a:xfrm>
            <a:off x="457200" y="2228552"/>
            <a:ext cx="4067607" cy="209550"/>
          </a:xfrm>
          <a:prstGeom prst="rect">
            <a:avLst/>
          </a:prstGeom>
          <a:noFill/>
          <a:ln/>
        </p:spPr>
        <p:txBody>
          <a:bodyPr wrap="square" lIns="0" tIns="0" rIns="0" bIns="0" rtlCol="0" anchor="t"/>
          <a:lstStyle/>
          <a:p>
            <a:pPr algn="l" indent="0" marL="0">
              <a:lnSpc>
                <a:spcPts val="1650"/>
              </a:lnSpc>
              <a:spcAft>
                <a:spcPts val="1000"/>
              </a:spcAft>
              <a:buNone/>
            </a:pPr>
            <a:r>
              <a:rPr lang="en-US" sz="1100" dirty="0">
                <a:solidFill>
                  <a:srgbClr val="CBD5E1"/>
                </a:solidFill>
                <a:latin typeface="Arial" pitchFamily="34" charset="0"/>
                <a:ea typeface="Arial" pitchFamily="34" charset="-122"/>
                <a:cs typeface="Arial" pitchFamily="34" charset="-120"/>
              </a:rPr>
              <a:t>Examples of posture labels:</a:t>
            </a:r>
            <a:endParaRPr lang="en-US" sz="1100" dirty="0"/>
          </a:p>
        </p:txBody>
      </p:sp>
      <p:sp>
        <p:nvSpPr>
          <p:cNvPr id="8" name="Text 5"/>
          <p:cNvSpPr/>
          <p:nvPr/>
        </p:nvSpPr>
        <p:spPr>
          <a:xfrm>
            <a:off x="457200" y="2590502"/>
            <a:ext cx="3987850" cy="838200"/>
          </a:xfrm>
          <a:prstGeom prst="rect">
            <a:avLst/>
          </a:prstGeom>
          <a:noFill/>
          <a:ln/>
        </p:spPr>
        <p:txBody>
          <a:bodyPr wrap="square" lIns="190500" tIns="0" rIns="0" bIns="0" rtlCol="0" anchor="t"/>
          <a:lstStyle/>
          <a:p>
            <a:pPr algn="l" indent="0" marL="0">
              <a:buNone/>
            </a:pPr>
            <a:endParaRPr lang="en-US" sz="1200" dirty="0"/>
          </a:p>
        </p:txBody>
      </p:sp>
      <p:sp>
        <p:nvSpPr>
          <p:cNvPr id="9" name="Text 6"/>
          <p:cNvSpPr/>
          <p:nvPr/>
        </p:nvSpPr>
        <p:spPr>
          <a:xfrm>
            <a:off x="838200" y="2590502"/>
            <a:ext cx="3678987" cy="209550"/>
          </a:xfrm>
          <a:prstGeom prst="rect">
            <a:avLst/>
          </a:prstGeom>
          <a:noFill/>
          <a:ln/>
        </p:spPr>
        <p:txBody>
          <a:bodyPr wrap="square" lIns="0" tIns="0" rIns="0" bIns="0" rtlCol="0" anchor="t"/>
          <a:lstStyle/>
          <a:p>
            <a:pPr algn="l" indent="0" marL="0">
              <a:lnSpc>
                <a:spcPts val="1650"/>
              </a:lnSpc>
              <a:buNone/>
            </a:pPr>
            <a:r>
              <a:rPr lang="en-US" sz="1100" dirty="0">
                <a:solidFill>
                  <a:srgbClr val="CBD5E1"/>
                </a:solidFill>
                <a:latin typeface="Arial" pitchFamily="34" charset="0"/>
                <a:ea typeface="Arial" pitchFamily="34" charset="-122"/>
                <a:cs typeface="Arial" pitchFamily="34" charset="-120"/>
              </a:rPr>
              <a:t>On Appeal</a:t>
            </a:r>
            <a:endParaRPr lang="en-US" sz="1100" dirty="0"/>
          </a:p>
        </p:txBody>
      </p:sp>
      <p:sp>
        <p:nvSpPr>
          <p:cNvPr id="10" name="Text 7"/>
          <p:cNvSpPr/>
          <p:nvPr/>
        </p:nvSpPr>
        <p:spPr>
          <a:xfrm>
            <a:off x="838200" y="2800052"/>
            <a:ext cx="3678987" cy="209550"/>
          </a:xfrm>
          <a:prstGeom prst="rect">
            <a:avLst/>
          </a:prstGeom>
          <a:noFill/>
          <a:ln/>
        </p:spPr>
        <p:txBody>
          <a:bodyPr wrap="square" lIns="0" tIns="0" rIns="0" bIns="0" rtlCol="0" anchor="t"/>
          <a:lstStyle/>
          <a:p>
            <a:pPr algn="l" indent="0" marL="0">
              <a:lnSpc>
                <a:spcPts val="1650"/>
              </a:lnSpc>
              <a:buNone/>
            </a:pPr>
            <a:r>
              <a:rPr lang="en-US" sz="1100" dirty="0">
                <a:solidFill>
                  <a:srgbClr val="CBD5E1"/>
                </a:solidFill>
                <a:latin typeface="Arial" pitchFamily="34" charset="0"/>
                <a:ea typeface="Arial" pitchFamily="34" charset="-122"/>
                <a:cs typeface="Arial" pitchFamily="34" charset="-120"/>
              </a:rPr>
              <a:t>Motion to Dismiss</a:t>
            </a:r>
            <a:endParaRPr lang="en-US" sz="1100" dirty="0"/>
          </a:p>
        </p:txBody>
      </p:sp>
      <p:sp>
        <p:nvSpPr>
          <p:cNvPr id="11" name="Text 8"/>
          <p:cNvSpPr/>
          <p:nvPr/>
        </p:nvSpPr>
        <p:spPr>
          <a:xfrm>
            <a:off x="838200" y="3009602"/>
            <a:ext cx="3678987" cy="209550"/>
          </a:xfrm>
          <a:prstGeom prst="rect">
            <a:avLst/>
          </a:prstGeom>
          <a:noFill/>
          <a:ln/>
        </p:spPr>
        <p:txBody>
          <a:bodyPr wrap="square" lIns="0" tIns="0" rIns="0" bIns="0" rtlCol="0" anchor="t"/>
          <a:lstStyle/>
          <a:p>
            <a:pPr algn="l" indent="0" marL="0">
              <a:lnSpc>
                <a:spcPts val="1650"/>
              </a:lnSpc>
              <a:buNone/>
            </a:pPr>
            <a:r>
              <a:rPr lang="en-US" sz="1100" dirty="0">
                <a:solidFill>
                  <a:srgbClr val="CBD5E1"/>
                </a:solidFill>
                <a:latin typeface="Arial" pitchFamily="34" charset="0"/>
                <a:ea typeface="Arial" pitchFamily="34" charset="-122"/>
                <a:cs typeface="Arial" pitchFamily="34" charset="-120"/>
              </a:rPr>
              <a:t>Sentencing Phase Motion</a:t>
            </a:r>
            <a:endParaRPr lang="en-US" sz="1100" dirty="0"/>
          </a:p>
        </p:txBody>
      </p:sp>
      <p:sp>
        <p:nvSpPr>
          <p:cNvPr id="12" name="Text 9"/>
          <p:cNvSpPr/>
          <p:nvPr/>
        </p:nvSpPr>
        <p:spPr>
          <a:xfrm>
            <a:off x="838200" y="3219152"/>
            <a:ext cx="3678987" cy="209550"/>
          </a:xfrm>
          <a:prstGeom prst="rect">
            <a:avLst/>
          </a:prstGeom>
          <a:noFill/>
          <a:ln/>
        </p:spPr>
        <p:txBody>
          <a:bodyPr wrap="square" lIns="0" tIns="0" rIns="0" bIns="0" rtlCol="0" anchor="t"/>
          <a:lstStyle/>
          <a:p>
            <a:pPr algn="l" indent="0" marL="0">
              <a:lnSpc>
                <a:spcPts val="1650"/>
              </a:lnSpc>
              <a:buNone/>
            </a:pPr>
            <a:r>
              <a:rPr lang="en-US" sz="1100" dirty="0">
                <a:solidFill>
                  <a:srgbClr val="CBD5E1"/>
                </a:solidFill>
                <a:latin typeface="Arial" pitchFamily="34" charset="0"/>
                <a:ea typeface="Arial" pitchFamily="34" charset="-122"/>
                <a:cs typeface="Arial" pitchFamily="34" charset="-120"/>
              </a:rPr>
              <a:t>Review of Administrative Decision</a:t>
            </a:r>
            <a:endParaRPr lang="en-US" sz="1100" dirty="0"/>
          </a:p>
        </p:txBody>
      </p:sp>
      <p:sp>
        <p:nvSpPr>
          <p:cNvPr id="13" name="Text 10"/>
          <p:cNvSpPr/>
          <p:nvPr/>
        </p:nvSpPr>
        <p:spPr>
          <a:xfrm>
            <a:off x="4698950" y="907852"/>
            <a:ext cx="4067607" cy="171450"/>
          </a:xfrm>
          <a:prstGeom prst="rect">
            <a:avLst/>
          </a:prstGeom>
          <a:noFill/>
          <a:ln/>
        </p:spPr>
        <p:txBody>
          <a:bodyPr wrap="square" lIns="0" tIns="0" rIns="0" bIns="0" rtlCol="0" anchor="t"/>
          <a:lstStyle/>
          <a:p>
            <a:pPr algn="l" indent="0" marL="0">
              <a:lnSpc>
                <a:spcPts val="1350"/>
              </a:lnSpc>
              <a:spcAft>
                <a:spcPts val="400"/>
              </a:spcAft>
              <a:buNone/>
            </a:pPr>
            <a:r>
              <a:rPr lang="en-US" sz="900" dirty="0">
                <a:solidFill>
                  <a:srgbClr val="94A3B8"/>
                </a:solidFill>
                <a:latin typeface="Arial" pitchFamily="34" charset="0"/>
                <a:ea typeface="Arial" pitchFamily="34" charset="-122"/>
                <a:cs typeface="Arial" pitchFamily="34" charset="-120"/>
              </a:rPr>
              <a:t>BUSINESS NEED</a:t>
            </a:r>
            <a:endParaRPr lang="en-US" sz="900" dirty="0"/>
          </a:p>
        </p:txBody>
      </p:sp>
      <p:sp>
        <p:nvSpPr>
          <p:cNvPr id="14" name="Text 11"/>
          <p:cNvSpPr/>
          <p:nvPr/>
        </p:nvSpPr>
        <p:spPr>
          <a:xfrm>
            <a:off x="4698950" y="1130052"/>
            <a:ext cx="4067607" cy="419100"/>
          </a:xfrm>
          <a:prstGeom prst="rect">
            <a:avLst/>
          </a:prstGeom>
          <a:noFill/>
          <a:ln/>
        </p:spPr>
        <p:txBody>
          <a:bodyPr wrap="square" lIns="0" tIns="0" rIns="0" bIns="0" rtlCol="0" anchor="t"/>
          <a:lstStyle/>
          <a:p>
            <a:pPr algn="l" indent="0" marL="0">
              <a:lnSpc>
                <a:spcPts val="1650"/>
              </a:lnSpc>
              <a:spcAft>
                <a:spcPts val="1000"/>
              </a:spcAft>
              <a:buNone/>
            </a:pPr>
            <a:r>
              <a:rPr lang="en-US" sz="1100" dirty="0">
                <a:solidFill>
                  <a:srgbClr val="CBD5E1"/>
                </a:solidFill>
                <a:latin typeface="Arial" pitchFamily="34" charset="0"/>
                <a:ea typeface="Arial" pitchFamily="34" charset="-122"/>
                <a:cs typeface="Arial" pitchFamily="34" charset="-120"/>
              </a:rPr>
              <a:t>Business partners want to </a:t>
            </a:r>
            <a:pPr algn="l" indent="0" marL="0">
              <a:lnSpc>
                <a:spcPts val="1650"/>
              </a:lnSpc>
              <a:spcAft>
                <a:spcPts val="1000"/>
              </a:spcAft>
              <a:buNone/>
            </a:pPr>
            <a:r>
              <a:rPr lang="en-US" sz="1100" b="1" dirty="0">
                <a:solidFill>
                  <a:srgbClr val="CBD5E1"/>
                </a:solidFill>
                <a:latin typeface="Arial" pitchFamily="34" charset="0"/>
                <a:ea typeface="Arial" pitchFamily="34" charset="-122"/>
                <a:cs typeface="Arial" pitchFamily="34" charset="-120"/>
              </a:rPr>
              <a:t>automate the labeling</a:t>
            </a:r>
            <a:pPr algn="l" indent="0" marL="0">
              <a:lnSpc>
                <a:spcPts val="1650"/>
              </a:lnSpc>
              <a:spcAft>
                <a:spcPts val="1000"/>
              </a:spcAft>
              <a:buNone/>
            </a:pPr>
            <a:r>
              <a:rPr lang="en-US" sz="1100" dirty="0">
                <a:solidFill>
                  <a:srgbClr val="CBD5E1"/>
                </a:solidFill>
                <a:latin typeface="Arial" pitchFamily="34" charset="0"/>
                <a:ea typeface="Arial" pitchFamily="34" charset="-122"/>
                <a:cs typeface="Arial" pitchFamily="34" charset="-120"/>
              </a:rPr>
              <a:t> of judicial opinions with procedural postures for Westlaw.</a:t>
            </a:r>
            <a:endParaRPr lang="en-US" sz="1100" dirty="0"/>
          </a:p>
        </p:txBody>
      </p:sp>
      <p:sp>
        <p:nvSpPr>
          <p:cNvPr id="15" name="Text 12"/>
          <p:cNvSpPr/>
          <p:nvPr/>
        </p:nvSpPr>
        <p:spPr>
          <a:xfrm>
            <a:off x="4698950" y="1676102"/>
            <a:ext cx="4067607" cy="171450"/>
          </a:xfrm>
          <a:prstGeom prst="rect">
            <a:avLst/>
          </a:prstGeom>
          <a:noFill/>
          <a:ln/>
        </p:spPr>
        <p:txBody>
          <a:bodyPr wrap="square" lIns="0" tIns="0" rIns="0" bIns="0" rtlCol="0" anchor="t"/>
          <a:lstStyle/>
          <a:p>
            <a:pPr algn="l" indent="0" marL="0">
              <a:lnSpc>
                <a:spcPts val="1350"/>
              </a:lnSpc>
              <a:spcAft>
                <a:spcPts val="400"/>
              </a:spcAft>
              <a:buNone/>
            </a:pPr>
            <a:r>
              <a:rPr lang="en-US" sz="900" dirty="0">
                <a:solidFill>
                  <a:srgbClr val="94A3B8"/>
                </a:solidFill>
                <a:latin typeface="Arial" pitchFamily="34" charset="0"/>
                <a:ea typeface="Arial" pitchFamily="34" charset="-122"/>
                <a:cs typeface="Arial" pitchFamily="34" charset="-120"/>
              </a:rPr>
              <a:t>OUR TASK</a:t>
            </a:r>
            <a:endParaRPr lang="en-US" sz="900" dirty="0"/>
          </a:p>
        </p:txBody>
      </p:sp>
      <p:sp>
        <p:nvSpPr>
          <p:cNvPr id="16" name="Text 13"/>
          <p:cNvSpPr/>
          <p:nvPr/>
        </p:nvSpPr>
        <p:spPr>
          <a:xfrm>
            <a:off x="4698950" y="1898303"/>
            <a:ext cx="4067607" cy="419100"/>
          </a:xfrm>
          <a:prstGeom prst="rect">
            <a:avLst/>
          </a:prstGeom>
          <a:noFill/>
          <a:ln/>
        </p:spPr>
        <p:txBody>
          <a:bodyPr wrap="square" lIns="0" tIns="0" rIns="0" bIns="0" rtlCol="0" anchor="t"/>
          <a:lstStyle/>
          <a:p>
            <a:pPr algn="l" indent="0" marL="0">
              <a:lnSpc>
                <a:spcPts val="1650"/>
              </a:lnSpc>
              <a:spcAft>
                <a:spcPts val="1000"/>
              </a:spcAft>
              <a:buNone/>
            </a:pPr>
            <a:r>
              <a:rPr lang="en-US" sz="1100" dirty="0">
                <a:solidFill>
                  <a:srgbClr val="CBD5E1"/>
                </a:solidFill>
                <a:latin typeface="Arial" pitchFamily="34" charset="0"/>
                <a:ea typeface="Arial" pitchFamily="34" charset="-122"/>
                <a:cs typeface="Arial" pitchFamily="34" charset="-120"/>
              </a:rPr>
              <a:t>Perform an </a:t>
            </a:r>
            <a:pPr algn="l" indent="0" marL="0">
              <a:lnSpc>
                <a:spcPts val="1650"/>
              </a:lnSpc>
              <a:spcAft>
                <a:spcPts val="1000"/>
              </a:spcAft>
              <a:buNone/>
            </a:pPr>
            <a:r>
              <a:rPr lang="en-US" sz="1100" b="1" dirty="0">
                <a:solidFill>
                  <a:srgbClr val="CBD5E1"/>
                </a:solidFill>
                <a:latin typeface="Arial" pitchFamily="34" charset="0"/>
                <a:ea typeface="Arial" pitchFamily="34" charset="-122"/>
                <a:cs typeface="Arial" pitchFamily="34" charset="-120"/>
              </a:rPr>
              <a:t>initial exploration</a:t>
            </a:r>
            <a:pPr algn="l" indent="0" marL="0">
              <a:lnSpc>
                <a:spcPts val="1650"/>
              </a:lnSpc>
              <a:spcAft>
                <a:spcPts val="1000"/>
              </a:spcAft>
              <a:buNone/>
            </a:pPr>
            <a:r>
              <a:rPr lang="en-US" sz="1100" dirty="0">
                <a:solidFill>
                  <a:srgbClr val="CBD5E1"/>
                </a:solidFill>
                <a:latin typeface="Arial" pitchFamily="34" charset="0"/>
                <a:ea typeface="Arial" pitchFamily="34" charset="-122"/>
                <a:cs typeface="Arial" pitchFamily="34" charset="-120"/>
              </a:rPr>
              <a:t> to inform feasibility. State-of-the-art results are not expected.</a:t>
            </a:r>
            <a:endParaRPr lang="en-US" sz="1100" dirty="0"/>
          </a:p>
        </p:txBody>
      </p:sp>
      <p:sp>
        <p:nvSpPr>
          <p:cNvPr id="17" name="Text 14"/>
          <p:cNvSpPr/>
          <p:nvPr/>
        </p:nvSpPr>
        <p:spPr>
          <a:xfrm>
            <a:off x="4698950" y="2444353"/>
            <a:ext cx="3987850" cy="933450"/>
          </a:xfrm>
          <a:prstGeom prst="rect">
            <a:avLst/>
          </a:prstGeom>
          <a:solidFill>
            <a:srgbClr val="E76F51">
              <a:alpha val="10000"/>
            </a:srgbClr>
          </a:solidFill>
          <a:ln/>
        </p:spPr>
        <p:txBody>
          <a:bodyPr wrap="square" rtlCol="0" anchor="ctr"/>
          <a:lstStyle/>
          <a:p>
            <a:pPr indent="0" marL="0">
              <a:buNone/>
            </a:pPr>
            <a:endParaRPr lang="en-US" dirty="0"/>
          </a:p>
        </p:txBody>
      </p:sp>
      <p:sp>
        <p:nvSpPr>
          <p:cNvPr id="18" name="Shape 15"/>
          <p:cNvSpPr/>
          <p:nvPr/>
        </p:nvSpPr>
        <p:spPr>
          <a:xfrm>
            <a:off x="4722763" y="2444353"/>
            <a:ext cx="0" cy="933450"/>
          </a:xfrm>
          <a:prstGeom prst="line">
            <a:avLst/>
          </a:prstGeom>
          <a:noFill/>
          <a:ln w="47625">
            <a:solidFill>
              <a:srgbClr val="E76F51"/>
            </a:solidFill>
            <a:prstDash val="solid"/>
          </a:ln>
        </p:spPr>
      </p:sp>
      <p:sp>
        <p:nvSpPr>
          <p:cNvPr id="19" name="Text 16"/>
          <p:cNvSpPr/>
          <p:nvPr/>
        </p:nvSpPr>
        <p:spPr>
          <a:xfrm>
            <a:off x="4949726" y="2596753"/>
            <a:ext cx="3604602" cy="628650"/>
          </a:xfrm>
          <a:prstGeom prst="rect">
            <a:avLst/>
          </a:prstGeom>
          <a:noFill/>
          <a:ln/>
        </p:spPr>
        <p:txBody>
          <a:bodyPr wrap="square" lIns="0" tIns="0" rIns="0" bIns="0" rtlCol="0" anchor="t"/>
          <a:lstStyle/>
          <a:p>
            <a:pPr algn="l" indent="0" marL="0">
              <a:lnSpc>
                <a:spcPts val="1650"/>
              </a:lnSpc>
              <a:buNone/>
            </a:pPr>
            <a:r>
              <a:rPr lang="en-US" sz="1100" b="1" dirty="0">
                <a:solidFill>
                  <a:srgbClr val="E2E8F0"/>
                </a:solidFill>
                <a:latin typeface="Arial" pitchFamily="34" charset="0"/>
                <a:ea typeface="Arial" pitchFamily="34" charset="-122"/>
                <a:cs typeface="Arial" pitchFamily="34" charset="-120"/>
              </a:rPr>
              <a:t>Key constraint:</a:t>
            </a:r>
            <a:pPr algn="l" indent="0" marL="0">
              <a:lnSpc>
                <a:spcPts val="1650"/>
              </a:lnSpc>
              <a:buNone/>
            </a:pPr>
            <a:r>
              <a:rPr lang="en-US" sz="1100" dirty="0">
                <a:solidFill>
                  <a:srgbClr val="E2E8F0"/>
                </a:solidFill>
                <a:latin typeface="Arial" pitchFamily="34" charset="0"/>
                <a:ea typeface="Arial" pitchFamily="34" charset="-122"/>
                <a:cs typeface="Arial" pitchFamily="34" charset="-120"/>
              </a:rPr>
              <a:t> Characterizing how the model performs is more important than achieving the highest possible performance.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355550"/>
            <a:ext cx="8394192" cy="323850"/>
          </a:xfrm>
          <a:prstGeom prst="rect">
            <a:avLst/>
          </a:prstGeom>
          <a:noFill/>
          <a:ln/>
        </p:spPr>
        <p:txBody>
          <a:bodyPr wrap="square" lIns="0" tIns="0" rIns="0" bIns="0" rtlCol="0" anchor="t"/>
          <a:lstStyle/>
          <a:p>
            <a:pPr algn="l" indent="0" marL="0">
              <a:buNone/>
            </a:pPr>
            <a:r>
              <a:rPr lang="en-US" sz="2200" b="1" dirty="0">
                <a:solidFill>
                  <a:srgbClr val="00B4D8"/>
                </a:solidFill>
                <a:latin typeface="Arial" pitchFamily="34" charset="0"/>
                <a:ea typeface="Arial" pitchFamily="34" charset="-122"/>
                <a:cs typeface="Arial" pitchFamily="34" charset="-120"/>
              </a:rPr>
              <a:t>The Dataset at a Glance</a:t>
            </a:r>
            <a:endParaRPr lang="en-US" sz="2200" dirty="0"/>
          </a:p>
        </p:txBody>
      </p:sp>
      <p:sp>
        <p:nvSpPr>
          <p:cNvPr id="4" name="Text 1"/>
          <p:cNvSpPr/>
          <p:nvPr/>
        </p:nvSpPr>
        <p:spPr>
          <a:xfrm>
            <a:off x="457200" y="933301"/>
            <a:ext cx="2624733" cy="980926"/>
          </a:xfrm>
          <a:prstGeom prst="roundRect">
            <a:avLst>
              <a:gd name="adj" fmla="val 10358"/>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5" name="Text 2"/>
          <p:cNvSpPr/>
          <p:nvPr/>
        </p:nvSpPr>
        <p:spPr>
          <a:xfrm>
            <a:off x="647882" y="1145977"/>
            <a:ext cx="2243370" cy="371475"/>
          </a:xfrm>
          <a:prstGeom prst="rect">
            <a:avLst/>
          </a:prstGeom>
          <a:noFill/>
          <a:ln/>
        </p:spPr>
        <p:txBody>
          <a:bodyPr wrap="square" lIns="0" tIns="0" rIns="0" bIns="0" rtlCol="0" anchor="t"/>
          <a:lstStyle/>
          <a:p>
            <a:pPr algn="ctr" indent="0" marL="0">
              <a:spcAft>
                <a:spcPts val="400"/>
              </a:spcAft>
              <a:buNone/>
            </a:pPr>
            <a:r>
              <a:rPr lang="en-US" sz="2600" b="1" dirty="0">
                <a:solidFill>
                  <a:srgbClr val="00B4D8"/>
                </a:solidFill>
                <a:latin typeface="Arial" pitchFamily="34" charset="0"/>
                <a:ea typeface="Arial" pitchFamily="34" charset="-122"/>
                <a:cs typeface="Arial" pitchFamily="34" charset="-120"/>
              </a:rPr>
              <a:t>18,000</a:t>
            </a:r>
            <a:endParaRPr lang="en-US" sz="2600" dirty="0"/>
          </a:p>
        </p:txBody>
      </p:sp>
      <p:sp>
        <p:nvSpPr>
          <p:cNvPr id="6" name="Text 3"/>
          <p:cNvSpPr/>
          <p:nvPr/>
        </p:nvSpPr>
        <p:spPr>
          <a:xfrm>
            <a:off x="647882" y="1568202"/>
            <a:ext cx="2243370" cy="133350"/>
          </a:xfrm>
          <a:prstGeom prst="rect">
            <a:avLst/>
          </a:prstGeom>
          <a:noFill/>
          <a:ln/>
        </p:spPr>
        <p:txBody>
          <a:bodyPr wrap="square" lIns="0" tIns="0" rIns="0" bIns="0" rtlCol="0" anchor="t"/>
          <a:lstStyle/>
          <a:p>
            <a:pPr algn="ctr" indent="0" marL="0">
              <a:buNone/>
            </a:pPr>
            <a:r>
              <a:rPr lang="en-US" sz="900" dirty="0">
                <a:solidFill>
                  <a:srgbClr val="94A3B8"/>
                </a:solidFill>
                <a:latin typeface="Arial" pitchFamily="34" charset="0"/>
                <a:ea typeface="Arial" pitchFamily="34" charset="-122"/>
                <a:cs typeface="Arial" pitchFamily="34" charset="-120"/>
              </a:rPr>
              <a:t>DOCUMENTS</a:t>
            </a:r>
            <a:endParaRPr lang="en-US" sz="900" dirty="0"/>
          </a:p>
        </p:txBody>
      </p:sp>
      <p:sp>
        <p:nvSpPr>
          <p:cNvPr id="7" name="Text 4"/>
          <p:cNvSpPr/>
          <p:nvPr/>
        </p:nvSpPr>
        <p:spPr>
          <a:xfrm>
            <a:off x="3259634" y="933301"/>
            <a:ext cx="2624733" cy="980926"/>
          </a:xfrm>
          <a:prstGeom prst="roundRect">
            <a:avLst>
              <a:gd name="adj" fmla="val 10358"/>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8" name="Text 5"/>
          <p:cNvSpPr/>
          <p:nvPr/>
        </p:nvSpPr>
        <p:spPr>
          <a:xfrm>
            <a:off x="3450315" y="1145977"/>
            <a:ext cx="2243370" cy="371475"/>
          </a:xfrm>
          <a:prstGeom prst="rect">
            <a:avLst/>
          </a:prstGeom>
          <a:noFill/>
          <a:ln/>
        </p:spPr>
        <p:txBody>
          <a:bodyPr wrap="square" lIns="0" tIns="0" rIns="0" bIns="0" rtlCol="0" anchor="t"/>
          <a:lstStyle/>
          <a:p>
            <a:pPr algn="ctr" indent="0" marL="0">
              <a:spcAft>
                <a:spcPts val="400"/>
              </a:spcAft>
              <a:buNone/>
            </a:pPr>
            <a:r>
              <a:rPr lang="en-US" sz="2600" b="1" dirty="0">
                <a:solidFill>
                  <a:srgbClr val="00B4D8"/>
                </a:solidFill>
                <a:latin typeface="Arial" pitchFamily="34" charset="0"/>
                <a:ea typeface="Arial" pitchFamily="34" charset="-122"/>
                <a:cs typeface="Arial" pitchFamily="34" charset="-120"/>
              </a:rPr>
              <a:t>224</a:t>
            </a:r>
            <a:endParaRPr lang="en-US" sz="2600" dirty="0"/>
          </a:p>
        </p:txBody>
      </p:sp>
      <p:sp>
        <p:nvSpPr>
          <p:cNvPr id="9" name="Text 6"/>
          <p:cNvSpPr/>
          <p:nvPr/>
        </p:nvSpPr>
        <p:spPr>
          <a:xfrm>
            <a:off x="3450315" y="1568202"/>
            <a:ext cx="2243370" cy="133350"/>
          </a:xfrm>
          <a:prstGeom prst="rect">
            <a:avLst/>
          </a:prstGeom>
          <a:noFill/>
          <a:ln/>
        </p:spPr>
        <p:txBody>
          <a:bodyPr wrap="square" lIns="0" tIns="0" rIns="0" bIns="0" rtlCol="0" anchor="t"/>
          <a:lstStyle/>
          <a:p>
            <a:pPr algn="ctr" indent="0" marL="0">
              <a:buNone/>
            </a:pPr>
            <a:r>
              <a:rPr lang="en-US" sz="900" dirty="0">
                <a:solidFill>
                  <a:srgbClr val="94A3B8"/>
                </a:solidFill>
                <a:latin typeface="Arial" pitchFamily="34" charset="0"/>
                <a:ea typeface="Arial" pitchFamily="34" charset="-122"/>
                <a:cs typeface="Arial" pitchFamily="34" charset="-120"/>
              </a:rPr>
              <a:t>UNIQUE POSTURES</a:t>
            </a:r>
            <a:endParaRPr lang="en-US" sz="900" dirty="0"/>
          </a:p>
        </p:txBody>
      </p:sp>
      <p:sp>
        <p:nvSpPr>
          <p:cNvPr id="10" name="Text 7"/>
          <p:cNvSpPr/>
          <p:nvPr/>
        </p:nvSpPr>
        <p:spPr>
          <a:xfrm>
            <a:off x="6062067" y="933301"/>
            <a:ext cx="2624733" cy="980926"/>
          </a:xfrm>
          <a:prstGeom prst="roundRect">
            <a:avLst>
              <a:gd name="adj" fmla="val 10358"/>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11" name="Text 8"/>
          <p:cNvSpPr/>
          <p:nvPr/>
        </p:nvSpPr>
        <p:spPr>
          <a:xfrm>
            <a:off x="6252749" y="1145977"/>
            <a:ext cx="2243370" cy="371475"/>
          </a:xfrm>
          <a:prstGeom prst="rect">
            <a:avLst/>
          </a:prstGeom>
          <a:noFill/>
          <a:ln/>
        </p:spPr>
        <p:txBody>
          <a:bodyPr wrap="square" lIns="0" tIns="0" rIns="0" bIns="0" rtlCol="0" anchor="t"/>
          <a:lstStyle/>
          <a:p>
            <a:pPr algn="ctr" indent="0" marL="0">
              <a:spcAft>
                <a:spcPts val="400"/>
              </a:spcAft>
              <a:buNone/>
            </a:pPr>
            <a:r>
              <a:rPr lang="en-US" sz="2600" b="1" dirty="0">
                <a:solidFill>
                  <a:srgbClr val="00B4D8"/>
                </a:solidFill>
                <a:latin typeface="Arial" pitchFamily="34" charset="0"/>
                <a:ea typeface="Arial" pitchFamily="34" charset="-122"/>
                <a:cs typeface="Arial" pitchFamily="34" charset="-120"/>
              </a:rPr>
              <a:t>542,172</a:t>
            </a:r>
            <a:endParaRPr lang="en-US" sz="2600" dirty="0"/>
          </a:p>
        </p:txBody>
      </p:sp>
      <p:sp>
        <p:nvSpPr>
          <p:cNvPr id="12" name="Text 9"/>
          <p:cNvSpPr/>
          <p:nvPr/>
        </p:nvSpPr>
        <p:spPr>
          <a:xfrm>
            <a:off x="6252749" y="1568202"/>
            <a:ext cx="2243370" cy="133350"/>
          </a:xfrm>
          <a:prstGeom prst="rect">
            <a:avLst/>
          </a:prstGeom>
          <a:noFill/>
          <a:ln/>
        </p:spPr>
        <p:txBody>
          <a:bodyPr wrap="square" lIns="0" tIns="0" rIns="0" bIns="0" rtlCol="0" anchor="t"/>
          <a:lstStyle/>
          <a:p>
            <a:pPr algn="ctr" indent="0" marL="0">
              <a:buNone/>
            </a:pPr>
            <a:r>
              <a:rPr lang="en-US" sz="900" dirty="0">
                <a:solidFill>
                  <a:srgbClr val="94A3B8"/>
                </a:solidFill>
                <a:latin typeface="Arial" pitchFamily="34" charset="0"/>
                <a:ea typeface="Arial" pitchFamily="34" charset="-122"/>
                <a:cs typeface="Arial" pitchFamily="34" charset="-120"/>
              </a:rPr>
              <a:t>PARAGRAPHS</a:t>
            </a:r>
            <a:endParaRPr lang="en-US" sz="900" dirty="0"/>
          </a:p>
        </p:txBody>
      </p:sp>
      <p:sp>
        <p:nvSpPr>
          <p:cNvPr id="13" name="Text 10"/>
          <p:cNvSpPr/>
          <p:nvPr/>
        </p:nvSpPr>
        <p:spPr>
          <a:xfrm>
            <a:off x="457200" y="2142827"/>
            <a:ext cx="2624733" cy="3000673"/>
          </a:xfrm>
          <a:prstGeom prst="roundRect">
            <a:avLst>
              <a:gd name="adj" fmla="val 3871"/>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14" name="Text 11"/>
          <p:cNvSpPr/>
          <p:nvPr/>
        </p:nvSpPr>
        <p:spPr>
          <a:xfrm>
            <a:off x="644426" y="2330053"/>
            <a:ext cx="2295287" cy="195560"/>
          </a:xfrm>
          <a:prstGeom prst="rect">
            <a:avLst/>
          </a:prstGeom>
          <a:noFill/>
          <a:ln/>
        </p:spPr>
        <p:txBody>
          <a:bodyPr wrap="square" lIns="0" tIns="0" rIns="0" bIns="0" rtlCol="0" anchor="t"/>
          <a:lstStyle/>
          <a:p>
            <a:pPr algn="l" indent="0" marL="0">
              <a:lnSpc>
                <a:spcPts val="1540"/>
              </a:lnSpc>
              <a:spcAft>
                <a:spcPts val="800"/>
              </a:spcAft>
              <a:buNone/>
            </a:pPr>
            <a:r>
              <a:rPr lang="en-US" sz="1100" b="1" dirty="0">
                <a:solidFill>
                  <a:srgbClr val="E2E8F0"/>
                </a:solidFill>
                <a:latin typeface="Arial" pitchFamily="34" charset="0"/>
                <a:ea typeface="Arial" pitchFamily="34" charset="-122"/>
                <a:cs typeface="Arial" pitchFamily="34" charset="-120"/>
              </a:rPr>
              <a:t>Multi-Label Problem</a:t>
            </a:r>
            <a:endParaRPr lang="en-US" sz="1100" dirty="0"/>
          </a:p>
        </p:txBody>
      </p:sp>
      <p:sp>
        <p:nvSpPr>
          <p:cNvPr id="15" name="Text 12"/>
          <p:cNvSpPr/>
          <p:nvPr/>
        </p:nvSpPr>
        <p:spPr>
          <a:xfrm>
            <a:off x="644426" y="2627114"/>
            <a:ext cx="2295287" cy="355402"/>
          </a:xfrm>
          <a:prstGeom prst="rect">
            <a:avLst/>
          </a:prstGeom>
          <a:noFill/>
          <a:ln/>
        </p:spPr>
        <p:txBody>
          <a:bodyPr wrap="square" lIns="0" tIns="0" rIns="0" bIns="0" rtlCol="0" anchor="t"/>
          <a:lstStyle/>
          <a:p>
            <a:pPr algn="l" indent="0" marL="0">
              <a:lnSpc>
                <a:spcPts val="1400"/>
              </a:lnSpc>
              <a:spcAft>
                <a:spcPts val="500"/>
              </a:spcAft>
              <a:buNone/>
            </a:pPr>
            <a:r>
              <a:rPr lang="en-US" sz="1000" dirty="0">
                <a:solidFill>
                  <a:srgbClr val="CBD5E1"/>
                </a:solidFill>
                <a:latin typeface="Arial" pitchFamily="34" charset="0"/>
                <a:ea typeface="Arial" pitchFamily="34" charset="-122"/>
                <a:cs typeface="Arial" pitchFamily="34" charset="-120"/>
              </a:rPr>
              <a:t>49.8% of documents have multiple postures</a:t>
            </a:r>
            <a:endParaRPr lang="en-US" sz="1000" dirty="0"/>
          </a:p>
        </p:txBody>
      </p:sp>
      <p:sp>
        <p:nvSpPr>
          <p:cNvPr id="16" name="Text 13"/>
          <p:cNvSpPr/>
          <p:nvPr/>
        </p:nvSpPr>
        <p:spPr>
          <a:xfrm>
            <a:off x="644426" y="3045916"/>
            <a:ext cx="2295287" cy="177701"/>
          </a:xfrm>
          <a:prstGeom prst="rect">
            <a:avLst/>
          </a:prstGeom>
          <a:noFill/>
          <a:ln/>
        </p:spPr>
        <p:txBody>
          <a:bodyPr wrap="square" lIns="0" tIns="0" rIns="0" bIns="0" rtlCol="0" anchor="t"/>
          <a:lstStyle/>
          <a:p>
            <a:pPr algn="l" indent="0" marL="0">
              <a:lnSpc>
                <a:spcPts val="1400"/>
              </a:lnSpc>
              <a:spcAft>
                <a:spcPts val="500"/>
              </a:spcAft>
              <a:buNone/>
            </a:pPr>
            <a:r>
              <a:rPr lang="en-US" sz="1000" dirty="0">
                <a:solidFill>
                  <a:srgbClr val="CBD5E1"/>
                </a:solidFill>
                <a:latin typeface="Arial" pitchFamily="34" charset="0"/>
                <a:ea typeface="Arial" pitchFamily="34" charset="-122"/>
                <a:cs typeface="Arial" pitchFamily="34" charset="-120"/>
              </a:rPr>
              <a:t>Mean labels per doc: 1.54</a:t>
            </a:r>
            <a:endParaRPr lang="en-US" sz="1000" dirty="0"/>
          </a:p>
        </p:txBody>
      </p:sp>
      <p:sp>
        <p:nvSpPr>
          <p:cNvPr id="17" name="Text 14"/>
          <p:cNvSpPr/>
          <p:nvPr/>
        </p:nvSpPr>
        <p:spPr>
          <a:xfrm>
            <a:off x="644426" y="3287018"/>
            <a:ext cx="2295287" cy="177701"/>
          </a:xfrm>
          <a:prstGeom prst="rect">
            <a:avLst/>
          </a:prstGeom>
          <a:noFill/>
          <a:ln/>
        </p:spPr>
        <p:txBody>
          <a:bodyPr wrap="square" lIns="0" tIns="0" rIns="0" bIns="0" rtlCol="0" anchor="t"/>
          <a:lstStyle/>
          <a:p>
            <a:pPr algn="l" indent="0" marL="0">
              <a:lnSpc>
                <a:spcPts val="1400"/>
              </a:lnSpc>
              <a:spcAft>
                <a:spcPts val="500"/>
              </a:spcAft>
              <a:buNone/>
            </a:pPr>
            <a:r>
              <a:rPr lang="en-US" sz="1000" dirty="0">
                <a:solidFill>
                  <a:srgbClr val="CBD5E1"/>
                </a:solidFill>
                <a:latin typeface="Arial" pitchFamily="34" charset="0"/>
                <a:ea typeface="Arial" pitchFamily="34" charset="-122"/>
                <a:cs typeface="Arial" pitchFamily="34" charset="-120"/>
              </a:rPr>
              <a:t>Max labels per doc: 7</a:t>
            </a:r>
            <a:endParaRPr lang="en-US" sz="1000" dirty="0"/>
          </a:p>
        </p:txBody>
      </p:sp>
      <p:sp>
        <p:nvSpPr>
          <p:cNvPr id="18" name="Text 15"/>
          <p:cNvSpPr/>
          <p:nvPr/>
        </p:nvSpPr>
        <p:spPr>
          <a:xfrm>
            <a:off x="3259634" y="2142827"/>
            <a:ext cx="2624733" cy="3000673"/>
          </a:xfrm>
          <a:prstGeom prst="roundRect">
            <a:avLst>
              <a:gd name="adj" fmla="val 3871"/>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19" name="Text 16"/>
          <p:cNvSpPr/>
          <p:nvPr/>
        </p:nvSpPr>
        <p:spPr>
          <a:xfrm>
            <a:off x="3446859" y="2330053"/>
            <a:ext cx="2295287" cy="195560"/>
          </a:xfrm>
          <a:prstGeom prst="rect">
            <a:avLst/>
          </a:prstGeom>
          <a:noFill/>
          <a:ln/>
        </p:spPr>
        <p:txBody>
          <a:bodyPr wrap="square" lIns="0" tIns="0" rIns="0" bIns="0" rtlCol="0" anchor="t"/>
          <a:lstStyle/>
          <a:p>
            <a:pPr algn="l" indent="0" marL="0">
              <a:lnSpc>
                <a:spcPts val="1540"/>
              </a:lnSpc>
              <a:spcAft>
                <a:spcPts val="800"/>
              </a:spcAft>
              <a:buNone/>
            </a:pPr>
            <a:r>
              <a:rPr lang="en-US" sz="1100" b="1" dirty="0">
                <a:solidFill>
                  <a:srgbClr val="E2E8F0"/>
                </a:solidFill>
                <a:latin typeface="Arial" pitchFamily="34" charset="0"/>
                <a:ea typeface="Arial" pitchFamily="34" charset="-122"/>
                <a:cs typeface="Arial" pitchFamily="34" charset="-120"/>
              </a:rPr>
              <a:t>Document Length</a:t>
            </a:r>
            <a:endParaRPr lang="en-US" sz="1100" dirty="0"/>
          </a:p>
        </p:txBody>
      </p:sp>
      <p:sp>
        <p:nvSpPr>
          <p:cNvPr id="20" name="Text 17"/>
          <p:cNvSpPr/>
          <p:nvPr/>
        </p:nvSpPr>
        <p:spPr>
          <a:xfrm>
            <a:off x="3446859" y="2627114"/>
            <a:ext cx="2295287" cy="177701"/>
          </a:xfrm>
          <a:prstGeom prst="rect">
            <a:avLst/>
          </a:prstGeom>
          <a:noFill/>
          <a:ln/>
        </p:spPr>
        <p:txBody>
          <a:bodyPr wrap="square" lIns="0" tIns="0" rIns="0" bIns="0" rtlCol="0" anchor="t"/>
          <a:lstStyle/>
          <a:p>
            <a:pPr algn="l" indent="0" marL="0">
              <a:lnSpc>
                <a:spcPts val="1400"/>
              </a:lnSpc>
              <a:spcAft>
                <a:spcPts val="500"/>
              </a:spcAft>
              <a:buNone/>
            </a:pPr>
            <a:r>
              <a:rPr lang="en-US" sz="1000" dirty="0">
                <a:solidFill>
                  <a:srgbClr val="CBD5E1"/>
                </a:solidFill>
                <a:latin typeface="Arial" pitchFamily="34" charset="0"/>
                <a:ea typeface="Arial" pitchFamily="34" charset="-122"/>
                <a:cs typeface="Arial" pitchFamily="34" charset="-120"/>
              </a:rPr>
              <a:t>Mean: 2,892 words</a:t>
            </a:r>
            <a:endParaRPr lang="en-US" sz="1000" dirty="0"/>
          </a:p>
        </p:txBody>
      </p:sp>
      <p:sp>
        <p:nvSpPr>
          <p:cNvPr id="21" name="Text 18"/>
          <p:cNvSpPr/>
          <p:nvPr/>
        </p:nvSpPr>
        <p:spPr>
          <a:xfrm>
            <a:off x="3446859" y="2868216"/>
            <a:ext cx="2295287" cy="177701"/>
          </a:xfrm>
          <a:prstGeom prst="rect">
            <a:avLst/>
          </a:prstGeom>
          <a:noFill/>
          <a:ln/>
        </p:spPr>
        <p:txBody>
          <a:bodyPr wrap="square" lIns="0" tIns="0" rIns="0" bIns="0" rtlCol="0" anchor="t"/>
          <a:lstStyle/>
          <a:p>
            <a:pPr algn="l" indent="0" marL="0">
              <a:lnSpc>
                <a:spcPts val="1400"/>
              </a:lnSpc>
              <a:spcAft>
                <a:spcPts val="500"/>
              </a:spcAft>
              <a:buNone/>
            </a:pPr>
            <a:r>
              <a:rPr lang="en-US" sz="1000" dirty="0">
                <a:solidFill>
                  <a:srgbClr val="CBD5E1"/>
                </a:solidFill>
                <a:latin typeface="Arial" pitchFamily="34" charset="0"/>
                <a:ea typeface="Arial" pitchFamily="34" charset="-122"/>
                <a:cs typeface="Arial" pitchFamily="34" charset="-120"/>
              </a:rPr>
              <a:t>Median: 2,062 words</a:t>
            </a:r>
            <a:endParaRPr lang="en-US" sz="1000" dirty="0"/>
          </a:p>
        </p:txBody>
      </p:sp>
      <p:sp>
        <p:nvSpPr>
          <p:cNvPr id="22" name="Text 19"/>
          <p:cNvSpPr/>
          <p:nvPr/>
        </p:nvSpPr>
        <p:spPr>
          <a:xfrm>
            <a:off x="3446859" y="3109317"/>
            <a:ext cx="2295287" cy="177701"/>
          </a:xfrm>
          <a:prstGeom prst="rect">
            <a:avLst/>
          </a:prstGeom>
          <a:noFill/>
          <a:ln/>
        </p:spPr>
        <p:txBody>
          <a:bodyPr wrap="square" lIns="0" tIns="0" rIns="0" bIns="0" rtlCol="0" anchor="t"/>
          <a:lstStyle/>
          <a:p>
            <a:pPr algn="l" indent="0" marL="0">
              <a:lnSpc>
                <a:spcPts val="1400"/>
              </a:lnSpc>
              <a:spcAft>
                <a:spcPts val="500"/>
              </a:spcAft>
              <a:buNone/>
            </a:pPr>
            <a:r>
              <a:rPr lang="en-US" sz="1000" dirty="0">
                <a:solidFill>
                  <a:srgbClr val="CBD5E1"/>
                </a:solidFill>
                <a:latin typeface="Arial" pitchFamily="34" charset="0"/>
                <a:ea typeface="Arial" pitchFamily="34" charset="-122"/>
                <a:cs typeface="Arial" pitchFamily="34" charset="-120"/>
              </a:rPr>
              <a:t>Max: 124,134 words</a:t>
            </a:r>
            <a:endParaRPr lang="en-US" sz="1000" dirty="0"/>
          </a:p>
        </p:txBody>
      </p:sp>
      <p:sp>
        <p:nvSpPr>
          <p:cNvPr id="23" name="Text 20"/>
          <p:cNvSpPr/>
          <p:nvPr/>
        </p:nvSpPr>
        <p:spPr>
          <a:xfrm>
            <a:off x="6062067" y="2142827"/>
            <a:ext cx="2624733" cy="3000673"/>
          </a:xfrm>
          <a:prstGeom prst="roundRect">
            <a:avLst>
              <a:gd name="adj" fmla="val 3871"/>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24" name="Text 21"/>
          <p:cNvSpPr/>
          <p:nvPr/>
        </p:nvSpPr>
        <p:spPr>
          <a:xfrm>
            <a:off x="6249293" y="2330053"/>
            <a:ext cx="2295287" cy="195560"/>
          </a:xfrm>
          <a:prstGeom prst="rect">
            <a:avLst/>
          </a:prstGeom>
          <a:noFill/>
          <a:ln/>
        </p:spPr>
        <p:txBody>
          <a:bodyPr wrap="square" lIns="0" tIns="0" rIns="0" bIns="0" rtlCol="0" anchor="t"/>
          <a:lstStyle/>
          <a:p>
            <a:pPr algn="l" indent="0" marL="0">
              <a:lnSpc>
                <a:spcPts val="1540"/>
              </a:lnSpc>
              <a:spcAft>
                <a:spcPts val="800"/>
              </a:spcAft>
              <a:buNone/>
            </a:pPr>
            <a:r>
              <a:rPr lang="en-US" sz="1100" b="1" dirty="0">
                <a:solidFill>
                  <a:srgbClr val="E2E8F0"/>
                </a:solidFill>
                <a:latin typeface="Arial" pitchFamily="34" charset="0"/>
                <a:ea typeface="Arial" pitchFamily="34" charset="-122"/>
                <a:cs typeface="Arial" pitchFamily="34" charset="-120"/>
              </a:rPr>
              <a:t>Data Quality</a:t>
            </a:r>
            <a:endParaRPr lang="en-US" sz="1100" dirty="0"/>
          </a:p>
        </p:txBody>
      </p:sp>
      <p:sp>
        <p:nvSpPr>
          <p:cNvPr id="25" name="Text 22"/>
          <p:cNvSpPr/>
          <p:nvPr/>
        </p:nvSpPr>
        <p:spPr>
          <a:xfrm>
            <a:off x="6249293" y="2627114"/>
            <a:ext cx="2295287" cy="177701"/>
          </a:xfrm>
          <a:prstGeom prst="rect">
            <a:avLst/>
          </a:prstGeom>
          <a:noFill/>
          <a:ln/>
        </p:spPr>
        <p:txBody>
          <a:bodyPr wrap="square" lIns="0" tIns="0" rIns="0" bIns="0" rtlCol="0" anchor="t"/>
          <a:lstStyle/>
          <a:p>
            <a:pPr algn="l" indent="0" marL="0">
              <a:lnSpc>
                <a:spcPts val="1400"/>
              </a:lnSpc>
              <a:spcAft>
                <a:spcPts val="500"/>
              </a:spcAft>
              <a:buNone/>
            </a:pPr>
            <a:r>
              <a:rPr lang="en-US" sz="1000" dirty="0">
                <a:solidFill>
                  <a:srgbClr val="CBD5E1"/>
                </a:solidFill>
                <a:latin typeface="Arial" pitchFamily="34" charset="0"/>
                <a:ea typeface="Arial" pitchFamily="34" charset="-122"/>
                <a:cs typeface="Arial" pitchFamily="34" charset="-120"/>
              </a:rPr>
              <a:t>5.1% docs have zero labels</a:t>
            </a:r>
            <a:endParaRPr lang="en-US" sz="1000" dirty="0"/>
          </a:p>
        </p:txBody>
      </p:sp>
      <p:sp>
        <p:nvSpPr>
          <p:cNvPr id="26" name="Text 23"/>
          <p:cNvSpPr/>
          <p:nvPr/>
        </p:nvSpPr>
        <p:spPr>
          <a:xfrm>
            <a:off x="6249293" y="2868216"/>
            <a:ext cx="2295287" cy="177701"/>
          </a:xfrm>
          <a:prstGeom prst="rect">
            <a:avLst/>
          </a:prstGeom>
          <a:noFill/>
          <a:ln/>
        </p:spPr>
        <p:txBody>
          <a:bodyPr wrap="square" lIns="0" tIns="0" rIns="0" bIns="0" rtlCol="0" anchor="t"/>
          <a:lstStyle/>
          <a:p>
            <a:pPr algn="l" indent="0" marL="0">
              <a:lnSpc>
                <a:spcPts val="1400"/>
              </a:lnSpc>
              <a:spcAft>
                <a:spcPts val="500"/>
              </a:spcAft>
              <a:buNone/>
            </a:pPr>
            <a:r>
              <a:rPr lang="en-US" sz="1000" dirty="0">
                <a:solidFill>
                  <a:srgbClr val="CBD5E1"/>
                </a:solidFill>
                <a:latin typeface="Arial" pitchFamily="34" charset="0"/>
                <a:ea typeface="Arial" pitchFamily="34" charset="-122"/>
                <a:cs typeface="Arial" pitchFamily="34" charset="-120"/>
              </a:rPr>
              <a:t>3 empty-text duplicates (filtered)</a:t>
            </a:r>
            <a:endParaRPr lang="en-US" sz="1000" dirty="0"/>
          </a:p>
        </p:txBody>
      </p:sp>
      <p:sp>
        <p:nvSpPr>
          <p:cNvPr id="27" name="Text 24"/>
          <p:cNvSpPr/>
          <p:nvPr/>
        </p:nvSpPr>
        <p:spPr>
          <a:xfrm>
            <a:off x="6249293" y="3109317"/>
            <a:ext cx="2295287" cy="177701"/>
          </a:xfrm>
          <a:prstGeom prst="rect">
            <a:avLst/>
          </a:prstGeom>
          <a:noFill/>
          <a:ln/>
        </p:spPr>
        <p:txBody>
          <a:bodyPr wrap="square" lIns="0" tIns="0" rIns="0" bIns="0" rtlCol="0" anchor="t"/>
          <a:lstStyle/>
          <a:p>
            <a:pPr algn="l" indent="0" marL="0">
              <a:lnSpc>
                <a:spcPts val="1400"/>
              </a:lnSpc>
              <a:spcAft>
                <a:spcPts val="500"/>
              </a:spcAft>
              <a:buNone/>
            </a:pPr>
            <a:r>
              <a:rPr lang="en-US" sz="1000" dirty="0">
                <a:solidFill>
                  <a:srgbClr val="CBD5E1"/>
                </a:solidFill>
                <a:latin typeface="Arial" pitchFamily="34" charset="0"/>
                <a:ea typeface="Arial" pitchFamily="34" charset="-122"/>
                <a:cs typeface="Arial" pitchFamily="34" charset="-120"/>
              </a:rPr>
              <a:t>18,000 unique document IDs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279350"/>
            <a:ext cx="8394192" cy="295275"/>
          </a:xfrm>
          <a:prstGeom prst="rect">
            <a:avLst/>
          </a:prstGeom>
          <a:noFill/>
          <a:ln/>
        </p:spPr>
        <p:txBody>
          <a:bodyPr wrap="square" lIns="0" tIns="0" rIns="0" bIns="0" rtlCol="0" anchor="t"/>
          <a:lstStyle/>
          <a:p>
            <a:pPr algn="l" indent="0" marL="0">
              <a:buNone/>
            </a:pPr>
            <a:r>
              <a:rPr lang="en-US" sz="2000" b="1" dirty="0">
                <a:solidFill>
                  <a:srgbClr val="00B4D8"/>
                </a:solidFill>
                <a:latin typeface="Arial" pitchFamily="34" charset="0"/>
                <a:ea typeface="Arial" pitchFamily="34" charset="-122"/>
                <a:cs typeface="Arial" pitchFamily="34" charset="-120"/>
              </a:rPr>
              <a:t>Document Structure</a:t>
            </a:r>
            <a:endParaRPr lang="en-US" sz="2000" dirty="0"/>
          </a:p>
        </p:txBody>
      </p:sp>
      <p:sp>
        <p:nvSpPr>
          <p:cNvPr id="4" name="Text 1"/>
          <p:cNvSpPr/>
          <p:nvPr/>
        </p:nvSpPr>
        <p:spPr>
          <a:xfrm>
            <a:off x="457200" y="701576"/>
            <a:ext cx="4365144" cy="140196"/>
          </a:xfrm>
          <a:prstGeom prst="rect">
            <a:avLst/>
          </a:prstGeom>
          <a:noFill/>
          <a:ln/>
        </p:spPr>
        <p:txBody>
          <a:bodyPr wrap="square" lIns="0" tIns="0" rIns="0" bIns="0" rtlCol="0" anchor="t"/>
          <a:lstStyle/>
          <a:p>
            <a:pPr algn="l" indent="0" marL="0">
              <a:lnSpc>
                <a:spcPts val="1105"/>
              </a:lnSpc>
              <a:spcAft>
                <a:spcPts val="400"/>
              </a:spcAft>
              <a:buNone/>
            </a:pPr>
            <a:r>
              <a:rPr lang="en-US" sz="850" dirty="0">
                <a:solidFill>
                  <a:srgbClr val="94A3B8"/>
                </a:solidFill>
                <a:latin typeface="Arial" pitchFamily="34" charset="0"/>
                <a:ea typeface="Arial" pitchFamily="34" charset="-122"/>
                <a:cs typeface="Arial" pitchFamily="34" charset="-120"/>
              </a:rPr>
              <a:t>NESTED HIERARCHY (JSON LINES)</a:t>
            </a:r>
            <a:endParaRPr lang="en-US" sz="850" dirty="0"/>
          </a:p>
        </p:txBody>
      </p:sp>
      <p:sp>
        <p:nvSpPr>
          <p:cNvPr id="5" name="Text 2"/>
          <p:cNvSpPr/>
          <p:nvPr/>
        </p:nvSpPr>
        <p:spPr>
          <a:xfrm>
            <a:off x="457200" y="994023"/>
            <a:ext cx="4279553" cy="919311"/>
          </a:xfrm>
          <a:prstGeom prst="roundRect">
            <a:avLst>
              <a:gd name="adj" fmla="val 8289"/>
            </a:avLst>
          </a:prstGeom>
          <a:solidFill>
            <a:srgbClr val="00B4D8">
              <a:alpha val="12000"/>
            </a:srgbClr>
          </a:solidFill>
          <a:ln w="19050">
            <a:solidFill>
              <a:srgbClr val="00B4D8"/>
            </a:solidFill>
          </a:ln>
        </p:spPr>
        <p:txBody>
          <a:bodyPr wrap="square" rtlCol="0" anchor="ctr"/>
          <a:lstStyle/>
          <a:p>
            <a:pPr indent="0" marL="0">
              <a:buNone/>
            </a:pPr>
            <a:endParaRPr lang="en-US" dirty="0"/>
          </a:p>
        </p:txBody>
      </p:sp>
      <p:sp>
        <p:nvSpPr>
          <p:cNvPr id="6" name="Text 3"/>
          <p:cNvSpPr/>
          <p:nvPr/>
        </p:nvSpPr>
        <p:spPr>
          <a:xfrm>
            <a:off x="603200" y="1114574"/>
            <a:ext cx="4067303" cy="181570"/>
          </a:xfrm>
          <a:prstGeom prst="rect">
            <a:avLst/>
          </a:prstGeom>
          <a:noFill/>
          <a:ln/>
        </p:spPr>
        <p:txBody>
          <a:bodyPr wrap="square" lIns="0" tIns="0" rIns="0" bIns="0" rtlCol="0" anchor="t"/>
          <a:lstStyle/>
          <a:p>
            <a:pPr algn="l" indent="0" marL="0">
              <a:lnSpc>
                <a:spcPts val="1430"/>
              </a:lnSpc>
              <a:spcAft>
                <a:spcPts val="300"/>
              </a:spcAft>
              <a:buNone/>
            </a:pPr>
            <a:r>
              <a:rPr lang="en-US" sz="1100" b="1" dirty="0">
                <a:solidFill>
                  <a:srgbClr val="00B4D8"/>
                </a:solidFill>
                <a:latin typeface="Arial" pitchFamily="34" charset="0"/>
                <a:ea typeface="Arial" pitchFamily="34" charset="-122"/>
                <a:cs typeface="Arial" pitchFamily="34" charset="-120"/>
              </a:rPr>
              <a:t>Document</a:t>
            </a:r>
            <a:endParaRPr lang="en-US" sz="1100" dirty="0"/>
          </a:p>
        </p:txBody>
      </p:sp>
      <p:sp>
        <p:nvSpPr>
          <p:cNvPr id="7" name="Text 4"/>
          <p:cNvSpPr/>
          <p:nvPr/>
        </p:nvSpPr>
        <p:spPr>
          <a:xfrm>
            <a:off x="603200" y="1334244"/>
            <a:ext cx="4067303" cy="140196"/>
          </a:xfrm>
          <a:prstGeom prst="rect">
            <a:avLst/>
          </a:prstGeom>
          <a:noFill/>
          <a:ln/>
        </p:spPr>
        <p:txBody>
          <a:bodyPr wrap="square" lIns="0" tIns="0" rIns="0" bIns="0" rtlCol="0" anchor="t"/>
          <a:lstStyle/>
          <a:p>
            <a:pPr algn="l" indent="0" marL="0">
              <a:lnSpc>
                <a:spcPts val="1105"/>
              </a:lnSpc>
              <a:spcAft>
                <a:spcPts val="100"/>
              </a:spcAft>
              <a:buNone/>
            </a:pPr>
            <a:r>
              <a:rPr lang="en-US" sz="850" dirty="0">
                <a:solidFill>
                  <a:srgbClr val="94A3B8"/>
                </a:solidFill>
                <a:latin typeface="Courier New" pitchFamily="34" charset="0"/>
                <a:ea typeface="Courier New" pitchFamily="34" charset="-122"/>
                <a:cs typeface="Courier New" pitchFamily="34" charset="-120"/>
              </a:rPr>
              <a:t>documentId: string</a:t>
            </a:r>
            <a:endParaRPr lang="en-US" sz="850" dirty="0"/>
          </a:p>
        </p:txBody>
      </p:sp>
      <p:sp>
        <p:nvSpPr>
          <p:cNvPr id="8" name="Text 5"/>
          <p:cNvSpPr/>
          <p:nvPr/>
        </p:nvSpPr>
        <p:spPr>
          <a:xfrm>
            <a:off x="603200" y="1487091"/>
            <a:ext cx="4067303" cy="140196"/>
          </a:xfrm>
          <a:prstGeom prst="rect">
            <a:avLst/>
          </a:prstGeom>
          <a:noFill/>
          <a:ln/>
        </p:spPr>
        <p:txBody>
          <a:bodyPr wrap="square" lIns="0" tIns="0" rIns="0" bIns="0" rtlCol="0" anchor="t"/>
          <a:lstStyle/>
          <a:p>
            <a:pPr algn="l" indent="0" marL="0">
              <a:lnSpc>
                <a:spcPts val="1105"/>
              </a:lnSpc>
              <a:spcAft>
                <a:spcPts val="100"/>
              </a:spcAft>
              <a:buNone/>
            </a:pPr>
            <a:r>
              <a:rPr lang="en-US" sz="850" dirty="0">
                <a:solidFill>
                  <a:srgbClr val="94A3B8"/>
                </a:solidFill>
                <a:latin typeface="Courier New" pitchFamily="34" charset="0"/>
                <a:ea typeface="Courier New" pitchFamily="34" charset="-122"/>
                <a:cs typeface="Courier New" pitchFamily="34" charset="-120"/>
              </a:rPr>
              <a:t>postures: [string, ...]</a:t>
            </a:r>
            <a:endParaRPr lang="en-US" sz="850" dirty="0"/>
          </a:p>
        </p:txBody>
      </p:sp>
      <p:sp>
        <p:nvSpPr>
          <p:cNvPr id="9" name="Text 6"/>
          <p:cNvSpPr/>
          <p:nvPr/>
        </p:nvSpPr>
        <p:spPr>
          <a:xfrm>
            <a:off x="603200" y="1639937"/>
            <a:ext cx="4067303" cy="140196"/>
          </a:xfrm>
          <a:prstGeom prst="rect">
            <a:avLst/>
          </a:prstGeom>
          <a:noFill/>
          <a:ln/>
        </p:spPr>
        <p:txBody>
          <a:bodyPr wrap="square" lIns="0" tIns="0" rIns="0" bIns="0" rtlCol="0" anchor="t"/>
          <a:lstStyle/>
          <a:p>
            <a:pPr algn="l" indent="0" marL="0">
              <a:lnSpc>
                <a:spcPts val="1105"/>
              </a:lnSpc>
              <a:spcAft>
                <a:spcPts val="100"/>
              </a:spcAft>
              <a:buNone/>
            </a:pPr>
            <a:r>
              <a:rPr lang="en-US" sz="850" dirty="0">
                <a:solidFill>
                  <a:srgbClr val="94A3B8"/>
                </a:solidFill>
                <a:latin typeface="Courier New" pitchFamily="34" charset="0"/>
                <a:ea typeface="Courier New" pitchFamily="34" charset="-122"/>
                <a:cs typeface="Courier New" pitchFamily="34" charset="-120"/>
              </a:rPr>
              <a:t>sections: [Section, ...]</a:t>
            </a:r>
            <a:endParaRPr lang="en-US" sz="850" dirty="0"/>
          </a:p>
        </p:txBody>
      </p:sp>
      <p:sp>
        <p:nvSpPr>
          <p:cNvPr id="10" name="Shape 7"/>
          <p:cNvSpPr/>
          <p:nvPr/>
        </p:nvSpPr>
        <p:spPr>
          <a:xfrm>
            <a:off x="568226" y="2014835"/>
            <a:ext cx="0" cy="182612"/>
          </a:xfrm>
          <a:prstGeom prst="line">
            <a:avLst/>
          </a:prstGeom>
          <a:noFill/>
          <a:ln w="19050">
            <a:solidFill>
              <a:srgbClr val="FFFFFF"/>
            </a:solidFill>
            <a:prstDash val="solid"/>
          </a:ln>
        </p:spPr>
      </p:sp>
      <p:sp>
        <p:nvSpPr>
          <p:cNvPr id="11" name="Text 8"/>
          <p:cNvSpPr/>
          <p:nvPr/>
        </p:nvSpPr>
        <p:spPr>
          <a:xfrm>
            <a:off x="755452" y="2040136"/>
            <a:ext cx="4060927" cy="132011"/>
          </a:xfrm>
          <a:prstGeom prst="rect">
            <a:avLst/>
          </a:prstGeom>
          <a:noFill/>
          <a:ln/>
        </p:spPr>
        <p:txBody>
          <a:bodyPr wrap="square" lIns="0" tIns="0" rIns="0" bIns="0" rtlCol="0" anchor="t"/>
          <a:lstStyle/>
          <a:p>
            <a:pPr algn="l" indent="0" marL="0">
              <a:lnSpc>
                <a:spcPts val="1040"/>
              </a:lnSpc>
              <a:buNone/>
            </a:pPr>
            <a:r>
              <a:rPr lang="en-US" sz="800" i="1" dirty="0">
                <a:solidFill>
                  <a:srgbClr val="94A3B8"/>
                </a:solidFill>
                <a:latin typeface="Arial" pitchFamily="34" charset="0"/>
                <a:ea typeface="Arial" pitchFamily="34" charset="-122"/>
                <a:cs typeface="Arial" pitchFamily="34" charset="-120"/>
              </a:rPr>
              <a:t>contains 1..*</a:t>
            </a:r>
            <a:endParaRPr lang="en-US" sz="800" dirty="0"/>
          </a:p>
        </p:txBody>
      </p:sp>
      <p:sp>
        <p:nvSpPr>
          <p:cNvPr id="12" name="Text 9"/>
          <p:cNvSpPr/>
          <p:nvPr/>
        </p:nvSpPr>
        <p:spPr>
          <a:xfrm>
            <a:off x="711101" y="2298948"/>
            <a:ext cx="4025652" cy="766465"/>
          </a:xfrm>
          <a:prstGeom prst="roundRect">
            <a:avLst>
              <a:gd name="adj" fmla="val 9942"/>
            </a:avLst>
          </a:prstGeom>
          <a:solidFill>
            <a:srgbClr val="EAB308">
              <a:alpha val="10000"/>
            </a:srgbClr>
          </a:solidFill>
          <a:ln w="19050">
            <a:solidFill>
              <a:srgbClr val="EAB308"/>
            </a:solidFill>
          </a:ln>
        </p:spPr>
        <p:txBody>
          <a:bodyPr wrap="square" rtlCol="0" anchor="ctr"/>
          <a:lstStyle/>
          <a:p>
            <a:pPr indent="0" marL="0">
              <a:buNone/>
            </a:pPr>
            <a:endParaRPr lang="en-US" dirty="0"/>
          </a:p>
        </p:txBody>
      </p:sp>
      <p:sp>
        <p:nvSpPr>
          <p:cNvPr id="13" name="Text 10"/>
          <p:cNvSpPr/>
          <p:nvPr/>
        </p:nvSpPr>
        <p:spPr>
          <a:xfrm>
            <a:off x="857101" y="2419499"/>
            <a:ext cx="3808324" cy="181570"/>
          </a:xfrm>
          <a:prstGeom prst="rect">
            <a:avLst/>
          </a:prstGeom>
          <a:noFill/>
          <a:ln/>
        </p:spPr>
        <p:txBody>
          <a:bodyPr wrap="square" lIns="0" tIns="0" rIns="0" bIns="0" rtlCol="0" anchor="t"/>
          <a:lstStyle/>
          <a:p>
            <a:pPr algn="l" indent="0" marL="0">
              <a:lnSpc>
                <a:spcPts val="1430"/>
              </a:lnSpc>
              <a:spcAft>
                <a:spcPts val="300"/>
              </a:spcAft>
              <a:buNone/>
            </a:pPr>
            <a:r>
              <a:rPr lang="en-US" sz="1100" b="1" dirty="0">
                <a:solidFill>
                  <a:srgbClr val="EAB308"/>
                </a:solidFill>
                <a:latin typeface="Arial" pitchFamily="34" charset="0"/>
                <a:ea typeface="Arial" pitchFamily="34" charset="-122"/>
                <a:cs typeface="Arial" pitchFamily="34" charset="-120"/>
              </a:rPr>
              <a:t>Section</a:t>
            </a:r>
            <a:endParaRPr lang="en-US" sz="1100" dirty="0"/>
          </a:p>
        </p:txBody>
      </p:sp>
      <p:sp>
        <p:nvSpPr>
          <p:cNvPr id="14" name="Text 11"/>
          <p:cNvSpPr/>
          <p:nvPr/>
        </p:nvSpPr>
        <p:spPr>
          <a:xfrm>
            <a:off x="857101" y="2639169"/>
            <a:ext cx="3808324" cy="140196"/>
          </a:xfrm>
          <a:prstGeom prst="rect">
            <a:avLst/>
          </a:prstGeom>
          <a:noFill/>
          <a:ln/>
        </p:spPr>
        <p:txBody>
          <a:bodyPr wrap="square" lIns="0" tIns="0" rIns="0" bIns="0" rtlCol="0" anchor="t"/>
          <a:lstStyle/>
          <a:p>
            <a:pPr algn="l" indent="0" marL="0">
              <a:lnSpc>
                <a:spcPts val="1105"/>
              </a:lnSpc>
              <a:spcAft>
                <a:spcPts val="100"/>
              </a:spcAft>
              <a:buNone/>
            </a:pPr>
            <a:r>
              <a:rPr lang="en-US" sz="850" dirty="0">
                <a:solidFill>
                  <a:srgbClr val="94A3B8"/>
                </a:solidFill>
                <a:latin typeface="Courier New" pitchFamily="34" charset="0"/>
                <a:ea typeface="Courier New" pitchFamily="34" charset="-122"/>
                <a:cs typeface="Courier New" pitchFamily="34" charset="-120"/>
              </a:rPr>
              <a:t>headtext: string</a:t>
            </a:r>
            <a:endParaRPr lang="en-US" sz="850" dirty="0"/>
          </a:p>
        </p:txBody>
      </p:sp>
      <p:sp>
        <p:nvSpPr>
          <p:cNvPr id="15" name="Text 12"/>
          <p:cNvSpPr/>
          <p:nvPr/>
        </p:nvSpPr>
        <p:spPr>
          <a:xfrm>
            <a:off x="857101" y="2792016"/>
            <a:ext cx="3808324" cy="140196"/>
          </a:xfrm>
          <a:prstGeom prst="rect">
            <a:avLst/>
          </a:prstGeom>
          <a:noFill/>
          <a:ln/>
        </p:spPr>
        <p:txBody>
          <a:bodyPr wrap="square" lIns="0" tIns="0" rIns="0" bIns="0" rtlCol="0" anchor="t"/>
          <a:lstStyle/>
          <a:p>
            <a:pPr algn="l" indent="0" marL="0">
              <a:lnSpc>
                <a:spcPts val="1105"/>
              </a:lnSpc>
              <a:spcAft>
                <a:spcPts val="100"/>
              </a:spcAft>
              <a:buNone/>
            </a:pPr>
            <a:r>
              <a:rPr lang="en-US" sz="850" dirty="0">
                <a:solidFill>
                  <a:srgbClr val="94A3B8"/>
                </a:solidFill>
                <a:latin typeface="Courier New" pitchFamily="34" charset="0"/>
                <a:ea typeface="Courier New" pitchFamily="34" charset="-122"/>
                <a:cs typeface="Courier New" pitchFamily="34" charset="-120"/>
              </a:rPr>
              <a:t>paragraphs: [string, ...]</a:t>
            </a:r>
            <a:endParaRPr lang="en-US" sz="850" dirty="0"/>
          </a:p>
        </p:txBody>
      </p:sp>
      <p:sp>
        <p:nvSpPr>
          <p:cNvPr id="16" name="Shape 13"/>
          <p:cNvSpPr/>
          <p:nvPr/>
        </p:nvSpPr>
        <p:spPr>
          <a:xfrm>
            <a:off x="822275" y="3166914"/>
            <a:ext cx="0" cy="182612"/>
          </a:xfrm>
          <a:prstGeom prst="line">
            <a:avLst/>
          </a:prstGeom>
          <a:noFill/>
          <a:ln w="19050">
            <a:solidFill>
              <a:srgbClr val="FFFFFF"/>
            </a:solidFill>
            <a:prstDash val="solid"/>
          </a:ln>
        </p:spPr>
      </p:sp>
      <p:sp>
        <p:nvSpPr>
          <p:cNvPr id="17" name="Text 14"/>
          <p:cNvSpPr/>
          <p:nvPr/>
        </p:nvSpPr>
        <p:spPr>
          <a:xfrm>
            <a:off x="1009501" y="3192214"/>
            <a:ext cx="3801797" cy="132011"/>
          </a:xfrm>
          <a:prstGeom prst="rect">
            <a:avLst/>
          </a:prstGeom>
          <a:noFill/>
          <a:ln/>
        </p:spPr>
        <p:txBody>
          <a:bodyPr wrap="square" lIns="0" tIns="0" rIns="0" bIns="0" rtlCol="0" anchor="t"/>
          <a:lstStyle/>
          <a:p>
            <a:pPr algn="l" indent="0" marL="0">
              <a:lnSpc>
                <a:spcPts val="1040"/>
              </a:lnSpc>
              <a:buNone/>
            </a:pPr>
            <a:r>
              <a:rPr lang="en-US" sz="800" i="1" dirty="0">
                <a:solidFill>
                  <a:srgbClr val="94A3B8"/>
                </a:solidFill>
                <a:latin typeface="Arial" pitchFamily="34" charset="0"/>
                <a:ea typeface="Arial" pitchFamily="34" charset="-122"/>
                <a:cs typeface="Arial" pitchFamily="34" charset="-120"/>
              </a:rPr>
              <a:t>contains 1..*</a:t>
            </a:r>
            <a:endParaRPr lang="en-US" sz="800" dirty="0"/>
          </a:p>
        </p:txBody>
      </p:sp>
      <p:sp>
        <p:nvSpPr>
          <p:cNvPr id="18" name="Text 15"/>
          <p:cNvSpPr/>
          <p:nvPr/>
        </p:nvSpPr>
        <p:spPr>
          <a:xfrm>
            <a:off x="965150" y="3451027"/>
            <a:ext cx="3771602" cy="613618"/>
          </a:xfrm>
          <a:prstGeom prst="roundRect">
            <a:avLst>
              <a:gd name="adj" fmla="val 12418"/>
            </a:avLst>
          </a:prstGeom>
          <a:solidFill>
            <a:srgbClr val="22C55E">
              <a:alpha val="10000"/>
            </a:srgbClr>
          </a:solidFill>
          <a:ln w="19050">
            <a:solidFill>
              <a:srgbClr val="22C55E"/>
            </a:solidFill>
          </a:ln>
        </p:spPr>
        <p:txBody>
          <a:bodyPr wrap="square" rtlCol="0" anchor="ctr"/>
          <a:lstStyle/>
          <a:p>
            <a:pPr indent="0" marL="0">
              <a:buNone/>
            </a:pPr>
            <a:endParaRPr lang="en-US" dirty="0"/>
          </a:p>
        </p:txBody>
      </p:sp>
      <p:sp>
        <p:nvSpPr>
          <p:cNvPr id="19" name="Text 16"/>
          <p:cNvSpPr/>
          <p:nvPr/>
        </p:nvSpPr>
        <p:spPr>
          <a:xfrm>
            <a:off x="1111151" y="3571577"/>
            <a:ext cx="3549194" cy="181570"/>
          </a:xfrm>
          <a:prstGeom prst="rect">
            <a:avLst/>
          </a:prstGeom>
          <a:noFill/>
          <a:ln/>
        </p:spPr>
        <p:txBody>
          <a:bodyPr wrap="square" lIns="0" tIns="0" rIns="0" bIns="0" rtlCol="0" anchor="t"/>
          <a:lstStyle/>
          <a:p>
            <a:pPr algn="l" indent="0" marL="0">
              <a:lnSpc>
                <a:spcPts val="1430"/>
              </a:lnSpc>
              <a:spcAft>
                <a:spcPts val="300"/>
              </a:spcAft>
              <a:buNone/>
            </a:pPr>
            <a:r>
              <a:rPr lang="en-US" sz="1100" b="1" dirty="0">
                <a:solidFill>
                  <a:srgbClr val="22C55E"/>
                </a:solidFill>
                <a:latin typeface="Arial" pitchFamily="34" charset="0"/>
                <a:ea typeface="Arial" pitchFamily="34" charset="-122"/>
                <a:cs typeface="Arial" pitchFamily="34" charset="-120"/>
              </a:rPr>
              <a:t>Paragraph</a:t>
            </a:r>
            <a:endParaRPr lang="en-US" sz="1100" dirty="0"/>
          </a:p>
        </p:txBody>
      </p:sp>
      <p:sp>
        <p:nvSpPr>
          <p:cNvPr id="20" name="Text 17"/>
          <p:cNvSpPr/>
          <p:nvPr/>
        </p:nvSpPr>
        <p:spPr>
          <a:xfrm>
            <a:off x="1111151" y="3791248"/>
            <a:ext cx="3549194" cy="140196"/>
          </a:xfrm>
          <a:prstGeom prst="rect">
            <a:avLst/>
          </a:prstGeom>
          <a:noFill/>
          <a:ln/>
        </p:spPr>
        <p:txBody>
          <a:bodyPr wrap="square" lIns="0" tIns="0" rIns="0" bIns="0" rtlCol="0" anchor="t"/>
          <a:lstStyle/>
          <a:p>
            <a:pPr algn="l" indent="0" marL="0">
              <a:lnSpc>
                <a:spcPts val="1105"/>
              </a:lnSpc>
              <a:spcAft>
                <a:spcPts val="100"/>
              </a:spcAft>
              <a:buNone/>
            </a:pPr>
            <a:r>
              <a:rPr lang="en-US" sz="850" dirty="0">
                <a:solidFill>
                  <a:srgbClr val="94A3B8"/>
                </a:solidFill>
                <a:latin typeface="Courier New" pitchFamily="34" charset="0"/>
                <a:ea typeface="Courier New" pitchFamily="34" charset="-122"/>
                <a:cs typeface="Courier New" pitchFamily="34" charset="-120"/>
              </a:rPr>
              <a:t>text: string (raw content)</a:t>
            </a:r>
            <a:endParaRPr lang="en-US" sz="850" dirty="0"/>
          </a:p>
        </p:txBody>
      </p:sp>
      <p:sp>
        <p:nvSpPr>
          <p:cNvPr id="21" name="Text 18"/>
          <p:cNvSpPr/>
          <p:nvPr/>
        </p:nvSpPr>
        <p:spPr>
          <a:xfrm>
            <a:off x="457200" y="4242346"/>
            <a:ext cx="1375618" cy="488454"/>
          </a:xfrm>
          <a:prstGeom prst="roundRect">
            <a:avLst>
              <a:gd name="adj" fmla="val 13000"/>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22" name="Text 19"/>
          <p:cNvSpPr/>
          <p:nvPr/>
        </p:nvSpPr>
        <p:spPr>
          <a:xfrm>
            <a:off x="543787" y="4315271"/>
            <a:ext cx="1202445" cy="214461"/>
          </a:xfrm>
          <a:prstGeom prst="rect">
            <a:avLst/>
          </a:prstGeom>
          <a:noFill/>
          <a:ln/>
        </p:spPr>
        <p:txBody>
          <a:bodyPr wrap="square" lIns="0" tIns="0" rIns="0" bIns="0" rtlCol="0" anchor="t"/>
          <a:lstStyle/>
          <a:p>
            <a:pPr algn="ctr" indent="0" marL="0">
              <a:lnSpc>
                <a:spcPts val="1690"/>
              </a:lnSpc>
              <a:buNone/>
            </a:pPr>
            <a:r>
              <a:rPr lang="en-US" sz="1300" b="1" dirty="0">
                <a:solidFill>
                  <a:srgbClr val="E2E8F0"/>
                </a:solidFill>
                <a:latin typeface="Arial" pitchFamily="34" charset="0"/>
                <a:ea typeface="Arial" pitchFamily="34" charset="-122"/>
                <a:cs typeface="Arial" pitchFamily="34" charset="-120"/>
              </a:rPr>
              <a:t>18K</a:t>
            </a:r>
            <a:endParaRPr lang="en-US" sz="1300" dirty="0"/>
          </a:p>
        </p:txBody>
      </p:sp>
      <p:sp>
        <p:nvSpPr>
          <p:cNvPr id="23" name="Text 20"/>
          <p:cNvSpPr/>
          <p:nvPr/>
        </p:nvSpPr>
        <p:spPr>
          <a:xfrm>
            <a:off x="543787" y="4542383"/>
            <a:ext cx="1202445" cy="115491"/>
          </a:xfrm>
          <a:prstGeom prst="rect">
            <a:avLst/>
          </a:prstGeom>
          <a:noFill/>
          <a:ln/>
        </p:spPr>
        <p:txBody>
          <a:bodyPr wrap="square" lIns="0" tIns="0" rIns="0" bIns="0" rtlCol="0" anchor="t"/>
          <a:lstStyle/>
          <a:p>
            <a:pPr algn="ctr" indent="0" marL="0">
              <a:lnSpc>
                <a:spcPts val="910"/>
              </a:lnSpc>
              <a:spcBef>
                <a:spcPts val="100"/>
              </a:spcBef>
              <a:buNone/>
            </a:pPr>
            <a:r>
              <a:rPr lang="en-US" sz="700" dirty="0">
                <a:solidFill>
                  <a:srgbClr val="94A3B8"/>
                </a:solidFill>
                <a:latin typeface="Arial" pitchFamily="34" charset="0"/>
                <a:ea typeface="Arial" pitchFamily="34" charset="-122"/>
                <a:cs typeface="Arial" pitchFamily="34" charset="-120"/>
              </a:rPr>
              <a:t>DOCUMENTS</a:t>
            </a:r>
            <a:endParaRPr lang="en-US" sz="700" dirty="0"/>
          </a:p>
        </p:txBody>
      </p:sp>
      <p:sp>
        <p:nvSpPr>
          <p:cNvPr id="24" name="Text 21"/>
          <p:cNvSpPr/>
          <p:nvPr/>
        </p:nvSpPr>
        <p:spPr>
          <a:xfrm>
            <a:off x="1909018" y="4242346"/>
            <a:ext cx="1375767" cy="488454"/>
          </a:xfrm>
          <a:prstGeom prst="roundRect">
            <a:avLst>
              <a:gd name="adj" fmla="val 13000"/>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25" name="Text 22"/>
          <p:cNvSpPr/>
          <p:nvPr/>
        </p:nvSpPr>
        <p:spPr>
          <a:xfrm>
            <a:off x="1995604" y="4315271"/>
            <a:ext cx="1202597" cy="214461"/>
          </a:xfrm>
          <a:prstGeom prst="rect">
            <a:avLst/>
          </a:prstGeom>
          <a:noFill/>
          <a:ln/>
        </p:spPr>
        <p:txBody>
          <a:bodyPr wrap="square" lIns="0" tIns="0" rIns="0" bIns="0" rtlCol="0" anchor="t"/>
          <a:lstStyle/>
          <a:p>
            <a:pPr algn="ctr" indent="0" marL="0">
              <a:lnSpc>
                <a:spcPts val="1690"/>
              </a:lnSpc>
              <a:buNone/>
            </a:pPr>
            <a:r>
              <a:rPr lang="en-US" sz="1300" b="1" dirty="0">
                <a:solidFill>
                  <a:srgbClr val="E2E8F0"/>
                </a:solidFill>
                <a:latin typeface="Arial" pitchFamily="34" charset="0"/>
                <a:ea typeface="Arial" pitchFamily="34" charset="-122"/>
                <a:cs typeface="Arial" pitchFamily="34" charset="-120"/>
              </a:rPr>
              <a:t>30.1</a:t>
            </a:r>
            <a:endParaRPr lang="en-US" sz="1300" dirty="0"/>
          </a:p>
        </p:txBody>
      </p:sp>
      <p:sp>
        <p:nvSpPr>
          <p:cNvPr id="26" name="Text 23"/>
          <p:cNvSpPr/>
          <p:nvPr/>
        </p:nvSpPr>
        <p:spPr>
          <a:xfrm>
            <a:off x="1995604" y="4542383"/>
            <a:ext cx="1202597" cy="115491"/>
          </a:xfrm>
          <a:prstGeom prst="rect">
            <a:avLst/>
          </a:prstGeom>
          <a:noFill/>
          <a:ln/>
        </p:spPr>
        <p:txBody>
          <a:bodyPr wrap="square" lIns="0" tIns="0" rIns="0" bIns="0" rtlCol="0" anchor="t"/>
          <a:lstStyle/>
          <a:p>
            <a:pPr algn="ctr" indent="0" marL="0">
              <a:lnSpc>
                <a:spcPts val="910"/>
              </a:lnSpc>
              <a:spcBef>
                <a:spcPts val="100"/>
              </a:spcBef>
              <a:buNone/>
            </a:pPr>
            <a:r>
              <a:rPr lang="en-US" sz="700" dirty="0">
                <a:solidFill>
                  <a:srgbClr val="94A3B8"/>
                </a:solidFill>
                <a:latin typeface="Arial" pitchFamily="34" charset="0"/>
                <a:ea typeface="Arial" pitchFamily="34" charset="-122"/>
                <a:cs typeface="Arial" pitchFamily="34" charset="-120"/>
              </a:rPr>
              <a:t>AVG SECTIONS/DOC</a:t>
            </a:r>
            <a:endParaRPr lang="en-US" sz="700" dirty="0"/>
          </a:p>
        </p:txBody>
      </p:sp>
      <p:sp>
        <p:nvSpPr>
          <p:cNvPr id="27" name="Text 24"/>
          <p:cNvSpPr/>
          <p:nvPr/>
        </p:nvSpPr>
        <p:spPr>
          <a:xfrm>
            <a:off x="3360986" y="4242346"/>
            <a:ext cx="1375767" cy="488454"/>
          </a:xfrm>
          <a:prstGeom prst="roundRect">
            <a:avLst>
              <a:gd name="adj" fmla="val 13000"/>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28" name="Text 25"/>
          <p:cNvSpPr/>
          <p:nvPr/>
        </p:nvSpPr>
        <p:spPr>
          <a:xfrm>
            <a:off x="3447571" y="4315271"/>
            <a:ext cx="1202597" cy="214461"/>
          </a:xfrm>
          <a:prstGeom prst="rect">
            <a:avLst/>
          </a:prstGeom>
          <a:noFill/>
          <a:ln/>
        </p:spPr>
        <p:txBody>
          <a:bodyPr wrap="square" lIns="0" tIns="0" rIns="0" bIns="0" rtlCol="0" anchor="t"/>
          <a:lstStyle/>
          <a:p>
            <a:pPr algn="ctr" indent="0" marL="0">
              <a:lnSpc>
                <a:spcPts val="1690"/>
              </a:lnSpc>
              <a:buNone/>
            </a:pPr>
            <a:r>
              <a:rPr lang="en-US" sz="1300" b="1" dirty="0">
                <a:solidFill>
                  <a:srgbClr val="E2E8F0"/>
                </a:solidFill>
                <a:latin typeface="Arial" pitchFamily="34" charset="0"/>
                <a:ea typeface="Arial" pitchFamily="34" charset="-122"/>
                <a:cs typeface="Arial" pitchFamily="34" charset="-120"/>
              </a:rPr>
              <a:t>542K</a:t>
            </a:r>
            <a:endParaRPr lang="en-US" sz="1300" dirty="0"/>
          </a:p>
        </p:txBody>
      </p:sp>
      <p:sp>
        <p:nvSpPr>
          <p:cNvPr id="29" name="Text 26"/>
          <p:cNvSpPr/>
          <p:nvPr/>
        </p:nvSpPr>
        <p:spPr>
          <a:xfrm>
            <a:off x="3447571" y="4542383"/>
            <a:ext cx="1202597" cy="115491"/>
          </a:xfrm>
          <a:prstGeom prst="rect">
            <a:avLst/>
          </a:prstGeom>
          <a:noFill/>
          <a:ln/>
        </p:spPr>
        <p:txBody>
          <a:bodyPr wrap="square" lIns="0" tIns="0" rIns="0" bIns="0" rtlCol="0" anchor="t"/>
          <a:lstStyle/>
          <a:p>
            <a:pPr algn="ctr" indent="0" marL="0">
              <a:lnSpc>
                <a:spcPts val="910"/>
              </a:lnSpc>
              <a:spcBef>
                <a:spcPts val="100"/>
              </a:spcBef>
              <a:buNone/>
            </a:pPr>
            <a:r>
              <a:rPr lang="en-US" sz="700" dirty="0">
                <a:solidFill>
                  <a:srgbClr val="94A3B8"/>
                </a:solidFill>
                <a:latin typeface="Arial" pitchFamily="34" charset="0"/>
                <a:ea typeface="Arial" pitchFamily="34" charset="-122"/>
                <a:cs typeface="Arial" pitchFamily="34" charset="-120"/>
              </a:rPr>
              <a:t>PARAGRAPHS</a:t>
            </a:r>
            <a:endParaRPr lang="en-US" sz="700" dirty="0"/>
          </a:p>
        </p:txBody>
      </p:sp>
      <p:sp>
        <p:nvSpPr>
          <p:cNvPr id="30" name="Text 27"/>
          <p:cNvSpPr/>
          <p:nvPr/>
        </p:nvSpPr>
        <p:spPr>
          <a:xfrm>
            <a:off x="4965353" y="701576"/>
            <a:ext cx="3795876" cy="140196"/>
          </a:xfrm>
          <a:prstGeom prst="rect">
            <a:avLst/>
          </a:prstGeom>
          <a:noFill/>
          <a:ln/>
        </p:spPr>
        <p:txBody>
          <a:bodyPr wrap="square" lIns="0" tIns="0" rIns="0" bIns="0" rtlCol="0" anchor="t"/>
          <a:lstStyle/>
          <a:p>
            <a:pPr algn="l" indent="0" marL="0">
              <a:lnSpc>
                <a:spcPts val="1105"/>
              </a:lnSpc>
              <a:spcAft>
                <a:spcPts val="400"/>
              </a:spcAft>
              <a:buNone/>
            </a:pPr>
            <a:r>
              <a:rPr lang="en-US" sz="850" dirty="0">
                <a:solidFill>
                  <a:srgbClr val="94A3B8"/>
                </a:solidFill>
                <a:latin typeface="Arial" pitchFamily="34" charset="0"/>
                <a:ea typeface="Arial" pitchFamily="34" charset="-122"/>
                <a:cs typeface="Arial" pitchFamily="34" charset="-120"/>
              </a:rPr>
              <a:t>EXAMPLE RECORD</a:t>
            </a:r>
            <a:endParaRPr lang="en-US" sz="850" dirty="0"/>
          </a:p>
        </p:txBody>
      </p:sp>
      <p:sp>
        <p:nvSpPr>
          <p:cNvPr id="31" name="Text 28"/>
          <p:cNvSpPr/>
          <p:nvPr/>
        </p:nvSpPr>
        <p:spPr>
          <a:xfrm>
            <a:off x="4965353" y="968722"/>
            <a:ext cx="3721447" cy="3783806"/>
          </a:xfrm>
          <a:prstGeom prst="roundRect">
            <a:avLst>
              <a:gd name="adj" fmla="val 2048"/>
            </a:avLst>
          </a:prstGeom>
          <a:solidFill>
            <a:srgbClr val="000000">
              <a:alpha val="30000"/>
            </a:srgbClr>
          </a:solidFill>
          <a:ln w="9525">
            <a:solidFill>
              <a:srgbClr val="FFFFFF"/>
            </a:solidFill>
          </a:ln>
        </p:spPr>
        <p:txBody>
          <a:bodyPr wrap="square" rtlCol="0" anchor="ctr"/>
          <a:lstStyle/>
          <a:p>
            <a:pPr indent="0" marL="0">
              <a:buNone/>
            </a:pPr>
            <a:endParaRPr lang="en-US" dirty="0"/>
          </a:p>
        </p:txBody>
      </p:sp>
      <p:sp>
        <p:nvSpPr>
          <p:cNvPr id="32" name="Text 29"/>
          <p:cNvSpPr/>
          <p:nvPr/>
        </p:nvSpPr>
        <p:spPr>
          <a:xfrm>
            <a:off x="5101828" y="1079748"/>
            <a:ext cx="3517466" cy="128588"/>
          </a:xfrm>
          <a:prstGeom prst="rect">
            <a:avLst/>
          </a:prstGeom>
          <a:noFill/>
          <a:ln/>
        </p:spPr>
        <p:txBody>
          <a:bodyPr wrap="square" lIns="0" tIns="0" rIns="0" bIns="0" rtlCol="0" anchor="t"/>
          <a:lstStyle/>
          <a:p>
            <a:pPr algn="l" indent="0" marL="0">
              <a:lnSpc>
                <a:spcPts val="1013"/>
              </a:lnSpc>
              <a:buNone/>
            </a:pPr>
            <a:r>
              <a:rPr lang="en-US" sz="750" i="1" dirty="0">
                <a:solidFill>
                  <a:srgbClr val="64748B"/>
                </a:solidFill>
                <a:latin typeface="Courier New" pitchFamily="34" charset="0"/>
                <a:ea typeface="Courier New" pitchFamily="34" charset="-122"/>
                <a:cs typeface="Courier New" pitchFamily="34" charset="-120"/>
              </a:rPr>
              <a:t>// One line in TRDataChallenge2023.txt</a:t>
            </a:r>
            <a:endParaRPr lang="en-US" sz="750" dirty="0"/>
          </a:p>
        </p:txBody>
      </p:sp>
      <p:sp>
        <p:nvSpPr>
          <p:cNvPr id="33" name="Text 30"/>
          <p:cNvSpPr/>
          <p:nvPr/>
        </p:nvSpPr>
        <p:spPr>
          <a:xfrm>
            <a:off x="5101828" y="1208336"/>
            <a:ext cx="3517466" cy="128588"/>
          </a:xfrm>
          <a:prstGeom prst="rect">
            <a:avLst/>
          </a:prstGeom>
          <a:noFill/>
          <a:ln/>
        </p:spPr>
        <p:txBody>
          <a:bodyPr wrap="square" lIns="0" tIns="0" rIns="0" bIns="0" rtlCol="0" anchor="t"/>
          <a:lstStyle/>
          <a:p>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a:t>
            </a:r>
            <a:endParaRPr lang="en-US" sz="750" dirty="0"/>
          </a:p>
        </p:txBody>
      </p:sp>
      <p:sp>
        <p:nvSpPr>
          <p:cNvPr id="34" name="Text 31"/>
          <p:cNvSpPr/>
          <p:nvPr/>
        </p:nvSpPr>
        <p:spPr>
          <a:xfrm>
            <a:off x="5101828" y="1336923"/>
            <a:ext cx="3517466" cy="128588"/>
          </a:xfrm>
          <a:prstGeom prst="rect">
            <a:avLst/>
          </a:prstGeom>
          <a:noFill/>
          <a:ln/>
        </p:spPr>
        <p:txBody>
          <a:bodyPr wrap="square" lIns="0" tIns="0" rIns="0" bIns="0" rtlCol="0" anchor="t"/>
          <a:lstStyle/>
          <a:p>
            <a:pPr algn="l" indent="0" marL="0">
              <a:lnSpc>
                <a:spcPts val="1013"/>
              </a:lnSpc>
              <a:buNone/>
            </a:pPr>
            <a:r>
              <a:rPr lang="en-US" sz="750" dirty="0">
                <a:solidFill>
                  <a:srgbClr val="00B4D8"/>
                </a:solidFill>
                <a:latin typeface="Courier New" pitchFamily="34" charset="0"/>
                <a:ea typeface="Courier New" pitchFamily="34" charset="-122"/>
                <a:cs typeface="Courier New" pitchFamily="34" charset="-120"/>
              </a:rPr>
              <a:t>"documentId"</a:t>
            </a:r>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 </a:t>
            </a:r>
            <a:pPr algn="l" indent="0" marL="0">
              <a:lnSpc>
                <a:spcPts val="1013"/>
              </a:lnSpc>
              <a:buNone/>
            </a:pPr>
            <a:r>
              <a:rPr lang="en-US" sz="750" dirty="0">
                <a:solidFill>
                  <a:srgbClr val="22C55E"/>
                </a:solidFill>
                <a:latin typeface="Courier New" pitchFamily="34" charset="0"/>
                <a:ea typeface="Courier New" pitchFamily="34" charset="-122"/>
                <a:cs typeface="Courier New" pitchFamily="34" charset="-120"/>
              </a:rPr>
              <a:t>"I4b8..."</a:t>
            </a:r>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a:t>
            </a:r>
            <a:endParaRPr lang="en-US" sz="750" dirty="0"/>
          </a:p>
        </p:txBody>
      </p:sp>
      <p:sp>
        <p:nvSpPr>
          <p:cNvPr id="35" name="Text 32"/>
          <p:cNvSpPr/>
          <p:nvPr/>
        </p:nvSpPr>
        <p:spPr>
          <a:xfrm>
            <a:off x="5101828" y="1465511"/>
            <a:ext cx="3517466" cy="128588"/>
          </a:xfrm>
          <a:prstGeom prst="rect">
            <a:avLst/>
          </a:prstGeom>
          <a:noFill/>
          <a:ln/>
        </p:spPr>
        <p:txBody>
          <a:bodyPr wrap="square" lIns="0" tIns="0" rIns="0" bIns="0" rtlCol="0" anchor="t"/>
          <a:lstStyle/>
          <a:p>
            <a:pPr algn="l" indent="0" marL="0">
              <a:lnSpc>
                <a:spcPts val="1013"/>
              </a:lnSpc>
              <a:buNone/>
            </a:pPr>
            <a:r>
              <a:rPr lang="en-US" sz="750" dirty="0">
                <a:solidFill>
                  <a:srgbClr val="00B4D8"/>
                </a:solidFill>
                <a:latin typeface="Courier New" pitchFamily="34" charset="0"/>
                <a:ea typeface="Courier New" pitchFamily="34" charset="-122"/>
                <a:cs typeface="Courier New" pitchFamily="34" charset="-120"/>
              </a:rPr>
              <a:t>"postures"</a:t>
            </a:r>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 [</a:t>
            </a:r>
            <a:endParaRPr lang="en-US" sz="750" dirty="0"/>
          </a:p>
        </p:txBody>
      </p:sp>
      <p:sp>
        <p:nvSpPr>
          <p:cNvPr id="36" name="Text 33"/>
          <p:cNvSpPr/>
          <p:nvPr/>
        </p:nvSpPr>
        <p:spPr>
          <a:xfrm>
            <a:off x="5101828" y="1594098"/>
            <a:ext cx="3517466" cy="128588"/>
          </a:xfrm>
          <a:prstGeom prst="rect">
            <a:avLst/>
          </a:prstGeom>
          <a:noFill/>
          <a:ln/>
        </p:spPr>
        <p:txBody>
          <a:bodyPr wrap="square" lIns="0" tIns="0" rIns="0" bIns="0" rtlCol="0" anchor="t"/>
          <a:lstStyle/>
          <a:p>
            <a:pPr algn="l" indent="0" marL="0">
              <a:lnSpc>
                <a:spcPts val="1013"/>
              </a:lnSpc>
              <a:buNone/>
            </a:pPr>
            <a:r>
              <a:rPr lang="en-US" sz="750" dirty="0">
                <a:solidFill>
                  <a:srgbClr val="22C55E"/>
                </a:solidFill>
                <a:latin typeface="Courier New" pitchFamily="34" charset="0"/>
                <a:ea typeface="Courier New" pitchFamily="34" charset="-122"/>
                <a:cs typeface="Courier New" pitchFamily="34" charset="-120"/>
              </a:rPr>
              <a:t>"On Appeal"</a:t>
            </a:r>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a:t>
            </a:r>
            <a:endParaRPr lang="en-US" sz="750" dirty="0"/>
          </a:p>
        </p:txBody>
      </p:sp>
      <p:sp>
        <p:nvSpPr>
          <p:cNvPr id="37" name="Text 34"/>
          <p:cNvSpPr/>
          <p:nvPr/>
        </p:nvSpPr>
        <p:spPr>
          <a:xfrm>
            <a:off x="5101828" y="1722686"/>
            <a:ext cx="3517466" cy="128588"/>
          </a:xfrm>
          <a:prstGeom prst="rect">
            <a:avLst/>
          </a:prstGeom>
          <a:noFill/>
          <a:ln/>
        </p:spPr>
        <p:txBody>
          <a:bodyPr wrap="square" lIns="0" tIns="0" rIns="0" bIns="0" rtlCol="0" anchor="t"/>
          <a:lstStyle/>
          <a:p>
            <a:pPr algn="l" indent="0" marL="0">
              <a:lnSpc>
                <a:spcPts val="1013"/>
              </a:lnSpc>
              <a:buNone/>
            </a:pPr>
            <a:r>
              <a:rPr lang="en-US" sz="750" dirty="0">
                <a:solidFill>
                  <a:srgbClr val="22C55E"/>
                </a:solidFill>
                <a:latin typeface="Courier New" pitchFamily="34" charset="0"/>
                <a:ea typeface="Courier New" pitchFamily="34" charset="-122"/>
                <a:cs typeface="Courier New" pitchFamily="34" charset="-120"/>
              </a:rPr>
              <a:t>"Appellate Review"</a:t>
            </a:r>
            <a:endParaRPr lang="en-US" sz="750" dirty="0"/>
          </a:p>
        </p:txBody>
      </p:sp>
      <p:sp>
        <p:nvSpPr>
          <p:cNvPr id="38" name="Text 35"/>
          <p:cNvSpPr/>
          <p:nvPr/>
        </p:nvSpPr>
        <p:spPr>
          <a:xfrm>
            <a:off x="5101828" y="1851273"/>
            <a:ext cx="3517466" cy="128588"/>
          </a:xfrm>
          <a:prstGeom prst="rect">
            <a:avLst/>
          </a:prstGeom>
          <a:noFill/>
          <a:ln/>
        </p:spPr>
        <p:txBody>
          <a:bodyPr wrap="square" lIns="0" tIns="0" rIns="0" bIns="0" rtlCol="0" anchor="t"/>
          <a:lstStyle/>
          <a:p>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a:t>
            </a:r>
            <a:endParaRPr lang="en-US" sz="750" dirty="0"/>
          </a:p>
        </p:txBody>
      </p:sp>
      <p:sp>
        <p:nvSpPr>
          <p:cNvPr id="39" name="Text 36"/>
          <p:cNvSpPr/>
          <p:nvPr/>
        </p:nvSpPr>
        <p:spPr>
          <a:xfrm>
            <a:off x="5101828" y="1979861"/>
            <a:ext cx="3517466" cy="128588"/>
          </a:xfrm>
          <a:prstGeom prst="rect">
            <a:avLst/>
          </a:prstGeom>
          <a:noFill/>
          <a:ln/>
        </p:spPr>
        <p:txBody>
          <a:bodyPr wrap="square" lIns="0" tIns="0" rIns="0" bIns="0" rtlCol="0" anchor="t"/>
          <a:lstStyle/>
          <a:p>
            <a:pPr algn="l" indent="0" marL="0">
              <a:lnSpc>
                <a:spcPts val="1013"/>
              </a:lnSpc>
              <a:buNone/>
            </a:pPr>
            <a:r>
              <a:rPr lang="en-US" sz="750" dirty="0">
                <a:solidFill>
                  <a:srgbClr val="00B4D8"/>
                </a:solidFill>
                <a:latin typeface="Courier New" pitchFamily="34" charset="0"/>
                <a:ea typeface="Courier New" pitchFamily="34" charset="-122"/>
                <a:cs typeface="Courier New" pitchFamily="34" charset="-120"/>
              </a:rPr>
              <a:t>"sections"</a:t>
            </a:r>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 [</a:t>
            </a:r>
            <a:endParaRPr lang="en-US" sz="750" dirty="0"/>
          </a:p>
        </p:txBody>
      </p:sp>
      <p:sp>
        <p:nvSpPr>
          <p:cNvPr id="40" name="Text 37"/>
          <p:cNvSpPr/>
          <p:nvPr/>
        </p:nvSpPr>
        <p:spPr>
          <a:xfrm>
            <a:off x="5101828" y="2108448"/>
            <a:ext cx="3517466" cy="128588"/>
          </a:xfrm>
          <a:prstGeom prst="rect">
            <a:avLst/>
          </a:prstGeom>
          <a:noFill/>
          <a:ln/>
        </p:spPr>
        <p:txBody>
          <a:bodyPr wrap="square" lIns="0" tIns="0" rIns="0" bIns="0" rtlCol="0" anchor="t"/>
          <a:lstStyle/>
          <a:p>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a:t>
            </a:r>
            <a:endParaRPr lang="en-US" sz="750" dirty="0"/>
          </a:p>
        </p:txBody>
      </p:sp>
      <p:sp>
        <p:nvSpPr>
          <p:cNvPr id="41" name="Text 38"/>
          <p:cNvSpPr/>
          <p:nvPr/>
        </p:nvSpPr>
        <p:spPr>
          <a:xfrm>
            <a:off x="5101828" y="2237036"/>
            <a:ext cx="3517466" cy="128588"/>
          </a:xfrm>
          <a:prstGeom prst="rect">
            <a:avLst/>
          </a:prstGeom>
          <a:noFill/>
          <a:ln/>
        </p:spPr>
        <p:txBody>
          <a:bodyPr wrap="square" lIns="0" tIns="0" rIns="0" bIns="0" rtlCol="0" anchor="t"/>
          <a:lstStyle/>
          <a:p>
            <a:pPr algn="l" indent="0" marL="0">
              <a:lnSpc>
                <a:spcPts val="1013"/>
              </a:lnSpc>
              <a:buNone/>
            </a:pPr>
            <a:r>
              <a:rPr lang="en-US" sz="750" dirty="0">
                <a:solidFill>
                  <a:srgbClr val="00B4D8"/>
                </a:solidFill>
                <a:latin typeface="Courier New" pitchFamily="34" charset="0"/>
                <a:ea typeface="Courier New" pitchFamily="34" charset="-122"/>
                <a:cs typeface="Courier New" pitchFamily="34" charset="-120"/>
              </a:rPr>
              <a:t>"headtext"</a:t>
            </a:r>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 </a:t>
            </a:r>
            <a:pPr algn="l" indent="0" marL="0">
              <a:lnSpc>
                <a:spcPts val="1013"/>
              </a:lnSpc>
              <a:buNone/>
            </a:pPr>
            <a:r>
              <a:rPr lang="en-US" sz="750" dirty="0">
                <a:solidFill>
                  <a:srgbClr val="22C55E"/>
                </a:solidFill>
                <a:latin typeface="Courier New" pitchFamily="34" charset="0"/>
                <a:ea typeface="Courier New" pitchFamily="34" charset="-122"/>
                <a:cs typeface="Courier New" pitchFamily="34" charset="-120"/>
              </a:rPr>
              <a:t>"I. Background"</a:t>
            </a:r>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a:t>
            </a:r>
            <a:endParaRPr lang="en-US" sz="750" dirty="0"/>
          </a:p>
        </p:txBody>
      </p:sp>
      <p:sp>
        <p:nvSpPr>
          <p:cNvPr id="42" name="Text 39"/>
          <p:cNvSpPr/>
          <p:nvPr/>
        </p:nvSpPr>
        <p:spPr>
          <a:xfrm>
            <a:off x="5101828" y="2365623"/>
            <a:ext cx="3517466" cy="128588"/>
          </a:xfrm>
          <a:prstGeom prst="rect">
            <a:avLst/>
          </a:prstGeom>
          <a:noFill/>
          <a:ln/>
        </p:spPr>
        <p:txBody>
          <a:bodyPr wrap="square" lIns="0" tIns="0" rIns="0" bIns="0" rtlCol="0" anchor="t"/>
          <a:lstStyle/>
          <a:p>
            <a:pPr algn="l" indent="0" marL="0">
              <a:lnSpc>
                <a:spcPts val="1013"/>
              </a:lnSpc>
              <a:buNone/>
            </a:pPr>
            <a:r>
              <a:rPr lang="en-US" sz="750" dirty="0">
                <a:solidFill>
                  <a:srgbClr val="00B4D8"/>
                </a:solidFill>
                <a:latin typeface="Courier New" pitchFamily="34" charset="0"/>
                <a:ea typeface="Courier New" pitchFamily="34" charset="-122"/>
                <a:cs typeface="Courier New" pitchFamily="34" charset="-120"/>
              </a:rPr>
              <a:t>"paragraphs"</a:t>
            </a:r>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 [</a:t>
            </a:r>
            <a:endParaRPr lang="en-US" sz="750" dirty="0"/>
          </a:p>
        </p:txBody>
      </p:sp>
      <p:sp>
        <p:nvSpPr>
          <p:cNvPr id="43" name="Text 40"/>
          <p:cNvSpPr/>
          <p:nvPr/>
        </p:nvSpPr>
        <p:spPr>
          <a:xfrm>
            <a:off x="5101828" y="2494211"/>
            <a:ext cx="3517466" cy="128588"/>
          </a:xfrm>
          <a:prstGeom prst="rect">
            <a:avLst/>
          </a:prstGeom>
          <a:noFill/>
          <a:ln/>
        </p:spPr>
        <p:txBody>
          <a:bodyPr wrap="square" lIns="0" tIns="0" rIns="0" bIns="0" rtlCol="0" anchor="t"/>
          <a:lstStyle/>
          <a:p>
            <a:pPr algn="l" indent="0" marL="0">
              <a:lnSpc>
                <a:spcPts val="1013"/>
              </a:lnSpc>
              <a:buNone/>
            </a:pPr>
            <a:r>
              <a:rPr lang="en-US" sz="750" dirty="0">
                <a:solidFill>
                  <a:srgbClr val="22C55E"/>
                </a:solidFill>
                <a:latin typeface="Courier New" pitchFamily="34" charset="0"/>
                <a:ea typeface="Courier New" pitchFamily="34" charset="-122"/>
                <a:cs typeface="Courier New" pitchFamily="34" charset="-120"/>
              </a:rPr>
              <a:t>"Plaintiff filed..."</a:t>
            </a:r>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a:t>
            </a:r>
            <a:endParaRPr lang="en-US" sz="750" dirty="0"/>
          </a:p>
        </p:txBody>
      </p:sp>
      <p:sp>
        <p:nvSpPr>
          <p:cNvPr id="44" name="Text 41"/>
          <p:cNvSpPr/>
          <p:nvPr/>
        </p:nvSpPr>
        <p:spPr>
          <a:xfrm>
            <a:off x="5101828" y="2622798"/>
            <a:ext cx="3517466" cy="128588"/>
          </a:xfrm>
          <a:prstGeom prst="rect">
            <a:avLst/>
          </a:prstGeom>
          <a:noFill/>
          <a:ln/>
        </p:spPr>
        <p:txBody>
          <a:bodyPr wrap="square" lIns="0" tIns="0" rIns="0" bIns="0" rtlCol="0" anchor="t"/>
          <a:lstStyle/>
          <a:p>
            <a:pPr algn="l" indent="0" marL="0">
              <a:lnSpc>
                <a:spcPts val="1013"/>
              </a:lnSpc>
              <a:buNone/>
            </a:pPr>
            <a:r>
              <a:rPr lang="en-US" sz="750" dirty="0">
                <a:solidFill>
                  <a:srgbClr val="22C55E"/>
                </a:solidFill>
                <a:latin typeface="Courier New" pitchFamily="34" charset="0"/>
                <a:ea typeface="Courier New" pitchFamily="34" charset="-122"/>
                <a:cs typeface="Courier New" pitchFamily="34" charset="-120"/>
              </a:rPr>
              <a:t>"The court finds..."</a:t>
            </a:r>
            <a:endParaRPr lang="en-US" sz="750" dirty="0"/>
          </a:p>
        </p:txBody>
      </p:sp>
      <p:sp>
        <p:nvSpPr>
          <p:cNvPr id="45" name="Text 42"/>
          <p:cNvSpPr/>
          <p:nvPr/>
        </p:nvSpPr>
        <p:spPr>
          <a:xfrm>
            <a:off x="5101828" y="2751386"/>
            <a:ext cx="3517466" cy="128588"/>
          </a:xfrm>
          <a:prstGeom prst="rect">
            <a:avLst/>
          </a:prstGeom>
          <a:noFill/>
          <a:ln/>
        </p:spPr>
        <p:txBody>
          <a:bodyPr wrap="square" lIns="0" tIns="0" rIns="0" bIns="0" rtlCol="0" anchor="t"/>
          <a:lstStyle/>
          <a:p>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a:t>
            </a:r>
            <a:endParaRPr lang="en-US" sz="750" dirty="0"/>
          </a:p>
        </p:txBody>
      </p:sp>
      <p:sp>
        <p:nvSpPr>
          <p:cNvPr id="46" name="Text 43"/>
          <p:cNvSpPr/>
          <p:nvPr/>
        </p:nvSpPr>
        <p:spPr>
          <a:xfrm>
            <a:off x="5101828" y="2879973"/>
            <a:ext cx="3517466" cy="128588"/>
          </a:xfrm>
          <a:prstGeom prst="rect">
            <a:avLst/>
          </a:prstGeom>
          <a:noFill/>
          <a:ln/>
        </p:spPr>
        <p:txBody>
          <a:bodyPr wrap="square" lIns="0" tIns="0" rIns="0" bIns="0" rtlCol="0" anchor="t"/>
          <a:lstStyle/>
          <a:p>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a:t>
            </a:r>
            <a:endParaRPr lang="en-US" sz="750" dirty="0"/>
          </a:p>
        </p:txBody>
      </p:sp>
      <p:sp>
        <p:nvSpPr>
          <p:cNvPr id="47" name="Text 44"/>
          <p:cNvSpPr/>
          <p:nvPr/>
        </p:nvSpPr>
        <p:spPr>
          <a:xfrm>
            <a:off x="5101828" y="3008561"/>
            <a:ext cx="3517466" cy="128588"/>
          </a:xfrm>
          <a:prstGeom prst="rect">
            <a:avLst/>
          </a:prstGeom>
          <a:noFill/>
          <a:ln/>
        </p:spPr>
        <p:txBody>
          <a:bodyPr wrap="square" lIns="0" tIns="0" rIns="0" bIns="0" rtlCol="0" anchor="t"/>
          <a:lstStyle/>
          <a:p>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 </a:t>
            </a:r>
            <a:pPr algn="l" indent="0" marL="0">
              <a:lnSpc>
                <a:spcPts val="1013"/>
              </a:lnSpc>
              <a:buNone/>
            </a:pPr>
            <a:r>
              <a:rPr lang="en-US" sz="750" dirty="0">
                <a:solidFill>
                  <a:srgbClr val="00B4D8"/>
                </a:solidFill>
                <a:latin typeface="Courier New" pitchFamily="34" charset="0"/>
                <a:ea typeface="Courier New" pitchFamily="34" charset="-122"/>
                <a:cs typeface="Courier New" pitchFamily="34" charset="-120"/>
              </a:rPr>
              <a:t>"headtext"</a:t>
            </a:r>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 </a:t>
            </a:r>
            <a:pPr algn="l" indent="0" marL="0">
              <a:lnSpc>
                <a:spcPts val="1013"/>
              </a:lnSpc>
              <a:buNone/>
            </a:pPr>
            <a:r>
              <a:rPr lang="en-US" sz="750" dirty="0">
                <a:solidFill>
                  <a:srgbClr val="22C55E"/>
                </a:solidFill>
                <a:latin typeface="Courier New" pitchFamily="34" charset="0"/>
                <a:ea typeface="Courier New" pitchFamily="34" charset="-122"/>
                <a:cs typeface="Courier New" pitchFamily="34" charset="-120"/>
              </a:rPr>
              <a:t>"II. Analysis"</a:t>
            </a:r>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 ... }</a:t>
            </a:r>
            <a:endParaRPr lang="en-US" sz="750" dirty="0"/>
          </a:p>
        </p:txBody>
      </p:sp>
      <p:sp>
        <p:nvSpPr>
          <p:cNvPr id="48" name="Text 45"/>
          <p:cNvSpPr/>
          <p:nvPr/>
        </p:nvSpPr>
        <p:spPr>
          <a:xfrm>
            <a:off x="5101828" y="3137148"/>
            <a:ext cx="3517466" cy="128588"/>
          </a:xfrm>
          <a:prstGeom prst="rect">
            <a:avLst/>
          </a:prstGeom>
          <a:noFill/>
          <a:ln/>
        </p:spPr>
        <p:txBody>
          <a:bodyPr wrap="square" lIns="0" tIns="0" rIns="0" bIns="0" rtlCol="0" anchor="t"/>
          <a:lstStyle/>
          <a:p>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a:t>
            </a:r>
            <a:endParaRPr lang="en-US" sz="750" dirty="0"/>
          </a:p>
        </p:txBody>
      </p:sp>
      <p:sp>
        <p:nvSpPr>
          <p:cNvPr id="49" name="Text 46"/>
          <p:cNvSpPr/>
          <p:nvPr/>
        </p:nvSpPr>
        <p:spPr>
          <a:xfrm>
            <a:off x="5101828" y="3265736"/>
            <a:ext cx="3517466" cy="128588"/>
          </a:xfrm>
          <a:prstGeom prst="rect">
            <a:avLst/>
          </a:prstGeom>
          <a:noFill/>
          <a:ln/>
        </p:spPr>
        <p:txBody>
          <a:bodyPr wrap="square" lIns="0" tIns="0" rIns="0" bIns="0" rtlCol="0" anchor="t"/>
          <a:lstStyle/>
          <a:p>
            <a:pPr algn="l" indent="0" marL="0">
              <a:lnSpc>
                <a:spcPts val="1013"/>
              </a:lnSpc>
              <a:buNone/>
            </a:pPr>
            <a:r>
              <a:rPr lang="en-US" sz="750" dirty="0">
                <a:solidFill>
                  <a:srgbClr val="CBD5E1"/>
                </a:solidFill>
                <a:latin typeface="Courier New" pitchFamily="34" charset="0"/>
                <a:ea typeface="Courier New" pitchFamily="34" charset="-122"/>
                <a:cs typeface="Courier New" pitchFamily="34" charset="-120"/>
              </a:rPr>
              <a:t>}</a:t>
            </a:r>
            <a:endParaRPr lang="en-US" sz="750" dirty="0"/>
          </a:p>
        </p:txBody>
      </p:sp>
      <p:sp>
        <p:nvSpPr>
          <p:cNvPr id="50" name="Text 47"/>
          <p:cNvSpPr/>
          <p:nvPr/>
        </p:nvSpPr>
        <p:spPr>
          <a:xfrm>
            <a:off x="4965353" y="4879479"/>
            <a:ext cx="3795876" cy="264021"/>
          </a:xfrm>
          <a:prstGeom prst="rect">
            <a:avLst/>
          </a:prstGeom>
          <a:noFill/>
          <a:ln/>
        </p:spPr>
        <p:txBody>
          <a:bodyPr wrap="square" lIns="0" tIns="0" rIns="0" bIns="0" rtlCol="0" anchor="t"/>
          <a:lstStyle/>
          <a:p>
            <a:pPr algn="l" indent="0" marL="0">
              <a:lnSpc>
                <a:spcPts val="1040"/>
              </a:lnSpc>
              <a:spcBef>
                <a:spcPts val="400"/>
              </a:spcBef>
              <a:buNone/>
            </a:pPr>
            <a:r>
              <a:rPr lang="en-US" sz="800" dirty="0">
                <a:solidFill>
                  <a:srgbClr val="94A3B8"/>
                </a:solidFill>
                <a:latin typeface="Arial" pitchFamily="34" charset="0"/>
                <a:ea typeface="Arial" pitchFamily="34" charset="-122"/>
                <a:cs typeface="Arial" pitchFamily="34" charset="-120"/>
              </a:rPr>
              <a:t>For modeling: sections and paragraphs are flattened into a single text string per document via </a:t>
            </a:r>
            <a:pPr algn="l" indent="0" marL="0">
              <a:lnSpc>
                <a:spcPts val="1040"/>
              </a:lnSpc>
              <a:spcBef>
                <a:spcPts val="400"/>
              </a:spcBef>
              <a:buNone/>
            </a:pPr>
            <a:r>
              <a:rPr lang="en-US" sz="800" b="1" dirty="0">
                <a:solidFill>
                  <a:srgbClr val="E2E8F0"/>
                </a:solidFill>
                <a:latin typeface="Arial" pitchFamily="34" charset="0"/>
                <a:ea typeface="Arial" pitchFamily="34" charset="-122"/>
                <a:cs typeface="Arial" pitchFamily="34" charset="-120"/>
              </a:rPr>
              <a:t>TextExtractor</a:t>
            </a:r>
            <a:pPr algn="l" indent="0" marL="0">
              <a:lnSpc>
                <a:spcPts val="1040"/>
              </a:lnSpc>
              <a:spcBef>
                <a:spcPts val="400"/>
              </a:spcBef>
              <a:buNone/>
            </a:pPr>
            <a:r>
              <a:rPr lang="en-US" sz="800" dirty="0">
                <a:solidFill>
                  <a:srgbClr val="94A3B8"/>
                </a:solidFill>
                <a:latin typeface="Arial" pitchFamily="34" charset="0"/>
                <a:ea typeface="Arial" pitchFamily="34" charset="-122"/>
                <a:cs typeface="Arial" pitchFamily="34" charset="-120"/>
              </a:rPr>
              <a: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355550"/>
            <a:ext cx="8394192" cy="323850"/>
          </a:xfrm>
          <a:prstGeom prst="rect">
            <a:avLst/>
          </a:prstGeom>
          <a:noFill/>
          <a:ln/>
        </p:spPr>
        <p:txBody>
          <a:bodyPr wrap="square" lIns="0" tIns="0" rIns="0" bIns="0" rtlCol="0" anchor="t"/>
          <a:lstStyle/>
          <a:p>
            <a:pPr algn="l" indent="0" marL="0">
              <a:buNone/>
            </a:pPr>
            <a:r>
              <a:rPr lang="en-US" sz="2200" b="1" dirty="0">
                <a:solidFill>
                  <a:srgbClr val="00B4D8"/>
                </a:solidFill>
                <a:latin typeface="Arial" pitchFamily="34" charset="0"/>
                <a:ea typeface="Arial" pitchFamily="34" charset="-122"/>
                <a:cs typeface="Arial" pitchFamily="34" charset="-120"/>
              </a:rPr>
              <a:t>Label Distribution Challenge</a:t>
            </a:r>
            <a:endParaRPr lang="en-US" sz="2200" dirty="0"/>
          </a:p>
        </p:txBody>
      </p:sp>
      <p:sp>
        <p:nvSpPr>
          <p:cNvPr id="4" name="Text 1"/>
          <p:cNvSpPr/>
          <p:nvPr/>
        </p:nvSpPr>
        <p:spPr>
          <a:xfrm>
            <a:off x="457200" y="882551"/>
            <a:ext cx="4386709" cy="694432"/>
          </a:xfrm>
          <a:prstGeom prst="roundRect">
            <a:avLst>
              <a:gd name="adj" fmla="val 10973"/>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5" name="Text 2"/>
          <p:cNvSpPr/>
          <p:nvPr/>
        </p:nvSpPr>
        <p:spPr>
          <a:xfrm>
            <a:off x="644426" y="1166217"/>
            <a:ext cx="126950" cy="126950"/>
          </a:xfrm>
          <a:prstGeom prst="roundRect">
            <a:avLst>
              <a:gd name="adj" fmla="val 720284"/>
            </a:avLst>
          </a:prstGeom>
          <a:solidFill>
            <a:srgbClr val="22C55E"/>
          </a:solidFill>
          <a:ln/>
        </p:spPr>
        <p:txBody>
          <a:bodyPr wrap="square" rtlCol="0" anchor="ctr"/>
          <a:lstStyle/>
          <a:p>
            <a:pPr indent="0" marL="0">
              <a:buNone/>
            </a:pPr>
            <a:endParaRPr lang="en-US" dirty="0"/>
          </a:p>
        </p:txBody>
      </p:sp>
      <p:sp>
        <p:nvSpPr>
          <p:cNvPr id="6" name="Text 3"/>
          <p:cNvSpPr/>
          <p:nvPr/>
        </p:nvSpPr>
        <p:spPr>
          <a:xfrm>
            <a:off x="898327" y="1043136"/>
            <a:ext cx="3341373" cy="195560"/>
          </a:xfrm>
          <a:prstGeom prst="rect">
            <a:avLst/>
          </a:prstGeom>
          <a:noFill/>
          <a:ln/>
        </p:spPr>
        <p:txBody>
          <a:bodyPr wrap="square" lIns="0" tIns="0" rIns="0" bIns="0" rtlCol="0" anchor="t"/>
          <a:lstStyle/>
          <a:p>
            <a:pPr algn="l" indent="0" marL="0">
              <a:lnSpc>
                <a:spcPts val="1540"/>
              </a:lnSpc>
              <a:buNone/>
            </a:pPr>
            <a:r>
              <a:rPr lang="en-US" sz="1100" b="1" dirty="0">
                <a:solidFill>
                  <a:srgbClr val="E2E8F0"/>
                </a:solidFill>
                <a:latin typeface="Arial" pitchFamily="34" charset="0"/>
                <a:ea typeface="Arial" pitchFamily="34" charset="-122"/>
                <a:cs typeface="Arial" pitchFamily="34" charset="-120"/>
              </a:rPr>
              <a:t>Common (&gt;=100 samples)</a:t>
            </a:r>
            <a:endParaRPr lang="en-US" sz="1100" dirty="0"/>
          </a:p>
        </p:txBody>
      </p:sp>
      <p:sp>
        <p:nvSpPr>
          <p:cNvPr id="7" name="Text 4"/>
          <p:cNvSpPr/>
          <p:nvPr/>
        </p:nvSpPr>
        <p:spPr>
          <a:xfrm>
            <a:off x="898327" y="1238696"/>
            <a:ext cx="3341373" cy="177701"/>
          </a:xfrm>
          <a:prstGeom prst="rect">
            <a:avLst/>
          </a:prstGeom>
          <a:noFill/>
          <a:ln/>
        </p:spPr>
        <p:txBody>
          <a:bodyPr wrap="square" lIns="0" tIns="0" rIns="0" bIns="0" rtlCol="0" anchor="t"/>
          <a:lstStyle/>
          <a:p>
            <a:pPr algn="l" indent="0" marL="0">
              <a:lnSpc>
                <a:spcPts val="1400"/>
              </a:lnSpc>
              <a:buNone/>
            </a:pPr>
            <a:r>
              <a:rPr lang="en-US" sz="1000" dirty="0">
                <a:solidFill>
                  <a:srgbClr val="E2E8F0"/>
                </a:solidFill>
                <a:latin typeface="Arial" pitchFamily="34" charset="0"/>
                <a:ea typeface="Arial" pitchFamily="34" charset="-122"/>
                <a:cs typeface="Arial" pitchFamily="34" charset="-120"/>
              </a:rPr>
              <a:t>91.5% label coverage</a:t>
            </a:r>
            <a:endParaRPr lang="en-US" sz="1000" dirty="0"/>
          </a:p>
        </p:txBody>
      </p:sp>
      <p:sp>
        <p:nvSpPr>
          <p:cNvPr id="8" name="Text 5"/>
          <p:cNvSpPr/>
          <p:nvPr/>
        </p:nvSpPr>
        <p:spPr>
          <a:xfrm>
            <a:off x="4268063" y="1019026"/>
            <a:ext cx="388620" cy="319980"/>
          </a:xfrm>
          <a:prstGeom prst="rect">
            <a:avLst/>
          </a:prstGeom>
          <a:noFill/>
          <a:ln/>
        </p:spPr>
        <p:txBody>
          <a:bodyPr wrap="square" lIns="0" tIns="0" rIns="0" bIns="0" rtlCol="0" anchor="t"/>
          <a:lstStyle/>
          <a:p>
            <a:pPr algn="r" indent="0" marL="0">
              <a:lnSpc>
                <a:spcPts val="2520"/>
              </a:lnSpc>
              <a:spcAft>
                <a:spcPts val="800"/>
              </a:spcAft>
              <a:buNone/>
            </a:pPr>
            <a:r>
              <a:rPr lang="en-US" sz="1800" b="1" dirty="0">
                <a:solidFill>
                  <a:srgbClr val="00B4D8"/>
                </a:solidFill>
                <a:latin typeface="Arial" pitchFamily="34" charset="0"/>
                <a:ea typeface="Arial" pitchFamily="34" charset="-122"/>
                <a:cs typeface="Arial" pitchFamily="34" charset="-120"/>
              </a:rPr>
              <a:t>27</a:t>
            </a:r>
            <a:endParaRPr lang="en-US" sz="1800" dirty="0"/>
          </a:p>
        </p:txBody>
      </p:sp>
      <p:sp>
        <p:nvSpPr>
          <p:cNvPr id="9" name="Text 6"/>
          <p:cNvSpPr/>
          <p:nvPr/>
        </p:nvSpPr>
        <p:spPr>
          <a:xfrm>
            <a:off x="457200" y="1703933"/>
            <a:ext cx="4386709" cy="694432"/>
          </a:xfrm>
          <a:prstGeom prst="roundRect">
            <a:avLst>
              <a:gd name="adj" fmla="val 10973"/>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10" name="Text 7"/>
          <p:cNvSpPr/>
          <p:nvPr/>
        </p:nvSpPr>
        <p:spPr>
          <a:xfrm>
            <a:off x="644426" y="1987600"/>
            <a:ext cx="126950" cy="126950"/>
          </a:xfrm>
          <a:prstGeom prst="roundRect">
            <a:avLst>
              <a:gd name="adj" fmla="val 720284"/>
            </a:avLst>
          </a:prstGeom>
          <a:solidFill>
            <a:srgbClr val="EAB308"/>
          </a:solidFill>
          <a:ln/>
        </p:spPr>
        <p:txBody>
          <a:bodyPr wrap="square" rtlCol="0" anchor="ctr"/>
          <a:lstStyle/>
          <a:p>
            <a:pPr indent="0" marL="0">
              <a:buNone/>
            </a:pPr>
            <a:endParaRPr lang="en-US" dirty="0"/>
          </a:p>
        </p:txBody>
      </p:sp>
      <p:sp>
        <p:nvSpPr>
          <p:cNvPr id="11" name="Text 8"/>
          <p:cNvSpPr/>
          <p:nvPr/>
        </p:nvSpPr>
        <p:spPr>
          <a:xfrm>
            <a:off x="898327" y="1864519"/>
            <a:ext cx="3341373" cy="195560"/>
          </a:xfrm>
          <a:prstGeom prst="rect">
            <a:avLst/>
          </a:prstGeom>
          <a:noFill/>
          <a:ln/>
        </p:spPr>
        <p:txBody>
          <a:bodyPr wrap="square" lIns="0" tIns="0" rIns="0" bIns="0" rtlCol="0" anchor="t"/>
          <a:lstStyle/>
          <a:p>
            <a:pPr algn="l" indent="0" marL="0">
              <a:lnSpc>
                <a:spcPts val="1540"/>
              </a:lnSpc>
              <a:buNone/>
            </a:pPr>
            <a:r>
              <a:rPr lang="en-US" sz="1100" b="1" dirty="0">
                <a:solidFill>
                  <a:srgbClr val="E2E8F0"/>
                </a:solidFill>
                <a:latin typeface="Arial" pitchFamily="34" charset="0"/>
                <a:ea typeface="Arial" pitchFamily="34" charset="-122"/>
                <a:cs typeface="Arial" pitchFamily="34" charset="-120"/>
              </a:rPr>
              <a:t>Moderate (10-99 samples)</a:t>
            </a:r>
            <a:endParaRPr lang="en-US" sz="1100" dirty="0"/>
          </a:p>
        </p:txBody>
      </p:sp>
      <p:sp>
        <p:nvSpPr>
          <p:cNvPr id="12" name="Text 9"/>
          <p:cNvSpPr/>
          <p:nvPr/>
        </p:nvSpPr>
        <p:spPr>
          <a:xfrm>
            <a:off x="898327" y="2060079"/>
            <a:ext cx="3341373" cy="177701"/>
          </a:xfrm>
          <a:prstGeom prst="rect">
            <a:avLst/>
          </a:prstGeom>
          <a:noFill/>
          <a:ln/>
        </p:spPr>
        <p:txBody>
          <a:bodyPr wrap="square" lIns="0" tIns="0" rIns="0" bIns="0" rtlCol="0" anchor="t"/>
          <a:lstStyle/>
          <a:p>
            <a:pPr algn="l" indent="0" marL="0">
              <a:lnSpc>
                <a:spcPts val="1400"/>
              </a:lnSpc>
              <a:buNone/>
            </a:pPr>
            <a:r>
              <a:rPr lang="en-US" sz="1000" dirty="0">
                <a:solidFill>
                  <a:srgbClr val="E2E8F0"/>
                </a:solidFill>
                <a:latin typeface="Arial" pitchFamily="34" charset="0"/>
                <a:ea typeface="Arial" pitchFamily="34" charset="-122"/>
                <a:cs typeface="Arial" pitchFamily="34" charset="-120"/>
              </a:rPr>
              <a:t>Additional 3.3% coverage</a:t>
            </a:r>
            <a:endParaRPr lang="en-US" sz="1000" dirty="0"/>
          </a:p>
        </p:txBody>
      </p:sp>
      <p:sp>
        <p:nvSpPr>
          <p:cNvPr id="13" name="Text 10"/>
          <p:cNvSpPr/>
          <p:nvPr/>
        </p:nvSpPr>
        <p:spPr>
          <a:xfrm>
            <a:off x="4268063" y="1840409"/>
            <a:ext cx="388620" cy="319980"/>
          </a:xfrm>
          <a:prstGeom prst="rect">
            <a:avLst/>
          </a:prstGeom>
          <a:noFill/>
          <a:ln/>
        </p:spPr>
        <p:txBody>
          <a:bodyPr wrap="square" lIns="0" tIns="0" rIns="0" bIns="0" rtlCol="0" anchor="t"/>
          <a:lstStyle/>
          <a:p>
            <a:pPr algn="r" indent="0" marL="0">
              <a:lnSpc>
                <a:spcPts val="2520"/>
              </a:lnSpc>
              <a:spcAft>
                <a:spcPts val="800"/>
              </a:spcAft>
              <a:buNone/>
            </a:pPr>
            <a:r>
              <a:rPr lang="en-US" sz="1800" b="1" dirty="0">
                <a:solidFill>
                  <a:srgbClr val="00B4D8"/>
                </a:solidFill>
                <a:latin typeface="Arial" pitchFamily="34" charset="0"/>
                <a:ea typeface="Arial" pitchFamily="34" charset="-122"/>
                <a:cs typeface="Arial" pitchFamily="34" charset="-120"/>
              </a:rPr>
              <a:t>57</a:t>
            </a:r>
            <a:endParaRPr lang="en-US" sz="1800" dirty="0"/>
          </a:p>
        </p:txBody>
      </p:sp>
      <p:sp>
        <p:nvSpPr>
          <p:cNvPr id="14" name="Text 11"/>
          <p:cNvSpPr/>
          <p:nvPr/>
        </p:nvSpPr>
        <p:spPr>
          <a:xfrm>
            <a:off x="457200" y="2525316"/>
            <a:ext cx="4386709" cy="694432"/>
          </a:xfrm>
          <a:prstGeom prst="roundRect">
            <a:avLst>
              <a:gd name="adj" fmla="val 10973"/>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15" name="Text 12"/>
          <p:cNvSpPr/>
          <p:nvPr/>
        </p:nvSpPr>
        <p:spPr>
          <a:xfrm>
            <a:off x="644426" y="2808982"/>
            <a:ext cx="126950" cy="126950"/>
          </a:xfrm>
          <a:prstGeom prst="roundRect">
            <a:avLst>
              <a:gd name="adj" fmla="val 720284"/>
            </a:avLst>
          </a:prstGeom>
          <a:solidFill>
            <a:srgbClr val="EF4444"/>
          </a:solidFill>
          <a:ln/>
        </p:spPr>
        <p:txBody>
          <a:bodyPr wrap="square" rtlCol="0" anchor="ctr"/>
          <a:lstStyle/>
          <a:p>
            <a:pPr indent="0" marL="0">
              <a:buNone/>
            </a:pPr>
            <a:endParaRPr lang="en-US" dirty="0"/>
          </a:p>
        </p:txBody>
      </p:sp>
      <p:sp>
        <p:nvSpPr>
          <p:cNvPr id="16" name="Text 13"/>
          <p:cNvSpPr/>
          <p:nvPr/>
        </p:nvSpPr>
        <p:spPr>
          <a:xfrm>
            <a:off x="898327" y="2685901"/>
            <a:ext cx="3340918" cy="195560"/>
          </a:xfrm>
          <a:prstGeom prst="rect">
            <a:avLst/>
          </a:prstGeom>
          <a:noFill/>
          <a:ln/>
        </p:spPr>
        <p:txBody>
          <a:bodyPr wrap="square" lIns="0" tIns="0" rIns="0" bIns="0" rtlCol="0" anchor="t"/>
          <a:lstStyle/>
          <a:p>
            <a:pPr algn="l" indent="0" marL="0">
              <a:lnSpc>
                <a:spcPts val="1540"/>
              </a:lnSpc>
              <a:buNone/>
            </a:pPr>
            <a:r>
              <a:rPr lang="en-US" sz="1100" b="1" dirty="0">
                <a:solidFill>
                  <a:srgbClr val="E2E8F0"/>
                </a:solidFill>
                <a:latin typeface="Arial" pitchFamily="34" charset="0"/>
                <a:ea typeface="Arial" pitchFamily="34" charset="-122"/>
                <a:cs typeface="Arial" pitchFamily="34" charset="-120"/>
              </a:rPr>
              <a:t>Rare (&lt;10 samples)</a:t>
            </a:r>
            <a:endParaRPr lang="en-US" sz="1100" dirty="0"/>
          </a:p>
        </p:txBody>
      </p:sp>
      <p:sp>
        <p:nvSpPr>
          <p:cNvPr id="17" name="Text 14"/>
          <p:cNvSpPr/>
          <p:nvPr/>
        </p:nvSpPr>
        <p:spPr>
          <a:xfrm>
            <a:off x="898327" y="2881461"/>
            <a:ext cx="3340918" cy="177701"/>
          </a:xfrm>
          <a:prstGeom prst="rect">
            <a:avLst/>
          </a:prstGeom>
          <a:noFill/>
          <a:ln/>
        </p:spPr>
        <p:txBody>
          <a:bodyPr wrap="square" lIns="0" tIns="0" rIns="0" bIns="0" rtlCol="0" anchor="t"/>
          <a:lstStyle/>
          <a:p>
            <a:pPr algn="l" indent="0" marL="0">
              <a:lnSpc>
                <a:spcPts val="1400"/>
              </a:lnSpc>
              <a:buNone/>
            </a:pPr>
            <a:r>
              <a:rPr lang="en-US" sz="1000" dirty="0">
                <a:solidFill>
                  <a:srgbClr val="E2E8F0"/>
                </a:solidFill>
                <a:latin typeface="Arial" pitchFamily="34" charset="0"/>
                <a:ea typeface="Arial" pitchFamily="34" charset="-122"/>
                <a:cs typeface="Arial" pitchFamily="34" charset="-120"/>
              </a:rPr>
              <a:t>44 singletons, long tail</a:t>
            </a:r>
            <a:endParaRPr lang="en-US" sz="1000" dirty="0"/>
          </a:p>
        </p:txBody>
      </p:sp>
      <p:sp>
        <p:nvSpPr>
          <p:cNvPr id="18" name="Text 15"/>
          <p:cNvSpPr/>
          <p:nvPr/>
        </p:nvSpPr>
        <p:spPr>
          <a:xfrm>
            <a:off x="4267608" y="2661791"/>
            <a:ext cx="389075" cy="319980"/>
          </a:xfrm>
          <a:prstGeom prst="rect">
            <a:avLst/>
          </a:prstGeom>
          <a:noFill/>
          <a:ln/>
        </p:spPr>
        <p:txBody>
          <a:bodyPr wrap="square" lIns="0" tIns="0" rIns="0" bIns="0" rtlCol="0" anchor="t"/>
          <a:lstStyle/>
          <a:p>
            <a:pPr algn="r" indent="0" marL="0">
              <a:lnSpc>
                <a:spcPts val="2520"/>
              </a:lnSpc>
              <a:spcAft>
                <a:spcPts val="800"/>
              </a:spcAft>
              <a:buNone/>
            </a:pPr>
            <a:r>
              <a:rPr lang="en-US" sz="1800" b="1" dirty="0">
                <a:solidFill>
                  <a:srgbClr val="00B4D8"/>
                </a:solidFill>
                <a:latin typeface="Arial" pitchFamily="34" charset="0"/>
                <a:ea typeface="Arial" pitchFamily="34" charset="-122"/>
                <a:cs typeface="Arial" pitchFamily="34" charset="-120"/>
              </a:rPr>
              <a:t>140</a:t>
            </a:r>
            <a:endParaRPr lang="en-US" sz="1800" dirty="0"/>
          </a:p>
        </p:txBody>
      </p:sp>
      <p:sp>
        <p:nvSpPr>
          <p:cNvPr id="19" name="Text 16"/>
          <p:cNvSpPr/>
          <p:nvPr/>
        </p:nvSpPr>
        <p:spPr>
          <a:xfrm>
            <a:off x="457200" y="3346698"/>
            <a:ext cx="4386709" cy="729853"/>
          </a:xfrm>
          <a:prstGeom prst="roundRect">
            <a:avLst>
              <a:gd name="adj" fmla="val 10440"/>
            </a:avLst>
          </a:prstGeom>
          <a:solidFill>
            <a:srgbClr val="00B4D8">
              <a:alpha val="8000"/>
            </a:srgbClr>
          </a:solidFill>
          <a:ln w="9525">
            <a:solidFill>
              <a:srgbClr val="00B4D8"/>
            </a:solidFill>
          </a:ln>
        </p:spPr>
        <p:txBody>
          <a:bodyPr wrap="square" rtlCol="0" anchor="ctr"/>
          <a:lstStyle/>
          <a:p>
            <a:pPr indent="0" marL="0">
              <a:buNone/>
            </a:pPr>
            <a:endParaRPr lang="en-US" dirty="0"/>
          </a:p>
        </p:txBody>
      </p:sp>
      <p:sp>
        <p:nvSpPr>
          <p:cNvPr id="20" name="Text 17"/>
          <p:cNvSpPr/>
          <p:nvPr/>
        </p:nvSpPr>
        <p:spPr>
          <a:xfrm>
            <a:off x="644426" y="3483173"/>
            <a:ext cx="4092503" cy="177701"/>
          </a:xfrm>
          <a:prstGeom prst="rect">
            <a:avLst/>
          </a:prstGeom>
          <a:noFill/>
          <a:ln/>
        </p:spPr>
        <p:txBody>
          <a:bodyPr wrap="square" lIns="0" tIns="0" rIns="0" bIns="0" rtlCol="0" anchor="t"/>
          <a:lstStyle/>
          <a:p>
            <a:pPr algn="l" indent="0" marL="0">
              <a:lnSpc>
                <a:spcPts val="1400"/>
              </a:lnSpc>
              <a:spcAft>
                <a:spcPts val="400"/>
              </a:spcAft>
              <a:buNone/>
            </a:pPr>
            <a:r>
              <a:rPr lang="en-US" sz="1000" b="1" dirty="0">
                <a:solidFill>
                  <a:srgbClr val="E2E8F0"/>
                </a:solidFill>
                <a:latin typeface="Arial" pitchFamily="34" charset="0"/>
                <a:ea typeface="Arial" pitchFamily="34" charset="-122"/>
                <a:cs typeface="Arial" pitchFamily="34" charset="-120"/>
              </a:rPr>
              <a:t>Modeling decision:</a:t>
            </a:r>
            <a:pPr algn="l" indent="0" marL="0">
              <a:lnSpc>
                <a:spcPts val="1400"/>
              </a:lnSpc>
              <a:spcAft>
                <a:spcPts val="400"/>
              </a:spcAft>
              <a:buNone/>
            </a:pPr>
            <a:r>
              <a:rPr lang="en-US" sz="1000" dirty="0">
                <a:solidFill>
                  <a:srgbClr val="E2E8F0"/>
                </a:solidFill>
                <a:latin typeface="Arial" pitchFamily="34" charset="0"/>
                <a:ea typeface="Arial" pitchFamily="34" charset="-122"/>
                <a:cs typeface="Arial" pitchFamily="34" charset="-120"/>
              </a:rPr>
              <a:t> Filter to 41 labels with &gt;=50 samples</a:t>
            </a:r>
            <a:endParaRPr lang="en-US" sz="1000" dirty="0"/>
          </a:p>
        </p:txBody>
      </p:sp>
      <p:sp>
        <p:nvSpPr>
          <p:cNvPr id="21" name="Text 18"/>
          <p:cNvSpPr/>
          <p:nvPr/>
        </p:nvSpPr>
        <p:spPr>
          <a:xfrm>
            <a:off x="644426" y="3711625"/>
            <a:ext cx="4092503" cy="177701"/>
          </a:xfrm>
          <a:prstGeom prst="rect">
            <a:avLst/>
          </a:prstGeom>
          <a:noFill/>
          <a:ln/>
        </p:spPr>
        <p:txBody>
          <a:bodyPr wrap="square" lIns="0" tIns="0" rIns="0" bIns="0" rtlCol="0" anchor="t"/>
          <a:lstStyle/>
          <a:p>
            <a:pPr algn="l" indent="0" marL="0">
              <a:lnSpc>
                <a:spcPts val="1400"/>
              </a:lnSpc>
              <a:spcAft>
                <a:spcPts val="400"/>
              </a:spcAft>
              <a:buNone/>
            </a:pPr>
            <a:r>
              <a:rPr lang="en-US" sz="1000" dirty="0">
                <a:solidFill>
                  <a:srgbClr val="E2E8F0"/>
                </a:solidFill>
                <a:latin typeface="Arial" pitchFamily="34" charset="0"/>
                <a:ea typeface="Arial" pitchFamily="34" charset="-122"/>
                <a:cs typeface="Arial" pitchFamily="34" charset="-120"/>
              </a:rPr>
              <a:t>Covers </a:t>
            </a:r>
            <a:pPr algn="l" indent="0" marL="0">
              <a:lnSpc>
                <a:spcPts val="1400"/>
              </a:lnSpc>
              <a:spcAft>
                <a:spcPts val="400"/>
              </a:spcAft>
              <a:buNone/>
            </a:pPr>
            <a:r>
              <a:rPr lang="en-US" sz="1000" b="1" dirty="0">
                <a:solidFill>
                  <a:srgbClr val="E2E8F0"/>
                </a:solidFill>
                <a:latin typeface="Arial" pitchFamily="34" charset="0"/>
                <a:ea typeface="Arial" pitchFamily="34" charset="-122"/>
                <a:cs typeface="Arial" pitchFamily="34" charset="-120"/>
              </a:rPr>
              <a:t>94.8%</a:t>
            </a:r>
            <a:pPr algn="l" indent="0" marL="0">
              <a:lnSpc>
                <a:spcPts val="1400"/>
              </a:lnSpc>
              <a:spcAft>
                <a:spcPts val="400"/>
              </a:spcAft>
              <a:buNone/>
            </a:pPr>
            <a:r>
              <a:rPr lang="en-US" sz="1000" dirty="0">
                <a:solidFill>
                  <a:srgbClr val="E2E8F0"/>
                </a:solidFill>
                <a:latin typeface="Arial" pitchFamily="34" charset="0"/>
                <a:ea typeface="Arial" pitchFamily="34" charset="-122"/>
                <a:cs typeface="Arial" pitchFamily="34" charset="-120"/>
              </a:rPr>
              <a:t> of all label assignments</a:t>
            </a:r>
            <a:endParaRPr lang="en-US" sz="1000" dirty="0"/>
          </a:p>
        </p:txBody>
      </p:sp>
      <p:sp>
        <p:nvSpPr>
          <p:cNvPr id="22" name="Text 19"/>
          <p:cNvSpPr/>
          <p:nvPr/>
        </p:nvSpPr>
        <p:spPr>
          <a:xfrm>
            <a:off x="5097810" y="882551"/>
            <a:ext cx="3588990" cy="609302"/>
          </a:xfrm>
          <a:prstGeom prst="rect">
            <a:avLst/>
          </a:prstGeom>
          <a:solidFill>
            <a:srgbClr val="E76F51">
              <a:alpha val="10000"/>
            </a:srgbClr>
          </a:solidFill>
          <a:ln/>
        </p:spPr>
        <p:txBody>
          <a:bodyPr wrap="square" rtlCol="0" anchor="ctr"/>
          <a:lstStyle/>
          <a:p>
            <a:pPr indent="0" marL="0">
              <a:buNone/>
            </a:pPr>
            <a:endParaRPr lang="en-US" dirty="0"/>
          </a:p>
        </p:txBody>
      </p:sp>
      <p:sp>
        <p:nvSpPr>
          <p:cNvPr id="23" name="Shape 20"/>
          <p:cNvSpPr/>
          <p:nvPr/>
        </p:nvSpPr>
        <p:spPr>
          <a:xfrm>
            <a:off x="5121622" y="882551"/>
            <a:ext cx="0" cy="609302"/>
          </a:xfrm>
          <a:prstGeom prst="line">
            <a:avLst/>
          </a:prstGeom>
          <a:noFill/>
          <a:ln w="47625">
            <a:solidFill>
              <a:srgbClr val="E76F51"/>
            </a:solidFill>
            <a:prstDash val="solid"/>
          </a:ln>
        </p:spPr>
      </p:sp>
      <p:sp>
        <p:nvSpPr>
          <p:cNvPr id="24" name="Text 21"/>
          <p:cNvSpPr/>
          <p:nvPr/>
        </p:nvSpPr>
        <p:spPr>
          <a:xfrm>
            <a:off x="5323136" y="1009501"/>
            <a:ext cx="3249683" cy="177701"/>
          </a:xfrm>
          <a:prstGeom prst="rect">
            <a:avLst/>
          </a:prstGeom>
          <a:noFill/>
          <a:ln/>
        </p:spPr>
        <p:txBody>
          <a:bodyPr wrap="square" lIns="0" tIns="0" rIns="0" bIns="0" rtlCol="0" anchor="t"/>
          <a:lstStyle/>
          <a:p>
            <a:pPr algn="l" indent="0" marL="0">
              <a:lnSpc>
                <a:spcPts val="1400"/>
              </a:lnSpc>
              <a:buNone/>
            </a:pPr>
            <a:r>
              <a:rPr lang="en-US" sz="1000" b="1" dirty="0">
                <a:solidFill>
                  <a:srgbClr val="E2E8F0"/>
                </a:solidFill>
                <a:latin typeface="Arial" pitchFamily="34" charset="0"/>
                <a:ea typeface="Arial" pitchFamily="34" charset="-122"/>
                <a:cs typeface="Arial" pitchFamily="34" charset="-120"/>
              </a:rPr>
              <a:t>Class imbalance ratio: 9,197x</a:t>
            </a:r>
            <a:endParaRPr lang="en-US" sz="1000" dirty="0"/>
          </a:p>
        </p:txBody>
      </p:sp>
      <p:sp>
        <p:nvSpPr>
          <p:cNvPr id="25" name="Text 22"/>
          <p:cNvSpPr/>
          <p:nvPr/>
        </p:nvSpPr>
        <p:spPr>
          <a:xfrm>
            <a:off x="5323136" y="1187202"/>
            <a:ext cx="3249683" cy="177701"/>
          </a:xfrm>
          <a:prstGeom prst="rect">
            <a:avLst/>
          </a:prstGeom>
          <a:noFill/>
          <a:ln/>
        </p:spPr>
        <p:txBody>
          <a:bodyPr wrap="square" lIns="0" tIns="0" rIns="0" bIns="0" rtlCol="0" anchor="t"/>
          <a:lstStyle/>
          <a:p>
            <a:pPr algn="l" indent="0" marL="0">
              <a:lnSpc>
                <a:spcPts val="1400"/>
              </a:lnSpc>
              <a:buNone/>
            </a:pPr>
            <a:r>
              <a:rPr lang="en-US" sz="1000" dirty="0">
                <a:solidFill>
                  <a:srgbClr val="E2E8F0"/>
                </a:solidFill>
                <a:latin typeface="Arial" pitchFamily="34" charset="0"/>
                <a:ea typeface="Arial" pitchFamily="34" charset="-122"/>
                <a:cs typeface="Arial" pitchFamily="34" charset="-120"/>
              </a:rPr>
              <a:t>"On Appeal" (9,197) vs singletons (1)</a:t>
            </a:r>
            <a:endParaRPr lang="en-US" sz="1000" dirty="0"/>
          </a:p>
        </p:txBody>
      </p:sp>
      <p:sp>
        <p:nvSpPr>
          <p:cNvPr id="26" name="Text 23"/>
          <p:cNvSpPr/>
          <p:nvPr/>
        </p:nvSpPr>
        <p:spPr>
          <a:xfrm>
            <a:off x="5097810" y="1618804"/>
            <a:ext cx="3660770" cy="159990"/>
          </a:xfrm>
          <a:prstGeom prst="rect">
            <a:avLst/>
          </a:prstGeom>
          <a:noFill/>
          <a:ln/>
        </p:spPr>
        <p:txBody>
          <a:bodyPr wrap="square" lIns="0" tIns="0" rIns="0" bIns="0" rtlCol="0" anchor="t"/>
          <a:lstStyle/>
          <a:p>
            <a:pPr algn="l" indent="0" marL="0">
              <a:lnSpc>
                <a:spcPts val="1260"/>
              </a:lnSpc>
              <a:spcAft>
                <a:spcPts val="400"/>
              </a:spcAft>
              <a:buNone/>
            </a:pPr>
            <a:r>
              <a:rPr lang="en-US" sz="900" dirty="0">
                <a:solidFill>
                  <a:srgbClr val="94A3B8"/>
                </a:solidFill>
                <a:latin typeface="Arial" pitchFamily="34" charset="0"/>
                <a:ea typeface="Arial" pitchFamily="34" charset="-122"/>
                <a:cs typeface="Arial" pitchFamily="34" charset="-120"/>
              </a:rPr>
              <a:t>TOP 5 POSTURES</a:t>
            </a:r>
            <a:endParaRPr lang="en-US" sz="900" dirty="0"/>
          </a:p>
        </p:txBody>
      </p:sp>
      <p:sp>
        <p:nvSpPr>
          <p:cNvPr id="27" name="Text 24"/>
          <p:cNvSpPr/>
          <p:nvPr/>
        </p:nvSpPr>
        <p:spPr>
          <a:xfrm>
            <a:off x="5097810" y="1829544"/>
            <a:ext cx="3660770" cy="177701"/>
          </a:xfrm>
          <a:prstGeom prst="rect">
            <a:avLst/>
          </a:prstGeom>
          <a:noFill/>
          <a:ln/>
        </p:spPr>
        <p:txBody>
          <a:bodyPr wrap="square" lIns="0" tIns="0" rIns="0" bIns="0" rtlCol="0" anchor="t"/>
          <a:lstStyle/>
          <a:p>
            <a:pPr algn="l" indent="0" marL="0">
              <a:lnSpc>
                <a:spcPts val="1400"/>
              </a:lnSpc>
              <a:spcAft>
                <a:spcPts val="800"/>
              </a:spcAft>
              <a:buNone/>
            </a:pPr>
            <a:r>
              <a:rPr lang="en-US" sz="1000" b="1" dirty="0">
                <a:solidFill>
                  <a:srgbClr val="CBD5E1"/>
                </a:solidFill>
                <a:latin typeface="Arial" pitchFamily="34" charset="0"/>
                <a:ea typeface="Arial" pitchFamily="34" charset="-122"/>
                <a:cs typeface="Arial" pitchFamily="34" charset="-120"/>
              </a:rPr>
              <a:t>On Appeal</a:t>
            </a:r>
            <a:pPr algn="l" indent="0" marL="0">
              <a:lnSpc>
                <a:spcPts val="1400"/>
              </a:lnSpc>
              <a:spcAft>
                <a:spcPts val="800"/>
              </a:spcAft>
              <a:buNone/>
            </a:pPr>
            <a:r>
              <a:rPr lang="en-US" sz="1000" dirty="0">
                <a:solidFill>
                  <a:srgbClr val="CBD5E1"/>
                </a:solidFill>
                <a:latin typeface="Arial" pitchFamily="34" charset="0"/>
                <a:ea typeface="Arial" pitchFamily="34" charset="-122"/>
                <a:cs typeface="Arial" pitchFamily="34" charset="-120"/>
              </a:rPr>
              <a:t> - 9,197 (33.2%)</a:t>
            </a:r>
            <a:endParaRPr lang="en-US" sz="1000" dirty="0"/>
          </a:p>
        </p:txBody>
      </p:sp>
      <p:sp>
        <p:nvSpPr>
          <p:cNvPr id="28" name="Text 25"/>
          <p:cNvSpPr/>
          <p:nvPr/>
        </p:nvSpPr>
        <p:spPr>
          <a:xfrm>
            <a:off x="5097810" y="2108746"/>
            <a:ext cx="3660770" cy="177701"/>
          </a:xfrm>
          <a:prstGeom prst="rect">
            <a:avLst/>
          </a:prstGeom>
          <a:noFill/>
          <a:ln/>
        </p:spPr>
        <p:txBody>
          <a:bodyPr wrap="square" lIns="0" tIns="0" rIns="0" bIns="0" rtlCol="0" anchor="t"/>
          <a:lstStyle/>
          <a:p>
            <a:pPr algn="l" indent="0" marL="0">
              <a:lnSpc>
                <a:spcPts val="1400"/>
              </a:lnSpc>
              <a:spcAft>
                <a:spcPts val="800"/>
              </a:spcAft>
              <a:buNone/>
            </a:pPr>
            <a:r>
              <a:rPr lang="en-US" sz="1000" b="1" dirty="0">
                <a:solidFill>
                  <a:srgbClr val="CBD5E1"/>
                </a:solidFill>
                <a:latin typeface="Arial" pitchFamily="34" charset="0"/>
                <a:ea typeface="Arial" pitchFamily="34" charset="-122"/>
                <a:cs typeface="Arial" pitchFamily="34" charset="-120"/>
              </a:rPr>
              <a:t>Appellate Review</a:t>
            </a:r>
            <a:pPr algn="l" indent="0" marL="0">
              <a:lnSpc>
                <a:spcPts val="1400"/>
              </a:lnSpc>
              <a:spcAft>
                <a:spcPts val="800"/>
              </a:spcAft>
              <a:buNone/>
            </a:pPr>
            <a:r>
              <a:rPr lang="en-US" sz="1000" dirty="0">
                <a:solidFill>
                  <a:srgbClr val="CBD5E1"/>
                </a:solidFill>
                <a:latin typeface="Arial" pitchFamily="34" charset="0"/>
                <a:ea typeface="Arial" pitchFamily="34" charset="-122"/>
                <a:cs typeface="Arial" pitchFamily="34" charset="-120"/>
              </a:rPr>
              <a:t> - 4,652 (16.8%)</a:t>
            </a:r>
            <a:endParaRPr lang="en-US" sz="1000" dirty="0"/>
          </a:p>
        </p:txBody>
      </p:sp>
      <p:sp>
        <p:nvSpPr>
          <p:cNvPr id="29" name="Text 26"/>
          <p:cNvSpPr/>
          <p:nvPr/>
        </p:nvSpPr>
        <p:spPr>
          <a:xfrm>
            <a:off x="5097810" y="2387947"/>
            <a:ext cx="3660770" cy="177701"/>
          </a:xfrm>
          <a:prstGeom prst="rect">
            <a:avLst/>
          </a:prstGeom>
          <a:noFill/>
          <a:ln/>
        </p:spPr>
        <p:txBody>
          <a:bodyPr wrap="square" lIns="0" tIns="0" rIns="0" bIns="0" rtlCol="0" anchor="t"/>
          <a:lstStyle/>
          <a:p>
            <a:pPr algn="l" indent="0" marL="0">
              <a:lnSpc>
                <a:spcPts val="1400"/>
              </a:lnSpc>
              <a:spcAft>
                <a:spcPts val="800"/>
              </a:spcAft>
              <a:buNone/>
            </a:pPr>
            <a:r>
              <a:rPr lang="en-US" sz="1000" b="1" dirty="0">
                <a:solidFill>
                  <a:srgbClr val="CBD5E1"/>
                </a:solidFill>
                <a:latin typeface="Arial" pitchFamily="34" charset="0"/>
                <a:ea typeface="Arial" pitchFamily="34" charset="-122"/>
                <a:cs typeface="Arial" pitchFamily="34" charset="-120"/>
              </a:rPr>
              <a:t>Review of Admin Decision</a:t>
            </a:r>
            <a:pPr algn="l" indent="0" marL="0">
              <a:lnSpc>
                <a:spcPts val="1400"/>
              </a:lnSpc>
              <a:spcAft>
                <a:spcPts val="800"/>
              </a:spcAft>
              <a:buNone/>
            </a:pPr>
            <a:r>
              <a:rPr lang="en-US" sz="1000" dirty="0">
                <a:solidFill>
                  <a:srgbClr val="CBD5E1"/>
                </a:solidFill>
                <a:latin typeface="Arial" pitchFamily="34" charset="0"/>
                <a:ea typeface="Arial" pitchFamily="34" charset="-122"/>
                <a:cs typeface="Arial" pitchFamily="34" charset="-120"/>
              </a:rPr>
              <a:t> - 2,773 (10.0%)</a:t>
            </a:r>
            <a:endParaRPr lang="en-US" sz="1000" dirty="0"/>
          </a:p>
        </p:txBody>
      </p:sp>
      <p:sp>
        <p:nvSpPr>
          <p:cNvPr id="30" name="Text 27"/>
          <p:cNvSpPr/>
          <p:nvPr/>
        </p:nvSpPr>
        <p:spPr>
          <a:xfrm>
            <a:off x="5097810" y="2667149"/>
            <a:ext cx="3660770" cy="177701"/>
          </a:xfrm>
          <a:prstGeom prst="rect">
            <a:avLst/>
          </a:prstGeom>
          <a:noFill/>
          <a:ln/>
        </p:spPr>
        <p:txBody>
          <a:bodyPr wrap="square" lIns="0" tIns="0" rIns="0" bIns="0" rtlCol="0" anchor="t"/>
          <a:lstStyle/>
          <a:p>
            <a:pPr algn="l" indent="0" marL="0">
              <a:lnSpc>
                <a:spcPts val="1400"/>
              </a:lnSpc>
              <a:spcAft>
                <a:spcPts val="800"/>
              </a:spcAft>
              <a:buNone/>
            </a:pPr>
            <a:r>
              <a:rPr lang="en-US" sz="1000" b="1" dirty="0">
                <a:solidFill>
                  <a:srgbClr val="CBD5E1"/>
                </a:solidFill>
                <a:latin typeface="Arial" pitchFamily="34" charset="0"/>
                <a:ea typeface="Arial" pitchFamily="34" charset="-122"/>
                <a:cs typeface="Arial" pitchFamily="34" charset="-120"/>
              </a:rPr>
              <a:t>Motion to Dismiss</a:t>
            </a:r>
            <a:pPr algn="l" indent="0" marL="0">
              <a:lnSpc>
                <a:spcPts val="1400"/>
              </a:lnSpc>
              <a:spcAft>
                <a:spcPts val="800"/>
              </a:spcAft>
              <a:buNone/>
            </a:pPr>
            <a:r>
              <a:rPr lang="en-US" sz="1000" dirty="0">
                <a:solidFill>
                  <a:srgbClr val="CBD5E1"/>
                </a:solidFill>
                <a:latin typeface="Arial" pitchFamily="34" charset="0"/>
                <a:ea typeface="Arial" pitchFamily="34" charset="-122"/>
                <a:cs typeface="Arial" pitchFamily="34" charset="-120"/>
              </a:rPr>
              <a:t> - 1,679 (6.1%)</a:t>
            </a:r>
            <a:endParaRPr lang="en-US" sz="1000" dirty="0"/>
          </a:p>
        </p:txBody>
      </p:sp>
      <p:sp>
        <p:nvSpPr>
          <p:cNvPr id="31" name="Text 28"/>
          <p:cNvSpPr/>
          <p:nvPr/>
        </p:nvSpPr>
        <p:spPr>
          <a:xfrm>
            <a:off x="5097810" y="2946350"/>
            <a:ext cx="3660770" cy="177701"/>
          </a:xfrm>
          <a:prstGeom prst="rect">
            <a:avLst/>
          </a:prstGeom>
          <a:noFill/>
          <a:ln/>
        </p:spPr>
        <p:txBody>
          <a:bodyPr wrap="square" lIns="0" tIns="0" rIns="0" bIns="0" rtlCol="0" anchor="t"/>
          <a:lstStyle/>
          <a:p>
            <a:pPr algn="l" indent="0" marL="0">
              <a:lnSpc>
                <a:spcPts val="1400"/>
              </a:lnSpc>
              <a:spcAft>
                <a:spcPts val="800"/>
              </a:spcAft>
              <a:buNone/>
            </a:pPr>
            <a:r>
              <a:rPr lang="en-US" sz="1000" b="1" dirty="0">
                <a:solidFill>
                  <a:srgbClr val="CBD5E1"/>
                </a:solidFill>
                <a:latin typeface="Arial" pitchFamily="34" charset="0"/>
                <a:ea typeface="Arial" pitchFamily="34" charset="-122"/>
                <a:cs typeface="Arial" pitchFamily="34" charset="-120"/>
              </a:rPr>
              <a:t>Sentencing Phase Motion</a:t>
            </a:r>
            <a:pPr algn="l" indent="0" marL="0">
              <a:lnSpc>
                <a:spcPts val="1400"/>
              </a:lnSpc>
              <a:spcAft>
                <a:spcPts val="800"/>
              </a:spcAft>
              <a:buNone/>
            </a:pPr>
            <a:r>
              <a:rPr lang="en-US" sz="1000" dirty="0">
                <a:solidFill>
                  <a:srgbClr val="CBD5E1"/>
                </a:solidFill>
                <a:latin typeface="Arial" pitchFamily="34" charset="0"/>
                <a:ea typeface="Arial" pitchFamily="34" charset="-122"/>
                <a:cs typeface="Arial" pitchFamily="34" charset="-120"/>
              </a:rPr>
              <a:t> - 1,342 (4.9%)</a:t>
            </a:r>
            <a:endParaRPr lang="en-US" sz="1000" dirty="0"/>
          </a:p>
        </p:txBody>
      </p:sp>
      <p:sp>
        <p:nvSpPr>
          <p:cNvPr id="32" name="Text 29"/>
          <p:cNvSpPr/>
          <p:nvPr/>
        </p:nvSpPr>
        <p:spPr>
          <a:xfrm>
            <a:off x="5097810" y="3251002"/>
            <a:ext cx="3660770" cy="159990"/>
          </a:xfrm>
          <a:prstGeom prst="rect">
            <a:avLst/>
          </a:prstGeom>
          <a:noFill/>
          <a:ln/>
        </p:spPr>
        <p:txBody>
          <a:bodyPr wrap="square" lIns="0" tIns="0" rIns="0" bIns="0" rtlCol="0" anchor="t"/>
          <a:lstStyle/>
          <a:p>
            <a:pPr algn="l" indent="0" marL="0">
              <a:lnSpc>
                <a:spcPts val="1260"/>
              </a:lnSpc>
              <a:spcBef>
                <a:spcPts val="1000"/>
              </a:spcBef>
              <a:spcAft>
                <a:spcPts val="400"/>
              </a:spcAft>
              <a:buNone/>
            </a:pPr>
            <a:r>
              <a:rPr lang="en-US" sz="900" dirty="0">
                <a:solidFill>
                  <a:srgbClr val="94A3B8"/>
                </a:solidFill>
                <a:latin typeface="Arial" pitchFamily="34" charset="0"/>
                <a:ea typeface="Arial" pitchFamily="34" charset="-122"/>
                <a:cs typeface="Arial" pitchFamily="34" charset="-120"/>
              </a:rPr>
              <a:t>BOTTOM 5 POSTURES</a:t>
            </a:r>
            <a:endParaRPr lang="en-US" sz="900" dirty="0"/>
          </a:p>
        </p:txBody>
      </p:sp>
      <p:sp>
        <p:nvSpPr>
          <p:cNvPr id="33" name="Text 30"/>
          <p:cNvSpPr/>
          <p:nvPr/>
        </p:nvSpPr>
        <p:spPr>
          <a:xfrm>
            <a:off x="5097810" y="3461742"/>
            <a:ext cx="3660770" cy="177701"/>
          </a:xfrm>
          <a:prstGeom prst="rect">
            <a:avLst/>
          </a:prstGeom>
          <a:noFill/>
          <a:ln/>
        </p:spPr>
        <p:txBody>
          <a:bodyPr wrap="square" lIns="0" tIns="0" rIns="0" bIns="0" rtlCol="0" anchor="t"/>
          <a:lstStyle/>
          <a:p>
            <a:pPr algn="l" indent="0" marL="0">
              <a:lnSpc>
                <a:spcPts val="1400"/>
              </a:lnSpc>
              <a:spcAft>
                <a:spcPts val="800"/>
              </a:spcAft>
              <a:buNone/>
            </a:pPr>
            <a:r>
              <a:rPr lang="en-US" sz="1000" dirty="0">
                <a:solidFill>
                  <a:srgbClr val="CBD5E1"/>
                </a:solidFill>
                <a:latin typeface="Arial" pitchFamily="34" charset="0"/>
                <a:ea typeface="Arial" pitchFamily="34" charset="-122"/>
                <a:cs typeface="Arial" pitchFamily="34" charset="-120"/>
              </a:rPr>
              <a:t>44 labels appear exactly once</a:t>
            </a:r>
            <a:endParaRPr lang="en-US" sz="1000" dirty="0"/>
          </a:p>
        </p:txBody>
      </p:sp>
      <p:sp>
        <p:nvSpPr>
          <p:cNvPr id="34" name="Text 31"/>
          <p:cNvSpPr/>
          <p:nvPr/>
        </p:nvSpPr>
        <p:spPr>
          <a:xfrm>
            <a:off x="5097810" y="3740944"/>
            <a:ext cx="3660770" cy="177701"/>
          </a:xfrm>
          <a:prstGeom prst="rect">
            <a:avLst/>
          </a:prstGeom>
          <a:noFill/>
          <a:ln/>
        </p:spPr>
        <p:txBody>
          <a:bodyPr wrap="square" lIns="0" tIns="0" rIns="0" bIns="0" rtlCol="0" anchor="t"/>
          <a:lstStyle/>
          <a:p>
            <a:pPr algn="l" indent="0" marL="0">
              <a:lnSpc>
                <a:spcPts val="1400"/>
              </a:lnSpc>
              <a:spcAft>
                <a:spcPts val="800"/>
              </a:spcAft>
              <a:buNone/>
            </a:pPr>
            <a:r>
              <a:rPr lang="en-US" sz="1000" dirty="0">
                <a:solidFill>
                  <a:srgbClr val="CBD5E1"/>
                </a:solidFill>
                <a:latin typeface="Arial" pitchFamily="34" charset="0"/>
                <a:ea typeface="Arial" pitchFamily="34" charset="-122"/>
                <a:cs typeface="Arial" pitchFamily="34" charset="-120"/>
              </a:rPr>
              <a:t>140 labels appear fewer than 10 times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228451"/>
            <a:ext cx="8394192" cy="295275"/>
          </a:xfrm>
          <a:prstGeom prst="rect">
            <a:avLst/>
          </a:prstGeom>
          <a:noFill/>
          <a:ln/>
        </p:spPr>
        <p:txBody>
          <a:bodyPr wrap="square" lIns="0" tIns="0" rIns="0" bIns="0" rtlCol="0" anchor="t"/>
          <a:lstStyle/>
          <a:p>
            <a:pPr algn="l" indent="0" marL="0">
              <a:buNone/>
            </a:pPr>
            <a:r>
              <a:rPr lang="en-US" sz="2000" b="1" dirty="0">
                <a:solidFill>
                  <a:srgbClr val="00B4D8"/>
                </a:solidFill>
                <a:latin typeface="Arial" pitchFamily="34" charset="0"/>
                <a:ea typeface="Arial" pitchFamily="34" charset="-122"/>
                <a:cs typeface="Arial" pitchFamily="34" charset="-120"/>
              </a:rPr>
              <a:t>Label Distribution</a:t>
            </a:r>
            <a:endParaRPr lang="en-US" sz="2000" dirty="0"/>
          </a:p>
        </p:txBody>
      </p:sp>
      <p:pic>
        <p:nvPicPr>
          <p:cNvPr id="4" name="Image 1" descr="/Users/alessandrodibari/Ale/projects/TR_hiring_exercise/outputs/pptx_workspace/slides/chart_label_pie.png">    </p:cNvPr>
          <p:cNvPicPr>
            <a:picLocks noChangeAspect="1"/>
          </p:cNvPicPr>
          <p:nvPr/>
        </p:nvPicPr>
        <p:blipFill>
          <a:blip r:embed="rId3"/>
          <a:stretch>
            <a:fillRect/>
          </a:stretch>
        </p:blipFill>
        <p:spPr>
          <a:xfrm>
            <a:off x="801588" y="599926"/>
            <a:ext cx="7540675" cy="431780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355550"/>
            <a:ext cx="8394192" cy="323850"/>
          </a:xfrm>
          <a:prstGeom prst="rect">
            <a:avLst/>
          </a:prstGeom>
          <a:noFill/>
          <a:ln/>
        </p:spPr>
        <p:txBody>
          <a:bodyPr wrap="square" lIns="0" tIns="0" rIns="0" bIns="0" rtlCol="0" anchor="t"/>
          <a:lstStyle/>
          <a:p>
            <a:pPr algn="l" indent="0" marL="0">
              <a:buNone/>
            </a:pPr>
            <a:r>
              <a:rPr lang="en-US" sz="2200" b="1" dirty="0">
                <a:solidFill>
                  <a:srgbClr val="00B4D8"/>
                </a:solidFill>
                <a:latin typeface="Arial" pitchFamily="34" charset="0"/>
                <a:ea typeface="Arial" pitchFamily="34" charset="-122"/>
                <a:cs typeface="Arial" pitchFamily="34" charset="-120"/>
              </a:rPr>
              <a:t>Domain Complexity</a:t>
            </a:r>
            <a:endParaRPr lang="en-US" sz="2200" dirty="0"/>
          </a:p>
        </p:txBody>
      </p:sp>
      <p:sp>
        <p:nvSpPr>
          <p:cNvPr id="4" name="Text 1"/>
          <p:cNvSpPr/>
          <p:nvPr/>
        </p:nvSpPr>
        <p:spPr>
          <a:xfrm>
            <a:off x="457200" y="857101"/>
            <a:ext cx="4067607" cy="159990"/>
          </a:xfrm>
          <a:prstGeom prst="rect">
            <a:avLst/>
          </a:prstGeom>
          <a:noFill/>
          <a:ln/>
        </p:spPr>
        <p:txBody>
          <a:bodyPr wrap="square" lIns="0" tIns="0" rIns="0" bIns="0" rtlCol="0" anchor="t"/>
          <a:lstStyle/>
          <a:p>
            <a:pPr algn="l" indent="0" marL="0">
              <a:lnSpc>
                <a:spcPts val="1260"/>
              </a:lnSpc>
              <a:spcAft>
                <a:spcPts val="600"/>
              </a:spcAft>
              <a:buNone/>
            </a:pPr>
            <a:r>
              <a:rPr lang="en-US" sz="900" dirty="0">
                <a:solidFill>
                  <a:srgbClr val="94A3B8"/>
                </a:solidFill>
                <a:latin typeface="Arial" pitchFamily="34" charset="0"/>
                <a:ea typeface="Arial" pitchFamily="34" charset="-122"/>
                <a:cs typeface="Arial" pitchFamily="34" charset="-120"/>
              </a:rPr>
              <a:t>LABELS ENCODE 4 ORTHOGONAL DIMENSIONS</a:t>
            </a:r>
            <a:endParaRPr lang="en-US" sz="900" dirty="0"/>
          </a:p>
        </p:txBody>
      </p:sp>
      <p:sp>
        <p:nvSpPr>
          <p:cNvPr id="5" name="Text 2"/>
          <p:cNvSpPr/>
          <p:nvPr/>
        </p:nvSpPr>
        <p:spPr>
          <a:xfrm>
            <a:off x="457200" y="1093291"/>
            <a:ext cx="3987850" cy="722412"/>
          </a:xfrm>
          <a:prstGeom prst="roundRect">
            <a:avLst>
              <a:gd name="adj" fmla="val 10548"/>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6" name="Text 3"/>
          <p:cNvSpPr/>
          <p:nvPr/>
        </p:nvSpPr>
        <p:spPr>
          <a:xfrm>
            <a:off x="644426" y="1229767"/>
            <a:ext cx="3685666" cy="195560"/>
          </a:xfrm>
          <a:prstGeom prst="rect">
            <a:avLst/>
          </a:prstGeom>
          <a:noFill/>
          <a:ln/>
        </p:spPr>
        <p:txBody>
          <a:bodyPr wrap="square" lIns="0" tIns="0" rIns="0" bIns="0" rtlCol="0" anchor="t"/>
          <a:lstStyle/>
          <a:p>
            <a:pPr algn="l" indent="0" marL="0">
              <a:lnSpc>
                <a:spcPts val="1540"/>
              </a:lnSpc>
              <a:spcAft>
                <a:spcPts val="300"/>
              </a:spcAft>
              <a:buNone/>
            </a:pPr>
            <a:r>
              <a:rPr lang="en-US" sz="1100" b="1" dirty="0">
                <a:solidFill>
                  <a:srgbClr val="00B4D8"/>
                </a:solidFill>
                <a:latin typeface="Arial" pitchFamily="34" charset="0"/>
                <a:ea typeface="Arial" pitchFamily="34" charset="-122"/>
                <a:cs typeface="Arial" pitchFamily="34" charset="-120"/>
              </a:rPr>
              <a:t>Stage</a:t>
            </a:r>
            <a:endParaRPr lang="en-US" sz="1100" dirty="0"/>
          </a:p>
        </p:txBody>
      </p:sp>
      <p:sp>
        <p:nvSpPr>
          <p:cNvPr id="7" name="Text 4"/>
          <p:cNvSpPr/>
          <p:nvPr/>
        </p:nvSpPr>
        <p:spPr>
          <a:xfrm>
            <a:off x="644426" y="1463427"/>
            <a:ext cx="3685666" cy="177701"/>
          </a:xfrm>
          <a:prstGeom prst="rect">
            <a:avLst/>
          </a:prstGeom>
          <a:noFill/>
          <a:ln/>
        </p:spPr>
        <p:txBody>
          <a:bodyPr wrap="square" lIns="0" tIns="0" rIns="0" bIns="0" rtlCol="0" anchor="t"/>
          <a:lstStyle/>
          <a:p>
            <a:pPr algn="l" indent="0" marL="0">
              <a:lnSpc>
                <a:spcPts val="1400"/>
              </a:lnSpc>
              <a:spcAft>
                <a:spcPts val="300"/>
              </a:spcAft>
              <a:buNone/>
            </a:pPr>
            <a:r>
              <a:rPr lang="en-US" sz="1000" dirty="0">
                <a:solidFill>
                  <a:srgbClr val="CBD5E1"/>
                </a:solidFill>
                <a:latin typeface="Arial" pitchFamily="34" charset="0"/>
                <a:ea typeface="Arial" pitchFamily="34" charset="-122"/>
                <a:cs typeface="Arial" pitchFamily="34" charset="-120"/>
              </a:rPr>
              <a:t>WHERE in litigation lifecycle (On Appeal, Trial...)</a:t>
            </a:r>
            <a:endParaRPr lang="en-US" sz="1000" dirty="0"/>
          </a:p>
        </p:txBody>
      </p:sp>
      <p:sp>
        <p:nvSpPr>
          <p:cNvPr id="8" name="Text 5"/>
          <p:cNvSpPr/>
          <p:nvPr/>
        </p:nvSpPr>
        <p:spPr>
          <a:xfrm>
            <a:off x="457200" y="1917204"/>
            <a:ext cx="3987850" cy="722412"/>
          </a:xfrm>
          <a:prstGeom prst="roundRect">
            <a:avLst>
              <a:gd name="adj" fmla="val 10548"/>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9" name="Text 6"/>
          <p:cNvSpPr/>
          <p:nvPr/>
        </p:nvSpPr>
        <p:spPr>
          <a:xfrm>
            <a:off x="644426" y="2053679"/>
            <a:ext cx="3685666" cy="195560"/>
          </a:xfrm>
          <a:prstGeom prst="rect">
            <a:avLst/>
          </a:prstGeom>
          <a:noFill/>
          <a:ln/>
        </p:spPr>
        <p:txBody>
          <a:bodyPr wrap="square" lIns="0" tIns="0" rIns="0" bIns="0" rtlCol="0" anchor="t"/>
          <a:lstStyle/>
          <a:p>
            <a:pPr algn="l" indent="0" marL="0">
              <a:lnSpc>
                <a:spcPts val="1540"/>
              </a:lnSpc>
              <a:spcAft>
                <a:spcPts val="300"/>
              </a:spcAft>
              <a:buNone/>
            </a:pPr>
            <a:r>
              <a:rPr lang="en-US" sz="1100" b="1" dirty="0">
                <a:solidFill>
                  <a:srgbClr val="00B4D8"/>
                </a:solidFill>
                <a:latin typeface="Arial" pitchFamily="34" charset="0"/>
                <a:ea typeface="Arial" pitchFamily="34" charset="-122"/>
                <a:cs typeface="Arial" pitchFamily="34" charset="-120"/>
              </a:rPr>
              <a:t>Motion Type</a:t>
            </a:r>
            <a:endParaRPr lang="en-US" sz="1100" dirty="0"/>
          </a:p>
        </p:txBody>
      </p:sp>
      <p:sp>
        <p:nvSpPr>
          <p:cNvPr id="10" name="Text 7"/>
          <p:cNvSpPr/>
          <p:nvPr/>
        </p:nvSpPr>
        <p:spPr>
          <a:xfrm>
            <a:off x="644426" y="2287339"/>
            <a:ext cx="3685666" cy="177701"/>
          </a:xfrm>
          <a:prstGeom prst="rect">
            <a:avLst/>
          </a:prstGeom>
          <a:noFill/>
          <a:ln/>
        </p:spPr>
        <p:txBody>
          <a:bodyPr wrap="square" lIns="0" tIns="0" rIns="0" bIns="0" rtlCol="0" anchor="t"/>
          <a:lstStyle/>
          <a:p>
            <a:pPr algn="l" indent="0" marL="0">
              <a:lnSpc>
                <a:spcPts val="1400"/>
              </a:lnSpc>
              <a:spcAft>
                <a:spcPts val="300"/>
              </a:spcAft>
              <a:buNone/>
            </a:pPr>
            <a:r>
              <a:rPr lang="en-US" sz="1000" dirty="0">
                <a:solidFill>
                  <a:srgbClr val="CBD5E1"/>
                </a:solidFill>
                <a:latin typeface="Arial" pitchFamily="34" charset="0"/>
                <a:ea typeface="Arial" pitchFamily="34" charset="-122"/>
                <a:cs typeface="Arial" pitchFamily="34" charset="-120"/>
              </a:rPr>
              <a:t>WHAT action is requested (Motion to Dismiss...)</a:t>
            </a:r>
            <a:endParaRPr lang="en-US" sz="1000" dirty="0"/>
          </a:p>
        </p:txBody>
      </p:sp>
      <p:sp>
        <p:nvSpPr>
          <p:cNvPr id="11" name="Text 8"/>
          <p:cNvSpPr/>
          <p:nvPr/>
        </p:nvSpPr>
        <p:spPr>
          <a:xfrm>
            <a:off x="457200" y="2741116"/>
            <a:ext cx="3987850" cy="722412"/>
          </a:xfrm>
          <a:prstGeom prst="roundRect">
            <a:avLst>
              <a:gd name="adj" fmla="val 10548"/>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12" name="Text 9"/>
          <p:cNvSpPr/>
          <p:nvPr/>
        </p:nvSpPr>
        <p:spPr>
          <a:xfrm>
            <a:off x="644426" y="2877592"/>
            <a:ext cx="3685666" cy="195560"/>
          </a:xfrm>
          <a:prstGeom prst="rect">
            <a:avLst/>
          </a:prstGeom>
          <a:noFill/>
          <a:ln/>
        </p:spPr>
        <p:txBody>
          <a:bodyPr wrap="square" lIns="0" tIns="0" rIns="0" bIns="0" rtlCol="0" anchor="t"/>
          <a:lstStyle/>
          <a:p>
            <a:pPr algn="l" indent="0" marL="0">
              <a:lnSpc>
                <a:spcPts val="1540"/>
              </a:lnSpc>
              <a:spcAft>
                <a:spcPts val="300"/>
              </a:spcAft>
              <a:buNone/>
            </a:pPr>
            <a:r>
              <a:rPr lang="en-US" sz="1100" b="1" dirty="0">
                <a:solidFill>
                  <a:srgbClr val="00B4D8"/>
                </a:solidFill>
                <a:latin typeface="Arial" pitchFamily="34" charset="0"/>
                <a:ea typeface="Arial" pitchFamily="34" charset="-122"/>
                <a:cs typeface="Arial" pitchFamily="34" charset="-120"/>
              </a:rPr>
              <a:t>Proceeding Type</a:t>
            </a:r>
            <a:endParaRPr lang="en-US" sz="1100" dirty="0"/>
          </a:p>
        </p:txBody>
      </p:sp>
      <p:sp>
        <p:nvSpPr>
          <p:cNvPr id="13" name="Text 10"/>
          <p:cNvSpPr/>
          <p:nvPr/>
        </p:nvSpPr>
        <p:spPr>
          <a:xfrm>
            <a:off x="644426" y="3111252"/>
            <a:ext cx="3685666" cy="177701"/>
          </a:xfrm>
          <a:prstGeom prst="rect">
            <a:avLst/>
          </a:prstGeom>
          <a:noFill/>
          <a:ln/>
        </p:spPr>
        <p:txBody>
          <a:bodyPr wrap="square" lIns="0" tIns="0" rIns="0" bIns="0" rtlCol="0" anchor="t"/>
          <a:lstStyle/>
          <a:p>
            <a:pPr algn="l" indent="0" marL="0">
              <a:lnSpc>
                <a:spcPts val="1400"/>
              </a:lnSpc>
              <a:spcAft>
                <a:spcPts val="300"/>
              </a:spcAft>
              <a:buNone/>
            </a:pPr>
            <a:r>
              <a:rPr lang="en-US" sz="1000" dirty="0">
                <a:solidFill>
                  <a:srgbClr val="CBD5E1"/>
                </a:solidFill>
                <a:latin typeface="Arial" pitchFamily="34" charset="0"/>
                <a:ea typeface="Arial" pitchFamily="34" charset="-122"/>
                <a:cs typeface="Arial" pitchFamily="34" charset="-120"/>
              </a:rPr>
              <a:t>Legal domain (Family Law, Bankruptcy, Criminal)</a:t>
            </a:r>
            <a:endParaRPr lang="en-US" sz="1000" dirty="0"/>
          </a:p>
        </p:txBody>
      </p:sp>
      <p:sp>
        <p:nvSpPr>
          <p:cNvPr id="14" name="Text 11"/>
          <p:cNvSpPr/>
          <p:nvPr/>
        </p:nvSpPr>
        <p:spPr>
          <a:xfrm>
            <a:off x="457200" y="3565029"/>
            <a:ext cx="3987850" cy="722412"/>
          </a:xfrm>
          <a:prstGeom prst="roundRect">
            <a:avLst>
              <a:gd name="adj" fmla="val 10548"/>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15" name="Text 12"/>
          <p:cNvSpPr/>
          <p:nvPr/>
        </p:nvSpPr>
        <p:spPr>
          <a:xfrm>
            <a:off x="644426" y="3701504"/>
            <a:ext cx="3685666" cy="195560"/>
          </a:xfrm>
          <a:prstGeom prst="rect">
            <a:avLst/>
          </a:prstGeom>
          <a:noFill/>
          <a:ln/>
        </p:spPr>
        <p:txBody>
          <a:bodyPr wrap="square" lIns="0" tIns="0" rIns="0" bIns="0" rtlCol="0" anchor="t"/>
          <a:lstStyle/>
          <a:p>
            <a:pPr algn="l" indent="0" marL="0">
              <a:lnSpc>
                <a:spcPts val="1540"/>
              </a:lnSpc>
              <a:spcAft>
                <a:spcPts val="300"/>
              </a:spcAft>
              <a:buNone/>
            </a:pPr>
            <a:r>
              <a:rPr lang="en-US" sz="1100" b="1" dirty="0">
                <a:solidFill>
                  <a:srgbClr val="00B4D8"/>
                </a:solidFill>
                <a:latin typeface="Arial" pitchFamily="34" charset="0"/>
                <a:ea typeface="Arial" pitchFamily="34" charset="-122"/>
                <a:cs typeface="Arial" pitchFamily="34" charset="-120"/>
              </a:rPr>
              <a:t>Procedural Event</a:t>
            </a:r>
            <a:endParaRPr lang="en-US" sz="1100" dirty="0"/>
          </a:p>
        </p:txBody>
      </p:sp>
      <p:sp>
        <p:nvSpPr>
          <p:cNvPr id="16" name="Text 13"/>
          <p:cNvSpPr/>
          <p:nvPr/>
        </p:nvSpPr>
        <p:spPr>
          <a:xfrm>
            <a:off x="644426" y="3935164"/>
            <a:ext cx="3685666" cy="177701"/>
          </a:xfrm>
          <a:prstGeom prst="rect">
            <a:avLst/>
          </a:prstGeom>
          <a:noFill/>
          <a:ln/>
        </p:spPr>
        <p:txBody>
          <a:bodyPr wrap="square" lIns="0" tIns="0" rIns="0" bIns="0" rtlCol="0" anchor="t"/>
          <a:lstStyle/>
          <a:p>
            <a:pPr algn="l" indent="0" marL="0">
              <a:lnSpc>
                <a:spcPts val="1400"/>
              </a:lnSpc>
              <a:spcAft>
                <a:spcPts val="300"/>
              </a:spcAft>
              <a:buNone/>
            </a:pPr>
            <a:r>
              <a:rPr lang="en-US" sz="1000" dirty="0">
                <a:solidFill>
                  <a:srgbClr val="CBD5E1"/>
                </a:solidFill>
                <a:latin typeface="Arial" pitchFamily="34" charset="0"/>
                <a:ea typeface="Arial" pitchFamily="34" charset="-122"/>
                <a:cs typeface="Arial" pitchFamily="34" charset="-120"/>
              </a:rPr>
              <a:t>WHAT happened procedurally (Post-Trial Hearing)</a:t>
            </a:r>
            <a:endParaRPr lang="en-US" sz="1000" dirty="0"/>
          </a:p>
        </p:txBody>
      </p:sp>
      <p:sp>
        <p:nvSpPr>
          <p:cNvPr id="17" name="Text 14"/>
          <p:cNvSpPr/>
          <p:nvPr/>
        </p:nvSpPr>
        <p:spPr>
          <a:xfrm>
            <a:off x="4698950" y="857101"/>
            <a:ext cx="4067607" cy="159990"/>
          </a:xfrm>
          <a:prstGeom prst="rect">
            <a:avLst/>
          </a:prstGeom>
          <a:noFill/>
          <a:ln/>
        </p:spPr>
        <p:txBody>
          <a:bodyPr wrap="square" lIns="0" tIns="0" rIns="0" bIns="0" rtlCol="0" anchor="t"/>
          <a:lstStyle/>
          <a:p>
            <a:pPr algn="l" indent="0" marL="0">
              <a:lnSpc>
                <a:spcPts val="1260"/>
              </a:lnSpc>
              <a:spcAft>
                <a:spcPts val="600"/>
              </a:spcAft>
              <a:buNone/>
            </a:pPr>
            <a:r>
              <a:rPr lang="en-US" sz="900" dirty="0">
                <a:solidFill>
                  <a:srgbClr val="94A3B8"/>
                </a:solidFill>
                <a:latin typeface="Arial" pitchFamily="34" charset="0"/>
                <a:ea typeface="Arial" pitchFamily="34" charset="-122"/>
                <a:cs typeface="Arial" pitchFamily="34" charset="-120"/>
              </a:rPr>
              <a:t>HUMAN BENCHMARK</a:t>
            </a:r>
            <a:endParaRPr lang="en-US" sz="900" dirty="0"/>
          </a:p>
        </p:txBody>
      </p:sp>
      <p:sp>
        <p:nvSpPr>
          <p:cNvPr id="18" name="Text 15"/>
          <p:cNvSpPr/>
          <p:nvPr/>
        </p:nvSpPr>
        <p:spPr>
          <a:xfrm>
            <a:off x="4698950" y="1093291"/>
            <a:ext cx="3987850" cy="1151632"/>
          </a:xfrm>
          <a:prstGeom prst="roundRect">
            <a:avLst>
              <a:gd name="adj" fmla="val 6617"/>
            </a:avLst>
          </a:prstGeom>
          <a:solidFill>
            <a:srgbClr val="E76F51">
              <a:alpha val="10000"/>
            </a:srgbClr>
          </a:solidFill>
          <a:ln w="9525">
            <a:solidFill>
              <a:srgbClr val="E76F51"/>
            </a:solidFill>
          </a:ln>
        </p:spPr>
        <p:txBody>
          <a:bodyPr wrap="square" rtlCol="0" anchor="ctr"/>
          <a:lstStyle/>
          <a:p>
            <a:pPr indent="0" marL="0">
              <a:buNone/>
            </a:pPr>
            <a:endParaRPr lang="en-US" dirty="0"/>
          </a:p>
        </p:txBody>
      </p:sp>
      <p:sp>
        <p:nvSpPr>
          <p:cNvPr id="19" name="Text 16"/>
          <p:cNvSpPr/>
          <p:nvPr/>
        </p:nvSpPr>
        <p:spPr>
          <a:xfrm>
            <a:off x="4886176" y="1255216"/>
            <a:ext cx="3685666" cy="319980"/>
          </a:xfrm>
          <a:prstGeom prst="rect">
            <a:avLst/>
          </a:prstGeom>
          <a:noFill/>
          <a:ln/>
        </p:spPr>
        <p:txBody>
          <a:bodyPr wrap="square" lIns="0" tIns="0" rIns="0" bIns="0" rtlCol="0" anchor="t"/>
          <a:lstStyle/>
          <a:p>
            <a:pPr algn="l" indent="0" marL="0">
              <a:lnSpc>
                <a:spcPts val="2520"/>
              </a:lnSpc>
              <a:spcAft>
                <a:spcPts val="600"/>
              </a:spcAft>
              <a:buNone/>
            </a:pPr>
            <a:r>
              <a:rPr lang="en-US" sz="1800" b="1" dirty="0">
                <a:solidFill>
                  <a:srgbClr val="E76F51"/>
                </a:solidFill>
                <a:latin typeface="Arial" pitchFamily="34" charset="0"/>
                <a:ea typeface="Arial" pitchFamily="34" charset="-122"/>
                <a:cs typeface="Arial" pitchFamily="34" charset="-120"/>
              </a:rPr>
              <a:t>Cohen's kappa: 0.63 - 0.93</a:t>
            </a:r>
            <a:endParaRPr lang="en-US" sz="1800" dirty="0"/>
          </a:p>
        </p:txBody>
      </p:sp>
      <p:sp>
        <p:nvSpPr>
          <p:cNvPr id="20" name="Text 17"/>
          <p:cNvSpPr/>
          <p:nvPr/>
        </p:nvSpPr>
        <p:spPr>
          <a:xfrm>
            <a:off x="4886176" y="1651397"/>
            <a:ext cx="3685666" cy="177701"/>
          </a:xfrm>
          <a:prstGeom prst="rect">
            <a:avLst/>
          </a:prstGeom>
          <a:noFill/>
          <a:ln/>
        </p:spPr>
        <p:txBody>
          <a:bodyPr wrap="square" lIns="0" tIns="0" rIns="0" bIns="0" rtlCol="0" anchor="t"/>
          <a:lstStyle/>
          <a:p>
            <a:pPr algn="l" indent="0" marL="0">
              <a:lnSpc>
                <a:spcPts val="1400"/>
              </a:lnSpc>
              <a:spcAft>
                <a:spcPts val="300"/>
              </a:spcAft>
              <a:buNone/>
            </a:pPr>
            <a:r>
              <a:rPr lang="en-US" sz="1000" dirty="0">
                <a:solidFill>
                  <a:srgbClr val="E2E8F0"/>
                </a:solidFill>
                <a:latin typeface="Arial" pitchFamily="34" charset="0"/>
                <a:ea typeface="Arial" pitchFamily="34" charset="-122"/>
                <a:cs typeface="Arial" pitchFamily="34" charset="-120"/>
              </a:rPr>
              <a:t>Inter-annotator agreement varies by posture</a:t>
            </a:r>
            <a:endParaRPr lang="en-US" sz="1000" dirty="0"/>
          </a:p>
        </p:txBody>
      </p:sp>
      <p:sp>
        <p:nvSpPr>
          <p:cNvPr id="21" name="Text 18"/>
          <p:cNvSpPr/>
          <p:nvPr/>
        </p:nvSpPr>
        <p:spPr>
          <a:xfrm>
            <a:off x="4886176" y="1867198"/>
            <a:ext cx="3685666" cy="177701"/>
          </a:xfrm>
          <a:prstGeom prst="rect">
            <a:avLst/>
          </a:prstGeom>
          <a:noFill/>
          <a:ln/>
        </p:spPr>
        <p:txBody>
          <a:bodyPr wrap="square" lIns="0" tIns="0" rIns="0" bIns="0" rtlCol="0" anchor="t"/>
          <a:lstStyle/>
          <a:p>
            <a:pPr algn="l" indent="0" marL="0">
              <a:lnSpc>
                <a:spcPts val="1400"/>
              </a:lnSpc>
              <a:spcAft>
                <a:spcPts val="300"/>
              </a:spcAft>
              <a:buNone/>
            </a:pPr>
            <a:r>
              <a:rPr lang="en-US" sz="1000" dirty="0">
                <a:solidFill>
                  <a:srgbClr val="E2E8F0"/>
                </a:solidFill>
                <a:latin typeface="Arial" pitchFamily="34" charset="0"/>
                <a:ea typeface="Arial" pitchFamily="34" charset="-122"/>
                <a:cs typeface="Arial" pitchFamily="34" charset="-120"/>
              </a:rPr>
              <a:t>This is our target for automation feasibility</a:t>
            </a:r>
            <a:endParaRPr lang="en-US" sz="1000" dirty="0"/>
          </a:p>
        </p:txBody>
      </p:sp>
      <p:sp>
        <p:nvSpPr>
          <p:cNvPr id="22" name="Text 19"/>
          <p:cNvSpPr/>
          <p:nvPr/>
        </p:nvSpPr>
        <p:spPr>
          <a:xfrm>
            <a:off x="4698950" y="2371874"/>
            <a:ext cx="4067607" cy="159990"/>
          </a:xfrm>
          <a:prstGeom prst="rect">
            <a:avLst/>
          </a:prstGeom>
          <a:noFill/>
          <a:ln/>
        </p:spPr>
        <p:txBody>
          <a:bodyPr wrap="square" lIns="0" tIns="0" rIns="0" bIns="0" rtlCol="0" anchor="t"/>
          <a:lstStyle/>
          <a:p>
            <a:pPr algn="l" indent="0" marL="0">
              <a:lnSpc>
                <a:spcPts val="1260"/>
              </a:lnSpc>
              <a:spcAft>
                <a:spcPts val="600"/>
              </a:spcAft>
              <a:buNone/>
            </a:pPr>
            <a:r>
              <a:rPr lang="en-US" sz="900" dirty="0">
                <a:solidFill>
                  <a:srgbClr val="94A3B8"/>
                </a:solidFill>
                <a:latin typeface="Arial" pitchFamily="34" charset="0"/>
                <a:ea typeface="Arial" pitchFamily="34" charset="-122"/>
                <a:cs typeface="Arial" pitchFamily="34" charset="-120"/>
              </a:rPr>
              <a:t>HIERARCHICAL RELATIONSHIPS</a:t>
            </a:r>
            <a:endParaRPr lang="en-US" sz="900" dirty="0"/>
          </a:p>
        </p:txBody>
      </p:sp>
      <p:sp>
        <p:nvSpPr>
          <p:cNvPr id="23" name="Text 20"/>
          <p:cNvSpPr/>
          <p:nvPr/>
        </p:nvSpPr>
        <p:spPr>
          <a:xfrm>
            <a:off x="4698950" y="2608064"/>
            <a:ext cx="3987850" cy="1079004"/>
          </a:xfrm>
          <a:prstGeom prst="rect">
            <a:avLst/>
          </a:prstGeom>
          <a:solidFill>
            <a:srgbClr val="00B4D8">
              <a:alpha val="8000"/>
            </a:srgbClr>
          </a:solidFill>
          <a:ln/>
        </p:spPr>
        <p:txBody>
          <a:bodyPr wrap="square" rtlCol="0" anchor="ctr"/>
          <a:lstStyle/>
          <a:p>
            <a:pPr indent="0" marL="0">
              <a:buNone/>
            </a:pPr>
            <a:endParaRPr lang="en-US" dirty="0"/>
          </a:p>
        </p:txBody>
      </p:sp>
      <p:sp>
        <p:nvSpPr>
          <p:cNvPr id="24" name="Shape 21"/>
          <p:cNvSpPr/>
          <p:nvPr/>
        </p:nvSpPr>
        <p:spPr>
          <a:xfrm>
            <a:off x="4722763" y="2608064"/>
            <a:ext cx="0" cy="1079004"/>
          </a:xfrm>
          <a:prstGeom prst="line">
            <a:avLst/>
          </a:prstGeom>
          <a:noFill/>
          <a:ln w="47625">
            <a:solidFill>
              <a:srgbClr val="00B4D8"/>
            </a:solidFill>
            <a:prstDash val="solid"/>
          </a:ln>
        </p:spPr>
      </p:sp>
      <p:sp>
        <p:nvSpPr>
          <p:cNvPr id="25" name="Text 22"/>
          <p:cNvSpPr/>
          <p:nvPr/>
        </p:nvSpPr>
        <p:spPr>
          <a:xfrm>
            <a:off x="4924276" y="2735014"/>
            <a:ext cx="3656520" cy="177701"/>
          </a:xfrm>
          <a:prstGeom prst="rect">
            <a:avLst/>
          </a:prstGeom>
          <a:noFill/>
          <a:ln/>
        </p:spPr>
        <p:txBody>
          <a:bodyPr wrap="square" lIns="0" tIns="0" rIns="0" bIns="0" rtlCol="0" anchor="t"/>
          <a:lstStyle/>
          <a:p>
            <a:pPr algn="l" indent="0" marL="0">
              <a:lnSpc>
                <a:spcPts val="1400"/>
              </a:lnSpc>
              <a:spcAft>
                <a:spcPts val="300"/>
              </a:spcAft>
              <a:buNone/>
            </a:pPr>
            <a:r>
              <a:rPr lang="en-US" sz="1000" b="1" dirty="0">
                <a:solidFill>
                  <a:srgbClr val="E2E8F0"/>
                </a:solidFill>
                <a:latin typeface="Arial" pitchFamily="34" charset="0"/>
                <a:ea typeface="Arial" pitchFamily="34" charset="-122"/>
                <a:cs typeface="Arial" pitchFamily="34" charset="-120"/>
              </a:rPr>
              <a:t>IS-A:</a:t>
            </a:r>
            <a:pPr algn="l" indent="0" marL="0">
              <a:lnSpc>
                <a:spcPts val="1400"/>
              </a:lnSpc>
              <a:spcAft>
                <a:spcPts val="300"/>
              </a:spcAft>
              <a:buNone/>
            </a:pPr>
            <a:r>
              <a:rPr lang="en-US" sz="1000" dirty="0">
                <a:solidFill>
                  <a:srgbClr val="E2E8F0"/>
                </a:solidFill>
                <a:latin typeface="Arial" pitchFamily="34" charset="0"/>
                <a:ea typeface="Arial" pitchFamily="34" charset="-122"/>
                <a:cs typeface="Arial" pitchFamily="34" charset="-120"/>
              </a:rPr>
              <a:t> "MTD for Lack of SMJ" IS-A "Motion to Dismiss"</a:t>
            </a:r>
            <a:endParaRPr lang="en-US" sz="1000" dirty="0"/>
          </a:p>
        </p:txBody>
      </p:sp>
      <p:sp>
        <p:nvSpPr>
          <p:cNvPr id="26" name="Text 23"/>
          <p:cNvSpPr/>
          <p:nvPr/>
        </p:nvSpPr>
        <p:spPr>
          <a:xfrm>
            <a:off x="4924276" y="2950815"/>
            <a:ext cx="3656520" cy="177701"/>
          </a:xfrm>
          <a:prstGeom prst="rect">
            <a:avLst/>
          </a:prstGeom>
          <a:noFill/>
          <a:ln/>
        </p:spPr>
        <p:txBody>
          <a:bodyPr wrap="square" lIns="0" tIns="0" rIns="0" bIns="0" rtlCol="0" anchor="t"/>
          <a:lstStyle/>
          <a:p>
            <a:pPr algn="l" indent="0" marL="0">
              <a:lnSpc>
                <a:spcPts val="1400"/>
              </a:lnSpc>
              <a:spcAft>
                <a:spcPts val="300"/>
              </a:spcAft>
              <a:buNone/>
            </a:pPr>
            <a:r>
              <a:rPr lang="en-US" sz="1000" b="1" dirty="0">
                <a:solidFill>
                  <a:srgbClr val="E2E8F0"/>
                </a:solidFill>
                <a:latin typeface="Arial" pitchFamily="34" charset="0"/>
                <a:ea typeface="Arial" pitchFamily="34" charset="-122"/>
                <a:cs typeface="Arial" pitchFamily="34" charset="-120"/>
              </a:rPr>
              <a:t>DEPENDS-ON:</a:t>
            </a:r>
            <a:pPr algn="l" indent="0" marL="0">
              <a:lnSpc>
                <a:spcPts val="1400"/>
              </a:lnSpc>
              <a:spcAft>
                <a:spcPts val="300"/>
              </a:spcAft>
              <a:buNone/>
            </a:pPr>
            <a:r>
              <a:rPr lang="en-US" sz="1000" dirty="0">
                <a:solidFill>
                  <a:srgbClr val="E2E8F0"/>
                </a:solidFill>
                <a:latin typeface="Arial" pitchFamily="34" charset="0"/>
                <a:ea typeface="Arial" pitchFamily="34" charset="-122"/>
                <a:cs typeface="Arial" pitchFamily="34" charset="-120"/>
              </a:rPr>
              <a:t> "Motion to Post Bond" requires "On Appeal"</a:t>
            </a:r>
            <a:endParaRPr lang="en-US" sz="1000" dirty="0"/>
          </a:p>
        </p:txBody>
      </p:sp>
      <p:sp>
        <p:nvSpPr>
          <p:cNvPr id="27" name="Text 24"/>
          <p:cNvSpPr/>
          <p:nvPr/>
        </p:nvSpPr>
        <p:spPr>
          <a:xfrm>
            <a:off x="4924276" y="3166616"/>
            <a:ext cx="3656520" cy="355402"/>
          </a:xfrm>
          <a:prstGeom prst="rect">
            <a:avLst/>
          </a:prstGeom>
          <a:noFill/>
          <a:ln/>
        </p:spPr>
        <p:txBody>
          <a:bodyPr wrap="square" lIns="0" tIns="0" rIns="0" bIns="0" rtlCol="0" anchor="t"/>
          <a:lstStyle/>
          <a:p>
            <a:pPr algn="l" indent="0" marL="0">
              <a:lnSpc>
                <a:spcPts val="1400"/>
              </a:lnSpc>
              <a:spcAft>
                <a:spcPts val="300"/>
              </a:spcAft>
              <a:buNone/>
            </a:pPr>
            <a:r>
              <a:rPr lang="en-US" sz="1000" b="1" dirty="0">
                <a:solidFill>
                  <a:srgbClr val="E2E8F0"/>
                </a:solidFill>
                <a:latin typeface="Arial" pitchFamily="34" charset="0"/>
                <a:ea typeface="Arial" pitchFamily="34" charset="-122"/>
                <a:cs typeface="Arial" pitchFamily="34" charset="-120"/>
              </a:rPr>
              <a:t>Implication:</a:t>
            </a:r>
            <a:pPr algn="l" indent="0" marL="0">
              <a:lnSpc>
                <a:spcPts val="1400"/>
              </a:lnSpc>
              <a:spcAft>
                <a:spcPts val="300"/>
              </a:spcAft>
              <a:buNone/>
            </a:pPr>
            <a:r>
              <a:rPr lang="en-US" sz="1000" dirty="0">
                <a:solidFill>
                  <a:srgbClr val="E2E8F0"/>
                </a:solidFill>
                <a:latin typeface="Arial" pitchFamily="34" charset="0"/>
                <a:ea typeface="Arial" pitchFamily="34" charset="-122"/>
                <a:cs typeface="Arial" pitchFamily="34" charset="-120"/>
              </a:rPr>
              <a:t> Confusing related postures is less severe than unrelated errors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253901"/>
            <a:ext cx="8394192" cy="295275"/>
          </a:xfrm>
          <a:prstGeom prst="rect">
            <a:avLst/>
          </a:prstGeom>
          <a:noFill/>
          <a:ln/>
        </p:spPr>
        <p:txBody>
          <a:bodyPr wrap="square" lIns="0" tIns="0" rIns="0" bIns="0" rtlCol="0" anchor="t"/>
          <a:lstStyle/>
          <a:p>
            <a:pPr algn="l" indent="0" marL="0">
              <a:buNone/>
            </a:pPr>
            <a:r>
              <a:rPr lang="en-US" sz="2000" b="1" dirty="0">
                <a:solidFill>
                  <a:srgbClr val="00B4D8"/>
                </a:solidFill>
                <a:latin typeface="Arial" pitchFamily="34" charset="0"/>
                <a:ea typeface="Arial" pitchFamily="34" charset="-122"/>
                <a:cs typeface="Arial" pitchFamily="34" charset="-120"/>
              </a:rPr>
              <a:t>Label Taxonomy: Relationships Between Postures</a:t>
            </a:r>
            <a:endParaRPr lang="en-US" sz="2000" dirty="0"/>
          </a:p>
        </p:txBody>
      </p:sp>
      <p:sp>
        <p:nvSpPr>
          <p:cNvPr id="4" name="Text 1"/>
          <p:cNvSpPr/>
          <p:nvPr/>
        </p:nvSpPr>
        <p:spPr>
          <a:xfrm>
            <a:off x="457200" y="650677"/>
            <a:ext cx="4465638" cy="140196"/>
          </a:xfrm>
          <a:prstGeom prst="rect">
            <a:avLst/>
          </a:prstGeom>
          <a:noFill/>
          <a:ln/>
        </p:spPr>
        <p:txBody>
          <a:bodyPr wrap="square" lIns="0" tIns="0" rIns="0" bIns="0" rtlCol="0" anchor="t"/>
          <a:lstStyle/>
          <a:p>
            <a:pPr algn="l" indent="0" marL="0">
              <a:lnSpc>
                <a:spcPts val="1105"/>
              </a:lnSpc>
              <a:spcAft>
                <a:spcPts val="500"/>
              </a:spcAft>
              <a:buNone/>
            </a:pPr>
            <a:r>
              <a:rPr lang="en-US" sz="850" dirty="0">
                <a:solidFill>
                  <a:srgbClr val="94A3B8"/>
                </a:solidFill>
                <a:latin typeface="Arial" pitchFamily="34" charset="0"/>
                <a:ea typeface="Arial" pitchFamily="34" charset="-122"/>
                <a:cs typeface="Arial" pitchFamily="34" charset="-120"/>
              </a:rPr>
              <a:t>HIERARCHICAL STRUCTURE</a:t>
            </a:r>
            <a:endParaRPr lang="en-US" sz="850" dirty="0"/>
          </a:p>
        </p:txBody>
      </p:sp>
      <p:sp>
        <p:nvSpPr>
          <p:cNvPr id="5" name="Text 2"/>
          <p:cNvSpPr/>
          <p:nvPr/>
        </p:nvSpPr>
        <p:spPr>
          <a:xfrm>
            <a:off x="457200" y="854273"/>
            <a:ext cx="4378077" cy="512713"/>
          </a:xfrm>
          <a:prstGeom prst="roundRect">
            <a:avLst>
              <a:gd name="adj" fmla="val 14862"/>
            </a:avLst>
          </a:prstGeom>
          <a:solidFill>
            <a:srgbClr val="00B4D8">
              <a:alpha val="10000"/>
            </a:srgbClr>
          </a:solidFill>
          <a:ln w="19050">
            <a:solidFill>
              <a:srgbClr val="00B4D8"/>
            </a:solidFill>
          </a:ln>
        </p:spPr>
        <p:txBody>
          <a:bodyPr wrap="square" rtlCol="0" anchor="ctr"/>
          <a:lstStyle/>
          <a:p>
            <a:pPr indent="0" marL="0">
              <a:buNone/>
            </a:pPr>
            <a:endParaRPr lang="en-US" dirty="0"/>
          </a:p>
        </p:txBody>
      </p:sp>
      <p:sp>
        <p:nvSpPr>
          <p:cNvPr id="6" name="Text 3"/>
          <p:cNvSpPr/>
          <p:nvPr/>
        </p:nvSpPr>
        <p:spPr>
          <a:xfrm>
            <a:off x="603200" y="949523"/>
            <a:ext cx="4167798" cy="164902"/>
          </a:xfrm>
          <a:prstGeom prst="rect">
            <a:avLst/>
          </a:prstGeom>
          <a:noFill/>
          <a:ln/>
        </p:spPr>
        <p:txBody>
          <a:bodyPr wrap="square" lIns="0" tIns="0" rIns="0" bIns="0" rtlCol="0" anchor="t"/>
          <a:lstStyle/>
          <a:p>
            <a:pPr algn="l" indent="0" marL="0">
              <a:lnSpc>
                <a:spcPts val="1300"/>
              </a:lnSpc>
              <a:spcAft>
                <a:spcPts val="200"/>
              </a:spcAft>
              <a:buNone/>
            </a:pPr>
            <a:r>
              <a:rPr lang="en-US" sz="1000" b="1" dirty="0">
                <a:solidFill>
                  <a:srgbClr val="00B4D8"/>
                </a:solidFill>
                <a:latin typeface="Arial" pitchFamily="34" charset="0"/>
                <a:ea typeface="Arial" pitchFamily="34" charset="-122"/>
                <a:cs typeface="Arial" pitchFamily="34" charset="-120"/>
              </a:rPr>
              <a:t>Stage (where in process)</a:t>
            </a:r>
            <a:endParaRPr lang="en-US" sz="1000" dirty="0"/>
          </a:p>
        </p:txBody>
      </p:sp>
      <p:sp>
        <p:nvSpPr>
          <p:cNvPr id="7" name="Text 4"/>
          <p:cNvSpPr/>
          <p:nvPr/>
        </p:nvSpPr>
        <p:spPr>
          <a:xfrm>
            <a:off x="603200" y="1139726"/>
            <a:ext cx="4167798" cy="132011"/>
          </a:xfrm>
          <a:prstGeom prst="rect">
            <a:avLst/>
          </a:prstGeom>
          <a:noFill/>
          <a:ln/>
        </p:spPr>
        <p:txBody>
          <a:bodyPr wrap="square" lIns="0" tIns="0" rIns="0" bIns="0" rtlCol="0" anchor="t"/>
          <a:lstStyle/>
          <a:p>
            <a:pPr algn="l" indent="0" marL="0">
              <a:lnSpc>
                <a:spcPts val="1040"/>
              </a:lnSpc>
              <a:buNone/>
            </a:pPr>
            <a:r>
              <a:rPr lang="en-US" sz="800" dirty="0">
                <a:solidFill>
                  <a:srgbClr val="94A3B8"/>
                </a:solidFill>
                <a:latin typeface="Arial" pitchFamily="34" charset="0"/>
                <a:ea typeface="Arial" pitchFamily="34" charset="-122"/>
                <a:cs typeface="Arial" pitchFamily="34" charset="-120"/>
              </a:rPr>
              <a:t>On Appeal, Appellate Review, Review of Admin Decision</a:t>
            </a:r>
            <a:endParaRPr lang="en-US" sz="800" dirty="0"/>
          </a:p>
        </p:txBody>
      </p:sp>
      <p:sp>
        <p:nvSpPr>
          <p:cNvPr id="8" name="Text 5"/>
          <p:cNvSpPr/>
          <p:nvPr/>
        </p:nvSpPr>
        <p:spPr>
          <a:xfrm>
            <a:off x="457200" y="1430387"/>
            <a:ext cx="4378077" cy="512713"/>
          </a:xfrm>
          <a:prstGeom prst="roundRect">
            <a:avLst>
              <a:gd name="adj" fmla="val 14862"/>
            </a:avLst>
          </a:prstGeom>
          <a:solidFill>
            <a:srgbClr val="EAB308">
              <a:alpha val="10000"/>
            </a:srgbClr>
          </a:solidFill>
          <a:ln w="19050">
            <a:solidFill>
              <a:srgbClr val="EAB308"/>
            </a:solidFill>
          </a:ln>
        </p:spPr>
        <p:txBody>
          <a:bodyPr wrap="square" rtlCol="0" anchor="ctr"/>
          <a:lstStyle/>
          <a:p>
            <a:pPr indent="0" marL="0">
              <a:buNone/>
            </a:pPr>
            <a:endParaRPr lang="en-US" dirty="0"/>
          </a:p>
        </p:txBody>
      </p:sp>
      <p:sp>
        <p:nvSpPr>
          <p:cNvPr id="9" name="Text 6"/>
          <p:cNvSpPr/>
          <p:nvPr/>
        </p:nvSpPr>
        <p:spPr>
          <a:xfrm>
            <a:off x="603200" y="1525637"/>
            <a:ext cx="4167798" cy="164902"/>
          </a:xfrm>
          <a:prstGeom prst="rect">
            <a:avLst/>
          </a:prstGeom>
          <a:noFill/>
          <a:ln/>
        </p:spPr>
        <p:txBody>
          <a:bodyPr wrap="square" lIns="0" tIns="0" rIns="0" bIns="0" rtlCol="0" anchor="t"/>
          <a:lstStyle/>
          <a:p>
            <a:pPr algn="l" indent="0" marL="0">
              <a:lnSpc>
                <a:spcPts val="1300"/>
              </a:lnSpc>
              <a:spcAft>
                <a:spcPts val="200"/>
              </a:spcAft>
              <a:buNone/>
            </a:pPr>
            <a:r>
              <a:rPr lang="en-US" sz="1000" b="1" dirty="0">
                <a:solidFill>
                  <a:srgbClr val="EAB308"/>
                </a:solidFill>
                <a:latin typeface="Arial" pitchFamily="34" charset="0"/>
                <a:ea typeface="Arial" pitchFamily="34" charset="-122"/>
                <a:cs typeface="Arial" pitchFamily="34" charset="-120"/>
              </a:rPr>
              <a:t>Motion Type (what action)</a:t>
            </a:r>
            <a:endParaRPr lang="en-US" sz="1000" dirty="0"/>
          </a:p>
        </p:txBody>
      </p:sp>
      <p:sp>
        <p:nvSpPr>
          <p:cNvPr id="10" name="Text 7"/>
          <p:cNvSpPr/>
          <p:nvPr/>
        </p:nvSpPr>
        <p:spPr>
          <a:xfrm>
            <a:off x="603200" y="1715839"/>
            <a:ext cx="4167798" cy="132011"/>
          </a:xfrm>
          <a:prstGeom prst="rect">
            <a:avLst/>
          </a:prstGeom>
          <a:noFill/>
          <a:ln/>
        </p:spPr>
        <p:txBody>
          <a:bodyPr wrap="square" lIns="0" tIns="0" rIns="0" bIns="0" rtlCol="0" anchor="t"/>
          <a:lstStyle/>
          <a:p>
            <a:pPr algn="l" indent="0" marL="0">
              <a:lnSpc>
                <a:spcPts val="1040"/>
              </a:lnSpc>
              <a:buNone/>
            </a:pPr>
            <a:r>
              <a:rPr lang="en-US" sz="800" dirty="0">
                <a:solidFill>
                  <a:srgbClr val="94A3B8"/>
                </a:solidFill>
                <a:latin typeface="Arial" pitchFamily="34" charset="0"/>
                <a:ea typeface="Arial" pitchFamily="34" charset="-122"/>
                <a:cs typeface="Arial" pitchFamily="34" charset="-120"/>
              </a:rPr>
              <a:t>Motion to Dismiss, Motion for Summary Judgment, Motion for Attorney's Fees</a:t>
            </a:r>
            <a:endParaRPr lang="en-US" sz="800" dirty="0"/>
          </a:p>
        </p:txBody>
      </p:sp>
      <p:sp>
        <p:nvSpPr>
          <p:cNvPr id="11" name="Shape 8"/>
          <p:cNvSpPr/>
          <p:nvPr/>
        </p:nvSpPr>
        <p:spPr>
          <a:xfrm>
            <a:off x="584150" y="2081064"/>
            <a:ext cx="253901" cy="0"/>
          </a:xfrm>
          <a:prstGeom prst="line">
            <a:avLst/>
          </a:prstGeom>
          <a:noFill/>
          <a:ln w="19050">
            <a:solidFill>
              <a:srgbClr val="E76F51"/>
            </a:solidFill>
            <a:prstDash val="solid"/>
          </a:ln>
        </p:spPr>
      </p:sp>
      <p:sp>
        <p:nvSpPr>
          <p:cNvPr id="12" name="Text 9"/>
          <p:cNvSpPr/>
          <p:nvPr/>
        </p:nvSpPr>
        <p:spPr>
          <a:xfrm>
            <a:off x="901452" y="2019151"/>
            <a:ext cx="194310" cy="123825"/>
          </a:xfrm>
          <a:prstGeom prst="rect">
            <a:avLst/>
          </a:prstGeom>
          <a:noFill/>
          <a:ln/>
        </p:spPr>
        <p:txBody>
          <a:bodyPr wrap="square" lIns="0" tIns="0" rIns="0" bIns="0" rtlCol="0" anchor="t"/>
          <a:lstStyle/>
          <a:p>
            <a:pPr algn="l" indent="0" marL="0">
              <a:lnSpc>
                <a:spcPts val="975"/>
              </a:lnSpc>
              <a:buNone/>
            </a:pPr>
            <a:r>
              <a:rPr lang="en-US" sz="750" b="1" dirty="0">
                <a:solidFill>
                  <a:srgbClr val="E76F51"/>
                </a:solidFill>
                <a:latin typeface="Arial" pitchFamily="34" charset="0"/>
                <a:ea typeface="Arial" pitchFamily="34" charset="-122"/>
                <a:cs typeface="Arial" pitchFamily="34" charset="-120"/>
              </a:rPr>
              <a:t>IS-A</a:t>
            </a:r>
            <a:endParaRPr lang="en-US" sz="750" dirty="0"/>
          </a:p>
        </p:txBody>
      </p:sp>
      <p:sp>
        <p:nvSpPr>
          <p:cNvPr id="13" name="Text 10"/>
          <p:cNvSpPr/>
          <p:nvPr/>
        </p:nvSpPr>
        <p:spPr>
          <a:xfrm>
            <a:off x="762000" y="2219027"/>
            <a:ext cx="4073277" cy="644723"/>
          </a:xfrm>
          <a:prstGeom prst="roundRect">
            <a:avLst>
              <a:gd name="adj" fmla="val 11819"/>
            </a:avLst>
          </a:prstGeom>
          <a:solidFill>
            <a:srgbClr val="E76F51">
              <a:alpha val="10000"/>
            </a:srgbClr>
          </a:solidFill>
          <a:ln w="19050">
            <a:solidFill>
              <a:srgbClr val="E76F51"/>
            </a:solidFill>
          </a:ln>
        </p:spPr>
        <p:txBody>
          <a:bodyPr wrap="square" rtlCol="0" anchor="ctr"/>
          <a:lstStyle/>
          <a:p>
            <a:pPr indent="0" marL="0">
              <a:buNone/>
            </a:pPr>
            <a:endParaRPr lang="en-US" dirty="0"/>
          </a:p>
        </p:txBody>
      </p:sp>
      <p:sp>
        <p:nvSpPr>
          <p:cNvPr id="14" name="Text 11"/>
          <p:cNvSpPr/>
          <p:nvPr/>
        </p:nvSpPr>
        <p:spPr>
          <a:xfrm>
            <a:off x="908000" y="2314277"/>
            <a:ext cx="3856902" cy="164902"/>
          </a:xfrm>
          <a:prstGeom prst="rect">
            <a:avLst/>
          </a:prstGeom>
          <a:noFill/>
          <a:ln/>
        </p:spPr>
        <p:txBody>
          <a:bodyPr wrap="square" lIns="0" tIns="0" rIns="0" bIns="0" rtlCol="0" anchor="t"/>
          <a:lstStyle/>
          <a:p>
            <a:pPr algn="l" indent="0" marL="0">
              <a:lnSpc>
                <a:spcPts val="1300"/>
              </a:lnSpc>
              <a:spcAft>
                <a:spcPts val="200"/>
              </a:spcAft>
              <a:buNone/>
            </a:pPr>
            <a:r>
              <a:rPr lang="en-US" sz="1000" b="1" dirty="0">
                <a:solidFill>
                  <a:srgbClr val="E76F51"/>
                </a:solidFill>
                <a:latin typeface="Arial" pitchFamily="34" charset="0"/>
                <a:ea typeface="Arial" pitchFamily="34" charset="-122"/>
                <a:cs typeface="Arial" pitchFamily="34" charset="-120"/>
              </a:rPr>
              <a:t>Specific Motion (narrower)</a:t>
            </a:r>
            <a:endParaRPr lang="en-US" sz="1000" dirty="0"/>
          </a:p>
        </p:txBody>
      </p:sp>
      <p:sp>
        <p:nvSpPr>
          <p:cNvPr id="15" name="Text 12"/>
          <p:cNvSpPr/>
          <p:nvPr/>
        </p:nvSpPr>
        <p:spPr>
          <a:xfrm>
            <a:off x="908000" y="2504480"/>
            <a:ext cx="3856902" cy="264021"/>
          </a:xfrm>
          <a:prstGeom prst="rect">
            <a:avLst/>
          </a:prstGeom>
          <a:noFill/>
          <a:ln/>
        </p:spPr>
        <p:txBody>
          <a:bodyPr wrap="square" lIns="0" tIns="0" rIns="0" bIns="0" rtlCol="0" anchor="t"/>
          <a:lstStyle/>
          <a:p>
            <a:pPr algn="l" indent="0" marL="0">
              <a:lnSpc>
                <a:spcPts val="1040"/>
              </a:lnSpc>
              <a:buNone/>
            </a:pPr>
            <a:r>
              <a:rPr lang="en-US" sz="800" dirty="0">
                <a:solidFill>
                  <a:srgbClr val="94A3B8"/>
                </a:solidFill>
                <a:latin typeface="Arial" pitchFamily="34" charset="0"/>
                <a:ea typeface="Arial" pitchFamily="34" charset="-122"/>
                <a:cs typeface="Arial" pitchFamily="34" charset="-120"/>
              </a:rPr>
              <a:t>MTD for Lack of SMJ, MTD for Lack of Personal Jurisdiction, MTD for Lack of Standing</a:t>
            </a:r>
            <a:endParaRPr lang="en-US" sz="800" dirty="0"/>
          </a:p>
        </p:txBody>
      </p:sp>
      <p:sp>
        <p:nvSpPr>
          <p:cNvPr id="16" name="Shape 13"/>
          <p:cNvSpPr/>
          <p:nvPr/>
        </p:nvSpPr>
        <p:spPr>
          <a:xfrm>
            <a:off x="584150" y="3001714"/>
            <a:ext cx="253901" cy="0"/>
          </a:xfrm>
          <a:prstGeom prst="line">
            <a:avLst/>
          </a:prstGeom>
          <a:noFill/>
          <a:ln w="19050">
            <a:solidFill>
              <a:srgbClr val="8B5CF6"/>
            </a:solidFill>
            <a:prstDash val="solid"/>
          </a:ln>
        </p:spPr>
      </p:sp>
      <p:sp>
        <p:nvSpPr>
          <p:cNvPr id="17" name="Text 14"/>
          <p:cNvSpPr/>
          <p:nvPr/>
        </p:nvSpPr>
        <p:spPr>
          <a:xfrm>
            <a:off x="901452" y="2939802"/>
            <a:ext cx="647902" cy="123825"/>
          </a:xfrm>
          <a:prstGeom prst="rect">
            <a:avLst/>
          </a:prstGeom>
          <a:noFill/>
          <a:ln/>
        </p:spPr>
        <p:txBody>
          <a:bodyPr wrap="square" lIns="0" tIns="0" rIns="0" bIns="0" rtlCol="0" anchor="t"/>
          <a:lstStyle/>
          <a:p>
            <a:pPr algn="l" indent="0" marL="0">
              <a:lnSpc>
                <a:spcPts val="975"/>
              </a:lnSpc>
              <a:buNone/>
            </a:pPr>
            <a:r>
              <a:rPr lang="en-US" sz="750" b="1" dirty="0">
                <a:solidFill>
                  <a:srgbClr val="8B5CF6"/>
                </a:solidFill>
                <a:latin typeface="Arial" pitchFamily="34" charset="0"/>
                <a:ea typeface="Arial" pitchFamily="34" charset="-122"/>
                <a:cs typeface="Arial" pitchFamily="34" charset="-120"/>
              </a:rPr>
              <a:t>DEPENDS-ON</a:t>
            </a:r>
            <a:endParaRPr lang="en-US" sz="750" dirty="0"/>
          </a:p>
        </p:txBody>
      </p:sp>
      <p:sp>
        <p:nvSpPr>
          <p:cNvPr id="18" name="Text 15"/>
          <p:cNvSpPr/>
          <p:nvPr/>
        </p:nvSpPr>
        <p:spPr>
          <a:xfrm>
            <a:off x="1600051" y="2943969"/>
            <a:ext cx="2315325" cy="115491"/>
          </a:xfrm>
          <a:prstGeom prst="rect">
            <a:avLst/>
          </a:prstGeom>
          <a:noFill/>
          <a:ln/>
        </p:spPr>
        <p:txBody>
          <a:bodyPr wrap="square" lIns="0" tIns="0" rIns="0" bIns="0" rtlCol="0" anchor="t"/>
          <a:lstStyle/>
          <a:p>
            <a:pPr algn="l" indent="0" marL="0">
              <a:lnSpc>
                <a:spcPts val="910"/>
              </a:lnSpc>
              <a:buNone/>
            </a:pPr>
            <a:r>
              <a:rPr lang="en-US" sz="700" b="1" dirty="0">
                <a:solidFill>
                  <a:srgbClr val="94A3B8"/>
                </a:solidFill>
                <a:latin typeface="Arial" pitchFamily="34" charset="0"/>
                <a:ea typeface="Arial" pitchFamily="34" charset="-122"/>
                <a:cs typeface="Arial" pitchFamily="34" charset="-120"/>
              </a:rPr>
              <a:t>(e.g., Appellate Review (Criminal) requires On Appeal)</a:t>
            </a:r>
            <a:endParaRPr lang="en-US" sz="700" dirty="0"/>
          </a:p>
        </p:txBody>
      </p:sp>
      <p:sp>
        <p:nvSpPr>
          <p:cNvPr id="19" name="Text 16"/>
          <p:cNvSpPr/>
          <p:nvPr/>
        </p:nvSpPr>
        <p:spPr>
          <a:xfrm>
            <a:off x="457200" y="3139678"/>
            <a:ext cx="4378077" cy="512713"/>
          </a:xfrm>
          <a:prstGeom prst="roundRect">
            <a:avLst>
              <a:gd name="adj" fmla="val 14862"/>
            </a:avLst>
          </a:prstGeom>
          <a:solidFill>
            <a:srgbClr val="8B5CF6">
              <a:alpha val="10000"/>
            </a:srgbClr>
          </a:solidFill>
          <a:ln w="19050">
            <a:solidFill>
              <a:srgbClr val="8B5CF6"/>
            </a:solidFill>
          </a:ln>
        </p:spPr>
        <p:txBody>
          <a:bodyPr wrap="square" rtlCol="0" anchor="ctr"/>
          <a:lstStyle/>
          <a:p>
            <a:pPr indent="0" marL="0">
              <a:buNone/>
            </a:pPr>
            <a:endParaRPr lang="en-US" dirty="0"/>
          </a:p>
        </p:txBody>
      </p:sp>
      <p:sp>
        <p:nvSpPr>
          <p:cNvPr id="20" name="Text 17"/>
          <p:cNvSpPr/>
          <p:nvPr/>
        </p:nvSpPr>
        <p:spPr>
          <a:xfrm>
            <a:off x="603200" y="3234928"/>
            <a:ext cx="4167798" cy="164902"/>
          </a:xfrm>
          <a:prstGeom prst="rect">
            <a:avLst/>
          </a:prstGeom>
          <a:noFill/>
          <a:ln/>
        </p:spPr>
        <p:txBody>
          <a:bodyPr wrap="square" lIns="0" tIns="0" rIns="0" bIns="0" rtlCol="0" anchor="t"/>
          <a:lstStyle/>
          <a:p>
            <a:pPr algn="l" indent="0" marL="0">
              <a:lnSpc>
                <a:spcPts val="1300"/>
              </a:lnSpc>
              <a:spcAft>
                <a:spcPts val="200"/>
              </a:spcAft>
              <a:buNone/>
            </a:pPr>
            <a:r>
              <a:rPr lang="en-US" sz="1000" b="1" dirty="0">
                <a:solidFill>
                  <a:srgbClr val="8B5CF6"/>
                </a:solidFill>
                <a:latin typeface="Arial" pitchFamily="34" charset="0"/>
                <a:ea typeface="Arial" pitchFamily="34" charset="-122"/>
                <a:cs typeface="Arial" pitchFamily="34" charset="-120"/>
              </a:rPr>
              <a:t>Proceeding Type (domain)</a:t>
            </a:r>
            <a:endParaRPr lang="en-US" sz="1000" dirty="0"/>
          </a:p>
        </p:txBody>
      </p:sp>
      <p:sp>
        <p:nvSpPr>
          <p:cNvPr id="21" name="Text 18"/>
          <p:cNvSpPr/>
          <p:nvPr/>
        </p:nvSpPr>
        <p:spPr>
          <a:xfrm>
            <a:off x="603200" y="3425130"/>
            <a:ext cx="4167798" cy="132011"/>
          </a:xfrm>
          <a:prstGeom prst="rect">
            <a:avLst/>
          </a:prstGeom>
          <a:noFill/>
          <a:ln/>
        </p:spPr>
        <p:txBody>
          <a:bodyPr wrap="square" lIns="0" tIns="0" rIns="0" bIns="0" rtlCol="0" anchor="t"/>
          <a:lstStyle/>
          <a:p>
            <a:pPr algn="l" indent="0" marL="0">
              <a:lnSpc>
                <a:spcPts val="1040"/>
              </a:lnSpc>
              <a:buNone/>
            </a:pPr>
            <a:r>
              <a:rPr lang="en-US" sz="800" dirty="0">
                <a:solidFill>
                  <a:srgbClr val="94A3B8"/>
                </a:solidFill>
                <a:latin typeface="Arial" pitchFamily="34" charset="0"/>
                <a:ea typeface="Arial" pitchFamily="34" charset="-122"/>
                <a:cs typeface="Arial" pitchFamily="34" charset="-120"/>
              </a:rPr>
              <a:t>Family Law, Criminal, Bankruptcy, Workers' Compensation</a:t>
            </a:r>
            <a:endParaRPr lang="en-US" sz="800" dirty="0"/>
          </a:p>
        </p:txBody>
      </p:sp>
      <p:sp>
        <p:nvSpPr>
          <p:cNvPr id="22" name="Text 19"/>
          <p:cNvSpPr/>
          <p:nvPr/>
        </p:nvSpPr>
        <p:spPr>
          <a:xfrm>
            <a:off x="5038427" y="650677"/>
            <a:ext cx="3721340" cy="140196"/>
          </a:xfrm>
          <a:prstGeom prst="rect">
            <a:avLst/>
          </a:prstGeom>
          <a:noFill/>
          <a:ln/>
        </p:spPr>
        <p:txBody>
          <a:bodyPr wrap="square" lIns="0" tIns="0" rIns="0" bIns="0" rtlCol="0" anchor="t"/>
          <a:lstStyle/>
          <a:p>
            <a:pPr algn="l" indent="0" marL="0">
              <a:lnSpc>
                <a:spcPts val="1105"/>
              </a:lnSpc>
              <a:spcAft>
                <a:spcPts val="500"/>
              </a:spcAft>
              <a:buNone/>
            </a:pPr>
            <a:r>
              <a:rPr lang="en-US" sz="850" dirty="0">
                <a:solidFill>
                  <a:srgbClr val="94A3B8"/>
                </a:solidFill>
                <a:latin typeface="Arial" pitchFamily="34" charset="0"/>
                <a:ea typeface="Arial" pitchFamily="34" charset="-122"/>
                <a:cs typeface="Arial" pitchFamily="34" charset="-120"/>
              </a:rPr>
              <a:t>KEY FINDINGS FROM CO-OCCURRENCE ANALYSIS</a:t>
            </a:r>
            <a:endParaRPr lang="en-US" sz="850" dirty="0"/>
          </a:p>
        </p:txBody>
      </p:sp>
      <p:sp>
        <p:nvSpPr>
          <p:cNvPr id="23" name="Text 20"/>
          <p:cNvSpPr/>
          <p:nvPr/>
        </p:nvSpPr>
        <p:spPr>
          <a:xfrm>
            <a:off x="5038427" y="930473"/>
            <a:ext cx="3648373" cy="888206"/>
          </a:xfrm>
          <a:prstGeom prst="roundRect">
            <a:avLst>
              <a:gd name="adj" fmla="val 8579"/>
            </a:avLst>
          </a:prstGeom>
          <a:solidFill>
            <a:srgbClr val="E76F51">
              <a:alpha val="8000"/>
            </a:srgbClr>
          </a:solidFill>
          <a:ln w="9525">
            <a:solidFill>
              <a:srgbClr val="E76F51"/>
            </a:solidFill>
          </a:ln>
        </p:spPr>
        <p:txBody>
          <a:bodyPr wrap="square" rtlCol="0" anchor="ctr"/>
          <a:lstStyle/>
          <a:p>
            <a:pPr indent="0" marL="0">
              <a:buNone/>
            </a:pPr>
            <a:endParaRPr lang="en-US" dirty="0"/>
          </a:p>
        </p:txBody>
      </p:sp>
      <p:sp>
        <p:nvSpPr>
          <p:cNvPr id="24" name="Text 21"/>
          <p:cNvSpPr/>
          <p:nvPr/>
        </p:nvSpPr>
        <p:spPr>
          <a:xfrm>
            <a:off x="5174903" y="1028849"/>
            <a:ext cx="3442930" cy="156865"/>
          </a:xfrm>
          <a:prstGeom prst="rect">
            <a:avLst/>
          </a:prstGeom>
          <a:noFill/>
          <a:ln/>
        </p:spPr>
        <p:txBody>
          <a:bodyPr wrap="square" lIns="0" tIns="0" rIns="0" bIns="0" rtlCol="0" anchor="t"/>
          <a:lstStyle/>
          <a:p>
            <a:pPr algn="l" indent="0" marL="0">
              <a:lnSpc>
                <a:spcPts val="1235"/>
              </a:lnSpc>
              <a:spcAft>
                <a:spcPts val="300"/>
              </a:spcAft>
              <a:buNone/>
            </a:pPr>
            <a:r>
              <a:rPr lang="en-US" sz="950" b="1" dirty="0">
                <a:solidFill>
                  <a:srgbClr val="E76F51"/>
                </a:solidFill>
                <a:latin typeface="Arial" pitchFamily="34" charset="0"/>
                <a:ea typeface="Arial" pitchFamily="34" charset="-122"/>
                <a:cs typeface="Arial" pitchFamily="34" charset="-120"/>
              </a:rPr>
              <a:t>Sparse Labeling (Specific Motions)</a:t>
            </a:r>
            <a:endParaRPr lang="en-US" sz="950" dirty="0"/>
          </a:p>
        </p:txBody>
      </p:sp>
      <p:sp>
        <p:nvSpPr>
          <p:cNvPr id="25" name="Text 22"/>
          <p:cNvSpPr/>
          <p:nvPr/>
        </p:nvSpPr>
        <p:spPr>
          <a:xfrm>
            <a:off x="5174903" y="1223814"/>
            <a:ext cx="3442930" cy="140196"/>
          </a:xfrm>
          <a:prstGeom prst="rect">
            <a:avLst/>
          </a:prstGeom>
          <a:noFill/>
          <a:ln/>
        </p:spPr>
        <p:txBody>
          <a:bodyPr wrap="square" lIns="0" tIns="0" rIns="0" bIns="0" rtlCol="0" anchor="t"/>
          <a:lstStyle/>
          <a:p>
            <a:pPr algn="l" indent="0" marL="0">
              <a:lnSpc>
                <a:spcPts val="1105"/>
              </a:lnSpc>
              <a:spcAft>
                <a:spcPts val="200"/>
              </a:spcAft>
              <a:buNone/>
            </a:pPr>
            <a:r>
              <a:rPr lang="en-US" sz="850" dirty="0">
                <a:solidFill>
                  <a:srgbClr val="94A3B8"/>
                </a:solidFill>
                <a:latin typeface="Arial" pitchFamily="34" charset="0"/>
                <a:ea typeface="Arial" pitchFamily="34" charset="-122"/>
                <a:cs typeface="Arial" pitchFamily="34" charset="-120"/>
              </a:rPr>
              <a:t>IS-A children co-occur with parent only </a:t>
            </a:r>
            <a:pPr algn="l" indent="0" marL="0">
              <a:lnSpc>
                <a:spcPts val="1105"/>
              </a:lnSpc>
              <a:spcAft>
                <a:spcPts val="200"/>
              </a:spcAft>
              <a:buNone/>
            </a:pPr>
            <a:r>
              <a:rPr lang="en-US" sz="850" b="1" dirty="0">
                <a:solidFill>
                  <a:srgbClr val="E2E8F0"/>
                </a:solidFill>
                <a:latin typeface="Arial" pitchFamily="34" charset="0"/>
                <a:ea typeface="Arial" pitchFamily="34" charset="-122"/>
                <a:cs typeface="Arial" pitchFamily="34" charset="-120"/>
              </a:rPr>
              <a:t>3-13%</a:t>
            </a:r>
            <a:pPr algn="l" indent="0" marL="0">
              <a:lnSpc>
                <a:spcPts val="1105"/>
              </a:lnSpc>
              <a:spcAft>
                <a:spcPts val="200"/>
              </a:spcAft>
              <a:buNone/>
            </a:pPr>
            <a:r>
              <a:rPr lang="en-US" sz="850" dirty="0">
                <a:solidFill>
                  <a:srgbClr val="94A3B8"/>
                </a:solidFill>
                <a:latin typeface="Arial" pitchFamily="34" charset="0"/>
                <a:ea typeface="Arial" pitchFamily="34" charset="-122"/>
                <a:cs typeface="Arial" pitchFamily="34" charset="-120"/>
              </a:rPr>
              <a:t> of the time</a:t>
            </a:r>
            <a:endParaRPr lang="en-US" sz="850" dirty="0"/>
          </a:p>
        </p:txBody>
      </p:sp>
      <p:sp>
        <p:nvSpPr>
          <p:cNvPr id="26" name="Text 23"/>
          <p:cNvSpPr/>
          <p:nvPr/>
        </p:nvSpPr>
        <p:spPr>
          <a:xfrm>
            <a:off x="5174903" y="1389311"/>
            <a:ext cx="3442930" cy="140196"/>
          </a:xfrm>
          <a:prstGeom prst="rect">
            <a:avLst/>
          </a:prstGeom>
          <a:noFill/>
          <a:ln/>
        </p:spPr>
        <p:txBody>
          <a:bodyPr wrap="square" lIns="0" tIns="0" rIns="0" bIns="0" rtlCol="0" anchor="t"/>
          <a:lstStyle/>
          <a:p>
            <a:pPr algn="l" indent="0" marL="0">
              <a:lnSpc>
                <a:spcPts val="1105"/>
              </a:lnSpc>
              <a:spcAft>
                <a:spcPts val="200"/>
              </a:spcAft>
              <a:buNone/>
            </a:pPr>
            <a:r>
              <a:rPr lang="en-US" sz="850" dirty="0">
                <a:solidFill>
                  <a:srgbClr val="94A3B8"/>
                </a:solidFill>
                <a:latin typeface="Arial" pitchFamily="34" charset="0"/>
                <a:ea typeface="Arial" pitchFamily="34" charset="-122"/>
                <a:cs typeface="Arial" pitchFamily="34" charset="-120"/>
              </a:rPr>
              <a:t>Labelers use the </a:t>
            </a:r>
            <a:pPr algn="l" indent="0" marL="0">
              <a:lnSpc>
                <a:spcPts val="1105"/>
              </a:lnSpc>
              <a:spcAft>
                <a:spcPts val="200"/>
              </a:spcAft>
              <a:buNone/>
            </a:pPr>
            <a:r>
              <a:rPr lang="en-US" sz="850" b="1" dirty="0">
                <a:solidFill>
                  <a:srgbClr val="E2E8F0"/>
                </a:solidFill>
                <a:latin typeface="Arial" pitchFamily="34" charset="0"/>
                <a:ea typeface="Arial" pitchFamily="34" charset="-122"/>
                <a:cs typeface="Arial" pitchFamily="34" charset="-120"/>
              </a:rPr>
              <a:t>most-specific label only</a:t>
            </a:r>
            <a:pPr algn="l" indent="0" marL="0">
              <a:lnSpc>
                <a:spcPts val="1105"/>
              </a:lnSpc>
              <a:spcAft>
                <a:spcPts val="200"/>
              </a:spcAft>
              <a:buNone/>
            </a:pPr>
            <a:r>
              <a:rPr lang="en-US" sz="850" dirty="0">
                <a:solidFill>
                  <a:srgbClr val="94A3B8"/>
                </a:solidFill>
                <a:latin typeface="Arial" pitchFamily="34" charset="0"/>
                <a:ea typeface="Arial" pitchFamily="34" charset="-122"/>
                <a:cs typeface="Arial" pitchFamily="34" charset="-120"/>
              </a:rPr>
              <a:t>, not both parent and child</a:t>
            </a:r>
            <a:endParaRPr lang="en-US" sz="850" dirty="0"/>
          </a:p>
        </p:txBody>
      </p:sp>
      <p:sp>
        <p:nvSpPr>
          <p:cNvPr id="27" name="Text 24"/>
          <p:cNvSpPr/>
          <p:nvPr/>
        </p:nvSpPr>
        <p:spPr>
          <a:xfrm>
            <a:off x="5174903" y="1554807"/>
            <a:ext cx="3442930" cy="140196"/>
          </a:xfrm>
          <a:prstGeom prst="rect">
            <a:avLst/>
          </a:prstGeom>
          <a:noFill/>
          <a:ln/>
        </p:spPr>
        <p:txBody>
          <a:bodyPr wrap="square" lIns="0" tIns="0" rIns="0" bIns="0" rtlCol="0" anchor="t"/>
          <a:lstStyle/>
          <a:p>
            <a:pPr algn="l" indent="0" marL="0">
              <a:lnSpc>
                <a:spcPts val="1105"/>
              </a:lnSpc>
              <a:spcAft>
                <a:spcPts val="200"/>
              </a:spcAft>
              <a:buNone/>
            </a:pPr>
            <a:r>
              <a:rPr lang="en-US" sz="850" dirty="0">
                <a:solidFill>
                  <a:srgbClr val="94A3B8"/>
                </a:solidFill>
                <a:latin typeface="Arial" pitchFamily="34" charset="0"/>
                <a:ea typeface="Arial" pitchFamily="34" charset="-122"/>
                <a:cs typeface="Arial" pitchFamily="34" charset="-120"/>
              </a:rPr>
              <a:t>e.g., "MTD for Lack of SMJ" appears </a:t>
            </a:r>
            <a:pPr algn="l" indent="0" marL="0">
              <a:lnSpc>
                <a:spcPts val="1105"/>
              </a:lnSpc>
              <a:spcAft>
                <a:spcPts val="200"/>
              </a:spcAft>
              <a:buNone/>
            </a:pPr>
            <a:r>
              <a:rPr lang="en-US" sz="850" b="1" dirty="0">
                <a:solidFill>
                  <a:srgbClr val="E2E8F0"/>
                </a:solidFill>
                <a:latin typeface="Arial" pitchFamily="34" charset="0"/>
                <a:ea typeface="Arial" pitchFamily="34" charset="-122"/>
                <a:cs typeface="Arial" pitchFamily="34" charset="-120"/>
              </a:rPr>
              <a:t>without</a:t>
            </a:r>
            <a:pPr algn="l" indent="0" marL="0">
              <a:lnSpc>
                <a:spcPts val="1105"/>
              </a:lnSpc>
              <a:spcAft>
                <a:spcPts val="200"/>
              </a:spcAft>
              <a:buNone/>
            </a:pPr>
            <a:r>
              <a:rPr lang="en-US" sz="850" dirty="0">
                <a:solidFill>
                  <a:srgbClr val="94A3B8"/>
                </a:solidFill>
                <a:latin typeface="Arial" pitchFamily="34" charset="0"/>
                <a:ea typeface="Arial" pitchFamily="34" charset="-122"/>
                <a:cs typeface="Arial" pitchFamily="34" charset="-120"/>
              </a:rPr>
              <a:t> "Motion to Dismiss"</a:t>
            </a:r>
            <a:endParaRPr lang="en-US" sz="850" dirty="0"/>
          </a:p>
        </p:txBody>
      </p:sp>
      <p:sp>
        <p:nvSpPr>
          <p:cNvPr id="28" name="Text 25"/>
          <p:cNvSpPr/>
          <p:nvPr/>
        </p:nvSpPr>
        <p:spPr>
          <a:xfrm>
            <a:off x="5038427" y="1894880"/>
            <a:ext cx="3648373" cy="888206"/>
          </a:xfrm>
          <a:prstGeom prst="roundRect">
            <a:avLst>
              <a:gd name="adj" fmla="val 8579"/>
            </a:avLst>
          </a:prstGeom>
          <a:solidFill>
            <a:srgbClr val="00B4D8">
              <a:alpha val="8000"/>
            </a:srgbClr>
          </a:solidFill>
          <a:ln w="9525">
            <a:solidFill>
              <a:srgbClr val="00B4D8"/>
            </a:solidFill>
          </a:ln>
        </p:spPr>
        <p:txBody>
          <a:bodyPr wrap="square" rtlCol="0" anchor="ctr"/>
          <a:lstStyle/>
          <a:p>
            <a:pPr indent="0" marL="0">
              <a:buNone/>
            </a:pPr>
            <a:endParaRPr lang="en-US" dirty="0"/>
          </a:p>
        </p:txBody>
      </p:sp>
      <p:sp>
        <p:nvSpPr>
          <p:cNvPr id="29" name="Text 26"/>
          <p:cNvSpPr/>
          <p:nvPr/>
        </p:nvSpPr>
        <p:spPr>
          <a:xfrm>
            <a:off x="5174903" y="1993255"/>
            <a:ext cx="3442930" cy="156865"/>
          </a:xfrm>
          <a:prstGeom prst="rect">
            <a:avLst/>
          </a:prstGeom>
          <a:noFill/>
          <a:ln/>
        </p:spPr>
        <p:txBody>
          <a:bodyPr wrap="square" lIns="0" tIns="0" rIns="0" bIns="0" rtlCol="0" anchor="t"/>
          <a:lstStyle/>
          <a:p>
            <a:pPr algn="l" indent="0" marL="0">
              <a:lnSpc>
                <a:spcPts val="1235"/>
              </a:lnSpc>
              <a:spcAft>
                <a:spcPts val="300"/>
              </a:spcAft>
              <a:buNone/>
            </a:pPr>
            <a:r>
              <a:rPr lang="en-US" sz="950" b="1" dirty="0">
                <a:solidFill>
                  <a:srgbClr val="00B4D8"/>
                </a:solidFill>
                <a:latin typeface="Arial" pitchFamily="34" charset="0"/>
                <a:ea typeface="Arial" pitchFamily="34" charset="-122"/>
                <a:cs typeface="Arial" pitchFamily="34" charset="-120"/>
              </a:rPr>
              <a:t>Dense Labeling (Stages)</a:t>
            </a:r>
            <a:endParaRPr lang="en-US" sz="950" dirty="0"/>
          </a:p>
        </p:txBody>
      </p:sp>
      <p:sp>
        <p:nvSpPr>
          <p:cNvPr id="30" name="Text 27"/>
          <p:cNvSpPr/>
          <p:nvPr/>
        </p:nvSpPr>
        <p:spPr>
          <a:xfrm>
            <a:off x="5174903" y="2188220"/>
            <a:ext cx="3442930" cy="140196"/>
          </a:xfrm>
          <a:prstGeom prst="rect">
            <a:avLst/>
          </a:prstGeom>
          <a:noFill/>
          <a:ln/>
        </p:spPr>
        <p:txBody>
          <a:bodyPr wrap="square" lIns="0" tIns="0" rIns="0" bIns="0" rtlCol="0" anchor="t"/>
          <a:lstStyle/>
          <a:p>
            <a:pPr algn="l" indent="0" marL="0">
              <a:lnSpc>
                <a:spcPts val="1105"/>
              </a:lnSpc>
              <a:spcAft>
                <a:spcPts val="200"/>
              </a:spcAft>
              <a:buNone/>
            </a:pPr>
            <a:r>
              <a:rPr lang="en-US" sz="850" dirty="0">
                <a:solidFill>
                  <a:srgbClr val="94A3B8"/>
                </a:solidFill>
                <a:latin typeface="Arial" pitchFamily="34" charset="0"/>
                <a:ea typeface="Arial" pitchFamily="34" charset="-122"/>
                <a:cs typeface="Arial" pitchFamily="34" charset="-120"/>
              </a:rPr>
              <a:t>Stage labels co-occur at </a:t>
            </a:r>
            <a:pPr algn="l" indent="0" marL="0">
              <a:lnSpc>
                <a:spcPts val="1105"/>
              </a:lnSpc>
              <a:spcAft>
                <a:spcPts val="200"/>
              </a:spcAft>
              <a:buNone/>
            </a:pPr>
            <a:r>
              <a:rPr lang="en-US" sz="850" b="1" dirty="0">
                <a:solidFill>
                  <a:srgbClr val="E2E8F0"/>
                </a:solidFill>
                <a:latin typeface="Arial" pitchFamily="34" charset="0"/>
                <a:ea typeface="Arial" pitchFamily="34" charset="-122"/>
                <a:cs typeface="Arial" pitchFamily="34" charset="-120"/>
              </a:rPr>
              <a:t>89-100%</a:t>
            </a:r>
            <a:pPr algn="l" indent="0" marL="0">
              <a:lnSpc>
                <a:spcPts val="1105"/>
              </a:lnSpc>
              <a:spcAft>
                <a:spcPts val="200"/>
              </a:spcAft>
              <a:buNone/>
            </a:pPr>
            <a:r>
              <a:rPr lang="en-US" sz="850" dirty="0">
                <a:solidFill>
                  <a:srgbClr val="94A3B8"/>
                </a:solidFill>
                <a:latin typeface="Arial" pitchFamily="34" charset="0"/>
                <a:ea typeface="Arial" pitchFamily="34" charset="-122"/>
                <a:cs typeface="Arial" pitchFamily="34" charset="-120"/>
              </a:rPr>
              <a:t> rate</a:t>
            </a:r>
            <a:endParaRPr lang="en-US" sz="850" dirty="0"/>
          </a:p>
        </p:txBody>
      </p:sp>
      <p:sp>
        <p:nvSpPr>
          <p:cNvPr id="31" name="Text 28"/>
          <p:cNvSpPr/>
          <p:nvPr/>
        </p:nvSpPr>
        <p:spPr>
          <a:xfrm>
            <a:off x="5174903" y="2353717"/>
            <a:ext cx="3442930" cy="140196"/>
          </a:xfrm>
          <a:prstGeom prst="rect">
            <a:avLst/>
          </a:prstGeom>
          <a:noFill/>
          <a:ln/>
        </p:spPr>
        <p:txBody>
          <a:bodyPr wrap="square" lIns="0" tIns="0" rIns="0" bIns="0" rtlCol="0" anchor="t"/>
          <a:lstStyle/>
          <a:p>
            <a:pPr algn="l" indent="0" marL="0">
              <a:lnSpc>
                <a:spcPts val="1105"/>
              </a:lnSpc>
              <a:spcAft>
                <a:spcPts val="200"/>
              </a:spcAft>
              <a:buNone/>
            </a:pPr>
            <a:r>
              <a:rPr lang="en-US" sz="850" dirty="0">
                <a:solidFill>
                  <a:srgbClr val="94A3B8"/>
                </a:solidFill>
                <a:latin typeface="Arial" pitchFamily="34" charset="0"/>
                <a:ea typeface="Arial" pitchFamily="34" charset="-122"/>
                <a:cs typeface="Arial" pitchFamily="34" charset="-120"/>
              </a:rPr>
              <a:t>"Appellate Review (Criminal)" nearly always has "On Appeal"</a:t>
            </a:r>
            <a:endParaRPr lang="en-US" sz="850" dirty="0"/>
          </a:p>
        </p:txBody>
      </p:sp>
      <p:sp>
        <p:nvSpPr>
          <p:cNvPr id="32" name="Text 29"/>
          <p:cNvSpPr/>
          <p:nvPr/>
        </p:nvSpPr>
        <p:spPr>
          <a:xfrm>
            <a:off x="5174903" y="2519214"/>
            <a:ext cx="3442930" cy="140196"/>
          </a:xfrm>
          <a:prstGeom prst="rect">
            <a:avLst/>
          </a:prstGeom>
          <a:noFill/>
          <a:ln/>
        </p:spPr>
        <p:txBody>
          <a:bodyPr wrap="square" lIns="0" tIns="0" rIns="0" bIns="0" rtlCol="0" anchor="t"/>
          <a:lstStyle/>
          <a:p>
            <a:pPr algn="l" indent="0" marL="0">
              <a:lnSpc>
                <a:spcPts val="1105"/>
              </a:lnSpc>
              <a:spcAft>
                <a:spcPts val="200"/>
              </a:spcAft>
              <a:buNone/>
            </a:pPr>
            <a:r>
              <a:rPr lang="en-US" sz="850" dirty="0">
                <a:solidFill>
                  <a:srgbClr val="94A3B8"/>
                </a:solidFill>
                <a:latin typeface="Arial" pitchFamily="34" charset="0"/>
                <a:ea typeface="Arial" pitchFamily="34" charset="-122"/>
                <a:cs typeface="Arial" pitchFamily="34" charset="-120"/>
              </a:rPr>
              <a:t>Stage is almost </a:t>
            </a:r>
            <a:pPr algn="l" indent="0" marL="0">
              <a:lnSpc>
                <a:spcPts val="1105"/>
              </a:lnSpc>
              <a:spcAft>
                <a:spcPts val="200"/>
              </a:spcAft>
              <a:buNone/>
            </a:pPr>
            <a:r>
              <a:rPr lang="en-US" sz="850" b="1" dirty="0">
                <a:solidFill>
                  <a:srgbClr val="E2E8F0"/>
                </a:solidFill>
                <a:latin typeface="Arial" pitchFamily="34" charset="0"/>
                <a:ea typeface="Arial" pitchFamily="34" charset="-122"/>
                <a:cs typeface="Arial" pitchFamily="34" charset="-120"/>
              </a:rPr>
              <a:t>always co-labeled</a:t>
            </a:r>
            <a:endParaRPr lang="en-US" sz="850" dirty="0"/>
          </a:p>
        </p:txBody>
      </p:sp>
      <p:sp>
        <p:nvSpPr>
          <p:cNvPr id="33" name="Text 30"/>
          <p:cNvSpPr/>
          <p:nvPr/>
        </p:nvSpPr>
        <p:spPr>
          <a:xfrm>
            <a:off x="5038427" y="4140398"/>
            <a:ext cx="3648373" cy="1003102"/>
          </a:xfrm>
          <a:prstGeom prst="roundRect">
            <a:avLst>
              <a:gd name="adj" fmla="val 7596"/>
            </a:avLst>
          </a:prstGeom>
          <a:solidFill>
            <a:srgbClr val="22C55E">
              <a:alpha val="8000"/>
            </a:srgbClr>
          </a:solidFill>
          <a:ln w="9525">
            <a:solidFill>
              <a:srgbClr val="22C55E"/>
            </a:solidFill>
          </a:ln>
        </p:spPr>
        <p:txBody>
          <a:bodyPr wrap="square" rtlCol="0" anchor="ctr"/>
          <a:lstStyle/>
          <a:p>
            <a:pPr indent="0" marL="0">
              <a:buNone/>
            </a:pPr>
            <a:endParaRPr lang="en-US" dirty="0"/>
          </a:p>
        </p:txBody>
      </p:sp>
      <p:sp>
        <p:nvSpPr>
          <p:cNvPr id="34" name="Text 31"/>
          <p:cNvSpPr/>
          <p:nvPr/>
        </p:nvSpPr>
        <p:spPr>
          <a:xfrm>
            <a:off x="5174903" y="4238774"/>
            <a:ext cx="3442930" cy="156865"/>
          </a:xfrm>
          <a:prstGeom prst="rect">
            <a:avLst/>
          </a:prstGeom>
          <a:noFill/>
          <a:ln/>
        </p:spPr>
        <p:txBody>
          <a:bodyPr wrap="square" lIns="0" tIns="0" rIns="0" bIns="0" rtlCol="0" anchor="t"/>
          <a:lstStyle/>
          <a:p>
            <a:pPr algn="l" indent="0" marL="0">
              <a:lnSpc>
                <a:spcPts val="1235"/>
              </a:lnSpc>
              <a:spcAft>
                <a:spcPts val="300"/>
              </a:spcAft>
              <a:buNone/>
            </a:pPr>
            <a:r>
              <a:rPr lang="en-US" sz="950" b="1" dirty="0">
                <a:solidFill>
                  <a:srgbClr val="22C55E"/>
                </a:solidFill>
                <a:latin typeface="Arial" pitchFamily="34" charset="0"/>
                <a:ea typeface="Arial" pitchFamily="34" charset="-122"/>
                <a:cs typeface="Arial" pitchFamily="34" charset="-120"/>
              </a:rPr>
              <a:t>Why This Matters for Modeling</a:t>
            </a:r>
            <a:endParaRPr lang="en-US" sz="950" dirty="0"/>
          </a:p>
        </p:txBody>
      </p:sp>
      <p:sp>
        <p:nvSpPr>
          <p:cNvPr id="35" name="Text 32"/>
          <p:cNvSpPr/>
          <p:nvPr/>
        </p:nvSpPr>
        <p:spPr>
          <a:xfrm>
            <a:off x="5174903" y="4433739"/>
            <a:ext cx="3442930" cy="420588"/>
          </a:xfrm>
          <a:prstGeom prst="rect">
            <a:avLst/>
          </a:prstGeom>
          <a:noFill/>
          <a:ln/>
        </p:spPr>
        <p:txBody>
          <a:bodyPr wrap="square" lIns="0" tIns="0" rIns="0" bIns="0" rtlCol="0" anchor="t"/>
          <a:lstStyle/>
          <a:p>
            <a:pPr algn="l" indent="0" marL="0">
              <a:lnSpc>
                <a:spcPts val="1105"/>
              </a:lnSpc>
              <a:spcAft>
                <a:spcPts val="200"/>
              </a:spcAft>
              <a:buNone/>
            </a:pPr>
            <a:r>
              <a:rPr lang="en-US" sz="850" dirty="0">
                <a:solidFill>
                  <a:srgbClr val="94A3B8"/>
                </a:solidFill>
                <a:latin typeface="Arial" pitchFamily="34" charset="0"/>
                <a:ea typeface="Arial" pitchFamily="34" charset="-122"/>
                <a:cs typeface="Arial" pitchFamily="34" charset="-120"/>
              </a:rPr>
              <a:t>Confusing IS-A relatives (e.g., predicting "MTD" instead of "MTD for Lack of SMJ") is a </a:t>
            </a:r>
            <a:pPr algn="l" indent="0" marL="0">
              <a:lnSpc>
                <a:spcPts val="1105"/>
              </a:lnSpc>
              <a:spcAft>
                <a:spcPts val="200"/>
              </a:spcAft>
              <a:buNone/>
            </a:pPr>
            <a:r>
              <a:rPr lang="en-US" sz="850" b="1" dirty="0">
                <a:solidFill>
                  <a:srgbClr val="94A3B8"/>
                </a:solidFill>
                <a:latin typeface="Arial" pitchFamily="34" charset="0"/>
                <a:ea typeface="Arial" pitchFamily="34" charset="-122"/>
                <a:cs typeface="Arial" pitchFamily="34" charset="-120"/>
              </a:rPr>
              <a:t>less severe error</a:t>
            </a:r>
            <a:pPr algn="l" indent="0" marL="0">
              <a:lnSpc>
                <a:spcPts val="1105"/>
              </a:lnSpc>
              <a:spcAft>
                <a:spcPts val="200"/>
              </a:spcAft>
              <a:buNone/>
            </a:pPr>
            <a:r>
              <a:rPr lang="en-US" sz="850" dirty="0">
                <a:solidFill>
                  <a:srgbClr val="94A3B8"/>
                </a:solidFill>
                <a:latin typeface="Arial" pitchFamily="34" charset="0"/>
                <a:ea typeface="Arial" pitchFamily="34" charset="-122"/>
                <a:cs typeface="Arial" pitchFamily="34" charset="-120"/>
              </a:rPr>
              <a:t> than confusing unrelated postures</a:t>
            </a:r>
            <a:endParaRPr lang="en-US" sz="850" dirty="0"/>
          </a:p>
        </p:txBody>
      </p:sp>
      <p:sp>
        <p:nvSpPr>
          <p:cNvPr id="36" name="Text 33"/>
          <p:cNvSpPr/>
          <p:nvPr/>
        </p:nvSpPr>
        <p:spPr>
          <a:xfrm>
            <a:off x="5174903" y="4879628"/>
            <a:ext cx="3442930" cy="140196"/>
          </a:xfrm>
          <a:prstGeom prst="rect">
            <a:avLst/>
          </a:prstGeom>
          <a:noFill/>
          <a:ln/>
        </p:spPr>
        <p:txBody>
          <a:bodyPr wrap="square" lIns="0" tIns="0" rIns="0" bIns="0" rtlCol="0" anchor="t"/>
          <a:lstStyle/>
          <a:p>
            <a:pPr algn="l" indent="0" marL="0">
              <a:lnSpc>
                <a:spcPts val="1105"/>
              </a:lnSpc>
              <a:spcAft>
                <a:spcPts val="200"/>
              </a:spcAft>
              <a:buNone/>
            </a:pPr>
            <a:r>
              <a:rPr lang="en-US" sz="850" dirty="0">
                <a:solidFill>
                  <a:srgbClr val="94A3B8"/>
                </a:solidFill>
                <a:latin typeface="Arial" pitchFamily="34" charset="0"/>
                <a:ea typeface="Arial" pitchFamily="34" charset="-122"/>
                <a:cs typeface="Arial" pitchFamily="34" charset="-120"/>
              </a:rPr>
              <a:t>Hierarchical loss functions could leverage this structure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62000" y="1881336"/>
            <a:ext cx="7772400" cy="171450"/>
          </a:xfrm>
          <a:prstGeom prst="rect">
            <a:avLst/>
          </a:prstGeom>
          <a:noFill/>
          <a:ln/>
        </p:spPr>
        <p:txBody>
          <a:bodyPr wrap="square" lIns="0" tIns="0" rIns="0" bIns="0" rtlCol="0" anchor="t"/>
          <a:lstStyle/>
          <a:p>
            <a:pPr algn="l" indent="0" marL="0">
              <a:spcAft>
                <a:spcPts val="800"/>
              </a:spcAft>
              <a:buNone/>
            </a:pPr>
            <a:r>
              <a:rPr lang="en-US" sz="1200" dirty="0">
                <a:solidFill>
                  <a:srgbClr val="00B4D8"/>
                </a:solidFill>
                <a:latin typeface="Arial" pitchFamily="34" charset="0"/>
                <a:ea typeface="Arial" pitchFamily="34" charset="-122"/>
                <a:cs typeface="Arial" pitchFamily="34" charset="-120"/>
              </a:rPr>
              <a:t>SECTION 2</a:t>
            </a:r>
            <a:endParaRPr lang="en-US" sz="1200" dirty="0"/>
          </a:p>
        </p:txBody>
      </p:sp>
      <p:sp>
        <p:nvSpPr>
          <p:cNvPr id="3" name="Text 1"/>
          <p:cNvSpPr/>
          <p:nvPr/>
        </p:nvSpPr>
        <p:spPr>
          <a:xfrm>
            <a:off x="762000" y="2154287"/>
            <a:ext cx="7772400" cy="466725"/>
          </a:xfrm>
          <a:prstGeom prst="rect">
            <a:avLst/>
          </a:prstGeom>
          <a:noFill/>
          <a:ln/>
        </p:spPr>
        <p:txBody>
          <a:bodyPr wrap="square" lIns="0" tIns="0" rIns="0" bIns="0" rtlCol="0" anchor="t"/>
          <a:lstStyle/>
          <a:p>
            <a:pPr algn="l" indent="0" marL="0">
              <a:spcAft>
                <a:spcPts val="1200"/>
              </a:spcAft>
              <a:buNone/>
            </a:pPr>
            <a:r>
              <a:rPr lang="en-US" sz="3200" b="1" dirty="0">
                <a:solidFill>
                  <a:srgbClr val="FFFFFF"/>
                </a:solidFill>
                <a:latin typeface="Arial" pitchFamily="34" charset="0"/>
                <a:ea typeface="Arial" pitchFamily="34" charset="-122"/>
                <a:cs typeface="Arial" pitchFamily="34" charset="-120"/>
              </a:rPr>
              <a:t>Proposed Solution</a:t>
            </a:r>
            <a:endParaRPr lang="en-US" sz="3200" dirty="0"/>
          </a:p>
        </p:txBody>
      </p:sp>
      <p:pic>
        <p:nvPicPr>
          <p:cNvPr id="4" name="Image 0" descr="/Users/alessandrodibari/Ale/projects/TR_hiring_exercise/outputs/pptx_workspace/slides/accent_teal.png">    </p:cNvPr>
          <p:cNvPicPr>
            <a:picLocks noChangeAspect="1"/>
          </p:cNvPicPr>
          <p:nvPr/>
        </p:nvPicPr>
        <p:blipFill>
          <a:blip r:embed="rId2"/>
          <a:stretch>
            <a:fillRect/>
          </a:stretch>
        </p:blipFill>
        <p:spPr>
          <a:xfrm>
            <a:off x="762000" y="2868662"/>
            <a:ext cx="762000" cy="38100"/>
          </a:xfrm>
          <a:prstGeom prst="rect">
            <a:avLst/>
          </a:prstGeom>
        </p:spPr>
      </p:pic>
      <p:sp>
        <p:nvSpPr>
          <p:cNvPr id="5" name="Text 2"/>
          <p:cNvSpPr/>
          <p:nvPr/>
        </p:nvSpPr>
        <p:spPr>
          <a:xfrm>
            <a:off x="762000" y="3014663"/>
            <a:ext cx="7772400" cy="247501"/>
          </a:xfrm>
          <a:prstGeom prst="rect">
            <a:avLst/>
          </a:prstGeom>
          <a:noFill/>
          <a:ln/>
        </p:spPr>
        <p:txBody>
          <a:bodyPr wrap="square" lIns="0" tIns="0" rIns="0" bIns="0" rtlCol="0" anchor="t"/>
          <a:lstStyle/>
          <a:p>
            <a:pPr algn="l" indent="0" marL="0">
              <a:lnSpc>
                <a:spcPts val="1950"/>
              </a:lnSpc>
              <a:buNone/>
            </a:pPr>
            <a:r>
              <a:rPr lang="en-US" sz="1300" dirty="0">
                <a:solidFill>
                  <a:srgbClr val="94A3B8"/>
                </a:solidFill>
                <a:latin typeface="Arial" pitchFamily="34" charset="0"/>
                <a:ea typeface="Arial" pitchFamily="34" charset="-122"/>
                <a:cs typeface="Arial" pitchFamily="34" charset="-120"/>
              </a:rPr>
              <a:t>Two-model approach to characterize feasibility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355550"/>
            <a:ext cx="8394192" cy="323850"/>
          </a:xfrm>
          <a:prstGeom prst="rect">
            <a:avLst/>
          </a:prstGeom>
          <a:noFill/>
          <a:ln/>
        </p:spPr>
        <p:txBody>
          <a:bodyPr wrap="square" lIns="0" tIns="0" rIns="0" bIns="0" rtlCol="0" anchor="t"/>
          <a:lstStyle/>
          <a:p>
            <a:pPr algn="l" indent="0" marL="0">
              <a:buNone/>
            </a:pPr>
            <a:r>
              <a:rPr lang="en-US" sz="2200" b="1" dirty="0">
                <a:solidFill>
                  <a:srgbClr val="00B4D8"/>
                </a:solidFill>
                <a:latin typeface="Arial" pitchFamily="34" charset="0"/>
                <a:ea typeface="Arial" pitchFamily="34" charset="-122"/>
                <a:cs typeface="Arial" pitchFamily="34" charset="-120"/>
              </a:rPr>
              <a:t>Modeling Strategy Overview</a:t>
            </a:r>
            <a:endParaRPr lang="en-US" sz="2200" dirty="0"/>
          </a:p>
        </p:txBody>
      </p:sp>
      <p:sp>
        <p:nvSpPr>
          <p:cNvPr id="4" name="Text 1"/>
          <p:cNvSpPr/>
          <p:nvPr/>
        </p:nvSpPr>
        <p:spPr>
          <a:xfrm>
            <a:off x="457200" y="933301"/>
            <a:ext cx="3987850" cy="3372296"/>
          </a:xfrm>
          <a:prstGeom prst="roundRect">
            <a:avLst>
              <a:gd name="adj" fmla="val 3013"/>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5" name="Text 2"/>
          <p:cNvSpPr/>
          <p:nvPr/>
        </p:nvSpPr>
        <p:spPr>
          <a:xfrm>
            <a:off x="695325" y="1171426"/>
            <a:ext cx="3581832" cy="177701"/>
          </a:xfrm>
          <a:prstGeom prst="rect">
            <a:avLst/>
          </a:prstGeom>
          <a:noFill/>
          <a:ln/>
        </p:spPr>
        <p:txBody>
          <a:bodyPr wrap="square" lIns="0" tIns="0" rIns="0" bIns="0" rtlCol="0" anchor="t"/>
          <a:lstStyle/>
          <a:p>
            <a:pPr algn="l" indent="0" marL="0">
              <a:lnSpc>
                <a:spcPts val="1400"/>
              </a:lnSpc>
              <a:spcAft>
                <a:spcPts val="600"/>
              </a:spcAft>
              <a:buNone/>
            </a:pPr>
            <a:r>
              <a:rPr lang="en-US" sz="1000" b="1" dirty="0">
                <a:solidFill>
                  <a:srgbClr val="CBD5E1"/>
                </a:solidFill>
                <a:latin typeface="Arial" pitchFamily="34" charset="0"/>
                <a:ea typeface="Arial" pitchFamily="34" charset="-122"/>
                <a:cs typeface="Arial" pitchFamily="34" charset="-120"/>
              </a:rPr>
              <a:t>1</a:t>
            </a:r>
            <a:endParaRPr lang="en-US" sz="1000" dirty="0"/>
          </a:p>
        </p:txBody>
      </p:sp>
      <p:sp>
        <p:nvSpPr>
          <p:cNvPr id="6" name="Text 3"/>
          <p:cNvSpPr/>
          <p:nvPr/>
        </p:nvSpPr>
        <p:spPr>
          <a:xfrm>
            <a:off x="695325" y="1425327"/>
            <a:ext cx="3581832" cy="177701"/>
          </a:xfrm>
          <a:prstGeom prst="rect">
            <a:avLst/>
          </a:prstGeom>
          <a:noFill/>
          <a:ln/>
        </p:spPr>
        <p:txBody>
          <a:bodyPr wrap="square" lIns="0" tIns="0" rIns="0" bIns="0" rtlCol="0" anchor="t"/>
          <a:lstStyle/>
          <a:p>
            <a:pPr algn="l" indent="0" marL="0">
              <a:lnSpc>
                <a:spcPts val="1400"/>
              </a:lnSpc>
              <a:spcAft>
                <a:spcPts val="600"/>
              </a:spcAft>
              <a:buNone/>
            </a:pPr>
            <a:r>
              <a:rPr lang="en-US" sz="1000" b="1" dirty="0">
                <a:solidFill>
                  <a:srgbClr val="CBD5E1"/>
                </a:solidFill>
                <a:latin typeface="Arial" pitchFamily="34" charset="0"/>
                <a:ea typeface="Arial" pitchFamily="34" charset="-122"/>
                <a:cs typeface="Arial" pitchFamily="34" charset="-120"/>
              </a:rPr>
              <a:t>TF-IDF + Logistic Regression</a:t>
            </a:r>
            <a:endParaRPr lang="en-US" sz="1000" dirty="0"/>
          </a:p>
        </p:txBody>
      </p:sp>
      <p:sp>
        <p:nvSpPr>
          <p:cNvPr id="7" name="Text 4"/>
          <p:cNvSpPr/>
          <p:nvPr/>
        </p:nvSpPr>
        <p:spPr>
          <a:xfrm>
            <a:off x="695325" y="1679228"/>
            <a:ext cx="3581832" cy="177701"/>
          </a:xfrm>
          <a:prstGeom prst="rect">
            <a:avLst/>
          </a:prstGeom>
          <a:noFill/>
          <a:ln/>
        </p:spPr>
        <p:txBody>
          <a:bodyPr wrap="square" lIns="0" tIns="0" rIns="0" bIns="0" rtlCol="0" anchor="t"/>
          <a:lstStyle/>
          <a:p>
            <a:pPr algn="l" indent="0" marL="0">
              <a:lnSpc>
                <a:spcPts val="1400"/>
              </a:lnSpc>
              <a:spcAft>
                <a:spcPts val="600"/>
              </a:spcAft>
              <a:buNone/>
            </a:pPr>
            <a:r>
              <a:rPr lang="en-US" sz="1000" dirty="0">
                <a:solidFill>
                  <a:srgbClr val="CBD5E1"/>
                </a:solidFill>
                <a:latin typeface="Arial" pitchFamily="34" charset="0"/>
                <a:ea typeface="Arial" pitchFamily="34" charset="-122"/>
                <a:cs typeface="Arial" pitchFamily="34" charset="-120"/>
              </a:rPr>
              <a:t>Strong, interpretable baseline</a:t>
            </a:r>
            <a:endParaRPr lang="en-US" sz="1000" dirty="0"/>
          </a:p>
        </p:txBody>
      </p:sp>
      <p:sp>
        <p:nvSpPr>
          <p:cNvPr id="8" name="Text 5"/>
          <p:cNvSpPr/>
          <p:nvPr/>
        </p:nvSpPr>
        <p:spPr>
          <a:xfrm>
            <a:off x="695325" y="1933129"/>
            <a:ext cx="3581832" cy="177701"/>
          </a:xfrm>
          <a:prstGeom prst="rect">
            <a:avLst/>
          </a:prstGeom>
          <a:noFill/>
          <a:ln/>
        </p:spPr>
        <p:txBody>
          <a:bodyPr wrap="square" lIns="0" tIns="0" rIns="0" bIns="0" rtlCol="0" anchor="t"/>
          <a:lstStyle/>
          <a:p>
            <a:pPr algn="l" indent="0" marL="0">
              <a:lnSpc>
                <a:spcPts val="1400"/>
              </a:lnSpc>
              <a:spcAft>
                <a:spcPts val="600"/>
              </a:spcAft>
              <a:buNone/>
            </a:pPr>
            <a:r>
              <a:rPr lang="en-US" sz="1000" dirty="0">
                <a:solidFill>
                  <a:srgbClr val="CBD5E1"/>
                </a:solidFill>
                <a:latin typeface="Arial" pitchFamily="34" charset="0"/>
                <a:ea typeface="Arial" pitchFamily="34" charset="-122"/>
                <a:cs typeface="Arial" pitchFamily="34" charset="-120"/>
              </a:rPr>
              <a:t>OneVsRest multi-label strategy</a:t>
            </a:r>
            <a:endParaRPr lang="en-US" sz="1000" dirty="0"/>
          </a:p>
        </p:txBody>
      </p:sp>
      <p:sp>
        <p:nvSpPr>
          <p:cNvPr id="9" name="Text 6"/>
          <p:cNvSpPr/>
          <p:nvPr/>
        </p:nvSpPr>
        <p:spPr>
          <a:xfrm>
            <a:off x="695325" y="2187029"/>
            <a:ext cx="3581832" cy="177701"/>
          </a:xfrm>
          <a:prstGeom prst="rect">
            <a:avLst/>
          </a:prstGeom>
          <a:noFill/>
          <a:ln/>
        </p:spPr>
        <p:txBody>
          <a:bodyPr wrap="square" lIns="0" tIns="0" rIns="0" bIns="0" rtlCol="0" anchor="t"/>
          <a:lstStyle/>
          <a:p>
            <a:pPr algn="l" indent="0" marL="0">
              <a:lnSpc>
                <a:spcPts val="1400"/>
              </a:lnSpc>
              <a:spcAft>
                <a:spcPts val="600"/>
              </a:spcAft>
              <a:buNone/>
            </a:pPr>
            <a:r>
              <a:rPr lang="en-US" sz="1000" dirty="0">
                <a:solidFill>
                  <a:srgbClr val="CBD5E1"/>
                </a:solidFill>
                <a:latin typeface="Arial" pitchFamily="34" charset="0"/>
                <a:ea typeface="Arial" pitchFamily="34" charset="-122"/>
                <a:cs typeface="Arial" pitchFamily="34" charset="-120"/>
              </a:rPr>
              <a:t>10,000 features (unigrams + bigrams)</a:t>
            </a:r>
            <a:endParaRPr lang="en-US" sz="1000" dirty="0"/>
          </a:p>
        </p:txBody>
      </p:sp>
      <p:sp>
        <p:nvSpPr>
          <p:cNvPr id="10" name="Text 7"/>
          <p:cNvSpPr/>
          <p:nvPr/>
        </p:nvSpPr>
        <p:spPr>
          <a:xfrm>
            <a:off x="695325" y="2440930"/>
            <a:ext cx="3581832" cy="177701"/>
          </a:xfrm>
          <a:prstGeom prst="rect">
            <a:avLst/>
          </a:prstGeom>
          <a:noFill/>
          <a:ln/>
        </p:spPr>
        <p:txBody>
          <a:bodyPr wrap="square" lIns="0" tIns="0" rIns="0" bIns="0" rtlCol="0" anchor="t"/>
          <a:lstStyle/>
          <a:p>
            <a:pPr algn="l" indent="0" marL="0">
              <a:lnSpc>
                <a:spcPts val="1400"/>
              </a:lnSpc>
              <a:spcAft>
                <a:spcPts val="600"/>
              </a:spcAft>
              <a:buNone/>
            </a:pPr>
            <a:r>
              <a:rPr lang="en-US" sz="1000" dirty="0">
                <a:solidFill>
                  <a:srgbClr val="CBD5E1"/>
                </a:solidFill>
                <a:latin typeface="Arial" pitchFamily="34" charset="0"/>
                <a:ea typeface="Arial" pitchFamily="34" charset="-122"/>
                <a:cs typeface="Arial" pitchFamily="34" charset="-120"/>
              </a:rPr>
              <a:t>Fast to train and evaluate</a:t>
            </a:r>
            <a:endParaRPr lang="en-US" sz="1000" dirty="0"/>
          </a:p>
        </p:txBody>
      </p:sp>
      <p:sp>
        <p:nvSpPr>
          <p:cNvPr id="11" name="Text 8"/>
          <p:cNvSpPr/>
          <p:nvPr/>
        </p:nvSpPr>
        <p:spPr>
          <a:xfrm>
            <a:off x="695325" y="2694831"/>
            <a:ext cx="3511600" cy="229642"/>
          </a:xfrm>
          <a:prstGeom prst="roundRect">
            <a:avLst>
              <a:gd name="adj" fmla="val 22121"/>
            </a:avLst>
          </a:prstGeom>
          <a:solidFill>
            <a:srgbClr val="00B4D8">
              <a:alpha val="15000"/>
            </a:srgbClr>
          </a:solidFill>
          <a:ln w="9525">
            <a:solidFill>
              <a:srgbClr val="00B4D8"/>
            </a:solidFill>
          </a:ln>
        </p:spPr>
        <p:txBody>
          <a:bodyPr wrap="square" rtlCol="0" anchor="ctr"/>
          <a:lstStyle/>
          <a:p>
            <a:pPr indent="0" marL="0">
              <a:buNone/>
            </a:pPr>
            <a:endParaRPr lang="en-US" dirty="0"/>
          </a:p>
        </p:txBody>
      </p:sp>
      <p:sp>
        <p:nvSpPr>
          <p:cNvPr id="12" name="Text 9"/>
          <p:cNvSpPr/>
          <p:nvPr/>
        </p:nvSpPr>
        <p:spPr>
          <a:xfrm>
            <a:off x="806351" y="2729657"/>
            <a:ext cx="3355339" cy="159990"/>
          </a:xfrm>
          <a:prstGeom prst="rect">
            <a:avLst/>
          </a:prstGeom>
          <a:noFill/>
          <a:ln/>
        </p:spPr>
        <p:txBody>
          <a:bodyPr wrap="square" lIns="0" tIns="0" rIns="0" bIns="0" rtlCol="0" anchor="t"/>
          <a:lstStyle/>
          <a:p>
            <a:pPr algn="l" indent="0" marL="0">
              <a:lnSpc>
                <a:spcPts val="1260"/>
              </a:lnSpc>
              <a:buNone/>
            </a:pPr>
            <a:r>
              <a:rPr lang="en-US" sz="900" dirty="0">
                <a:solidFill>
                  <a:srgbClr val="00B4D8"/>
                </a:solidFill>
                <a:latin typeface="Arial" pitchFamily="34" charset="0"/>
                <a:ea typeface="Arial" pitchFamily="34" charset="-122"/>
                <a:cs typeface="Arial" pitchFamily="34" charset="-120"/>
              </a:rPr>
              <a:t>BASELINE</a:t>
            </a:r>
            <a:endParaRPr lang="en-US" sz="900" dirty="0"/>
          </a:p>
        </p:txBody>
      </p:sp>
      <p:sp>
        <p:nvSpPr>
          <p:cNvPr id="13" name="Text 10"/>
          <p:cNvSpPr/>
          <p:nvPr/>
        </p:nvSpPr>
        <p:spPr>
          <a:xfrm>
            <a:off x="4698950" y="933301"/>
            <a:ext cx="3987850" cy="3372296"/>
          </a:xfrm>
          <a:prstGeom prst="roundRect">
            <a:avLst>
              <a:gd name="adj" fmla="val 3013"/>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14" name="Text 11"/>
          <p:cNvSpPr/>
          <p:nvPr/>
        </p:nvSpPr>
        <p:spPr>
          <a:xfrm>
            <a:off x="4937075" y="1171426"/>
            <a:ext cx="3581832" cy="177701"/>
          </a:xfrm>
          <a:prstGeom prst="rect">
            <a:avLst/>
          </a:prstGeom>
          <a:noFill/>
          <a:ln/>
        </p:spPr>
        <p:txBody>
          <a:bodyPr wrap="square" lIns="0" tIns="0" rIns="0" bIns="0" rtlCol="0" anchor="t"/>
          <a:lstStyle/>
          <a:p>
            <a:pPr algn="l" indent="0" marL="0">
              <a:lnSpc>
                <a:spcPts val="1400"/>
              </a:lnSpc>
              <a:spcAft>
                <a:spcPts val="600"/>
              </a:spcAft>
              <a:buNone/>
            </a:pPr>
            <a:r>
              <a:rPr lang="en-US" sz="1000" b="1" dirty="0">
                <a:solidFill>
                  <a:srgbClr val="CBD5E1"/>
                </a:solidFill>
                <a:latin typeface="Arial" pitchFamily="34" charset="0"/>
                <a:ea typeface="Arial" pitchFamily="34" charset="-122"/>
                <a:cs typeface="Arial" pitchFamily="34" charset="-120"/>
              </a:rPr>
              <a:t>2</a:t>
            </a:r>
            <a:endParaRPr lang="en-US" sz="1000" dirty="0"/>
          </a:p>
        </p:txBody>
      </p:sp>
      <p:sp>
        <p:nvSpPr>
          <p:cNvPr id="15" name="Text 12"/>
          <p:cNvSpPr/>
          <p:nvPr/>
        </p:nvSpPr>
        <p:spPr>
          <a:xfrm>
            <a:off x="4937075" y="1425327"/>
            <a:ext cx="3581832" cy="177701"/>
          </a:xfrm>
          <a:prstGeom prst="rect">
            <a:avLst/>
          </a:prstGeom>
          <a:noFill/>
          <a:ln/>
        </p:spPr>
        <p:txBody>
          <a:bodyPr wrap="square" lIns="0" tIns="0" rIns="0" bIns="0" rtlCol="0" anchor="t"/>
          <a:lstStyle/>
          <a:p>
            <a:pPr algn="l" indent="0" marL="0">
              <a:lnSpc>
                <a:spcPts val="1400"/>
              </a:lnSpc>
              <a:spcAft>
                <a:spcPts val="600"/>
              </a:spcAft>
              <a:buNone/>
            </a:pPr>
            <a:r>
              <a:rPr lang="en-US" sz="1000" b="1" dirty="0">
                <a:solidFill>
                  <a:srgbClr val="CBD5E1"/>
                </a:solidFill>
                <a:latin typeface="Arial" pitchFamily="34" charset="0"/>
                <a:ea typeface="Arial" pitchFamily="34" charset="-122"/>
                <a:cs typeface="Arial" pitchFamily="34" charset="-120"/>
              </a:rPr>
              <a:t>Legal-Longformer Hybrid</a:t>
            </a:r>
            <a:endParaRPr lang="en-US" sz="1000" dirty="0"/>
          </a:p>
        </p:txBody>
      </p:sp>
      <p:sp>
        <p:nvSpPr>
          <p:cNvPr id="16" name="Text 13"/>
          <p:cNvSpPr/>
          <p:nvPr/>
        </p:nvSpPr>
        <p:spPr>
          <a:xfrm>
            <a:off x="4937075" y="1679228"/>
            <a:ext cx="3581832" cy="177701"/>
          </a:xfrm>
          <a:prstGeom prst="rect">
            <a:avLst/>
          </a:prstGeom>
          <a:noFill/>
          <a:ln/>
        </p:spPr>
        <p:txBody>
          <a:bodyPr wrap="square" lIns="0" tIns="0" rIns="0" bIns="0" rtlCol="0" anchor="t"/>
          <a:lstStyle/>
          <a:p>
            <a:pPr algn="l" indent="0" marL="0">
              <a:lnSpc>
                <a:spcPts val="1400"/>
              </a:lnSpc>
              <a:spcAft>
                <a:spcPts val="600"/>
              </a:spcAft>
              <a:buNone/>
            </a:pPr>
            <a:r>
              <a:rPr lang="en-US" sz="1000" dirty="0">
                <a:solidFill>
                  <a:srgbClr val="CBD5E1"/>
                </a:solidFill>
                <a:latin typeface="Arial" pitchFamily="34" charset="0"/>
                <a:ea typeface="Arial" pitchFamily="34" charset="-122"/>
                <a:cs typeface="Arial" pitchFamily="34" charset="-120"/>
              </a:rPr>
              <a:t>Domain-specific transformer</a:t>
            </a:r>
            <a:endParaRPr lang="en-US" sz="1000" dirty="0"/>
          </a:p>
        </p:txBody>
      </p:sp>
      <p:sp>
        <p:nvSpPr>
          <p:cNvPr id="17" name="Text 14"/>
          <p:cNvSpPr/>
          <p:nvPr/>
        </p:nvSpPr>
        <p:spPr>
          <a:xfrm>
            <a:off x="4937075" y="1933129"/>
            <a:ext cx="3581832" cy="177701"/>
          </a:xfrm>
          <a:prstGeom prst="rect">
            <a:avLst/>
          </a:prstGeom>
          <a:noFill/>
          <a:ln/>
        </p:spPr>
        <p:txBody>
          <a:bodyPr wrap="square" lIns="0" tIns="0" rIns="0" bIns="0" rtlCol="0" anchor="t"/>
          <a:lstStyle/>
          <a:p>
            <a:pPr algn="l" indent="0" marL="0">
              <a:lnSpc>
                <a:spcPts val="1400"/>
              </a:lnSpc>
              <a:spcAft>
                <a:spcPts val="600"/>
              </a:spcAft>
              <a:buNone/>
            </a:pPr>
            <a:r>
              <a:rPr lang="en-US" sz="1000" dirty="0">
                <a:solidFill>
                  <a:srgbClr val="CBD5E1"/>
                </a:solidFill>
                <a:latin typeface="Arial" pitchFamily="34" charset="0"/>
                <a:ea typeface="Arial" pitchFamily="34" charset="-122"/>
                <a:cs typeface="Arial" pitchFamily="34" charset="-120"/>
              </a:rPr>
              <a:t>4,096 token context window</a:t>
            </a:r>
            <a:endParaRPr lang="en-US" sz="1000" dirty="0"/>
          </a:p>
        </p:txBody>
      </p:sp>
      <p:sp>
        <p:nvSpPr>
          <p:cNvPr id="18" name="Text 15"/>
          <p:cNvSpPr/>
          <p:nvPr/>
        </p:nvSpPr>
        <p:spPr>
          <a:xfrm>
            <a:off x="4937075" y="2187029"/>
            <a:ext cx="3581832" cy="177701"/>
          </a:xfrm>
          <a:prstGeom prst="rect">
            <a:avLst/>
          </a:prstGeom>
          <a:noFill/>
          <a:ln/>
        </p:spPr>
        <p:txBody>
          <a:bodyPr wrap="square" lIns="0" tIns="0" rIns="0" bIns="0" rtlCol="0" anchor="t"/>
          <a:lstStyle/>
          <a:p>
            <a:pPr algn="l" indent="0" marL="0">
              <a:lnSpc>
                <a:spcPts val="1400"/>
              </a:lnSpc>
              <a:spcAft>
                <a:spcPts val="600"/>
              </a:spcAft>
              <a:buNone/>
            </a:pPr>
            <a:r>
              <a:rPr lang="en-US" sz="1000" dirty="0">
                <a:solidFill>
                  <a:srgbClr val="CBD5E1"/>
                </a:solidFill>
                <a:latin typeface="Arial" pitchFamily="34" charset="0"/>
                <a:ea typeface="Arial" pitchFamily="34" charset="-122"/>
                <a:cs typeface="Arial" pitchFamily="34" charset="-120"/>
              </a:rPr>
              <a:t>Hybrid summarize + classify strategy</a:t>
            </a:r>
            <a:endParaRPr lang="en-US" sz="1000" dirty="0"/>
          </a:p>
        </p:txBody>
      </p:sp>
      <p:sp>
        <p:nvSpPr>
          <p:cNvPr id="19" name="Text 16"/>
          <p:cNvSpPr/>
          <p:nvPr/>
        </p:nvSpPr>
        <p:spPr>
          <a:xfrm>
            <a:off x="4937075" y="2440930"/>
            <a:ext cx="3581832" cy="177701"/>
          </a:xfrm>
          <a:prstGeom prst="rect">
            <a:avLst/>
          </a:prstGeom>
          <a:noFill/>
          <a:ln/>
        </p:spPr>
        <p:txBody>
          <a:bodyPr wrap="square" lIns="0" tIns="0" rIns="0" bIns="0" rtlCol="0" anchor="t"/>
          <a:lstStyle/>
          <a:p>
            <a:pPr algn="l" indent="0" marL="0">
              <a:lnSpc>
                <a:spcPts val="1400"/>
              </a:lnSpc>
              <a:spcAft>
                <a:spcPts val="600"/>
              </a:spcAft>
              <a:buNone/>
            </a:pPr>
            <a:r>
              <a:rPr lang="en-US" sz="1000" dirty="0">
                <a:solidFill>
                  <a:srgbClr val="CBD5E1"/>
                </a:solidFill>
                <a:latin typeface="Arial" pitchFamily="34" charset="0"/>
                <a:ea typeface="Arial" pitchFamily="34" charset="-122"/>
                <a:cs typeface="Arial" pitchFamily="34" charset="-120"/>
              </a:rPr>
              <a:t>Pre-trained on legal corpora</a:t>
            </a:r>
            <a:endParaRPr lang="en-US" sz="1000" dirty="0"/>
          </a:p>
        </p:txBody>
      </p:sp>
      <p:sp>
        <p:nvSpPr>
          <p:cNvPr id="20" name="Text 17"/>
          <p:cNvSpPr/>
          <p:nvPr/>
        </p:nvSpPr>
        <p:spPr>
          <a:xfrm>
            <a:off x="4937075" y="2694831"/>
            <a:ext cx="3511600" cy="229642"/>
          </a:xfrm>
          <a:prstGeom prst="roundRect">
            <a:avLst>
              <a:gd name="adj" fmla="val 22121"/>
            </a:avLst>
          </a:prstGeom>
          <a:solidFill>
            <a:srgbClr val="00B4D8">
              <a:alpha val="15000"/>
            </a:srgbClr>
          </a:solidFill>
          <a:ln w="9525">
            <a:solidFill>
              <a:srgbClr val="00B4D8"/>
            </a:solidFill>
          </a:ln>
        </p:spPr>
        <p:txBody>
          <a:bodyPr wrap="square" rtlCol="0" anchor="ctr"/>
          <a:lstStyle/>
          <a:p>
            <a:pPr indent="0" marL="0">
              <a:buNone/>
            </a:pPr>
            <a:endParaRPr lang="en-US" dirty="0"/>
          </a:p>
        </p:txBody>
      </p:sp>
      <p:sp>
        <p:nvSpPr>
          <p:cNvPr id="21" name="Text 18"/>
          <p:cNvSpPr/>
          <p:nvPr/>
        </p:nvSpPr>
        <p:spPr>
          <a:xfrm>
            <a:off x="5048101" y="2729657"/>
            <a:ext cx="3355339" cy="159990"/>
          </a:xfrm>
          <a:prstGeom prst="rect">
            <a:avLst/>
          </a:prstGeom>
          <a:noFill/>
          <a:ln/>
        </p:spPr>
        <p:txBody>
          <a:bodyPr wrap="square" lIns="0" tIns="0" rIns="0" bIns="0" rtlCol="0" anchor="t"/>
          <a:lstStyle/>
          <a:p>
            <a:pPr algn="l" indent="0" marL="0">
              <a:lnSpc>
                <a:spcPts val="1260"/>
              </a:lnSpc>
              <a:buNone/>
            </a:pPr>
            <a:r>
              <a:rPr lang="en-US" sz="900" dirty="0">
                <a:solidFill>
                  <a:srgbClr val="00B4D8"/>
                </a:solidFill>
                <a:latin typeface="Arial" pitchFamily="34" charset="0"/>
                <a:ea typeface="Arial" pitchFamily="34" charset="-122"/>
                <a:cs typeface="Arial" pitchFamily="34" charset="-120"/>
              </a:rPr>
              <a:t>TRANSFORMER</a:t>
            </a:r>
            <a:endParaRPr lang="en-US" sz="900" dirty="0"/>
          </a:p>
        </p:txBody>
      </p:sp>
      <p:sp>
        <p:nvSpPr>
          <p:cNvPr id="22" name="Text 19"/>
          <p:cNvSpPr/>
          <p:nvPr/>
        </p:nvSpPr>
        <p:spPr>
          <a:xfrm>
            <a:off x="457200" y="4483298"/>
            <a:ext cx="8229600" cy="406301"/>
          </a:xfrm>
          <a:prstGeom prst="rect">
            <a:avLst/>
          </a:prstGeom>
          <a:solidFill>
            <a:srgbClr val="E76F51">
              <a:alpha val="10000"/>
            </a:srgbClr>
          </a:solidFill>
          <a:ln/>
        </p:spPr>
        <p:txBody>
          <a:bodyPr wrap="square" rtlCol="0" anchor="ctr"/>
          <a:lstStyle/>
          <a:p>
            <a:pPr indent="0" marL="0">
              <a:buNone/>
            </a:pPr>
            <a:endParaRPr lang="en-US" dirty="0"/>
          </a:p>
        </p:txBody>
      </p:sp>
      <p:sp>
        <p:nvSpPr>
          <p:cNvPr id="23" name="Shape 20"/>
          <p:cNvSpPr/>
          <p:nvPr/>
        </p:nvSpPr>
        <p:spPr>
          <a:xfrm>
            <a:off x="481012" y="4483298"/>
            <a:ext cx="0" cy="406301"/>
          </a:xfrm>
          <a:prstGeom prst="line">
            <a:avLst/>
          </a:prstGeom>
          <a:noFill/>
          <a:ln w="47625">
            <a:solidFill>
              <a:srgbClr val="E76F51"/>
            </a:solidFill>
            <a:prstDash val="solid"/>
          </a:ln>
        </p:spPr>
      </p:sp>
      <p:sp>
        <p:nvSpPr>
          <p:cNvPr id="24" name="Text 21"/>
          <p:cNvSpPr/>
          <p:nvPr/>
        </p:nvSpPr>
        <p:spPr>
          <a:xfrm>
            <a:off x="682526" y="4610249"/>
            <a:ext cx="7983105" cy="152400"/>
          </a:xfrm>
          <a:prstGeom prst="rect">
            <a:avLst/>
          </a:prstGeom>
          <a:noFill/>
          <a:ln/>
        </p:spPr>
        <p:txBody>
          <a:bodyPr wrap="square" lIns="0" tIns="0" rIns="0" bIns="0" rtlCol="0" anchor="t"/>
          <a:lstStyle/>
          <a:p>
            <a:pPr algn="l" indent="0" marL="0">
              <a:buNone/>
            </a:pPr>
            <a:r>
              <a:rPr lang="en-US" sz="1100" b="1" dirty="0">
                <a:solidFill>
                  <a:srgbClr val="E2E8F0"/>
                </a:solidFill>
                <a:latin typeface="Arial" pitchFamily="34" charset="0"/>
                <a:ea typeface="Arial" pitchFamily="34" charset="-122"/>
                <a:cs typeface="Arial" pitchFamily="34" charset="-120"/>
              </a:rPr>
              <a:t>Goal:</a:t>
            </a:r>
            <a:pPr algn="l" indent="0" marL="0">
              <a:buNone/>
            </a:pPr>
            <a:r>
              <a:rPr lang="en-US" sz="1100" dirty="0">
                <a:solidFill>
                  <a:srgbClr val="E2E8F0"/>
                </a:solidFill>
                <a:latin typeface="Arial" pitchFamily="34" charset="0"/>
                <a:ea typeface="Arial" pitchFamily="34" charset="-122"/>
                <a:cs typeface="Arial" pitchFamily="34" charset="-120"/>
              </a:rPr>
              <a:t> Characterize performance and feasibility, not maximize SOTA results.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355550"/>
            <a:ext cx="8394192" cy="323850"/>
          </a:xfrm>
          <a:prstGeom prst="rect">
            <a:avLst/>
          </a:prstGeom>
          <a:noFill/>
          <a:ln/>
        </p:spPr>
        <p:txBody>
          <a:bodyPr wrap="square" lIns="0" tIns="0" rIns="0" bIns="0" rtlCol="0" anchor="t"/>
          <a:lstStyle/>
          <a:p>
            <a:pPr algn="l" indent="0" marL="0">
              <a:buNone/>
            </a:pPr>
            <a:r>
              <a:rPr lang="en-US" sz="2200" b="1" dirty="0">
                <a:solidFill>
                  <a:srgbClr val="00B4D8"/>
                </a:solidFill>
                <a:latin typeface="Arial" pitchFamily="34" charset="0"/>
                <a:ea typeface="Arial" pitchFamily="34" charset="-122"/>
                <a:cs typeface="Arial" pitchFamily="34" charset="-120"/>
              </a:rPr>
              <a:t>Baseline: TF-IDF + Logistic Regression</a:t>
            </a:r>
            <a:endParaRPr lang="en-US" sz="2200" dirty="0"/>
          </a:p>
        </p:txBody>
      </p:sp>
      <p:sp>
        <p:nvSpPr>
          <p:cNvPr id="4" name="Text 1"/>
          <p:cNvSpPr/>
          <p:nvPr/>
        </p:nvSpPr>
        <p:spPr>
          <a:xfrm>
            <a:off x="457200" y="882551"/>
            <a:ext cx="4067607" cy="159990"/>
          </a:xfrm>
          <a:prstGeom prst="rect">
            <a:avLst/>
          </a:prstGeom>
          <a:noFill/>
          <a:ln/>
        </p:spPr>
        <p:txBody>
          <a:bodyPr wrap="square" lIns="0" tIns="0" rIns="0" bIns="0" rtlCol="0" anchor="t"/>
          <a:lstStyle/>
          <a:p>
            <a:pPr algn="l" indent="0" marL="0">
              <a:lnSpc>
                <a:spcPts val="1260"/>
              </a:lnSpc>
              <a:spcAft>
                <a:spcPts val="600"/>
              </a:spcAft>
              <a:buNone/>
            </a:pPr>
            <a:r>
              <a:rPr lang="en-US" sz="900" dirty="0">
                <a:solidFill>
                  <a:srgbClr val="94A3B8"/>
                </a:solidFill>
                <a:latin typeface="Arial" pitchFamily="34" charset="0"/>
                <a:ea typeface="Arial" pitchFamily="34" charset="-122"/>
                <a:cs typeface="Arial" pitchFamily="34" charset="-120"/>
              </a:rPr>
              <a:t>CONFIGURATION</a:t>
            </a:r>
            <a:endParaRPr lang="en-US" sz="900" dirty="0"/>
          </a:p>
        </p:txBody>
      </p:sp>
      <p:sp>
        <p:nvSpPr>
          <p:cNvPr id="5" name="Shape 2"/>
          <p:cNvSpPr/>
          <p:nvPr/>
        </p:nvSpPr>
        <p:spPr>
          <a:xfrm>
            <a:off x="457200" y="1453604"/>
            <a:ext cx="3987850" cy="0"/>
          </a:xfrm>
          <a:prstGeom prst="line">
            <a:avLst/>
          </a:prstGeom>
          <a:noFill/>
          <a:ln w="9525">
            <a:solidFill>
              <a:srgbClr val="FFFFFF"/>
            </a:solidFill>
            <a:prstDash val="solid"/>
          </a:ln>
        </p:spPr>
      </p:sp>
      <p:sp>
        <p:nvSpPr>
          <p:cNvPr id="6" name="Text 3"/>
          <p:cNvSpPr/>
          <p:nvPr/>
        </p:nvSpPr>
        <p:spPr>
          <a:xfrm>
            <a:off x="457200" y="1194941"/>
            <a:ext cx="575947" cy="177701"/>
          </a:xfrm>
          <a:prstGeom prst="rect">
            <a:avLst/>
          </a:prstGeom>
          <a:noFill/>
          <a:ln/>
        </p:spPr>
        <p:txBody>
          <a:bodyPr wrap="square" lIns="0" tIns="0" rIns="0" bIns="0" rtlCol="0" anchor="t"/>
          <a:lstStyle/>
          <a:p>
            <a:pPr algn="l" indent="0" marL="0">
              <a:lnSpc>
                <a:spcPts val="1400"/>
              </a:lnSpc>
              <a:buNone/>
            </a:pPr>
            <a:r>
              <a:rPr lang="en-US" sz="1000" dirty="0">
                <a:solidFill>
                  <a:srgbClr val="94A3B8"/>
                </a:solidFill>
                <a:latin typeface="Arial" pitchFamily="34" charset="0"/>
                <a:ea typeface="Arial" pitchFamily="34" charset="-122"/>
                <a:cs typeface="Arial" pitchFamily="34" charset="-120"/>
              </a:rPr>
              <a:t>Vectorizer</a:t>
            </a:r>
            <a:endParaRPr lang="en-US" sz="1000" dirty="0"/>
          </a:p>
        </p:txBody>
      </p:sp>
      <p:sp>
        <p:nvSpPr>
          <p:cNvPr id="7" name="Text 4"/>
          <p:cNvSpPr/>
          <p:nvPr/>
        </p:nvSpPr>
        <p:spPr>
          <a:xfrm>
            <a:off x="4043065" y="1194941"/>
            <a:ext cx="410024" cy="177701"/>
          </a:xfrm>
          <a:prstGeom prst="rect">
            <a:avLst/>
          </a:prstGeom>
          <a:noFill/>
          <a:ln/>
        </p:spPr>
        <p:txBody>
          <a:bodyPr wrap="square" lIns="0" tIns="0" rIns="0" bIns="0" rtlCol="0" anchor="t"/>
          <a:lstStyle/>
          <a:p>
            <a:pPr algn="l" indent="0" marL="0">
              <a:lnSpc>
                <a:spcPts val="1400"/>
              </a:lnSpc>
              <a:buNone/>
            </a:pPr>
            <a:r>
              <a:rPr lang="en-US" sz="1000" b="1" dirty="0">
                <a:solidFill>
                  <a:srgbClr val="E2E8F0"/>
                </a:solidFill>
                <a:latin typeface="Arial" pitchFamily="34" charset="0"/>
                <a:ea typeface="Arial" pitchFamily="34" charset="-122"/>
                <a:cs typeface="Arial" pitchFamily="34" charset="-120"/>
              </a:rPr>
              <a:t>TF-IDF</a:t>
            </a:r>
            <a:endParaRPr lang="en-US" sz="1000" dirty="0"/>
          </a:p>
        </p:txBody>
      </p:sp>
      <p:sp>
        <p:nvSpPr>
          <p:cNvPr id="8" name="Shape 5"/>
          <p:cNvSpPr/>
          <p:nvPr/>
        </p:nvSpPr>
        <p:spPr>
          <a:xfrm>
            <a:off x="457200" y="1793230"/>
            <a:ext cx="3987850" cy="0"/>
          </a:xfrm>
          <a:prstGeom prst="line">
            <a:avLst/>
          </a:prstGeom>
          <a:noFill/>
          <a:ln w="9525">
            <a:solidFill>
              <a:srgbClr val="FFFFFF"/>
            </a:solidFill>
            <a:prstDash val="solid"/>
          </a:ln>
        </p:spPr>
      </p:sp>
      <p:sp>
        <p:nvSpPr>
          <p:cNvPr id="9" name="Text 6"/>
          <p:cNvSpPr/>
          <p:nvPr/>
        </p:nvSpPr>
        <p:spPr>
          <a:xfrm>
            <a:off x="457200" y="1534567"/>
            <a:ext cx="748701" cy="177701"/>
          </a:xfrm>
          <a:prstGeom prst="rect">
            <a:avLst/>
          </a:prstGeom>
          <a:noFill/>
          <a:ln/>
        </p:spPr>
        <p:txBody>
          <a:bodyPr wrap="square" lIns="0" tIns="0" rIns="0" bIns="0" rtlCol="0" anchor="t"/>
          <a:lstStyle/>
          <a:p>
            <a:pPr algn="l" indent="0" marL="0">
              <a:lnSpc>
                <a:spcPts val="1400"/>
              </a:lnSpc>
              <a:buNone/>
            </a:pPr>
            <a:r>
              <a:rPr lang="en-US" sz="1000" dirty="0">
                <a:solidFill>
                  <a:srgbClr val="94A3B8"/>
                </a:solidFill>
                <a:latin typeface="Arial" pitchFamily="34" charset="0"/>
                <a:ea typeface="Arial" pitchFamily="34" charset="-122"/>
                <a:cs typeface="Arial" pitchFamily="34" charset="-120"/>
              </a:rPr>
              <a:t>Max features</a:t>
            </a:r>
            <a:endParaRPr lang="en-US" sz="1000" dirty="0"/>
          </a:p>
        </p:txBody>
      </p:sp>
      <p:sp>
        <p:nvSpPr>
          <p:cNvPr id="10" name="Text 7"/>
          <p:cNvSpPr/>
          <p:nvPr/>
        </p:nvSpPr>
        <p:spPr>
          <a:xfrm>
            <a:off x="4056608" y="1534567"/>
            <a:ext cx="396210" cy="177701"/>
          </a:xfrm>
          <a:prstGeom prst="rect">
            <a:avLst/>
          </a:prstGeom>
          <a:noFill/>
          <a:ln/>
        </p:spPr>
        <p:txBody>
          <a:bodyPr wrap="square" lIns="0" tIns="0" rIns="0" bIns="0" rtlCol="0" anchor="t"/>
          <a:lstStyle/>
          <a:p>
            <a:pPr algn="l" indent="0" marL="0">
              <a:lnSpc>
                <a:spcPts val="1400"/>
              </a:lnSpc>
              <a:buNone/>
            </a:pPr>
            <a:r>
              <a:rPr lang="en-US" sz="1000" b="1" dirty="0">
                <a:solidFill>
                  <a:srgbClr val="E2E8F0"/>
                </a:solidFill>
                <a:latin typeface="Arial" pitchFamily="34" charset="0"/>
                <a:ea typeface="Arial" pitchFamily="34" charset="-122"/>
                <a:cs typeface="Arial" pitchFamily="34" charset="-120"/>
              </a:rPr>
              <a:t>10,000</a:t>
            </a:r>
            <a:endParaRPr lang="en-US" sz="1000" dirty="0"/>
          </a:p>
        </p:txBody>
      </p:sp>
      <p:sp>
        <p:nvSpPr>
          <p:cNvPr id="11" name="Shape 8"/>
          <p:cNvSpPr/>
          <p:nvPr/>
        </p:nvSpPr>
        <p:spPr>
          <a:xfrm>
            <a:off x="457200" y="2132856"/>
            <a:ext cx="3987850" cy="0"/>
          </a:xfrm>
          <a:prstGeom prst="line">
            <a:avLst/>
          </a:prstGeom>
          <a:noFill/>
          <a:ln w="9525">
            <a:solidFill>
              <a:srgbClr val="FFFFFF"/>
            </a:solidFill>
            <a:prstDash val="solid"/>
          </a:ln>
        </p:spPr>
      </p:sp>
      <p:sp>
        <p:nvSpPr>
          <p:cNvPr id="12" name="Text 9"/>
          <p:cNvSpPr/>
          <p:nvPr/>
        </p:nvSpPr>
        <p:spPr>
          <a:xfrm>
            <a:off x="457200" y="1874193"/>
            <a:ext cx="496553" cy="177701"/>
          </a:xfrm>
          <a:prstGeom prst="rect">
            <a:avLst/>
          </a:prstGeom>
          <a:noFill/>
          <a:ln/>
        </p:spPr>
        <p:txBody>
          <a:bodyPr wrap="square" lIns="0" tIns="0" rIns="0" bIns="0" rtlCol="0" anchor="t"/>
          <a:lstStyle/>
          <a:p>
            <a:pPr algn="l" indent="0" marL="0">
              <a:lnSpc>
                <a:spcPts val="1400"/>
              </a:lnSpc>
              <a:buNone/>
            </a:pPr>
            <a:r>
              <a:rPr lang="en-US" sz="1000" dirty="0">
                <a:solidFill>
                  <a:srgbClr val="94A3B8"/>
                </a:solidFill>
                <a:latin typeface="Arial" pitchFamily="34" charset="0"/>
                <a:ea typeface="Arial" pitchFamily="34" charset="-122"/>
                <a:cs typeface="Arial" pitchFamily="34" charset="-120"/>
              </a:rPr>
              <a:t>N-grams</a:t>
            </a:r>
            <a:endParaRPr lang="en-US" sz="1000" dirty="0"/>
          </a:p>
        </p:txBody>
      </p:sp>
      <p:sp>
        <p:nvSpPr>
          <p:cNvPr id="13" name="Text 10"/>
          <p:cNvSpPr/>
          <p:nvPr/>
        </p:nvSpPr>
        <p:spPr>
          <a:xfrm>
            <a:off x="3206651" y="1874193"/>
            <a:ext cx="1263167" cy="177701"/>
          </a:xfrm>
          <a:prstGeom prst="rect">
            <a:avLst/>
          </a:prstGeom>
          <a:noFill/>
          <a:ln/>
        </p:spPr>
        <p:txBody>
          <a:bodyPr wrap="square" lIns="0" tIns="0" rIns="0" bIns="0" rtlCol="0" anchor="t"/>
          <a:lstStyle/>
          <a:p>
            <a:pPr algn="l" indent="0" marL="0">
              <a:lnSpc>
                <a:spcPts val="1400"/>
              </a:lnSpc>
              <a:buNone/>
            </a:pPr>
            <a:r>
              <a:rPr lang="en-US" sz="1000" b="1" dirty="0">
                <a:solidFill>
                  <a:srgbClr val="E2E8F0"/>
                </a:solidFill>
                <a:latin typeface="Arial" pitchFamily="34" charset="0"/>
                <a:ea typeface="Arial" pitchFamily="34" charset="-122"/>
                <a:cs typeface="Arial" pitchFamily="34" charset="-120"/>
              </a:rPr>
              <a:t>Unigrams + Bigrams</a:t>
            </a:r>
            <a:endParaRPr lang="en-US" sz="1000" dirty="0"/>
          </a:p>
        </p:txBody>
      </p:sp>
      <p:sp>
        <p:nvSpPr>
          <p:cNvPr id="14" name="Shape 11"/>
          <p:cNvSpPr/>
          <p:nvPr/>
        </p:nvSpPr>
        <p:spPr>
          <a:xfrm>
            <a:off x="457200" y="2472482"/>
            <a:ext cx="3987850" cy="0"/>
          </a:xfrm>
          <a:prstGeom prst="line">
            <a:avLst/>
          </a:prstGeom>
          <a:noFill/>
          <a:ln w="9525">
            <a:solidFill>
              <a:srgbClr val="FFFFFF"/>
            </a:solidFill>
            <a:prstDash val="solid"/>
          </a:ln>
        </p:spPr>
      </p:sp>
      <p:sp>
        <p:nvSpPr>
          <p:cNvPr id="15" name="Text 12"/>
          <p:cNvSpPr/>
          <p:nvPr/>
        </p:nvSpPr>
        <p:spPr>
          <a:xfrm>
            <a:off x="457200" y="2213818"/>
            <a:ext cx="532531" cy="177701"/>
          </a:xfrm>
          <a:prstGeom prst="rect">
            <a:avLst/>
          </a:prstGeom>
          <a:noFill/>
          <a:ln/>
        </p:spPr>
        <p:txBody>
          <a:bodyPr wrap="square" lIns="0" tIns="0" rIns="0" bIns="0" rtlCol="0" anchor="t"/>
          <a:lstStyle/>
          <a:p>
            <a:pPr algn="l" indent="0" marL="0">
              <a:lnSpc>
                <a:spcPts val="1400"/>
              </a:lnSpc>
              <a:buNone/>
            </a:pPr>
            <a:r>
              <a:rPr lang="en-US" sz="1000" dirty="0">
                <a:solidFill>
                  <a:srgbClr val="94A3B8"/>
                </a:solidFill>
                <a:latin typeface="Arial" pitchFamily="34" charset="0"/>
                <a:ea typeface="Arial" pitchFamily="34" charset="-122"/>
                <a:cs typeface="Arial" pitchFamily="34" charset="-120"/>
              </a:rPr>
              <a:t>Classifier</a:t>
            </a:r>
            <a:endParaRPr lang="en-US" sz="1000" dirty="0"/>
          </a:p>
        </p:txBody>
      </p:sp>
      <p:sp>
        <p:nvSpPr>
          <p:cNvPr id="16" name="Text 13"/>
          <p:cNvSpPr/>
          <p:nvPr/>
        </p:nvSpPr>
        <p:spPr>
          <a:xfrm>
            <a:off x="3231505" y="2213818"/>
            <a:ext cx="1237815" cy="177701"/>
          </a:xfrm>
          <a:prstGeom prst="rect">
            <a:avLst/>
          </a:prstGeom>
          <a:noFill/>
          <a:ln/>
        </p:spPr>
        <p:txBody>
          <a:bodyPr wrap="square" lIns="0" tIns="0" rIns="0" bIns="0" rtlCol="0" anchor="t"/>
          <a:lstStyle/>
          <a:p>
            <a:pPr algn="l" indent="0" marL="0">
              <a:lnSpc>
                <a:spcPts val="1400"/>
              </a:lnSpc>
              <a:buNone/>
            </a:pPr>
            <a:r>
              <a:rPr lang="en-US" sz="1000" b="1" dirty="0">
                <a:solidFill>
                  <a:srgbClr val="E2E8F0"/>
                </a:solidFill>
                <a:latin typeface="Arial" pitchFamily="34" charset="0"/>
                <a:ea typeface="Arial" pitchFamily="34" charset="-122"/>
                <a:cs typeface="Arial" pitchFamily="34" charset="-120"/>
              </a:rPr>
              <a:t>Logistic Regression</a:t>
            </a:r>
            <a:endParaRPr lang="en-US" sz="1000" dirty="0"/>
          </a:p>
        </p:txBody>
      </p:sp>
      <p:sp>
        <p:nvSpPr>
          <p:cNvPr id="17" name="Shape 14"/>
          <p:cNvSpPr/>
          <p:nvPr/>
        </p:nvSpPr>
        <p:spPr>
          <a:xfrm>
            <a:off x="457200" y="2812107"/>
            <a:ext cx="3987850" cy="0"/>
          </a:xfrm>
          <a:prstGeom prst="line">
            <a:avLst/>
          </a:prstGeom>
          <a:noFill/>
          <a:ln w="9525">
            <a:solidFill>
              <a:srgbClr val="FFFFFF"/>
            </a:solidFill>
            <a:prstDash val="solid"/>
          </a:ln>
        </p:spPr>
      </p:sp>
      <p:sp>
        <p:nvSpPr>
          <p:cNvPr id="18" name="Text 15"/>
          <p:cNvSpPr/>
          <p:nvPr/>
        </p:nvSpPr>
        <p:spPr>
          <a:xfrm>
            <a:off x="457200" y="2553444"/>
            <a:ext cx="482435" cy="177701"/>
          </a:xfrm>
          <a:prstGeom prst="rect">
            <a:avLst/>
          </a:prstGeom>
          <a:noFill/>
          <a:ln/>
        </p:spPr>
        <p:txBody>
          <a:bodyPr wrap="square" lIns="0" tIns="0" rIns="0" bIns="0" rtlCol="0" anchor="t"/>
          <a:lstStyle/>
          <a:p>
            <a:pPr algn="l" indent="0" marL="0">
              <a:lnSpc>
                <a:spcPts val="1400"/>
              </a:lnSpc>
              <a:buNone/>
            </a:pPr>
            <a:r>
              <a:rPr lang="en-US" sz="1000" dirty="0">
                <a:solidFill>
                  <a:srgbClr val="94A3B8"/>
                </a:solidFill>
                <a:latin typeface="Arial" pitchFamily="34" charset="0"/>
                <a:ea typeface="Arial" pitchFamily="34" charset="-122"/>
                <a:cs typeface="Arial" pitchFamily="34" charset="-120"/>
              </a:rPr>
              <a:t>Strategy</a:t>
            </a:r>
            <a:endParaRPr lang="en-US" sz="1000" dirty="0"/>
          </a:p>
        </p:txBody>
      </p:sp>
      <p:sp>
        <p:nvSpPr>
          <p:cNvPr id="19" name="Text 16"/>
          <p:cNvSpPr/>
          <p:nvPr/>
        </p:nvSpPr>
        <p:spPr>
          <a:xfrm>
            <a:off x="3767584" y="2553444"/>
            <a:ext cx="691015" cy="177701"/>
          </a:xfrm>
          <a:prstGeom prst="rect">
            <a:avLst/>
          </a:prstGeom>
          <a:noFill/>
          <a:ln/>
        </p:spPr>
        <p:txBody>
          <a:bodyPr wrap="square" lIns="0" tIns="0" rIns="0" bIns="0" rtlCol="0" anchor="t"/>
          <a:lstStyle/>
          <a:p>
            <a:pPr algn="l" indent="0" marL="0">
              <a:lnSpc>
                <a:spcPts val="1400"/>
              </a:lnSpc>
              <a:buNone/>
            </a:pPr>
            <a:r>
              <a:rPr lang="en-US" sz="1000" b="1" dirty="0">
                <a:solidFill>
                  <a:srgbClr val="E2E8F0"/>
                </a:solidFill>
                <a:latin typeface="Arial" pitchFamily="34" charset="0"/>
                <a:ea typeface="Arial" pitchFamily="34" charset="-122"/>
                <a:cs typeface="Arial" pitchFamily="34" charset="-120"/>
              </a:rPr>
              <a:t>OneVsRest</a:t>
            </a:r>
            <a:endParaRPr lang="en-US" sz="1000" dirty="0"/>
          </a:p>
        </p:txBody>
      </p:sp>
      <p:sp>
        <p:nvSpPr>
          <p:cNvPr id="20" name="Shape 17"/>
          <p:cNvSpPr/>
          <p:nvPr/>
        </p:nvSpPr>
        <p:spPr>
          <a:xfrm>
            <a:off x="457200" y="3151733"/>
            <a:ext cx="3987850" cy="0"/>
          </a:xfrm>
          <a:prstGeom prst="line">
            <a:avLst/>
          </a:prstGeom>
          <a:noFill/>
          <a:ln w="9525">
            <a:solidFill>
              <a:srgbClr val="FFFFFF"/>
            </a:solidFill>
            <a:prstDash val="solid"/>
          </a:ln>
        </p:spPr>
      </p:sp>
      <p:sp>
        <p:nvSpPr>
          <p:cNvPr id="21" name="Text 18"/>
          <p:cNvSpPr/>
          <p:nvPr/>
        </p:nvSpPr>
        <p:spPr>
          <a:xfrm>
            <a:off x="457200" y="2893070"/>
            <a:ext cx="871207" cy="177701"/>
          </a:xfrm>
          <a:prstGeom prst="rect">
            <a:avLst/>
          </a:prstGeom>
          <a:noFill/>
          <a:ln/>
        </p:spPr>
        <p:txBody>
          <a:bodyPr wrap="square" lIns="0" tIns="0" rIns="0" bIns="0" rtlCol="0" anchor="t"/>
          <a:lstStyle/>
          <a:p>
            <a:pPr algn="l" indent="0" marL="0">
              <a:lnSpc>
                <a:spcPts val="1400"/>
              </a:lnSpc>
              <a:buNone/>
            </a:pPr>
            <a:r>
              <a:rPr lang="en-US" sz="1000" dirty="0">
                <a:solidFill>
                  <a:srgbClr val="94A3B8"/>
                </a:solidFill>
                <a:latin typeface="Arial" pitchFamily="34" charset="0"/>
                <a:ea typeface="Arial" pitchFamily="34" charset="-122"/>
                <a:cs typeface="Arial" pitchFamily="34" charset="-120"/>
              </a:rPr>
              <a:t>Min label count</a:t>
            </a:r>
            <a:endParaRPr lang="en-US" sz="1000" dirty="0"/>
          </a:p>
        </p:txBody>
      </p:sp>
      <p:sp>
        <p:nvSpPr>
          <p:cNvPr id="22" name="Text 19"/>
          <p:cNvSpPr/>
          <p:nvPr/>
        </p:nvSpPr>
        <p:spPr>
          <a:xfrm>
            <a:off x="3647480" y="2893070"/>
            <a:ext cx="813521" cy="177701"/>
          </a:xfrm>
          <a:prstGeom prst="rect">
            <a:avLst/>
          </a:prstGeom>
          <a:noFill/>
          <a:ln/>
        </p:spPr>
        <p:txBody>
          <a:bodyPr wrap="square" lIns="0" tIns="0" rIns="0" bIns="0" rtlCol="0" anchor="t"/>
          <a:lstStyle/>
          <a:p>
            <a:pPr algn="l" indent="0" marL="0">
              <a:lnSpc>
                <a:spcPts val="1400"/>
              </a:lnSpc>
              <a:buNone/>
            </a:pPr>
            <a:r>
              <a:rPr lang="en-US" sz="1000" b="1" dirty="0">
                <a:solidFill>
                  <a:srgbClr val="E2E8F0"/>
                </a:solidFill>
                <a:latin typeface="Arial" pitchFamily="34" charset="0"/>
                <a:ea typeface="Arial" pitchFamily="34" charset="-122"/>
                <a:cs typeface="Arial" pitchFamily="34" charset="-120"/>
              </a:rPr>
              <a:t>50 (41 labels)</a:t>
            </a:r>
            <a:endParaRPr lang="en-US" sz="1000" dirty="0"/>
          </a:p>
        </p:txBody>
      </p:sp>
      <p:sp>
        <p:nvSpPr>
          <p:cNvPr id="23" name="Shape 20"/>
          <p:cNvSpPr/>
          <p:nvPr/>
        </p:nvSpPr>
        <p:spPr>
          <a:xfrm>
            <a:off x="457200" y="3491359"/>
            <a:ext cx="3987850" cy="0"/>
          </a:xfrm>
          <a:prstGeom prst="line">
            <a:avLst/>
          </a:prstGeom>
          <a:noFill/>
          <a:ln w="9525">
            <a:solidFill>
              <a:srgbClr val="FFFFFF"/>
            </a:solidFill>
            <a:prstDash val="solid"/>
          </a:ln>
        </p:spPr>
      </p:sp>
      <p:sp>
        <p:nvSpPr>
          <p:cNvPr id="24" name="Text 21"/>
          <p:cNvSpPr/>
          <p:nvPr/>
        </p:nvSpPr>
        <p:spPr>
          <a:xfrm>
            <a:off x="457200" y="3232696"/>
            <a:ext cx="957432" cy="177701"/>
          </a:xfrm>
          <a:prstGeom prst="rect">
            <a:avLst/>
          </a:prstGeom>
          <a:noFill/>
          <a:ln/>
        </p:spPr>
        <p:txBody>
          <a:bodyPr wrap="square" lIns="0" tIns="0" rIns="0" bIns="0" rtlCol="0" anchor="t"/>
          <a:lstStyle/>
          <a:p>
            <a:pPr algn="l" indent="0" marL="0">
              <a:lnSpc>
                <a:spcPts val="1400"/>
              </a:lnSpc>
              <a:buNone/>
            </a:pPr>
            <a:r>
              <a:rPr lang="en-US" sz="1000" dirty="0">
                <a:solidFill>
                  <a:srgbClr val="94A3B8"/>
                </a:solidFill>
                <a:latin typeface="Arial" pitchFamily="34" charset="0"/>
                <a:ea typeface="Arial" pitchFamily="34" charset="-122"/>
                <a:cs typeface="Arial" pitchFamily="34" charset="-120"/>
              </a:rPr>
              <a:t>Regularization C</a:t>
            </a:r>
            <a:endParaRPr lang="en-US" sz="1000" dirty="0"/>
          </a:p>
        </p:txBody>
      </p:sp>
      <p:sp>
        <p:nvSpPr>
          <p:cNvPr id="25" name="Text 22"/>
          <p:cNvSpPr/>
          <p:nvPr/>
        </p:nvSpPr>
        <p:spPr>
          <a:xfrm>
            <a:off x="4268539" y="3232696"/>
            <a:ext cx="180040" cy="177701"/>
          </a:xfrm>
          <a:prstGeom prst="rect">
            <a:avLst/>
          </a:prstGeom>
          <a:noFill/>
          <a:ln/>
        </p:spPr>
        <p:txBody>
          <a:bodyPr wrap="square" lIns="0" tIns="0" rIns="0" bIns="0" rtlCol="0" anchor="t"/>
          <a:lstStyle/>
          <a:p>
            <a:pPr algn="l" indent="0" marL="0">
              <a:lnSpc>
                <a:spcPts val="1400"/>
              </a:lnSpc>
              <a:buNone/>
            </a:pPr>
            <a:r>
              <a:rPr lang="en-US" sz="1000" b="1" dirty="0">
                <a:solidFill>
                  <a:srgbClr val="E2E8F0"/>
                </a:solidFill>
                <a:latin typeface="Arial" pitchFamily="34" charset="0"/>
                <a:ea typeface="Arial" pitchFamily="34" charset="-122"/>
                <a:cs typeface="Arial" pitchFamily="34" charset="-120"/>
              </a:rPr>
              <a:t>1.0</a:t>
            </a:r>
            <a:endParaRPr lang="en-US" sz="1000" dirty="0"/>
          </a:p>
        </p:txBody>
      </p:sp>
      <p:sp>
        <p:nvSpPr>
          <p:cNvPr id="26" name="Text 23"/>
          <p:cNvSpPr/>
          <p:nvPr/>
        </p:nvSpPr>
        <p:spPr>
          <a:xfrm>
            <a:off x="457200" y="3623072"/>
            <a:ext cx="3987850" cy="552301"/>
          </a:xfrm>
          <a:prstGeom prst="roundRect">
            <a:avLst>
              <a:gd name="adj" fmla="val 13797"/>
            </a:avLst>
          </a:prstGeom>
          <a:solidFill>
            <a:srgbClr val="00B4D8">
              <a:alpha val="8000"/>
            </a:srgbClr>
          </a:solidFill>
          <a:ln w="9525">
            <a:solidFill>
              <a:srgbClr val="00B4D8"/>
            </a:solidFill>
          </a:ln>
        </p:spPr>
        <p:txBody>
          <a:bodyPr wrap="square" rtlCol="0" anchor="ctr"/>
          <a:lstStyle/>
          <a:p>
            <a:pPr indent="0" marL="0">
              <a:buNone/>
            </a:pPr>
            <a:endParaRPr lang="en-US" dirty="0"/>
          </a:p>
        </p:txBody>
      </p:sp>
      <p:sp>
        <p:nvSpPr>
          <p:cNvPr id="27" name="Text 24"/>
          <p:cNvSpPr/>
          <p:nvPr/>
        </p:nvSpPr>
        <p:spPr>
          <a:xfrm>
            <a:off x="644426" y="3784997"/>
            <a:ext cx="3685666" cy="177701"/>
          </a:xfrm>
          <a:prstGeom prst="rect">
            <a:avLst/>
          </a:prstGeom>
          <a:noFill/>
          <a:ln/>
        </p:spPr>
        <p:txBody>
          <a:bodyPr wrap="square" lIns="0" tIns="0" rIns="0" bIns="0" rtlCol="0" anchor="t"/>
          <a:lstStyle/>
          <a:p>
            <a:pPr algn="l" indent="0" marL="0">
              <a:lnSpc>
                <a:spcPts val="1400"/>
              </a:lnSpc>
              <a:spcAft>
                <a:spcPts val="400"/>
              </a:spcAft>
              <a:buNone/>
            </a:pPr>
            <a:r>
              <a:rPr lang="en-US" sz="1000" dirty="0">
                <a:solidFill>
                  <a:srgbClr val="E2E8F0"/>
                </a:solidFill>
                <a:latin typeface="Courier New" pitchFamily="34" charset="0"/>
                <a:ea typeface="Courier New" pitchFamily="34" charset="-122"/>
                <a:cs typeface="Courier New" pitchFamily="34" charset="-120"/>
              </a:rPr>
              <a:t>Text -&gt; TF-IDF -&gt; LogReg (x41) -&gt; Predict</a:t>
            </a:r>
            <a:endParaRPr lang="en-US" sz="1000" dirty="0"/>
          </a:p>
        </p:txBody>
      </p:sp>
      <p:sp>
        <p:nvSpPr>
          <p:cNvPr id="28" name="Text 25"/>
          <p:cNvSpPr/>
          <p:nvPr/>
        </p:nvSpPr>
        <p:spPr>
          <a:xfrm>
            <a:off x="4698950" y="882551"/>
            <a:ext cx="4067607" cy="159990"/>
          </a:xfrm>
          <a:prstGeom prst="rect">
            <a:avLst/>
          </a:prstGeom>
          <a:noFill/>
          <a:ln/>
        </p:spPr>
        <p:txBody>
          <a:bodyPr wrap="square" lIns="0" tIns="0" rIns="0" bIns="0" rtlCol="0" anchor="t"/>
          <a:lstStyle/>
          <a:p>
            <a:pPr algn="l" indent="0" marL="0">
              <a:lnSpc>
                <a:spcPts val="1260"/>
              </a:lnSpc>
              <a:spcAft>
                <a:spcPts val="600"/>
              </a:spcAft>
              <a:buNone/>
            </a:pPr>
            <a:r>
              <a:rPr lang="en-US" sz="900" dirty="0">
                <a:solidFill>
                  <a:srgbClr val="94A3B8"/>
                </a:solidFill>
                <a:latin typeface="Arial" pitchFamily="34" charset="0"/>
                <a:ea typeface="Arial" pitchFamily="34" charset="-122"/>
                <a:cs typeface="Arial" pitchFamily="34" charset="-120"/>
              </a:rPr>
              <a:t>DATA SPLIT (70 / 15 / 15)</a:t>
            </a:r>
            <a:endParaRPr lang="en-US" sz="900" dirty="0"/>
          </a:p>
        </p:txBody>
      </p:sp>
      <p:sp>
        <p:nvSpPr>
          <p:cNvPr id="29" name="Text 26"/>
          <p:cNvSpPr/>
          <p:nvPr/>
        </p:nvSpPr>
        <p:spPr>
          <a:xfrm>
            <a:off x="4698950" y="1169491"/>
            <a:ext cx="3987850" cy="1009204"/>
          </a:xfrm>
          <a:prstGeom prst="roundRect">
            <a:avLst>
              <a:gd name="adj" fmla="val 7551"/>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30" name="Text 27"/>
          <p:cNvSpPr/>
          <p:nvPr/>
        </p:nvSpPr>
        <p:spPr>
          <a:xfrm>
            <a:off x="4886176" y="1331416"/>
            <a:ext cx="3685666" cy="177701"/>
          </a:xfrm>
          <a:prstGeom prst="rect">
            <a:avLst/>
          </a:prstGeom>
          <a:noFill/>
          <a:ln/>
        </p:spPr>
        <p:txBody>
          <a:bodyPr wrap="square" lIns="0" tIns="0" rIns="0" bIns="0" rtlCol="0" anchor="t"/>
          <a:lstStyle/>
          <a:p>
            <a:pPr algn="l" indent="0" marL="0">
              <a:lnSpc>
                <a:spcPts val="1400"/>
              </a:lnSpc>
              <a:spcAft>
                <a:spcPts val="400"/>
              </a:spcAft>
              <a:buNone/>
            </a:pPr>
            <a:r>
              <a:rPr lang="en-US" sz="1000" b="1" dirty="0">
                <a:solidFill>
                  <a:srgbClr val="E2E8F0"/>
                </a:solidFill>
                <a:latin typeface="Arial" pitchFamily="34" charset="0"/>
                <a:ea typeface="Arial" pitchFamily="34" charset="-122"/>
                <a:cs typeface="Arial" pitchFamily="34" charset="-120"/>
              </a:rPr>
              <a:t>Train:</a:t>
            </a:r>
            <a:pPr algn="l" indent="0" marL="0">
              <a:lnSpc>
                <a:spcPts val="1400"/>
              </a:lnSpc>
              <a:spcAft>
                <a:spcPts val="400"/>
              </a:spcAft>
              <a:buNone/>
            </a:pPr>
            <a:r>
              <a:rPr lang="en-US" sz="1000" dirty="0">
                <a:solidFill>
                  <a:srgbClr val="E2E8F0"/>
                </a:solidFill>
                <a:latin typeface="Arial" pitchFamily="34" charset="0"/>
                <a:ea typeface="Arial" pitchFamily="34" charset="-122"/>
                <a:cs typeface="Arial" pitchFamily="34" charset="-120"/>
              </a:rPr>
              <a:t> 11,706 documents</a:t>
            </a:r>
            <a:endParaRPr lang="en-US" sz="1000" dirty="0"/>
          </a:p>
        </p:txBody>
      </p:sp>
      <p:sp>
        <p:nvSpPr>
          <p:cNvPr id="31" name="Text 28"/>
          <p:cNvSpPr/>
          <p:nvPr/>
        </p:nvSpPr>
        <p:spPr>
          <a:xfrm>
            <a:off x="4886176" y="1559868"/>
            <a:ext cx="3685666" cy="177701"/>
          </a:xfrm>
          <a:prstGeom prst="rect">
            <a:avLst/>
          </a:prstGeom>
          <a:noFill/>
          <a:ln/>
        </p:spPr>
        <p:txBody>
          <a:bodyPr wrap="square" lIns="0" tIns="0" rIns="0" bIns="0" rtlCol="0" anchor="t"/>
          <a:lstStyle/>
          <a:p>
            <a:pPr algn="l" indent="0" marL="0">
              <a:lnSpc>
                <a:spcPts val="1400"/>
              </a:lnSpc>
              <a:spcAft>
                <a:spcPts val="400"/>
              </a:spcAft>
              <a:buNone/>
            </a:pPr>
            <a:r>
              <a:rPr lang="en-US" sz="1000" b="1" dirty="0">
                <a:solidFill>
                  <a:srgbClr val="E2E8F0"/>
                </a:solidFill>
                <a:latin typeface="Arial" pitchFamily="34" charset="0"/>
                <a:ea typeface="Arial" pitchFamily="34" charset="-122"/>
                <a:cs typeface="Arial" pitchFamily="34" charset="-120"/>
              </a:rPr>
              <a:t>Validation:</a:t>
            </a:r>
            <a:pPr algn="l" indent="0" marL="0">
              <a:lnSpc>
                <a:spcPts val="1400"/>
              </a:lnSpc>
              <a:spcAft>
                <a:spcPts val="400"/>
              </a:spcAft>
              <a:buNone/>
            </a:pPr>
            <a:r>
              <a:rPr lang="en-US" sz="1000" dirty="0">
                <a:solidFill>
                  <a:srgbClr val="E2E8F0"/>
                </a:solidFill>
                <a:latin typeface="Arial" pitchFamily="34" charset="0"/>
                <a:ea typeface="Arial" pitchFamily="34" charset="-122"/>
                <a:cs typeface="Arial" pitchFamily="34" charset="-120"/>
              </a:rPr>
              <a:t> 2,509 documents</a:t>
            </a:r>
            <a:endParaRPr lang="en-US" sz="1000" dirty="0"/>
          </a:p>
        </p:txBody>
      </p:sp>
      <p:sp>
        <p:nvSpPr>
          <p:cNvPr id="32" name="Text 29"/>
          <p:cNvSpPr/>
          <p:nvPr/>
        </p:nvSpPr>
        <p:spPr>
          <a:xfrm>
            <a:off x="4886176" y="1788319"/>
            <a:ext cx="3685666" cy="177701"/>
          </a:xfrm>
          <a:prstGeom prst="rect">
            <a:avLst/>
          </a:prstGeom>
          <a:noFill/>
          <a:ln/>
        </p:spPr>
        <p:txBody>
          <a:bodyPr wrap="square" lIns="0" tIns="0" rIns="0" bIns="0" rtlCol="0" anchor="t"/>
          <a:lstStyle/>
          <a:p>
            <a:pPr algn="l" indent="0" marL="0">
              <a:lnSpc>
                <a:spcPts val="1400"/>
              </a:lnSpc>
              <a:spcAft>
                <a:spcPts val="400"/>
              </a:spcAft>
              <a:buNone/>
            </a:pPr>
            <a:r>
              <a:rPr lang="en-US" sz="1000" b="1" dirty="0">
                <a:solidFill>
                  <a:srgbClr val="E2E8F0"/>
                </a:solidFill>
                <a:latin typeface="Arial" pitchFamily="34" charset="0"/>
                <a:ea typeface="Arial" pitchFamily="34" charset="-122"/>
                <a:cs typeface="Arial" pitchFamily="34" charset="-120"/>
              </a:rPr>
              <a:t>Test:</a:t>
            </a:r>
            <a:pPr algn="l" indent="0" marL="0">
              <a:lnSpc>
                <a:spcPts val="1400"/>
              </a:lnSpc>
              <a:spcAft>
                <a:spcPts val="400"/>
              </a:spcAft>
              <a:buNone/>
            </a:pPr>
            <a:r>
              <a:rPr lang="en-US" sz="1000" dirty="0">
                <a:solidFill>
                  <a:srgbClr val="E2E8F0"/>
                </a:solidFill>
                <a:latin typeface="Arial" pitchFamily="34" charset="0"/>
                <a:ea typeface="Arial" pitchFamily="34" charset="-122"/>
                <a:cs typeface="Arial" pitchFamily="34" charset="-120"/>
              </a:rPr>
              <a:t> 2,509 documents</a:t>
            </a:r>
            <a:endParaRPr lang="en-US" sz="1000" dirty="0"/>
          </a:p>
        </p:txBody>
      </p:sp>
      <p:sp>
        <p:nvSpPr>
          <p:cNvPr id="33" name="Text 30"/>
          <p:cNvSpPr/>
          <p:nvPr/>
        </p:nvSpPr>
        <p:spPr>
          <a:xfrm>
            <a:off x="4698950" y="2356396"/>
            <a:ext cx="4067607" cy="159990"/>
          </a:xfrm>
          <a:prstGeom prst="rect">
            <a:avLst/>
          </a:prstGeom>
          <a:noFill/>
          <a:ln/>
        </p:spPr>
        <p:txBody>
          <a:bodyPr wrap="square" lIns="0" tIns="0" rIns="0" bIns="0" rtlCol="0" anchor="t"/>
          <a:lstStyle/>
          <a:p>
            <a:pPr algn="l" indent="0" marL="0">
              <a:lnSpc>
                <a:spcPts val="1260"/>
              </a:lnSpc>
              <a:spcBef>
                <a:spcPts val="1400"/>
              </a:spcBef>
              <a:spcAft>
                <a:spcPts val="600"/>
              </a:spcAft>
              <a:buNone/>
            </a:pPr>
            <a:r>
              <a:rPr lang="en-US" sz="900" dirty="0">
                <a:solidFill>
                  <a:srgbClr val="94A3B8"/>
                </a:solidFill>
                <a:latin typeface="Arial" pitchFamily="34" charset="0"/>
                <a:ea typeface="Arial" pitchFamily="34" charset="-122"/>
                <a:cs typeface="Arial" pitchFamily="34" charset="-120"/>
              </a:rPr>
              <a:t>WHY THIS BASELINE?</a:t>
            </a:r>
            <a:endParaRPr lang="en-US" sz="900" dirty="0"/>
          </a:p>
        </p:txBody>
      </p:sp>
      <p:sp>
        <p:nvSpPr>
          <p:cNvPr id="34" name="Text 31"/>
          <p:cNvSpPr/>
          <p:nvPr/>
        </p:nvSpPr>
        <p:spPr>
          <a:xfrm>
            <a:off x="4698950" y="2592586"/>
            <a:ext cx="4067607" cy="177701"/>
          </a:xfrm>
          <a:prstGeom prst="rect">
            <a:avLst/>
          </a:prstGeom>
          <a:noFill/>
          <a:ln/>
        </p:spPr>
        <p:txBody>
          <a:bodyPr wrap="square" lIns="0" tIns="0" rIns="0" bIns="0" rtlCol="0" anchor="t"/>
          <a:lstStyle/>
          <a:p>
            <a:pPr algn="l" indent="0" marL="0">
              <a:lnSpc>
                <a:spcPts val="1400"/>
              </a:lnSpc>
              <a:spcAft>
                <a:spcPts val="600"/>
              </a:spcAft>
              <a:buNone/>
            </a:pPr>
            <a:r>
              <a:rPr lang="en-US" sz="1000" dirty="0">
                <a:solidFill>
                  <a:srgbClr val="CBD5E1"/>
                </a:solidFill>
                <a:latin typeface="Arial" pitchFamily="34" charset="0"/>
                <a:ea typeface="Arial" pitchFamily="34" charset="-122"/>
                <a:cs typeface="Arial" pitchFamily="34" charset="-120"/>
              </a:rPr>
              <a:t>TF-IDF captures domain-specific legal terminology effectively</a:t>
            </a:r>
            <a:endParaRPr lang="en-US" sz="1000" dirty="0"/>
          </a:p>
        </p:txBody>
      </p:sp>
      <p:sp>
        <p:nvSpPr>
          <p:cNvPr id="35" name="Text 32"/>
          <p:cNvSpPr/>
          <p:nvPr/>
        </p:nvSpPr>
        <p:spPr>
          <a:xfrm>
            <a:off x="4698950" y="2846487"/>
            <a:ext cx="4067607" cy="177701"/>
          </a:xfrm>
          <a:prstGeom prst="rect">
            <a:avLst/>
          </a:prstGeom>
          <a:noFill/>
          <a:ln/>
        </p:spPr>
        <p:txBody>
          <a:bodyPr wrap="square" lIns="0" tIns="0" rIns="0" bIns="0" rtlCol="0" anchor="t"/>
          <a:lstStyle/>
          <a:p>
            <a:pPr algn="l" indent="0" marL="0">
              <a:lnSpc>
                <a:spcPts val="1400"/>
              </a:lnSpc>
              <a:spcAft>
                <a:spcPts val="600"/>
              </a:spcAft>
              <a:buNone/>
            </a:pPr>
            <a:r>
              <a:rPr lang="en-US" sz="1000" dirty="0">
                <a:solidFill>
                  <a:srgbClr val="CBD5E1"/>
                </a:solidFill>
                <a:latin typeface="Arial" pitchFamily="34" charset="0"/>
                <a:ea typeface="Arial" pitchFamily="34" charset="-122"/>
                <a:cs typeface="Arial" pitchFamily="34" charset="-120"/>
              </a:rPr>
              <a:t>Logistic Regression provides interpretable coefficients</a:t>
            </a:r>
            <a:endParaRPr lang="en-US" sz="1000" dirty="0"/>
          </a:p>
        </p:txBody>
      </p:sp>
      <p:sp>
        <p:nvSpPr>
          <p:cNvPr id="36" name="Text 33"/>
          <p:cNvSpPr/>
          <p:nvPr/>
        </p:nvSpPr>
        <p:spPr>
          <a:xfrm>
            <a:off x="4698950" y="3100388"/>
            <a:ext cx="4067607" cy="177701"/>
          </a:xfrm>
          <a:prstGeom prst="rect">
            <a:avLst/>
          </a:prstGeom>
          <a:noFill/>
          <a:ln/>
        </p:spPr>
        <p:txBody>
          <a:bodyPr wrap="square" lIns="0" tIns="0" rIns="0" bIns="0" rtlCol="0" anchor="t"/>
          <a:lstStyle/>
          <a:p>
            <a:pPr algn="l" indent="0" marL="0">
              <a:lnSpc>
                <a:spcPts val="1400"/>
              </a:lnSpc>
              <a:spcAft>
                <a:spcPts val="600"/>
              </a:spcAft>
              <a:buNone/>
            </a:pPr>
            <a:r>
              <a:rPr lang="en-US" sz="1000" dirty="0">
                <a:solidFill>
                  <a:srgbClr val="CBD5E1"/>
                </a:solidFill>
                <a:latin typeface="Arial" pitchFamily="34" charset="0"/>
                <a:ea typeface="Arial" pitchFamily="34" charset="-122"/>
                <a:cs typeface="Arial" pitchFamily="34" charset="-120"/>
              </a:rPr>
              <a:t>Fast iteration for feasibility analysis</a:t>
            </a:r>
            <a:endParaRPr lang="en-US" sz="1000" dirty="0"/>
          </a:p>
        </p:txBody>
      </p:sp>
      <p:sp>
        <p:nvSpPr>
          <p:cNvPr id="37" name="Text 34"/>
          <p:cNvSpPr/>
          <p:nvPr/>
        </p:nvSpPr>
        <p:spPr>
          <a:xfrm>
            <a:off x="4698950" y="3354288"/>
            <a:ext cx="4067607" cy="177701"/>
          </a:xfrm>
          <a:prstGeom prst="rect">
            <a:avLst/>
          </a:prstGeom>
          <a:noFill/>
          <a:ln/>
        </p:spPr>
        <p:txBody>
          <a:bodyPr wrap="square" lIns="0" tIns="0" rIns="0" bIns="0" rtlCol="0" anchor="t"/>
          <a:lstStyle/>
          <a:p>
            <a:pPr algn="l" indent="0" marL="0">
              <a:lnSpc>
                <a:spcPts val="1400"/>
              </a:lnSpc>
              <a:spcAft>
                <a:spcPts val="600"/>
              </a:spcAft>
              <a:buNone/>
            </a:pPr>
            <a:r>
              <a:rPr lang="en-US" sz="1000" dirty="0">
                <a:solidFill>
                  <a:srgbClr val="CBD5E1"/>
                </a:solidFill>
                <a:latin typeface="Arial" pitchFamily="34" charset="0"/>
                <a:ea typeface="Arial" pitchFamily="34" charset="-122"/>
                <a:cs typeface="Arial" pitchFamily="34" charset="-120"/>
              </a:rPr>
              <a:t>Strong baseline for legal text classification tasks</a:t>
            </a:r>
            <a:endParaRPr lang="en-US" sz="1000" dirty="0"/>
          </a:p>
        </p:txBody>
      </p:sp>
      <p:sp>
        <p:nvSpPr>
          <p:cNvPr id="38" name="Text 35"/>
          <p:cNvSpPr/>
          <p:nvPr/>
        </p:nvSpPr>
        <p:spPr>
          <a:xfrm>
            <a:off x="4698950" y="3608189"/>
            <a:ext cx="4067607" cy="177701"/>
          </a:xfrm>
          <a:prstGeom prst="rect">
            <a:avLst/>
          </a:prstGeom>
          <a:noFill/>
          <a:ln/>
        </p:spPr>
        <p:txBody>
          <a:bodyPr wrap="square" lIns="0" tIns="0" rIns="0" bIns="0" rtlCol="0" anchor="t"/>
          <a:lstStyle/>
          <a:p>
            <a:pPr algn="l" indent="0" marL="0">
              <a:lnSpc>
                <a:spcPts val="1400"/>
              </a:lnSpc>
              <a:spcAft>
                <a:spcPts val="600"/>
              </a:spcAft>
              <a:buNone/>
            </a:pPr>
            <a:r>
              <a:rPr lang="en-US" sz="1000" dirty="0">
                <a:solidFill>
                  <a:srgbClr val="CBD5E1"/>
                </a:solidFill>
                <a:latin typeface="Arial" pitchFamily="34" charset="0"/>
                <a:ea typeface="Arial" pitchFamily="34" charset="-122"/>
                <a:cs typeface="Arial" pitchFamily="34" charset="-120"/>
              </a:rPr>
              <a:t>OneVsRest handles multi-label naturally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355550"/>
            <a:ext cx="8394192" cy="323850"/>
          </a:xfrm>
          <a:prstGeom prst="rect">
            <a:avLst/>
          </a:prstGeom>
          <a:noFill/>
          <a:ln/>
        </p:spPr>
        <p:txBody>
          <a:bodyPr wrap="square" lIns="0" tIns="0" rIns="0" bIns="0" rtlCol="0" anchor="t"/>
          <a:lstStyle/>
          <a:p>
            <a:pPr algn="l" indent="0" marL="0">
              <a:buNone/>
            </a:pPr>
            <a:r>
              <a:rPr lang="en-US" sz="2200" b="1" dirty="0">
                <a:solidFill>
                  <a:srgbClr val="00B4D8"/>
                </a:solidFill>
                <a:latin typeface="Arial" pitchFamily="34" charset="0"/>
                <a:ea typeface="Arial" pitchFamily="34" charset="-122"/>
                <a:cs typeface="Arial" pitchFamily="34" charset="-120"/>
              </a:rPr>
              <a:t>The Long Document Challenge</a:t>
            </a:r>
            <a:endParaRPr lang="en-US" sz="2200" dirty="0"/>
          </a:p>
        </p:txBody>
      </p:sp>
      <p:sp>
        <p:nvSpPr>
          <p:cNvPr id="4" name="Text 1"/>
          <p:cNvSpPr/>
          <p:nvPr/>
        </p:nvSpPr>
        <p:spPr>
          <a:xfrm>
            <a:off x="457200" y="857101"/>
            <a:ext cx="4067607" cy="159990"/>
          </a:xfrm>
          <a:prstGeom prst="rect">
            <a:avLst/>
          </a:prstGeom>
          <a:noFill/>
          <a:ln/>
        </p:spPr>
        <p:txBody>
          <a:bodyPr wrap="square" lIns="0" tIns="0" rIns="0" bIns="0" rtlCol="0" anchor="t"/>
          <a:lstStyle/>
          <a:p>
            <a:pPr algn="l" indent="0" marL="0">
              <a:lnSpc>
                <a:spcPts val="1260"/>
              </a:lnSpc>
              <a:spcAft>
                <a:spcPts val="600"/>
              </a:spcAft>
              <a:buNone/>
            </a:pPr>
            <a:r>
              <a:rPr lang="en-US" sz="900" dirty="0">
                <a:solidFill>
                  <a:srgbClr val="94A3B8"/>
                </a:solidFill>
                <a:latin typeface="Arial" pitchFamily="34" charset="0"/>
                <a:ea typeface="Arial" pitchFamily="34" charset="-122"/>
                <a:cs typeface="Arial" pitchFamily="34" charset="-120"/>
              </a:rPr>
              <a:t>TOKEN COVERAGE BY MODEL</a:t>
            </a:r>
            <a:endParaRPr lang="en-US" sz="900" dirty="0"/>
          </a:p>
        </p:txBody>
      </p:sp>
      <p:sp>
        <p:nvSpPr>
          <p:cNvPr id="5" name="Text 2"/>
          <p:cNvSpPr/>
          <p:nvPr/>
        </p:nvSpPr>
        <p:spPr>
          <a:xfrm>
            <a:off x="457200" y="1093291"/>
            <a:ext cx="4067607" cy="177701"/>
          </a:xfrm>
          <a:prstGeom prst="rect">
            <a:avLst/>
          </a:prstGeom>
          <a:noFill/>
          <a:ln/>
        </p:spPr>
        <p:txBody>
          <a:bodyPr wrap="square" lIns="0" tIns="0" rIns="0" bIns="0" rtlCol="0" anchor="t"/>
          <a:lstStyle/>
          <a:p>
            <a:pPr algn="l" indent="0" marL="0">
              <a:lnSpc>
                <a:spcPts val="1400"/>
              </a:lnSpc>
              <a:spcAft>
                <a:spcPts val="1000"/>
              </a:spcAft>
              <a:buNone/>
            </a:pPr>
            <a:r>
              <a:rPr lang="en-US" sz="1000" dirty="0">
                <a:solidFill>
                  <a:srgbClr val="CBD5E1"/>
                </a:solidFill>
                <a:latin typeface="Arial" pitchFamily="34" charset="0"/>
                <a:ea typeface="Arial" pitchFamily="34" charset="-122"/>
                <a:cs typeface="Arial" pitchFamily="34" charset="-120"/>
              </a:rPr>
              <a:t>Median doc: 2,693 tokens | Max: 72,080 tokens</a:t>
            </a:r>
            <a:endParaRPr lang="en-US" sz="1000" dirty="0"/>
          </a:p>
        </p:txBody>
      </p:sp>
      <p:sp>
        <p:nvSpPr>
          <p:cNvPr id="6" name="Text 3"/>
          <p:cNvSpPr/>
          <p:nvPr/>
        </p:nvSpPr>
        <p:spPr>
          <a:xfrm>
            <a:off x="457200" y="1400473"/>
            <a:ext cx="906729" cy="159990"/>
          </a:xfrm>
          <a:prstGeom prst="rect">
            <a:avLst/>
          </a:prstGeom>
          <a:noFill/>
          <a:ln/>
        </p:spPr>
        <p:txBody>
          <a:bodyPr wrap="square" lIns="0" tIns="0" rIns="0" bIns="0" rtlCol="0" anchor="t"/>
          <a:lstStyle/>
          <a:p>
            <a:pPr algn="l" indent="0" marL="0">
              <a:lnSpc>
                <a:spcPts val="1260"/>
              </a:lnSpc>
              <a:spcAft>
                <a:spcPts val="500"/>
              </a:spcAft>
              <a:buNone/>
            </a:pPr>
            <a:r>
              <a:rPr lang="en-US" sz="900" dirty="0">
                <a:solidFill>
                  <a:srgbClr val="94A3B8"/>
                </a:solidFill>
                <a:latin typeface="Arial" pitchFamily="34" charset="0"/>
                <a:ea typeface="Arial" pitchFamily="34" charset="-122"/>
                <a:cs typeface="Arial" pitchFamily="34" charset="-120"/>
              </a:rPr>
              <a:t>BERT (512)</a:t>
            </a:r>
            <a:endParaRPr lang="en-US" sz="900" dirty="0"/>
          </a:p>
        </p:txBody>
      </p:sp>
      <p:sp>
        <p:nvSpPr>
          <p:cNvPr id="7" name="Text 4"/>
          <p:cNvSpPr/>
          <p:nvPr/>
        </p:nvSpPr>
        <p:spPr>
          <a:xfrm>
            <a:off x="1346150" y="1397943"/>
            <a:ext cx="3098899" cy="228600"/>
          </a:xfrm>
          <a:prstGeom prst="roundRect">
            <a:avLst>
              <a:gd name="adj" fmla="val 16667"/>
            </a:avLst>
          </a:prstGeom>
          <a:solidFill>
            <a:srgbClr val="FFFFFF">
              <a:alpha val="6000"/>
            </a:srgbClr>
          </a:solidFill>
          <a:ln/>
        </p:spPr>
        <p:txBody>
          <a:bodyPr wrap="square" rtlCol="0" anchor="ctr"/>
          <a:lstStyle/>
          <a:p>
            <a:pPr indent="0" marL="0">
              <a:buNone/>
            </a:pPr>
            <a:endParaRPr lang="en-US" dirty="0"/>
          </a:p>
        </p:txBody>
      </p:sp>
      <p:sp>
        <p:nvSpPr>
          <p:cNvPr id="8" name="Text 5"/>
          <p:cNvSpPr/>
          <p:nvPr/>
        </p:nvSpPr>
        <p:spPr>
          <a:xfrm>
            <a:off x="1346150" y="1397943"/>
            <a:ext cx="203150" cy="228600"/>
          </a:xfrm>
          <a:prstGeom prst="roundRect">
            <a:avLst>
              <a:gd name="adj" fmla="val 18755"/>
            </a:avLst>
          </a:prstGeom>
          <a:solidFill>
            <a:srgbClr val="EF4444"/>
          </a:solidFill>
          <a:ln/>
        </p:spPr>
        <p:txBody>
          <a:bodyPr wrap="square" rtlCol="0" anchor="ctr"/>
          <a:lstStyle/>
          <a:p>
            <a:pPr indent="0" marL="0">
              <a:buNone/>
            </a:pPr>
            <a:endParaRPr lang="en-US" dirty="0"/>
          </a:p>
        </p:txBody>
      </p:sp>
      <p:sp>
        <p:nvSpPr>
          <p:cNvPr id="9" name="Text 6"/>
          <p:cNvSpPr/>
          <p:nvPr/>
        </p:nvSpPr>
        <p:spPr>
          <a:xfrm>
            <a:off x="1241524" y="1441103"/>
            <a:ext cx="236208" cy="142280"/>
          </a:xfrm>
          <a:prstGeom prst="rect">
            <a:avLst/>
          </a:prstGeom>
          <a:noFill/>
          <a:ln/>
        </p:spPr>
        <p:txBody>
          <a:bodyPr wrap="square" lIns="0" tIns="0" rIns="0" bIns="0" rtlCol="0" anchor="t"/>
          <a:lstStyle/>
          <a:p>
            <a:pPr algn="l" indent="0" marL="0">
              <a:lnSpc>
                <a:spcPts val="1120"/>
              </a:lnSpc>
              <a:buNone/>
            </a:pPr>
            <a:r>
              <a:rPr lang="en-US" sz="800" b="1" dirty="0">
                <a:solidFill>
                  <a:srgbClr val="FFFFFF"/>
                </a:solidFill>
                <a:latin typeface="Arial" pitchFamily="34" charset="0"/>
                <a:ea typeface="Arial" pitchFamily="34" charset="-122"/>
                <a:cs typeface="Arial" pitchFamily="34" charset="-120"/>
              </a:rPr>
              <a:t>4.1%</a:t>
            </a:r>
            <a:endParaRPr lang="en-US" sz="800" dirty="0"/>
          </a:p>
        </p:txBody>
      </p:sp>
      <p:sp>
        <p:nvSpPr>
          <p:cNvPr id="10" name="Text 7"/>
          <p:cNvSpPr/>
          <p:nvPr/>
        </p:nvSpPr>
        <p:spPr>
          <a:xfrm>
            <a:off x="457200" y="1730573"/>
            <a:ext cx="906729" cy="159990"/>
          </a:xfrm>
          <a:prstGeom prst="rect">
            <a:avLst/>
          </a:prstGeom>
          <a:noFill/>
          <a:ln/>
        </p:spPr>
        <p:txBody>
          <a:bodyPr wrap="square" lIns="0" tIns="0" rIns="0" bIns="0" rtlCol="0" anchor="t"/>
          <a:lstStyle/>
          <a:p>
            <a:pPr algn="l" indent="0" marL="0">
              <a:lnSpc>
                <a:spcPts val="1260"/>
              </a:lnSpc>
              <a:spcAft>
                <a:spcPts val="500"/>
              </a:spcAft>
              <a:buNone/>
            </a:pPr>
            <a:r>
              <a:rPr lang="en-US" sz="900" dirty="0">
                <a:solidFill>
                  <a:srgbClr val="94A3B8"/>
                </a:solidFill>
                <a:latin typeface="Arial" pitchFamily="34" charset="0"/>
                <a:ea typeface="Arial" pitchFamily="34" charset="-122"/>
                <a:cs typeface="Arial" pitchFamily="34" charset="-120"/>
              </a:rPr>
              <a:t>Longformer (4K)</a:t>
            </a:r>
            <a:endParaRPr lang="en-US" sz="900" dirty="0"/>
          </a:p>
        </p:txBody>
      </p:sp>
      <p:sp>
        <p:nvSpPr>
          <p:cNvPr id="11" name="Text 8"/>
          <p:cNvSpPr/>
          <p:nvPr/>
        </p:nvSpPr>
        <p:spPr>
          <a:xfrm>
            <a:off x="1346150" y="1728043"/>
            <a:ext cx="3098899" cy="228600"/>
          </a:xfrm>
          <a:prstGeom prst="roundRect">
            <a:avLst>
              <a:gd name="adj" fmla="val 16667"/>
            </a:avLst>
          </a:prstGeom>
          <a:solidFill>
            <a:srgbClr val="FFFFFF">
              <a:alpha val="6000"/>
            </a:srgbClr>
          </a:solidFill>
          <a:ln/>
        </p:spPr>
        <p:txBody>
          <a:bodyPr wrap="square" rtlCol="0" anchor="ctr"/>
          <a:lstStyle/>
          <a:p>
            <a:pPr indent="0" marL="0">
              <a:buNone/>
            </a:pPr>
            <a:endParaRPr lang="en-US" dirty="0"/>
          </a:p>
        </p:txBody>
      </p:sp>
      <p:sp>
        <p:nvSpPr>
          <p:cNvPr id="12" name="Text 9"/>
          <p:cNvSpPr/>
          <p:nvPr/>
        </p:nvSpPr>
        <p:spPr>
          <a:xfrm>
            <a:off x="1346150" y="1728043"/>
            <a:ext cx="2093565" cy="228600"/>
          </a:xfrm>
          <a:prstGeom prst="roundRect">
            <a:avLst>
              <a:gd name="adj" fmla="val 16667"/>
            </a:avLst>
          </a:prstGeom>
          <a:solidFill>
            <a:srgbClr val="EAB308"/>
          </a:solidFill>
          <a:ln/>
        </p:spPr>
        <p:txBody>
          <a:bodyPr wrap="square" rtlCol="0" anchor="ctr"/>
          <a:lstStyle/>
          <a:p>
            <a:pPr indent="0" marL="0">
              <a:buNone/>
            </a:pPr>
            <a:endParaRPr lang="en-US" dirty="0"/>
          </a:p>
        </p:txBody>
      </p:sp>
      <p:sp>
        <p:nvSpPr>
          <p:cNvPr id="13" name="Text 10"/>
          <p:cNvSpPr/>
          <p:nvPr/>
        </p:nvSpPr>
        <p:spPr>
          <a:xfrm>
            <a:off x="3075533" y="1771204"/>
            <a:ext cx="293742" cy="142280"/>
          </a:xfrm>
          <a:prstGeom prst="rect">
            <a:avLst/>
          </a:prstGeom>
          <a:noFill/>
          <a:ln/>
        </p:spPr>
        <p:txBody>
          <a:bodyPr wrap="square" lIns="0" tIns="0" rIns="0" bIns="0" rtlCol="0" anchor="t"/>
          <a:lstStyle/>
          <a:p>
            <a:pPr algn="l" indent="0" marL="0">
              <a:lnSpc>
                <a:spcPts val="1120"/>
              </a:lnSpc>
              <a:buNone/>
            </a:pPr>
            <a:r>
              <a:rPr lang="en-US" sz="800" b="1" dirty="0">
                <a:solidFill>
                  <a:srgbClr val="FFFFFF"/>
                </a:solidFill>
                <a:latin typeface="Arial" pitchFamily="34" charset="0"/>
                <a:ea typeface="Arial" pitchFamily="34" charset="-122"/>
                <a:cs typeface="Arial" pitchFamily="34" charset="-120"/>
              </a:rPr>
              <a:t>65.1%</a:t>
            </a:r>
            <a:endParaRPr lang="en-US" sz="800" dirty="0"/>
          </a:p>
        </p:txBody>
      </p:sp>
      <p:sp>
        <p:nvSpPr>
          <p:cNvPr id="14" name="Text 11"/>
          <p:cNvSpPr/>
          <p:nvPr/>
        </p:nvSpPr>
        <p:spPr>
          <a:xfrm>
            <a:off x="457200" y="2060674"/>
            <a:ext cx="906729" cy="159990"/>
          </a:xfrm>
          <a:prstGeom prst="rect">
            <a:avLst/>
          </a:prstGeom>
          <a:noFill/>
          <a:ln/>
        </p:spPr>
        <p:txBody>
          <a:bodyPr wrap="square" lIns="0" tIns="0" rIns="0" bIns="0" rtlCol="0" anchor="t"/>
          <a:lstStyle/>
          <a:p>
            <a:pPr algn="l" indent="0" marL="0">
              <a:lnSpc>
                <a:spcPts val="1260"/>
              </a:lnSpc>
              <a:spcAft>
                <a:spcPts val="500"/>
              </a:spcAft>
              <a:buNone/>
            </a:pPr>
            <a:r>
              <a:rPr lang="en-US" sz="900" dirty="0">
                <a:solidFill>
                  <a:srgbClr val="94A3B8"/>
                </a:solidFill>
                <a:latin typeface="Arial" pitchFamily="34" charset="0"/>
                <a:ea typeface="Arial" pitchFamily="34" charset="-122"/>
                <a:cs typeface="Arial" pitchFamily="34" charset="-120"/>
              </a:rPr>
              <a:t>LED (16K)</a:t>
            </a:r>
            <a:endParaRPr lang="en-US" sz="900" dirty="0"/>
          </a:p>
        </p:txBody>
      </p:sp>
      <p:sp>
        <p:nvSpPr>
          <p:cNvPr id="15" name="Text 12"/>
          <p:cNvSpPr/>
          <p:nvPr/>
        </p:nvSpPr>
        <p:spPr>
          <a:xfrm>
            <a:off x="1346150" y="2058144"/>
            <a:ext cx="3098899" cy="228600"/>
          </a:xfrm>
          <a:prstGeom prst="roundRect">
            <a:avLst>
              <a:gd name="adj" fmla="val 16667"/>
            </a:avLst>
          </a:prstGeom>
          <a:solidFill>
            <a:srgbClr val="FFFFFF">
              <a:alpha val="6000"/>
            </a:srgbClr>
          </a:solidFill>
          <a:ln/>
        </p:spPr>
        <p:txBody>
          <a:bodyPr wrap="square" rtlCol="0" anchor="ctr"/>
          <a:lstStyle/>
          <a:p>
            <a:pPr indent="0" marL="0">
              <a:buNone/>
            </a:pPr>
            <a:endParaRPr lang="en-US" dirty="0"/>
          </a:p>
        </p:txBody>
      </p:sp>
      <p:sp>
        <p:nvSpPr>
          <p:cNvPr id="16" name="Text 13"/>
          <p:cNvSpPr/>
          <p:nvPr/>
        </p:nvSpPr>
        <p:spPr>
          <a:xfrm>
            <a:off x="1346150" y="2058144"/>
            <a:ext cx="3020020" cy="228600"/>
          </a:xfrm>
          <a:prstGeom prst="roundRect">
            <a:avLst>
              <a:gd name="adj" fmla="val 16667"/>
            </a:avLst>
          </a:prstGeom>
          <a:solidFill>
            <a:srgbClr val="22C55E"/>
          </a:solidFill>
          <a:ln/>
        </p:spPr>
        <p:txBody>
          <a:bodyPr wrap="square" rtlCol="0" anchor="ctr"/>
          <a:lstStyle/>
          <a:p>
            <a:pPr indent="0" marL="0">
              <a:buNone/>
            </a:pPr>
            <a:endParaRPr lang="en-US" dirty="0"/>
          </a:p>
        </p:txBody>
      </p:sp>
      <p:sp>
        <p:nvSpPr>
          <p:cNvPr id="17" name="Text 14"/>
          <p:cNvSpPr/>
          <p:nvPr/>
        </p:nvSpPr>
        <p:spPr>
          <a:xfrm>
            <a:off x="4027438" y="2101304"/>
            <a:ext cx="267783" cy="142280"/>
          </a:xfrm>
          <a:prstGeom prst="rect">
            <a:avLst/>
          </a:prstGeom>
          <a:noFill/>
          <a:ln/>
        </p:spPr>
        <p:txBody>
          <a:bodyPr wrap="square" lIns="0" tIns="0" rIns="0" bIns="0" rtlCol="0" anchor="t"/>
          <a:lstStyle/>
          <a:p>
            <a:pPr algn="l" indent="0" marL="0">
              <a:lnSpc>
                <a:spcPts val="1120"/>
              </a:lnSpc>
              <a:buNone/>
            </a:pPr>
            <a:r>
              <a:rPr lang="en-US" sz="800" b="1" dirty="0">
                <a:solidFill>
                  <a:srgbClr val="FFFFFF"/>
                </a:solidFill>
                <a:latin typeface="Arial" pitchFamily="34" charset="0"/>
                <a:ea typeface="Arial" pitchFamily="34" charset="-122"/>
                <a:cs typeface="Arial" pitchFamily="34" charset="-120"/>
              </a:rPr>
              <a:t>~95%</a:t>
            </a:r>
            <a:endParaRPr lang="en-US" sz="800" dirty="0"/>
          </a:p>
        </p:txBody>
      </p:sp>
      <p:sp>
        <p:nvSpPr>
          <p:cNvPr id="18" name="Text 15"/>
          <p:cNvSpPr/>
          <p:nvPr/>
        </p:nvSpPr>
        <p:spPr>
          <a:xfrm>
            <a:off x="457200" y="2413695"/>
            <a:ext cx="4067607" cy="177701"/>
          </a:xfrm>
          <a:prstGeom prst="rect">
            <a:avLst/>
          </a:prstGeom>
          <a:noFill/>
          <a:ln/>
        </p:spPr>
        <p:txBody>
          <a:bodyPr wrap="square" lIns="0" tIns="0" rIns="0" bIns="0" rtlCol="0" anchor="t"/>
          <a:lstStyle/>
          <a:p>
            <a:pPr algn="l" indent="0" marL="0">
              <a:lnSpc>
                <a:spcPts val="1400"/>
              </a:lnSpc>
              <a:spcBef>
                <a:spcPts val="1000"/>
              </a:spcBef>
              <a:spcAft>
                <a:spcPts val="500"/>
              </a:spcAft>
              <a:buNone/>
            </a:pPr>
            <a:r>
              <a:rPr lang="en-US" sz="1000" b="1" dirty="0">
                <a:solidFill>
                  <a:srgbClr val="EF4444"/>
                </a:solidFill>
                <a:latin typeface="Arial" pitchFamily="34" charset="0"/>
                <a:ea typeface="Arial" pitchFamily="34" charset="-122"/>
                <a:cs typeface="Arial" pitchFamily="34" charset="-120"/>
              </a:rPr>
              <a:t>Only 4.1% of docs fit in BERT's 512-token limit.</a:t>
            </a:r>
            <a:endParaRPr lang="en-US" sz="1000" dirty="0"/>
          </a:p>
        </p:txBody>
      </p:sp>
      <p:sp>
        <p:nvSpPr>
          <p:cNvPr id="19" name="Text 16"/>
          <p:cNvSpPr/>
          <p:nvPr/>
        </p:nvSpPr>
        <p:spPr>
          <a:xfrm>
            <a:off x="457200" y="2654796"/>
            <a:ext cx="4067607" cy="177701"/>
          </a:xfrm>
          <a:prstGeom prst="rect">
            <a:avLst/>
          </a:prstGeom>
          <a:noFill/>
          <a:ln/>
        </p:spPr>
        <p:txBody>
          <a:bodyPr wrap="square" lIns="0" tIns="0" rIns="0" bIns="0" rtlCol="0" anchor="t"/>
          <a:lstStyle/>
          <a:p>
            <a:pPr algn="l" indent="0" marL="0">
              <a:lnSpc>
                <a:spcPts val="1400"/>
              </a:lnSpc>
              <a:spcAft>
                <a:spcPts val="500"/>
              </a:spcAft>
              <a:buNone/>
            </a:pPr>
            <a:r>
              <a:rPr lang="en-US" sz="1000" dirty="0">
                <a:solidFill>
                  <a:srgbClr val="CBD5E1"/>
                </a:solidFill>
                <a:latin typeface="Arial" pitchFamily="34" charset="0"/>
                <a:ea typeface="Arial" pitchFamily="34" charset="-122"/>
                <a:cs typeface="Arial" pitchFamily="34" charset="-120"/>
              </a:rPr>
              <a:t>Standard transformers are unsuitable for this dataset.</a:t>
            </a:r>
            <a:endParaRPr lang="en-US" sz="1000" dirty="0"/>
          </a:p>
        </p:txBody>
      </p:sp>
      <p:sp>
        <p:nvSpPr>
          <p:cNvPr id="20" name="Text 17"/>
          <p:cNvSpPr/>
          <p:nvPr/>
        </p:nvSpPr>
        <p:spPr>
          <a:xfrm>
            <a:off x="4698950" y="857101"/>
            <a:ext cx="4067607" cy="159990"/>
          </a:xfrm>
          <a:prstGeom prst="rect">
            <a:avLst/>
          </a:prstGeom>
          <a:noFill/>
          <a:ln/>
        </p:spPr>
        <p:txBody>
          <a:bodyPr wrap="square" lIns="0" tIns="0" rIns="0" bIns="0" rtlCol="0" anchor="t"/>
          <a:lstStyle/>
          <a:p>
            <a:pPr algn="l" indent="0" marL="0">
              <a:lnSpc>
                <a:spcPts val="1260"/>
              </a:lnSpc>
              <a:spcAft>
                <a:spcPts val="600"/>
              </a:spcAft>
              <a:buNone/>
            </a:pPr>
            <a:r>
              <a:rPr lang="en-US" sz="900" dirty="0">
                <a:solidFill>
                  <a:srgbClr val="94A3B8"/>
                </a:solidFill>
                <a:latin typeface="Arial" pitchFamily="34" charset="0"/>
                <a:ea typeface="Arial" pitchFamily="34" charset="-122"/>
                <a:cs typeface="Arial" pitchFamily="34" charset="-120"/>
              </a:rPr>
              <a:t>HYBRID ROUTING STRATEGY</a:t>
            </a:r>
            <a:endParaRPr lang="en-US" sz="900" dirty="0"/>
          </a:p>
        </p:txBody>
      </p:sp>
      <p:sp>
        <p:nvSpPr>
          <p:cNvPr id="21" name="Text 18"/>
          <p:cNvSpPr/>
          <p:nvPr/>
        </p:nvSpPr>
        <p:spPr>
          <a:xfrm>
            <a:off x="4698950" y="1093291"/>
            <a:ext cx="3987850" cy="1306413"/>
          </a:xfrm>
          <a:prstGeom prst="roundRect">
            <a:avLst>
              <a:gd name="adj" fmla="val 5833"/>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22" name="Text 19"/>
          <p:cNvSpPr/>
          <p:nvPr/>
        </p:nvSpPr>
        <p:spPr>
          <a:xfrm>
            <a:off x="4886176" y="1255216"/>
            <a:ext cx="3685666" cy="284411"/>
          </a:xfrm>
          <a:prstGeom prst="rect">
            <a:avLst/>
          </a:prstGeom>
          <a:noFill/>
          <a:ln/>
        </p:spPr>
        <p:txBody>
          <a:bodyPr wrap="square" lIns="0" tIns="0" rIns="0" bIns="0" rtlCol="0" anchor="t"/>
          <a:lstStyle/>
          <a:p>
            <a:pPr algn="l" indent="0" marL="0">
              <a:lnSpc>
                <a:spcPts val="2240"/>
              </a:lnSpc>
              <a:spcAft>
                <a:spcPts val="400"/>
              </a:spcAft>
              <a:buNone/>
            </a:pPr>
            <a:r>
              <a:rPr lang="en-US" sz="1600" b="1" dirty="0">
                <a:solidFill>
                  <a:srgbClr val="00B4D8"/>
                </a:solidFill>
                <a:latin typeface="Arial" pitchFamily="34" charset="0"/>
                <a:ea typeface="Arial" pitchFamily="34" charset="-122"/>
                <a:cs typeface="Arial" pitchFamily="34" charset="-120"/>
              </a:rPr>
              <a:t>66.9%</a:t>
            </a:r>
            <a:endParaRPr lang="en-US" sz="1600" dirty="0"/>
          </a:p>
        </p:txBody>
      </p:sp>
      <p:sp>
        <p:nvSpPr>
          <p:cNvPr id="23" name="Text 20"/>
          <p:cNvSpPr/>
          <p:nvPr/>
        </p:nvSpPr>
        <p:spPr>
          <a:xfrm>
            <a:off x="4886176" y="1590377"/>
            <a:ext cx="3685666" cy="177701"/>
          </a:xfrm>
          <a:prstGeom prst="rect">
            <a:avLst/>
          </a:prstGeom>
          <a:noFill/>
          <a:ln/>
        </p:spPr>
        <p:txBody>
          <a:bodyPr wrap="square" lIns="0" tIns="0" rIns="0" bIns="0" rtlCol="0" anchor="t"/>
          <a:lstStyle/>
          <a:p>
            <a:pPr algn="l" indent="0" marL="0">
              <a:lnSpc>
                <a:spcPts val="1400"/>
              </a:lnSpc>
              <a:spcAft>
                <a:spcPts val="300"/>
              </a:spcAft>
              <a:buNone/>
            </a:pPr>
            <a:r>
              <a:rPr lang="en-US" sz="1000" b="1" dirty="0">
                <a:solidFill>
                  <a:srgbClr val="E2E8F0"/>
                </a:solidFill>
                <a:latin typeface="Arial" pitchFamily="34" charset="0"/>
                <a:ea typeface="Arial" pitchFamily="34" charset="-122"/>
                <a:cs typeface="Arial" pitchFamily="34" charset="-120"/>
              </a:rPr>
              <a:t>Direct Classification</a:t>
            </a:r>
            <a:endParaRPr lang="en-US" sz="1000" dirty="0"/>
          </a:p>
        </p:txBody>
      </p:sp>
      <p:sp>
        <p:nvSpPr>
          <p:cNvPr id="24" name="Text 21"/>
          <p:cNvSpPr/>
          <p:nvPr/>
        </p:nvSpPr>
        <p:spPr>
          <a:xfrm>
            <a:off x="4886176" y="1806178"/>
            <a:ext cx="3685666" cy="177701"/>
          </a:xfrm>
          <a:prstGeom prst="rect">
            <a:avLst/>
          </a:prstGeom>
          <a:noFill/>
          <a:ln/>
        </p:spPr>
        <p:txBody>
          <a:bodyPr wrap="square" lIns="0" tIns="0" rIns="0" bIns="0" rtlCol="0" anchor="t"/>
          <a:lstStyle/>
          <a:p>
            <a:pPr algn="l" indent="0" marL="0">
              <a:lnSpc>
                <a:spcPts val="1400"/>
              </a:lnSpc>
              <a:spcAft>
                <a:spcPts val="300"/>
              </a:spcAft>
              <a:buNone/>
            </a:pPr>
            <a:r>
              <a:rPr lang="en-US" sz="1000" dirty="0">
                <a:solidFill>
                  <a:srgbClr val="E2E8F0"/>
                </a:solidFill>
                <a:latin typeface="Arial" pitchFamily="34" charset="0"/>
                <a:ea typeface="Arial" pitchFamily="34" charset="-122"/>
                <a:cs typeface="Arial" pitchFamily="34" charset="-120"/>
              </a:rPr>
              <a:t>Documents &lt;= 4,096 tokens</a:t>
            </a:r>
            <a:endParaRPr lang="en-US" sz="1000" dirty="0"/>
          </a:p>
        </p:txBody>
      </p:sp>
      <p:sp>
        <p:nvSpPr>
          <p:cNvPr id="25" name="Text 22"/>
          <p:cNvSpPr/>
          <p:nvPr/>
        </p:nvSpPr>
        <p:spPr>
          <a:xfrm>
            <a:off x="4886176" y="2021979"/>
            <a:ext cx="3685666" cy="177701"/>
          </a:xfrm>
          <a:prstGeom prst="rect">
            <a:avLst/>
          </a:prstGeom>
          <a:noFill/>
          <a:ln/>
        </p:spPr>
        <p:txBody>
          <a:bodyPr wrap="square" lIns="0" tIns="0" rIns="0" bIns="0" rtlCol="0" anchor="t"/>
          <a:lstStyle/>
          <a:p>
            <a:pPr algn="l" indent="0" marL="0">
              <a:lnSpc>
                <a:spcPts val="1400"/>
              </a:lnSpc>
              <a:spcAft>
                <a:spcPts val="300"/>
              </a:spcAft>
              <a:buNone/>
            </a:pPr>
            <a:r>
              <a:rPr lang="en-US" sz="1000" dirty="0">
                <a:solidFill>
                  <a:srgbClr val="E2E8F0"/>
                </a:solidFill>
                <a:latin typeface="Arial" pitchFamily="34" charset="0"/>
                <a:ea typeface="Arial" pitchFamily="34" charset="-122"/>
                <a:cs typeface="Arial" pitchFamily="34" charset="-120"/>
              </a:rPr>
              <a:t>Processed by Legal-Longformer directly</a:t>
            </a:r>
            <a:endParaRPr lang="en-US" sz="1000" dirty="0"/>
          </a:p>
        </p:txBody>
      </p:sp>
      <p:sp>
        <p:nvSpPr>
          <p:cNvPr id="26" name="Text 23"/>
          <p:cNvSpPr/>
          <p:nvPr/>
        </p:nvSpPr>
        <p:spPr>
          <a:xfrm>
            <a:off x="4698950" y="2501205"/>
            <a:ext cx="3987850" cy="1306413"/>
          </a:xfrm>
          <a:prstGeom prst="roundRect">
            <a:avLst>
              <a:gd name="adj" fmla="val 5833"/>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27" name="Text 24"/>
          <p:cNvSpPr/>
          <p:nvPr/>
        </p:nvSpPr>
        <p:spPr>
          <a:xfrm>
            <a:off x="4886176" y="2663130"/>
            <a:ext cx="3685666" cy="284411"/>
          </a:xfrm>
          <a:prstGeom prst="rect">
            <a:avLst/>
          </a:prstGeom>
          <a:noFill/>
          <a:ln/>
        </p:spPr>
        <p:txBody>
          <a:bodyPr wrap="square" lIns="0" tIns="0" rIns="0" bIns="0" rtlCol="0" anchor="t"/>
          <a:lstStyle/>
          <a:p>
            <a:pPr algn="l" indent="0" marL="0">
              <a:lnSpc>
                <a:spcPts val="2240"/>
              </a:lnSpc>
              <a:spcAft>
                <a:spcPts val="400"/>
              </a:spcAft>
              <a:buNone/>
            </a:pPr>
            <a:r>
              <a:rPr lang="en-US" sz="1600" b="1" dirty="0">
                <a:solidFill>
                  <a:srgbClr val="00B4D8"/>
                </a:solidFill>
                <a:latin typeface="Arial" pitchFamily="34" charset="0"/>
                <a:ea typeface="Arial" pitchFamily="34" charset="-122"/>
                <a:cs typeface="Arial" pitchFamily="34" charset="-120"/>
              </a:rPr>
              <a:t>33.1%</a:t>
            </a:r>
            <a:endParaRPr lang="en-US" sz="1600" dirty="0"/>
          </a:p>
        </p:txBody>
      </p:sp>
      <p:sp>
        <p:nvSpPr>
          <p:cNvPr id="28" name="Text 25"/>
          <p:cNvSpPr/>
          <p:nvPr/>
        </p:nvSpPr>
        <p:spPr>
          <a:xfrm>
            <a:off x="4886176" y="2998291"/>
            <a:ext cx="3685666" cy="177701"/>
          </a:xfrm>
          <a:prstGeom prst="rect">
            <a:avLst/>
          </a:prstGeom>
          <a:noFill/>
          <a:ln/>
        </p:spPr>
        <p:txBody>
          <a:bodyPr wrap="square" lIns="0" tIns="0" rIns="0" bIns="0" rtlCol="0" anchor="t"/>
          <a:lstStyle/>
          <a:p>
            <a:pPr algn="l" indent="0" marL="0">
              <a:lnSpc>
                <a:spcPts val="1400"/>
              </a:lnSpc>
              <a:spcAft>
                <a:spcPts val="300"/>
              </a:spcAft>
              <a:buNone/>
            </a:pPr>
            <a:r>
              <a:rPr lang="en-US" sz="1000" b="1" dirty="0">
                <a:solidFill>
                  <a:srgbClr val="E2E8F0"/>
                </a:solidFill>
                <a:latin typeface="Arial" pitchFamily="34" charset="0"/>
                <a:ea typeface="Arial" pitchFamily="34" charset="-122"/>
                <a:cs typeface="Arial" pitchFamily="34" charset="-120"/>
              </a:rPr>
              <a:t>Summarize, then Classify</a:t>
            </a:r>
            <a:endParaRPr lang="en-US" sz="1000" dirty="0"/>
          </a:p>
        </p:txBody>
      </p:sp>
      <p:sp>
        <p:nvSpPr>
          <p:cNvPr id="29" name="Text 26"/>
          <p:cNvSpPr/>
          <p:nvPr/>
        </p:nvSpPr>
        <p:spPr>
          <a:xfrm>
            <a:off x="4886176" y="3214092"/>
            <a:ext cx="3685666" cy="177701"/>
          </a:xfrm>
          <a:prstGeom prst="rect">
            <a:avLst/>
          </a:prstGeom>
          <a:noFill/>
          <a:ln/>
        </p:spPr>
        <p:txBody>
          <a:bodyPr wrap="square" lIns="0" tIns="0" rIns="0" bIns="0" rtlCol="0" anchor="t"/>
          <a:lstStyle/>
          <a:p>
            <a:pPr algn="l" indent="0" marL="0">
              <a:lnSpc>
                <a:spcPts val="1400"/>
              </a:lnSpc>
              <a:spcAft>
                <a:spcPts val="300"/>
              </a:spcAft>
              <a:buNone/>
            </a:pPr>
            <a:r>
              <a:rPr lang="en-US" sz="1000" dirty="0">
                <a:solidFill>
                  <a:srgbClr val="E2E8F0"/>
                </a:solidFill>
                <a:latin typeface="Arial" pitchFamily="34" charset="0"/>
                <a:ea typeface="Arial" pitchFamily="34" charset="-122"/>
                <a:cs typeface="Arial" pitchFamily="34" charset="-120"/>
              </a:rPr>
              <a:t>Documents &gt; 4,096 tokens (5,530 docs)</a:t>
            </a:r>
            <a:endParaRPr lang="en-US" sz="1000" dirty="0"/>
          </a:p>
        </p:txBody>
      </p:sp>
      <p:sp>
        <p:nvSpPr>
          <p:cNvPr id="30" name="Text 27"/>
          <p:cNvSpPr/>
          <p:nvPr/>
        </p:nvSpPr>
        <p:spPr>
          <a:xfrm>
            <a:off x="4886176" y="3429893"/>
            <a:ext cx="3685666" cy="177701"/>
          </a:xfrm>
          <a:prstGeom prst="rect">
            <a:avLst/>
          </a:prstGeom>
          <a:noFill/>
          <a:ln/>
        </p:spPr>
        <p:txBody>
          <a:bodyPr wrap="square" lIns="0" tIns="0" rIns="0" bIns="0" rtlCol="0" anchor="t"/>
          <a:lstStyle/>
          <a:p>
            <a:pPr algn="l" indent="0" marL="0">
              <a:lnSpc>
                <a:spcPts val="1400"/>
              </a:lnSpc>
              <a:spcAft>
                <a:spcPts val="300"/>
              </a:spcAft>
              <a:buNone/>
            </a:pPr>
            <a:r>
              <a:rPr lang="en-US" sz="1000" dirty="0">
                <a:solidFill>
                  <a:srgbClr val="E2E8F0"/>
                </a:solidFill>
                <a:latin typeface="Arial" pitchFamily="34" charset="0"/>
                <a:ea typeface="Arial" pitchFamily="34" charset="-122"/>
                <a:cs typeface="Arial" pitchFamily="34" charset="-120"/>
              </a:rPr>
              <a:t>Legal-LED (16K) summarizes first</a:t>
            </a:r>
            <a:endParaRPr lang="en-US" sz="1000" dirty="0"/>
          </a:p>
        </p:txBody>
      </p:sp>
      <p:sp>
        <p:nvSpPr>
          <p:cNvPr id="31" name="Text 28"/>
          <p:cNvSpPr/>
          <p:nvPr/>
        </p:nvSpPr>
        <p:spPr>
          <a:xfrm>
            <a:off x="4698950" y="3909120"/>
            <a:ext cx="3987850" cy="488752"/>
          </a:xfrm>
          <a:prstGeom prst="roundRect">
            <a:avLst>
              <a:gd name="adj" fmla="val 15591"/>
            </a:avLst>
          </a:prstGeom>
          <a:solidFill>
            <a:srgbClr val="00B4D8">
              <a:alpha val="8000"/>
            </a:srgbClr>
          </a:solidFill>
          <a:ln w="9525">
            <a:solidFill>
              <a:srgbClr val="00B4D8"/>
            </a:solidFill>
          </a:ln>
        </p:spPr>
        <p:txBody>
          <a:bodyPr wrap="square" rtlCol="0" anchor="ctr"/>
          <a:lstStyle/>
          <a:p>
            <a:pPr indent="0" marL="0">
              <a:buNone/>
            </a:pPr>
            <a:endParaRPr lang="en-US" dirty="0"/>
          </a:p>
        </p:txBody>
      </p:sp>
      <p:sp>
        <p:nvSpPr>
          <p:cNvPr id="32" name="Text 29"/>
          <p:cNvSpPr/>
          <p:nvPr/>
        </p:nvSpPr>
        <p:spPr>
          <a:xfrm>
            <a:off x="4886176" y="4045595"/>
            <a:ext cx="3685666" cy="177701"/>
          </a:xfrm>
          <a:prstGeom prst="rect">
            <a:avLst/>
          </a:prstGeom>
          <a:noFill/>
          <a:ln/>
        </p:spPr>
        <p:txBody>
          <a:bodyPr wrap="square" lIns="0" tIns="0" rIns="0" bIns="0" rtlCol="0" anchor="t"/>
          <a:lstStyle/>
          <a:p>
            <a:pPr algn="l" indent="0" marL="0">
              <a:lnSpc>
                <a:spcPts val="1400"/>
              </a:lnSpc>
              <a:spcAft>
                <a:spcPts val="300"/>
              </a:spcAft>
              <a:buNone/>
            </a:pPr>
            <a:r>
              <a:rPr lang="en-US" sz="1000" dirty="0">
                <a:solidFill>
                  <a:srgbClr val="E2E8F0"/>
                </a:solidFill>
                <a:latin typeface="Arial" pitchFamily="34" charset="0"/>
                <a:ea typeface="Arial" pitchFamily="34" charset="-122"/>
                <a:cs typeface="Arial" pitchFamily="34" charset="-120"/>
              </a:rPr>
              <a:t>Preserves semantic content better than truncation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228451"/>
            <a:ext cx="8394192" cy="295275"/>
          </a:xfrm>
          <a:prstGeom prst="rect">
            <a:avLst/>
          </a:prstGeom>
          <a:noFill/>
          <a:ln/>
        </p:spPr>
        <p:txBody>
          <a:bodyPr wrap="square" lIns="0" tIns="0" rIns="0" bIns="0" rtlCol="0" anchor="t"/>
          <a:lstStyle/>
          <a:p>
            <a:pPr algn="l" indent="0" marL="0">
              <a:buNone/>
            </a:pPr>
            <a:r>
              <a:rPr lang="en-US" sz="2000" b="1" dirty="0">
                <a:solidFill>
                  <a:srgbClr val="00B4D8"/>
                </a:solidFill>
                <a:latin typeface="Arial" pitchFamily="34" charset="0"/>
                <a:ea typeface="Arial" pitchFamily="34" charset="-122"/>
                <a:cs typeface="Arial" pitchFamily="34" charset="-120"/>
              </a:rPr>
              <a:t>Document Length Distribution</a:t>
            </a:r>
            <a:endParaRPr lang="en-US" sz="2000" dirty="0"/>
          </a:p>
        </p:txBody>
      </p:sp>
      <p:pic>
        <p:nvPicPr>
          <p:cNvPr id="4" name="Image 1" descr="/Users/alessandrodibari/Ale/projects/TR_hiring_exercise/outputs/pptx_workspace/slides/chart_token_dist.png">    </p:cNvPr>
          <p:cNvPicPr>
            <a:picLocks noChangeAspect="1"/>
          </p:cNvPicPr>
          <p:nvPr/>
        </p:nvPicPr>
        <p:blipFill>
          <a:blip r:embed="rId3"/>
          <a:stretch>
            <a:fillRect/>
          </a:stretch>
        </p:blipFill>
        <p:spPr>
          <a:xfrm>
            <a:off x="457200" y="1306860"/>
            <a:ext cx="8229600" cy="290095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355550"/>
            <a:ext cx="8394192" cy="323850"/>
          </a:xfrm>
          <a:prstGeom prst="rect">
            <a:avLst/>
          </a:prstGeom>
          <a:noFill/>
          <a:ln/>
        </p:spPr>
        <p:txBody>
          <a:bodyPr wrap="square" lIns="0" tIns="0" rIns="0" bIns="0" rtlCol="0" anchor="t"/>
          <a:lstStyle/>
          <a:p>
            <a:pPr algn="l" indent="0" marL="0">
              <a:buNone/>
            </a:pPr>
            <a:r>
              <a:rPr lang="en-US" sz="2200" b="1" dirty="0">
                <a:solidFill>
                  <a:srgbClr val="00B4D8"/>
                </a:solidFill>
                <a:latin typeface="Arial" pitchFamily="34" charset="0"/>
                <a:ea typeface="Arial" pitchFamily="34" charset="-122"/>
                <a:cs typeface="Arial" pitchFamily="34" charset="-120"/>
              </a:rPr>
              <a:t>Hybrid Legal-Longformer Architecture</a:t>
            </a:r>
            <a:endParaRPr lang="en-US" sz="2200" dirty="0"/>
          </a:p>
        </p:txBody>
      </p:sp>
      <p:sp>
        <p:nvSpPr>
          <p:cNvPr id="4" name="Text 1"/>
          <p:cNvSpPr/>
          <p:nvPr/>
        </p:nvSpPr>
        <p:spPr>
          <a:xfrm>
            <a:off x="457200" y="857101"/>
            <a:ext cx="4067607" cy="159990"/>
          </a:xfrm>
          <a:prstGeom prst="rect">
            <a:avLst/>
          </a:prstGeom>
          <a:noFill/>
          <a:ln/>
        </p:spPr>
        <p:txBody>
          <a:bodyPr wrap="square" lIns="0" tIns="0" rIns="0" bIns="0" rtlCol="0" anchor="t"/>
          <a:lstStyle/>
          <a:p>
            <a:pPr algn="l" indent="0" marL="0">
              <a:lnSpc>
                <a:spcPts val="1260"/>
              </a:lnSpc>
              <a:spcAft>
                <a:spcPts val="600"/>
              </a:spcAft>
              <a:buNone/>
            </a:pPr>
            <a:r>
              <a:rPr lang="en-US" sz="900" dirty="0">
                <a:solidFill>
                  <a:srgbClr val="94A3B8"/>
                </a:solidFill>
                <a:latin typeface="Arial" pitchFamily="34" charset="0"/>
                <a:ea typeface="Arial" pitchFamily="34" charset="-122"/>
                <a:cs typeface="Arial" pitchFamily="34" charset="-120"/>
              </a:rPr>
              <a:t>MODELS</a:t>
            </a:r>
            <a:endParaRPr lang="en-US" sz="900" dirty="0"/>
          </a:p>
        </p:txBody>
      </p:sp>
      <p:sp>
        <p:nvSpPr>
          <p:cNvPr id="5" name="Text 2"/>
          <p:cNvSpPr/>
          <p:nvPr/>
        </p:nvSpPr>
        <p:spPr>
          <a:xfrm>
            <a:off x="457200" y="1093291"/>
            <a:ext cx="3987850" cy="1140321"/>
          </a:xfrm>
          <a:prstGeom prst="roundRect">
            <a:avLst>
              <a:gd name="adj" fmla="val 6682"/>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6" name="Text 3"/>
          <p:cNvSpPr/>
          <p:nvPr/>
        </p:nvSpPr>
        <p:spPr>
          <a:xfrm>
            <a:off x="644426" y="1229767"/>
            <a:ext cx="3685666" cy="195560"/>
          </a:xfrm>
          <a:prstGeom prst="rect">
            <a:avLst/>
          </a:prstGeom>
          <a:noFill/>
          <a:ln/>
        </p:spPr>
        <p:txBody>
          <a:bodyPr wrap="square" lIns="0" tIns="0" rIns="0" bIns="0" rtlCol="0" anchor="t"/>
          <a:lstStyle/>
          <a:p>
            <a:pPr algn="l" indent="0" marL="0">
              <a:lnSpc>
                <a:spcPts val="1540"/>
              </a:lnSpc>
              <a:spcAft>
                <a:spcPts val="400"/>
              </a:spcAft>
              <a:buNone/>
            </a:pPr>
            <a:r>
              <a:rPr lang="en-US" sz="1100" b="1" dirty="0">
                <a:solidFill>
                  <a:srgbClr val="00B4D8"/>
                </a:solidFill>
                <a:latin typeface="Arial" pitchFamily="34" charset="0"/>
                <a:ea typeface="Arial" pitchFamily="34" charset="-122"/>
                <a:cs typeface="Arial" pitchFamily="34" charset="-120"/>
              </a:rPr>
              <a:t>Classifier: Legal-Longformer</a:t>
            </a:r>
            <a:endParaRPr lang="en-US" sz="1100" dirty="0"/>
          </a:p>
        </p:txBody>
      </p:sp>
      <p:sp>
        <p:nvSpPr>
          <p:cNvPr id="7" name="Text 4"/>
          <p:cNvSpPr/>
          <p:nvPr/>
        </p:nvSpPr>
        <p:spPr>
          <a:xfrm>
            <a:off x="644426" y="1476077"/>
            <a:ext cx="3685666" cy="168920"/>
          </a:xfrm>
          <a:prstGeom prst="rect">
            <a:avLst/>
          </a:prstGeom>
          <a:noFill/>
          <a:ln/>
        </p:spPr>
        <p:txBody>
          <a:bodyPr wrap="square" lIns="0" tIns="0" rIns="0" bIns="0" rtlCol="0" anchor="t"/>
          <a:lstStyle/>
          <a:p>
            <a:pPr algn="l" indent="0" marL="0">
              <a:lnSpc>
                <a:spcPts val="1330"/>
              </a:lnSpc>
              <a:spcAft>
                <a:spcPts val="300"/>
              </a:spcAft>
              <a:buNone/>
            </a:pPr>
            <a:r>
              <a:rPr lang="en-US" sz="950" dirty="0">
                <a:solidFill>
                  <a:srgbClr val="CBD5E1"/>
                </a:solidFill>
                <a:latin typeface="Arial" pitchFamily="34" charset="0"/>
                <a:ea typeface="Arial" pitchFamily="34" charset="-122"/>
                <a:cs typeface="Arial" pitchFamily="34" charset="-120"/>
              </a:rPr>
              <a:t>lexlms/legal-longformer-base</a:t>
            </a:r>
            <a:endParaRPr lang="en-US" sz="950" dirty="0"/>
          </a:p>
        </p:txBody>
      </p:sp>
      <p:sp>
        <p:nvSpPr>
          <p:cNvPr id="8" name="Text 5"/>
          <p:cNvSpPr/>
          <p:nvPr/>
        </p:nvSpPr>
        <p:spPr>
          <a:xfrm>
            <a:off x="644426" y="1683097"/>
            <a:ext cx="3685666" cy="168920"/>
          </a:xfrm>
          <a:prstGeom prst="rect">
            <a:avLst/>
          </a:prstGeom>
          <a:noFill/>
          <a:ln/>
        </p:spPr>
        <p:txBody>
          <a:bodyPr wrap="square" lIns="0" tIns="0" rIns="0" bIns="0" rtlCol="0" anchor="t"/>
          <a:lstStyle/>
          <a:p>
            <a:pPr algn="l" indent="0" marL="0">
              <a:lnSpc>
                <a:spcPts val="1330"/>
              </a:lnSpc>
              <a:spcAft>
                <a:spcPts val="300"/>
              </a:spcAft>
              <a:buNone/>
            </a:pPr>
            <a:r>
              <a:rPr lang="en-US" sz="950" dirty="0">
                <a:solidFill>
                  <a:srgbClr val="CBD5E1"/>
                </a:solidFill>
                <a:latin typeface="Arial" pitchFamily="34" charset="0"/>
                <a:ea typeface="Arial" pitchFamily="34" charset="-122"/>
                <a:cs typeface="Arial" pitchFamily="34" charset="-120"/>
              </a:rPr>
              <a:t>4,096 token context window</a:t>
            </a:r>
            <a:endParaRPr lang="en-US" sz="950" dirty="0"/>
          </a:p>
        </p:txBody>
      </p:sp>
      <p:sp>
        <p:nvSpPr>
          <p:cNvPr id="9" name="Text 6"/>
          <p:cNvSpPr/>
          <p:nvPr/>
        </p:nvSpPr>
        <p:spPr>
          <a:xfrm>
            <a:off x="644426" y="1890117"/>
            <a:ext cx="3685666" cy="168920"/>
          </a:xfrm>
          <a:prstGeom prst="rect">
            <a:avLst/>
          </a:prstGeom>
          <a:noFill/>
          <a:ln/>
        </p:spPr>
        <p:txBody>
          <a:bodyPr wrap="square" lIns="0" tIns="0" rIns="0" bIns="0" rtlCol="0" anchor="t"/>
          <a:lstStyle/>
          <a:p>
            <a:pPr algn="l" indent="0" marL="0">
              <a:lnSpc>
                <a:spcPts val="1330"/>
              </a:lnSpc>
              <a:spcAft>
                <a:spcPts val="300"/>
              </a:spcAft>
              <a:buNone/>
            </a:pPr>
            <a:r>
              <a:rPr lang="en-US" sz="950" dirty="0">
                <a:solidFill>
                  <a:srgbClr val="CBD5E1"/>
                </a:solidFill>
                <a:latin typeface="Arial" pitchFamily="34" charset="0"/>
                <a:ea typeface="Arial" pitchFamily="34" charset="-122"/>
                <a:cs typeface="Arial" pitchFamily="34" charset="-120"/>
              </a:rPr>
              <a:t>Pre-trained on legal corpora (same authors as Legal-BERT)</a:t>
            </a:r>
            <a:endParaRPr lang="en-US" sz="950" dirty="0"/>
          </a:p>
        </p:txBody>
      </p:sp>
      <p:sp>
        <p:nvSpPr>
          <p:cNvPr id="10" name="Text 7"/>
          <p:cNvSpPr/>
          <p:nvPr/>
        </p:nvSpPr>
        <p:spPr>
          <a:xfrm>
            <a:off x="457200" y="2335113"/>
            <a:ext cx="3987850" cy="1140321"/>
          </a:xfrm>
          <a:prstGeom prst="roundRect">
            <a:avLst>
              <a:gd name="adj" fmla="val 6682"/>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11" name="Text 8"/>
          <p:cNvSpPr/>
          <p:nvPr/>
        </p:nvSpPr>
        <p:spPr>
          <a:xfrm>
            <a:off x="644426" y="2471589"/>
            <a:ext cx="3685666" cy="195560"/>
          </a:xfrm>
          <a:prstGeom prst="rect">
            <a:avLst/>
          </a:prstGeom>
          <a:noFill/>
          <a:ln/>
        </p:spPr>
        <p:txBody>
          <a:bodyPr wrap="square" lIns="0" tIns="0" rIns="0" bIns="0" rtlCol="0" anchor="t"/>
          <a:lstStyle/>
          <a:p>
            <a:pPr algn="l" indent="0" marL="0">
              <a:lnSpc>
                <a:spcPts val="1540"/>
              </a:lnSpc>
              <a:spcAft>
                <a:spcPts val="400"/>
              </a:spcAft>
              <a:buNone/>
            </a:pPr>
            <a:r>
              <a:rPr lang="en-US" sz="1100" b="1" dirty="0">
                <a:solidFill>
                  <a:srgbClr val="00B4D8"/>
                </a:solidFill>
                <a:latin typeface="Arial" pitchFamily="34" charset="0"/>
                <a:ea typeface="Arial" pitchFamily="34" charset="-122"/>
                <a:cs typeface="Arial" pitchFamily="34" charset="-120"/>
              </a:rPr>
              <a:t>Summarizer: Legal-LED</a:t>
            </a:r>
            <a:endParaRPr lang="en-US" sz="1100" dirty="0"/>
          </a:p>
        </p:txBody>
      </p:sp>
      <p:sp>
        <p:nvSpPr>
          <p:cNvPr id="12" name="Text 9"/>
          <p:cNvSpPr/>
          <p:nvPr/>
        </p:nvSpPr>
        <p:spPr>
          <a:xfrm>
            <a:off x="644426" y="2717899"/>
            <a:ext cx="3685666" cy="168920"/>
          </a:xfrm>
          <a:prstGeom prst="rect">
            <a:avLst/>
          </a:prstGeom>
          <a:noFill/>
          <a:ln/>
        </p:spPr>
        <p:txBody>
          <a:bodyPr wrap="square" lIns="0" tIns="0" rIns="0" bIns="0" rtlCol="0" anchor="t"/>
          <a:lstStyle/>
          <a:p>
            <a:pPr algn="l" indent="0" marL="0">
              <a:lnSpc>
                <a:spcPts val="1330"/>
              </a:lnSpc>
              <a:spcAft>
                <a:spcPts val="300"/>
              </a:spcAft>
              <a:buNone/>
            </a:pPr>
            <a:r>
              <a:rPr lang="en-US" sz="950" dirty="0">
                <a:solidFill>
                  <a:srgbClr val="CBD5E1"/>
                </a:solidFill>
                <a:latin typeface="Arial" pitchFamily="34" charset="0"/>
                <a:ea typeface="Arial" pitchFamily="34" charset="-122"/>
                <a:cs typeface="Arial" pitchFamily="34" charset="-120"/>
              </a:rPr>
              <a:t>nsi319/legal-led-base-16384</a:t>
            </a:r>
            <a:endParaRPr lang="en-US" sz="950" dirty="0"/>
          </a:p>
        </p:txBody>
      </p:sp>
      <p:sp>
        <p:nvSpPr>
          <p:cNvPr id="13" name="Text 10"/>
          <p:cNvSpPr/>
          <p:nvPr/>
        </p:nvSpPr>
        <p:spPr>
          <a:xfrm>
            <a:off x="644426" y="2924919"/>
            <a:ext cx="3685666" cy="168920"/>
          </a:xfrm>
          <a:prstGeom prst="rect">
            <a:avLst/>
          </a:prstGeom>
          <a:noFill/>
          <a:ln/>
        </p:spPr>
        <p:txBody>
          <a:bodyPr wrap="square" lIns="0" tIns="0" rIns="0" bIns="0" rtlCol="0" anchor="t"/>
          <a:lstStyle/>
          <a:p>
            <a:pPr algn="l" indent="0" marL="0">
              <a:lnSpc>
                <a:spcPts val="1330"/>
              </a:lnSpc>
              <a:spcAft>
                <a:spcPts val="300"/>
              </a:spcAft>
              <a:buNone/>
            </a:pPr>
            <a:r>
              <a:rPr lang="en-US" sz="950" dirty="0">
                <a:solidFill>
                  <a:srgbClr val="CBD5E1"/>
                </a:solidFill>
                <a:latin typeface="Arial" pitchFamily="34" charset="0"/>
                <a:ea typeface="Arial" pitchFamily="34" charset="-122"/>
                <a:cs typeface="Arial" pitchFamily="34" charset="-120"/>
              </a:rPr>
              <a:t>16,384 token context window</a:t>
            </a:r>
            <a:endParaRPr lang="en-US" sz="950" dirty="0"/>
          </a:p>
        </p:txBody>
      </p:sp>
      <p:sp>
        <p:nvSpPr>
          <p:cNvPr id="14" name="Text 11"/>
          <p:cNvSpPr/>
          <p:nvPr/>
        </p:nvSpPr>
        <p:spPr>
          <a:xfrm>
            <a:off x="644426" y="3131939"/>
            <a:ext cx="3685666" cy="168920"/>
          </a:xfrm>
          <a:prstGeom prst="rect">
            <a:avLst/>
          </a:prstGeom>
          <a:noFill/>
          <a:ln/>
        </p:spPr>
        <p:txBody>
          <a:bodyPr wrap="square" lIns="0" tIns="0" rIns="0" bIns="0" rtlCol="0" anchor="t"/>
          <a:lstStyle/>
          <a:p>
            <a:pPr algn="l" indent="0" marL="0">
              <a:lnSpc>
                <a:spcPts val="1330"/>
              </a:lnSpc>
              <a:spcAft>
                <a:spcPts val="300"/>
              </a:spcAft>
              <a:buNone/>
            </a:pPr>
            <a:r>
              <a:rPr lang="en-US" sz="950" dirty="0">
                <a:solidFill>
                  <a:srgbClr val="CBD5E1"/>
                </a:solidFill>
                <a:latin typeface="Arial" pitchFamily="34" charset="0"/>
                <a:ea typeface="Arial" pitchFamily="34" charset="-122"/>
                <a:cs typeface="Arial" pitchFamily="34" charset="-120"/>
              </a:rPr>
              <a:t>Generates semantic summaries of long docs</a:t>
            </a:r>
            <a:endParaRPr lang="en-US" sz="950" dirty="0"/>
          </a:p>
        </p:txBody>
      </p:sp>
      <p:sp>
        <p:nvSpPr>
          <p:cNvPr id="15" name="Text 12"/>
          <p:cNvSpPr/>
          <p:nvPr/>
        </p:nvSpPr>
        <p:spPr>
          <a:xfrm>
            <a:off x="457200" y="3576935"/>
            <a:ext cx="3987850" cy="591443"/>
          </a:xfrm>
          <a:prstGeom prst="rect">
            <a:avLst/>
          </a:prstGeom>
          <a:solidFill>
            <a:srgbClr val="E76F51">
              <a:alpha val="10000"/>
            </a:srgbClr>
          </a:solidFill>
          <a:ln/>
        </p:spPr>
        <p:txBody>
          <a:bodyPr wrap="square" rtlCol="0" anchor="ctr"/>
          <a:lstStyle/>
          <a:p>
            <a:pPr indent="0" marL="0">
              <a:buNone/>
            </a:pPr>
            <a:endParaRPr lang="en-US" dirty="0"/>
          </a:p>
        </p:txBody>
      </p:sp>
      <p:sp>
        <p:nvSpPr>
          <p:cNvPr id="16" name="Shape 13"/>
          <p:cNvSpPr/>
          <p:nvPr/>
        </p:nvSpPr>
        <p:spPr>
          <a:xfrm>
            <a:off x="481012" y="3576935"/>
            <a:ext cx="0" cy="591443"/>
          </a:xfrm>
          <a:prstGeom prst="line">
            <a:avLst/>
          </a:prstGeom>
          <a:noFill/>
          <a:ln w="47625">
            <a:solidFill>
              <a:srgbClr val="E76F51"/>
            </a:solidFill>
            <a:prstDash val="solid"/>
          </a:ln>
        </p:spPr>
      </p:sp>
      <p:sp>
        <p:nvSpPr>
          <p:cNvPr id="17" name="Text 14"/>
          <p:cNvSpPr/>
          <p:nvPr/>
        </p:nvSpPr>
        <p:spPr>
          <a:xfrm>
            <a:off x="682526" y="3678436"/>
            <a:ext cx="3656520" cy="168920"/>
          </a:xfrm>
          <a:prstGeom prst="rect">
            <a:avLst/>
          </a:prstGeom>
          <a:noFill/>
          <a:ln/>
        </p:spPr>
        <p:txBody>
          <a:bodyPr wrap="square" lIns="0" tIns="0" rIns="0" bIns="0" rtlCol="0" anchor="t"/>
          <a:lstStyle/>
          <a:p>
            <a:pPr algn="l" indent="0" marL="0">
              <a:lnSpc>
                <a:spcPts val="1330"/>
              </a:lnSpc>
              <a:spcAft>
                <a:spcPts val="200"/>
              </a:spcAft>
              <a:buNone/>
            </a:pPr>
            <a:r>
              <a:rPr lang="en-US" sz="950" b="1" dirty="0">
                <a:solidFill>
                  <a:srgbClr val="E2E8F0"/>
                </a:solidFill>
                <a:latin typeface="Arial" pitchFamily="34" charset="0"/>
                <a:ea typeface="Arial" pitchFamily="34" charset="-122"/>
                <a:cs typeface="Arial" pitchFamily="34" charset="-120"/>
              </a:rPr>
              <a:t>5,530 summaries</a:t>
            </a:r>
            <a:pPr algn="l" indent="0" marL="0">
              <a:lnSpc>
                <a:spcPts val="1330"/>
              </a:lnSpc>
              <a:spcAft>
                <a:spcPts val="200"/>
              </a:spcAft>
              <a:buNone/>
            </a:pPr>
            <a:r>
              <a:rPr lang="en-US" sz="950" dirty="0">
                <a:solidFill>
                  <a:srgbClr val="E2E8F0"/>
                </a:solidFill>
                <a:latin typeface="Arial" pitchFamily="34" charset="0"/>
                <a:ea typeface="Arial" pitchFamily="34" charset="-122"/>
                <a:cs typeface="Arial" pitchFamily="34" charset="-120"/>
              </a:rPr>
              <a:t> cached to disk</a:t>
            </a:r>
            <a:endParaRPr lang="en-US" sz="950" dirty="0"/>
          </a:p>
        </p:txBody>
      </p:sp>
      <p:sp>
        <p:nvSpPr>
          <p:cNvPr id="18" name="Text 15"/>
          <p:cNvSpPr/>
          <p:nvPr/>
        </p:nvSpPr>
        <p:spPr>
          <a:xfrm>
            <a:off x="682526" y="3872657"/>
            <a:ext cx="3656520" cy="168920"/>
          </a:xfrm>
          <a:prstGeom prst="rect">
            <a:avLst/>
          </a:prstGeom>
          <a:noFill/>
          <a:ln/>
        </p:spPr>
        <p:txBody>
          <a:bodyPr wrap="square" lIns="0" tIns="0" rIns="0" bIns="0" rtlCol="0" anchor="t"/>
          <a:lstStyle/>
          <a:p>
            <a:pPr algn="l" indent="0" marL="0">
              <a:lnSpc>
                <a:spcPts val="1330"/>
              </a:lnSpc>
              <a:spcAft>
                <a:spcPts val="200"/>
              </a:spcAft>
              <a:buNone/>
            </a:pPr>
            <a:r>
              <a:rPr lang="en-US" sz="950" dirty="0">
                <a:solidFill>
                  <a:srgbClr val="E2E8F0"/>
                </a:solidFill>
                <a:latin typeface="Arial" pitchFamily="34" charset="0"/>
                <a:ea typeface="Arial" pitchFamily="34" charset="-122"/>
                <a:cs typeface="Arial" pitchFamily="34" charset="-120"/>
              </a:rPr>
              <a:t>Enables reproducible results across runs</a:t>
            </a:r>
            <a:endParaRPr lang="en-US" sz="950" dirty="0"/>
          </a:p>
        </p:txBody>
      </p:sp>
      <p:sp>
        <p:nvSpPr>
          <p:cNvPr id="19" name="Text 16"/>
          <p:cNvSpPr/>
          <p:nvPr/>
        </p:nvSpPr>
        <p:spPr>
          <a:xfrm>
            <a:off x="4698950" y="857101"/>
            <a:ext cx="4067607" cy="159990"/>
          </a:xfrm>
          <a:prstGeom prst="rect">
            <a:avLst/>
          </a:prstGeom>
          <a:noFill/>
          <a:ln/>
        </p:spPr>
        <p:txBody>
          <a:bodyPr wrap="square" lIns="0" tIns="0" rIns="0" bIns="0" rtlCol="0" anchor="t"/>
          <a:lstStyle/>
          <a:p>
            <a:pPr algn="l" indent="0" marL="0">
              <a:lnSpc>
                <a:spcPts val="1260"/>
              </a:lnSpc>
              <a:spcAft>
                <a:spcPts val="600"/>
              </a:spcAft>
              <a:buNone/>
            </a:pPr>
            <a:r>
              <a:rPr lang="en-US" sz="900" dirty="0">
                <a:solidFill>
                  <a:srgbClr val="94A3B8"/>
                </a:solidFill>
                <a:latin typeface="Arial" pitchFamily="34" charset="0"/>
                <a:ea typeface="Arial" pitchFamily="34" charset="-122"/>
                <a:cs typeface="Arial" pitchFamily="34" charset="-120"/>
              </a:rPr>
              <a:t>TRAINING CONFIGURATION</a:t>
            </a:r>
            <a:endParaRPr lang="en-US" sz="900" dirty="0"/>
          </a:p>
        </p:txBody>
      </p:sp>
      <p:sp>
        <p:nvSpPr>
          <p:cNvPr id="20" name="Shape 17"/>
          <p:cNvSpPr/>
          <p:nvPr/>
        </p:nvSpPr>
        <p:spPr>
          <a:xfrm>
            <a:off x="4698950" y="1393775"/>
            <a:ext cx="3987850" cy="0"/>
          </a:xfrm>
          <a:prstGeom prst="line">
            <a:avLst/>
          </a:prstGeom>
          <a:noFill/>
          <a:ln w="9525">
            <a:solidFill>
              <a:srgbClr val="FFFFFF"/>
            </a:solidFill>
            <a:prstDash val="solid"/>
          </a:ln>
        </p:spPr>
      </p:sp>
      <p:sp>
        <p:nvSpPr>
          <p:cNvPr id="21" name="Text 18"/>
          <p:cNvSpPr/>
          <p:nvPr/>
        </p:nvSpPr>
        <p:spPr>
          <a:xfrm>
            <a:off x="4698950" y="1156692"/>
            <a:ext cx="567446" cy="168920"/>
          </a:xfrm>
          <a:prstGeom prst="rect">
            <a:avLst/>
          </a:prstGeom>
          <a:noFill/>
          <a:ln/>
        </p:spPr>
        <p:txBody>
          <a:bodyPr wrap="square" lIns="0" tIns="0" rIns="0" bIns="0" rtlCol="0" anchor="t"/>
          <a:lstStyle/>
          <a:p>
            <a:pPr algn="l" indent="0" marL="0">
              <a:lnSpc>
                <a:spcPts val="1330"/>
              </a:lnSpc>
              <a:buNone/>
            </a:pPr>
            <a:r>
              <a:rPr lang="en-US" sz="950" dirty="0">
                <a:solidFill>
                  <a:srgbClr val="94A3B8"/>
                </a:solidFill>
                <a:latin typeface="Arial" pitchFamily="34" charset="0"/>
                <a:ea typeface="Arial" pitchFamily="34" charset="-122"/>
                <a:cs typeface="Arial" pitchFamily="34" charset="-120"/>
              </a:rPr>
              <a:t>Batch size</a:t>
            </a:r>
            <a:endParaRPr lang="en-US" sz="950" dirty="0"/>
          </a:p>
        </p:txBody>
      </p:sp>
      <p:sp>
        <p:nvSpPr>
          <p:cNvPr id="22" name="Text 19"/>
          <p:cNvSpPr/>
          <p:nvPr/>
        </p:nvSpPr>
        <p:spPr>
          <a:xfrm>
            <a:off x="8619679" y="1156692"/>
            <a:ext cx="68464" cy="168920"/>
          </a:xfrm>
          <a:prstGeom prst="rect">
            <a:avLst/>
          </a:prstGeom>
          <a:noFill/>
          <a:ln/>
        </p:spPr>
        <p:txBody>
          <a:bodyPr wrap="square" lIns="0" tIns="0" rIns="0" bIns="0" rtlCol="0" anchor="t"/>
          <a:lstStyle/>
          <a:p>
            <a:pPr algn="l" indent="0" marL="0">
              <a:lnSpc>
                <a:spcPts val="1330"/>
              </a:lnSpc>
              <a:buNone/>
            </a:pPr>
            <a:r>
              <a:rPr lang="en-US" sz="950" b="1" dirty="0">
                <a:solidFill>
                  <a:srgbClr val="E2E8F0"/>
                </a:solidFill>
                <a:latin typeface="Arial" pitchFamily="34" charset="0"/>
                <a:ea typeface="Arial" pitchFamily="34" charset="-122"/>
                <a:cs typeface="Arial" pitchFamily="34" charset="-120"/>
              </a:rPr>
              <a:t>8</a:t>
            </a:r>
            <a:endParaRPr lang="en-US" sz="950" dirty="0"/>
          </a:p>
        </p:txBody>
      </p:sp>
      <p:sp>
        <p:nvSpPr>
          <p:cNvPr id="23" name="Shape 20"/>
          <p:cNvSpPr/>
          <p:nvPr/>
        </p:nvSpPr>
        <p:spPr>
          <a:xfrm>
            <a:off x="4698950" y="1699022"/>
            <a:ext cx="3987850" cy="0"/>
          </a:xfrm>
          <a:prstGeom prst="line">
            <a:avLst/>
          </a:prstGeom>
          <a:noFill/>
          <a:ln w="9525">
            <a:solidFill>
              <a:srgbClr val="FFFFFF"/>
            </a:solidFill>
            <a:prstDash val="solid"/>
          </a:ln>
        </p:spPr>
      </p:sp>
      <p:sp>
        <p:nvSpPr>
          <p:cNvPr id="24" name="Text 21"/>
          <p:cNvSpPr/>
          <p:nvPr/>
        </p:nvSpPr>
        <p:spPr>
          <a:xfrm>
            <a:off x="4698950" y="1461939"/>
            <a:ext cx="1230681" cy="168920"/>
          </a:xfrm>
          <a:prstGeom prst="rect">
            <a:avLst/>
          </a:prstGeom>
          <a:noFill/>
          <a:ln/>
        </p:spPr>
        <p:txBody>
          <a:bodyPr wrap="square" lIns="0" tIns="0" rIns="0" bIns="0" rtlCol="0" anchor="t"/>
          <a:lstStyle/>
          <a:p>
            <a:pPr algn="l" indent="0" marL="0">
              <a:lnSpc>
                <a:spcPts val="1330"/>
              </a:lnSpc>
              <a:buNone/>
            </a:pPr>
            <a:r>
              <a:rPr lang="en-US" sz="950" dirty="0">
                <a:solidFill>
                  <a:srgbClr val="94A3B8"/>
                </a:solidFill>
                <a:latin typeface="Arial" pitchFamily="34" charset="0"/>
                <a:ea typeface="Arial" pitchFamily="34" charset="-122"/>
                <a:cs typeface="Arial" pitchFamily="34" charset="-120"/>
              </a:rPr>
              <a:t>Gradient accumulation</a:t>
            </a:r>
            <a:endParaRPr lang="en-US" sz="950" dirty="0"/>
          </a:p>
        </p:txBody>
      </p:sp>
      <p:sp>
        <p:nvSpPr>
          <p:cNvPr id="25" name="Text 22"/>
          <p:cNvSpPr/>
          <p:nvPr/>
        </p:nvSpPr>
        <p:spPr>
          <a:xfrm>
            <a:off x="8271123" y="1461939"/>
            <a:ext cx="423990" cy="168920"/>
          </a:xfrm>
          <a:prstGeom prst="rect">
            <a:avLst/>
          </a:prstGeom>
          <a:noFill/>
          <a:ln/>
        </p:spPr>
        <p:txBody>
          <a:bodyPr wrap="square" lIns="0" tIns="0" rIns="0" bIns="0" rtlCol="0" anchor="t"/>
          <a:lstStyle/>
          <a:p>
            <a:pPr algn="l" indent="0" marL="0">
              <a:lnSpc>
                <a:spcPts val="1330"/>
              </a:lnSpc>
              <a:buNone/>
            </a:pPr>
            <a:r>
              <a:rPr lang="en-US" sz="950" b="1" dirty="0">
                <a:solidFill>
                  <a:srgbClr val="E2E8F0"/>
                </a:solidFill>
                <a:latin typeface="Arial" pitchFamily="34" charset="0"/>
                <a:ea typeface="Arial" pitchFamily="34" charset="-122"/>
                <a:cs typeface="Arial" pitchFamily="34" charset="-120"/>
              </a:rPr>
              <a:t>4 steps</a:t>
            </a:r>
            <a:endParaRPr lang="en-US" sz="950" dirty="0"/>
          </a:p>
        </p:txBody>
      </p:sp>
      <p:sp>
        <p:nvSpPr>
          <p:cNvPr id="26" name="Shape 23"/>
          <p:cNvSpPr/>
          <p:nvPr/>
        </p:nvSpPr>
        <p:spPr>
          <a:xfrm>
            <a:off x="4698950" y="2004268"/>
            <a:ext cx="3987850" cy="0"/>
          </a:xfrm>
          <a:prstGeom prst="line">
            <a:avLst/>
          </a:prstGeom>
          <a:noFill/>
          <a:ln w="9525">
            <a:solidFill>
              <a:srgbClr val="FFFFFF"/>
            </a:solidFill>
            <a:prstDash val="solid"/>
          </a:ln>
        </p:spPr>
      </p:sp>
      <p:sp>
        <p:nvSpPr>
          <p:cNvPr id="27" name="Text 24"/>
          <p:cNvSpPr/>
          <p:nvPr/>
        </p:nvSpPr>
        <p:spPr>
          <a:xfrm>
            <a:off x="4698950" y="1767185"/>
            <a:ext cx="804565" cy="168920"/>
          </a:xfrm>
          <a:prstGeom prst="rect">
            <a:avLst/>
          </a:prstGeom>
          <a:noFill/>
          <a:ln/>
        </p:spPr>
        <p:txBody>
          <a:bodyPr wrap="square" lIns="0" tIns="0" rIns="0" bIns="0" rtlCol="0" anchor="t"/>
          <a:lstStyle/>
          <a:p>
            <a:pPr algn="l" indent="0" marL="0">
              <a:lnSpc>
                <a:spcPts val="1330"/>
              </a:lnSpc>
              <a:buNone/>
            </a:pPr>
            <a:r>
              <a:rPr lang="en-US" sz="950" dirty="0">
                <a:solidFill>
                  <a:srgbClr val="94A3B8"/>
                </a:solidFill>
                <a:latin typeface="Arial" pitchFamily="34" charset="0"/>
                <a:ea typeface="Arial" pitchFamily="34" charset="-122"/>
                <a:cs typeface="Arial" pitchFamily="34" charset="-120"/>
              </a:rPr>
              <a:t>Effective batch</a:t>
            </a:r>
            <a:endParaRPr lang="en-US" sz="950" dirty="0"/>
          </a:p>
        </p:txBody>
      </p:sp>
      <p:sp>
        <p:nvSpPr>
          <p:cNvPr id="28" name="Text 25"/>
          <p:cNvSpPr/>
          <p:nvPr/>
        </p:nvSpPr>
        <p:spPr>
          <a:xfrm>
            <a:off x="8552557" y="1767185"/>
            <a:ext cx="136928" cy="168920"/>
          </a:xfrm>
          <a:prstGeom prst="rect">
            <a:avLst/>
          </a:prstGeom>
          <a:noFill/>
          <a:ln/>
        </p:spPr>
        <p:txBody>
          <a:bodyPr wrap="square" lIns="0" tIns="0" rIns="0" bIns="0" rtlCol="0" anchor="t"/>
          <a:lstStyle/>
          <a:p>
            <a:pPr algn="l" indent="0" marL="0">
              <a:lnSpc>
                <a:spcPts val="1330"/>
              </a:lnSpc>
              <a:buNone/>
            </a:pPr>
            <a:r>
              <a:rPr lang="en-US" sz="950" b="1" dirty="0">
                <a:solidFill>
                  <a:srgbClr val="E2E8F0"/>
                </a:solidFill>
                <a:latin typeface="Arial" pitchFamily="34" charset="0"/>
                <a:ea typeface="Arial" pitchFamily="34" charset="-122"/>
                <a:cs typeface="Arial" pitchFamily="34" charset="-120"/>
              </a:rPr>
              <a:t>32</a:t>
            </a:r>
            <a:endParaRPr lang="en-US" sz="950" dirty="0"/>
          </a:p>
        </p:txBody>
      </p:sp>
      <p:sp>
        <p:nvSpPr>
          <p:cNvPr id="29" name="Shape 26"/>
          <p:cNvSpPr/>
          <p:nvPr/>
        </p:nvSpPr>
        <p:spPr>
          <a:xfrm>
            <a:off x="4698950" y="2309515"/>
            <a:ext cx="3987850" cy="0"/>
          </a:xfrm>
          <a:prstGeom prst="line">
            <a:avLst/>
          </a:prstGeom>
          <a:noFill/>
          <a:ln w="9525">
            <a:solidFill>
              <a:srgbClr val="FFFFFF"/>
            </a:solidFill>
            <a:prstDash val="solid"/>
          </a:ln>
        </p:spPr>
      </p:sp>
      <p:sp>
        <p:nvSpPr>
          <p:cNvPr id="30" name="Text 27"/>
          <p:cNvSpPr/>
          <p:nvPr/>
        </p:nvSpPr>
        <p:spPr>
          <a:xfrm>
            <a:off x="4698950" y="2072432"/>
            <a:ext cx="724867" cy="168920"/>
          </a:xfrm>
          <a:prstGeom prst="rect">
            <a:avLst/>
          </a:prstGeom>
          <a:noFill/>
          <a:ln/>
        </p:spPr>
        <p:txBody>
          <a:bodyPr wrap="square" lIns="0" tIns="0" rIns="0" bIns="0" rtlCol="0" anchor="t"/>
          <a:lstStyle/>
          <a:p>
            <a:pPr algn="l" indent="0" marL="0">
              <a:lnSpc>
                <a:spcPts val="1330"/>
              </a:lnSpc>
              <a:buNone/>
            </a:pPr>
            <a:r>
              <a:rPr lang="en-US" sz="950" dirty="0">
                <a:solidFill>
                  <a:srgbClr val="94A3B8"/>
                </a:solidFill>
                <a:latin typeface="Arial" pitchFamily="34" charset="0"/>
                <a:ea typeface="Arial" pitchFamily="34" charset="-122"/>
                <a:cs typeface="Arial" pitchFamily="34" charset="-120"/>
              </a:rPr>
              <a:t>Learning rate</a:t>
            </a:r>
            <a:endParaRPr lang="en-US" sz="950" dirty="0"/>
          </a:p>
        </p:txBody>
      </p:sp>
      <p:sp>
        <p:nvSpPr>
          <p:cNvPr id="31" name="Text 28"/>
          <p:cNvSpPr/>
          <p:nvPr/>
        </p:nvSpPr>
        <p:spPr>
          <a:xfrm>
            <a:off x="8445401" y="2072432"/>
            <a:ext cx="246227" cy="168920"/>
          </a:xfrm>
          <a:prstGeom prst="rect">
            <a:avLst/>
          </a:prstGeom>
          <a:noFill/>
          <a:ln/>
        </p:spPr>
        <p:txBody>
          <a:bodyPr wrap="square" lIns="0" tIns="0" rIns="0" bIns="0" rtlCol="0" anchor="t"/>
          <a:lstStyle/>
          <a:p>
            <a:pPr algn="l" indent="0" marL="0">
              <a:lnSpc>
                <a:spcPts val="1330"/>
              </a:lnSpc>
              <a:buNone/>
            </a:pPr>
            <a:r>
              <a:rPr lang="en-US" sz="950" b="1" dirty="0">
                <a:solidFill>
                  <a:srgbClr val="E2E8F0"/>
                </a:solidFill>
                <a:latin typeface="Arial" pitchFamily="34" charset="0"/>
                <a:ea typeface="Arial" pitchFamily="34" charset="-122"/>
                <a:cs typeface="Arial" pitchFamily="34" charset="-120"/>
              </a:rPr>
              <a:t>1e-5</a:t>
            </a:r>
            <a:endParaRPr lang="en-US" sz="950" dirty="0"/>
          </a:p>
        </p:txBody>
      </p:sp>
      <p:sp>
        <p:nvSpPr>
          <p:cNvPr id="32" name="Shape 29"/>
          <p:cNvSpPr/>
          <p:nvPr/>
        </p:nvSpPr>
        <p:spPr>
          <a:xfrm>
            <a:off x="4698950" y="2614761"/>
            <a:ext cx="3987850" cy="0"/>
          </a:xfrm>
          <a:prstGeom prst="line">
            <a:avLst/>
          </a:prstGeom>
          <a:noFill/>
          <a:ln w="9525">
            <a:solidFill>
              <a:srgbClr val="FFFFFF"/>
            </a:solidFill>
            <a:prstDash val="solid"/>
          </a:ln>
        </p:spPr>
      </p:sp>
      <p:sp>
        <p:nvSpPr>
          <p:cNvPr id="33" name="Text 30"/>
          <p:cNvSpPr/>
          <p:nvPr/>
        </p:nvSpPr>
        <p:spPr>
          <a:xfrm>
            <a:off x="4698950" y="2377678"/>
            <a:ext cx="410328" cy="168920"/>
          </a:xfrm>
          <a:prstGeom prst="rect">
            <a:avLst/>
          </a:prstGeom>
          <a:noFill/>
          <a:ln/>
        </p:spPr>
        <p:txBody>
          <a:bodyPr wrap="square" lIns="0" tIns="0" rIns="0" bIns="0" rtlCol="0" anchor="t"/>
          <a:lstStyle/>
          <a:p>
            <a:pPr algn="l" indent="0" marL="0">
              <a:lnSpc>
                <a:spcPts val="1330"/>
              </a:lnSpc>
              <a:buNone/>
            </a:pPr>
            <a:r>
              <a:rPr lang="en-US" sz="950" dirty="0">
                <a:solidFill>
                  <a:srgbClr val="94A3B8"/>
                </a:solidFill>
                <a:latin typeface="Arial" pitchFamily="34" charset="0"/>
                <a:ea typeface="Arial" pitchFamily="34" charset="-122"/>
                <a:cs typeface="Arial" pitchFamily="34" charset="-120"/>
              </a:rPr>
              <a:t>Epochs</a:t>
            </a:r>
            <a:endParaRPr lang="en-US" sz="950" dirty="0"/>
          </a:p>
        </p:txBody>
      </p:sp>
      <p:sp>
        <p:nvSpPr>
          <p:cNvPr id="34" name="Text 31"/>
          <p:cNvSpPr/>
          <p:nvPr/>
        </p:nvSpPr>
        <p:spPr>
          <a:xfrm>
            <a:off x="8619679" y="2377678"/>
            <a:ext cx="68464" cy="168920"/>
          </a:xfrm>
          <a:prstGeom prst="rect">
            <a:avLst/>
          </a:prstGeom>
          <a:noFill/>
          <a:ln/>
        </p:spPr>
        <p:txBody>
          <a:bodyPr wrap="square" lIns="0" tIns="0" rIns="0" bIns="0" rtlCol="0" anchor="t"/>
          <a:lstStyle/>
          <a:p>
            <a:pPr algn="l" indent="0" marL="0">
              <a:lnSpc>
                <a:spcPts val="1330"/>
              </a:lnSpc>
              <a:buNone/>
            </a:pPr>
            <a:r>
              <a:rPr lang="en-US" sz="950" b="1" dirty="0">
                <a:solidFill>
                  <a:srgbClr val="E2E8F0"/>
                </a:solidFill>
                <a:latin typeface="Arial" pitchFamily="34" charset="0"/>
                <a:ea typeface="Arial" pitchFamily="34" charset="-122"/>
                <a:cs typeface="Arial" pitchFamily="34" charset="-120"/>
              </a:rPr>
              <a:t>5</a:t>
            </a:r>
            <a:endParaRPr lang="en-US" sz="950" dirty="0"/>
          </a:p>
        </p:txBody>
      </p:sp>
      <p:sp>
        <p:nvSpPr>
          <p:cNvPr id="35" name="Shape 32"/>
          <p:cNvSpPr/>
          <p:nvPr/>
        </p:nvSpPr>
        <p:spPr>
          <a:xfrm>
            <a:off x="4698950" y="2920008"/>
            <a:ext cx="3987850" cy="0"/>
          </a:xfrm>
          <a:prstGeom prst="line">
            <a:avLst/>
          </a:prstGeom>
          <a:noFill/>
          <a:ln w="9525">
            <a:solidFill>
              <a:srgbClr val="FFFFFF"/>
            </a:solidFill>
            <a:prstDash val="solid"/>
          </a:ln>
        </p:spPr>
      </p:sp>
      <p:sp>
        <p:nvSpPr>
          <p:cNvPr id="36" name="Text 33"/>
          <p:cNvSpPr/>
          <p:nvPr/>
        </p:nvSpPr>
        <p:spPr>
          <a:xfrm>
            <a:off x="4698950" y="2682925"/>
            <a:ext cx="733672" cy="168920"/>
          </a:xfrm>
          <a:prstGeom prst="rect">
            <a:avLst/>
          </a:prstGeom>
          <a:noFill/>
          <a:ln/>
        </p:spPr>
        <p:txBody>
          <a:bodyPr wrap="square" lIns="0" tIns="0" rIns="0" bIns="0" rtlCol="0" anchor="t"/>
          <a:lstStyle/>
          <a:p>
            <a:pPr algn="l" indent="0" marL="0">
              <a:lnSpc>
                <a:spcPts val="1330"/>
              </a:lnSpc>
              <a:buNone/>
            </a:pPr>
            <a:r>
              <a:rPr lang="en-US" sz="950" dirty="0">
                <a:solidFill>
                  <a:srgbClr val="94A3B8"/>
                </a:solidFill>
                <a:latin typeface="Arial" pitchFamily="34" charset="0"/>
                <a:ea typeface="Arial" pitchFamily="34" charset="-122"/>
                <a:cs typeface="Arial" pitchFamily="34" charset="-120"/>
              </a:rPr>
              <a:t>Warmup ratio</a:t>
            </a:r>
            <a:endParaRPr lang="en-US" sz="950" dirty="0"/>
          </a:p>
        </p:txBody>
      </p:sp>
      <p:sp>
        <p:nvSpPr>
          <p:cNvPr id="37" name="Text 34"/>
          <p:cNvSpPr/>
          <p:nvPr/>
        </p:nvSpPr>
        <p:spPr>
          <a:xfrm>
            <a:off x="8519071" y="2682925"/>
            <a:ext cx="171084" cy="168920"/>
          </a:xfrm>
          <a:prstGeom prst="rect">
            <a:avLst/>
          </a:prstGeom>
          <a:noFill/>
          <a:ln/>
        </p:spPr>
        <p:txBody>
          <a:bodyPr wrap="square" lIns="0" tIns="0" rIns="0" bIns="0" rtlCol="0" anchor="t"/>
          <a:lstStyle/>
          <a:p>
            <a:pPr algn="l" indent="0" marL="0">
              <a:lnSpc>
                <a:spcPts val="1330"/>
              </a:lnSpc>
              <a:buNone/>
            </a:pPr>
            <a:r>
              <a:rPr lang="en-US" sz="950" b="1" dirty="0">
                <a:solidFill>
                  <a:srgbClr val="E2E8F0"/>
                </a:solidFill>
                <a:latin typeface="Arial" pitchFamily="34" charset="0"/>
                <a:ea typeface="Arial" pitchFamily="34" charset="-122"/>
                <a:cs typeface="Arial" pitchFamily="34" charset="-120"/>
              </a:rPr>
              <a:t>0.1</a:t>
            </a:r>
            <a:endParaRPr lang="en-US" sz="950" dirty="0"/>
          </a:p>
        </p:txBody>
      </p:sp>
      <p:sp>
        <p:nvSpPr>
          <p:cNvPr id="38" name="Shape 35"/>
          <p:cNvSpPr/>
          <p:nvPr/>
        </p:nvSpPr>
        <p:spPr>
          <a:xfrm>
            <a:off x="4698950" y="3225254"/>
            <a:ext cx="3987850" cy="0"/>
          </a:xfrm>
          <a:prstGeom prst="line">
            <a:avLst/>
          </a:prstGeom>
          <a:noFill/>
          <a:ln w="9525">
            <a:solidFill>
              <a:srgbClr val="FFFFFF"/>
            </a:solidFill>
            <a:prstDash val="solid"/>
          </a:ln>
        </p:spPr>
      </p:sp>
      <p:sp>
        <p:nvSpPr>
          <p:cNvPr id="39" name="Text 36"/>
          <p:cNvSpPr/>
          <p:nvPr/>
        </p:nvSpPr>
        <p:spPr>
          <a:xfrm>
            <a:off x="4698950" y="2988171"/>
            <a:ext cx="779517" cy="168920"/>
          </a:xfrm>
          <a:prstGeom prst="rect">
            <a:avLst/>
          </a:prstGeom>
          <a:noFill/>
          <a:ln/>
        </p:spPr>
        <p:txBody>
          <a:bodyPr wrap="square" lIns="0" tIns="0" rIns="0" bIns="0" rtlCol="0" anchor="t"/>
          <a:lstStyle/>
          <a:p>
            <a:pPr algn="l" indent="0" marL="0">
              <a:lnSpc>
                <a:spcPts val="1330"/>
              </a:lnSpc>
              <a:buNone/>
            </a:pPr>
            <a:r>
              <a:rPr lang="en-US" sz="950" dirty="0">
                <a:solidFill>
                  <a:srgbClr val="94A3B8"/>
                </a:solidFill>
                <a:latin typeface="Arial" pitchFamily="34" charset="0"/>
                <a:ea typeface="Arial" pitchFamily="34" charset="-122"/>
                <a:cs typeface="Arial" pitchFamily="34" charset="-120"/>
              </a:rPr>
              <a:t>Early stopping</a:t>
            </a:r>
            <a:endParaRPr lang="en-US" sz="950" dirty="0"/>
          </a:p>
        </p:txBody>
      </p:sp>
      <p:sp>
        <p:nvSpPr>
          <p:cNvPr id="40" name="Text 37"/>
          <p:cNvSpPr/>
          <p:nvPr/>
        </p:nvSpPr>
        <p:spPr>
          <a:xfrm>
            <a:off x="8059936" y="2988171"/>
            <a:ext cx="639401" cy="168920"/>
          </a:xfrm>
          <a:prstGeom prst="rect">
            <a:avLst/>
          </a:prstGeom>
          <a:noFill/>
          <a:ln/>
        </p:spPr>
        <p:txBody>
          <a:bodyPr wrap="square" lIns="0" tIns="0" rIns="0" bIns="0" rtlCol="0" anchor="t"/>
          <a:lstStyle/>
          <a:p>
            <a:pPr algn="l" indent="0" marL="0">
              <a:lnSpc>
                <a:spcPts val="1330"/>
              </a:lnSpc>
              <a:buNone/>
            </a:pPr>
            <a:r>
              <a:rPr lang="en-US" sz="950" b="1" dirty="0">
                <a:solidFill>
                  <a:srgbClr val="E2E8F0"/>
                </a:solidFill>
                <a:latin typeface="Arial" pitchFamily="34" charset="0"/>
                <a:ea typeface="Arial" pitchFamily="34" charset="-122"/>
                <a:cs typeface="Arial" pitchFamily="34" charset="-120"/>
              </a:rPr>
              <a:t>patience=2</a:t>
            </a:r>
            <a:endParaRPr lang="en-US" sz="950" dirty="0"/>
          </a:p>
        </p:txBody>
      </p:sp>
      <p:sp>
        <p:nvSpPr>
          <p:cNvPr id="41" name="Shape 38"/>
          <p:cNvSpPr/>
          <p:nvPr/>
        </p:nvSpPr>
        <p:spPr>
          <a:xfrm>
            <a:off x="4698950" y="3530501"/>
            <a:ext cx="3987850" cy="0"/>
          </a:xfrm>
          <a:prstGeom prst="line">
            <a:avLst/>
          </a:prstGeom>
          <a:noFill/>
          <a:ln w="9525">
            <a:solidFill>
              <a:srgbClr val="FFFFFF"/>
            </a:solidFill>
            <a:prstDash val="solid"/>
          </a:ln>
        </p:spPr>
      </p:sp>
      <p:sp>
        <p:nvSpPr>
          <p:cNvPr id="42" name="Text 39"/>
          <p:cNvSpPr/>
          <p:nvPr/>
        </p:nvSpPr>
        <p:spPr>
          <a:xfrm>
            <a:off x="4698950" y="3293418"/>
            <a:ext cx="902479" cy="168920"/>
          </a:xfrm>
          <a:prstGeom prst="rect">
            <a:avLst/>
          </a:prstGeom>
          <a:noFill/>
          <a:ln/>
        </p:spPr>
        <p:txBody>
          <a:bodyPr wrap="square" lIns="0" tIns="0" rIns="0" bIns="0" rtlCol="0" anchor="t"/>
          <a:lstStyle/>
          <a:p>
            <a:pPr algn="l" indent="0" marL="0">
              <a:lnSpc>
                <a:spcPts val="1330"/>
              </a:lnSpc>
              <a:buNone/>
            </a:pPr>
            <a:r>
              <a:rPr lang="en-US" sz="950" dirty="0">
                <a:solidFill>
                  <a:srgbClr val="94A3B8"/>
                </a:solidFill>
                <a:latin typeface="Arial" pitchFamily="34" charset="0"/>
                <a:ea typeface="Arial" pitchFamily="34" charset="-122"/>
                <a:cs typeface="Arial" pitchFamily="34" charset="-120"/>
              </a:rPr>
              <a:t>Class imbalance</a:t>
            </a:r>
            <a:endParaRPr lang="en-US" sz="950" dirty="0"/>
          </a:p>
        </p:txBody>
      </p:sp>
      <p:sp>
        <p:nvSpPr>
          <p:cNvPr id="43" name="Text 40"/>
          <p:cNvSpPr/>
          <p:nvPr/>
        </p:nvSpPr>
        <p:spPr>
          <a:xfrm>
            <a:off x="7433518" y="3293418"/>
            <a:ext cx="1278347" cy="168920"/>
          </a:xfrm>
          <a:prstGeom prst="rect">
            <a:avLst/>
          </a:prstGeom>
          <a:noFill/>
          <a:ln/>
        </p:spPr>
        <p:txBody>
          <a:bodyPr wrap="square" lIns="0" tIns="0" rIns="0" bIns="0" rtlCol="0" anchor="t"/>
          <a:lstStyle/>
          <a:p>
            <a:pPr algn="l" indent="0" marL="0">
              <a:lnSpc>
                <a:spcPts val="1330"/>
              </a:lnSpc>
              <a:buNone/>
            </a:pPr>
            <a:r>
              <a:rPr lang="en-US" sz="950" b="1" dirty="0">
                <a:solidFill>
                  <a:srgbClr val="E2E8F0"/>
                </a:solidFill>
                <a:latin typeface="Arial" pitchFamily="34" charset="0"/>
                <a:ea typeface="Arial" pitchFamily="34" charset="-122"/>
                <a:cs typeface="Arial" pitchFamily="34" charset="-120"/>
              </a:rPr>
              <a:t>pos_weight (max 50x)</a:t>
            </a:r>
            <a:endParaRPr lang="en-US" sz="950" dirty="0"/>
          </a:p>
        </p:txBody>
      </p:sp>
      <p:sp>
        <p:nvSpPr>
          <p:cNvPr id="44" name="Shape 41"/>
          <p:cNvSpPr/>
          <p:nvPr/>
        </p:nvSpPr>
        <p:spPr>
          <a:xfrm>
            <a:off x="4698950" y="3835747"/>
            <a:ext cx="3987850" cy="0"/>
          </a:xfrm>
          <a:prstGeom prst="line">
            <a:avLst/>
          </a:prstGeom>
          <a:noFill/>
          <a:ln w="9525">
            <a:solidFill>
              <a:srgbClr val="FFFFFF"/>
            </a:solidFill>
            <a:prstDash val="solid"/>
          </a:ln>
        </p:spPr>
      </p:sp>
      <p:sp>
        <p:nvSpPr>
          <p:cNvPr id="45" name="Text 42"/>
          <p:cNvSpPr/>
          <p:nvPr/>
        </p:nvSpPr>
        <p:spPr>
          <a:xfrm>
            <a:off x="4698950" y="3598664"/>
            <a:ext cx="376020" cy="168920"/>
          </a:xfrm>
          <a:prstGeom prst="rect">
            <a:avLst/>
          </a:prstGeom>
          <a:noFill/>
          <a:ln/>
        </p:spPr>
        <p:txBody>
          <a:bodyPr wrap="square" lIns="0" tIns="0" rIns="0" bIns="0" rtlCol="0" anchor="t"/>
          <a:lstStyle/>
          <a:p>
            <a:pPr algn="l" indent="0" marL="0">
              <a:lnSpc>
                <a:spcPts val="1330"/>
              </a:lnSpc>
              <a:buNone/>
            </a:pPr>
            <a:r>
              <a:rPr lang="en-US" sz="950" dirty="0">
                <a:solidFill>
                  <a:srgbClr val="94A3B8"/>
                </a:solidFill>
                <a:latin typeface="Arial" pitchFamily="34" charset="0"/>
                <a:ea typeface="Arial" pitchFamily="34" charset="-122"/>
                <a:cs typeface="Arial" pitchFamily="34" charset="-120"/>
              </a:rPr>
              <a:t>Device</a:t>
            </a:r>
            <a:endParaRPr lang="en-US" sz="950" dirty="0"/>
          </a:p>
        </p:txBody>
      </p:sp>
      <p:sp>
        <p:nvSpPr>
          <p:cNvPr id="46" name="Text 43"/>
          <p:cNvSpPr/>
          <p:nvPr/>
        </p:nvSpPr>
        <p:spPr>
          <a:xfrm>
            <a:off x="8056959" y="3598664"/>
            <a:ext cx="642437" cy="168920"/>
          </a:xfrm>
          <a:prstGeom prst="rect">
            <a:avLst/>
          </a:prstGeom>
          <a:noFill/>
          <a:ln/>
        </p:spPr>
        <p:txBody>
          <a:bodyPr wrap="square" lIns="0" tIns="0" rIns="0" bIns="0" rtlCol="0" anchor="t"/>
          <a:lstStyle/>
          <a:p>
            <a:pPr algn="l" indent="0" marL="0">
              <a:lnSpc>
                <a:spcPts val="1330"/>
              </a:lnSpc>
              <a:buNone/>
            </a:pPr>
            <a:r>
              <a:rPr lang="en-US" sz="950" b="1" dirty="0">
                <a:solidFill>
                  <a:srgbClr val="E2E8F0"/>
                </a:solidFill>
                <a:latin typeface="Arial" pitchFamily="34" charset="0"/>
                <a:ea typeface="Arial" pitchFamily="34" charset="-122"/>
                <a:cs typeface="Arial" pitchFamily="34" charset="-120"/>
              </a:rPr>
              <a:t>Apple MPS</a:t>
            </a:r>
            <a:endParaRPr lang="en-US" sz="950" dirty="0"/>
          </a:p>
        </p:txBody>
      </p:sp>
      <p:sp>
        <p:nvSpPr>
          <p:cNvPr id="47" name="Text 44"/>
          <p:cNvSpPr/>
          <p:nvPr/>
        </p:nvSpPr>
        <p:spPr>
          <a:xfrm>
            <a:off x="4698950" y="3967460"/>
            <a:ext cx="4067607" cy="159990"/>
          </a:xfrm>
          <a:prstGeom prst="rect">
            <a:avLst/>
          </a:prstGeom>
          <a:noFill/>
          <a:ln/>
        </p:spPr>
        <p:txBody>
          <a:bodyPr wrap="square" lIns="0" tIns="0" rIns="0" bIns="0" rtlCol="0" anchor="t"/>
          <a:lstStyle/>
          <a:p>
            <a:pPr algn="l" indent="0" marL="0">
              <a:lnSpc>
                <a:spcPts val="1260"/>
              </a:lnSpc>
              <a:spcBef>
                <a:spcPts val="1000"/>
              </a:spcBef>
              <a:spcAft>
                <a:spcPts val="600"/>
              </a:spcAft>
              <a:buNone/>
            </a:pPr>
            <a:r>
              <a:rPr lang="en-US" sz="900" dirty="0">
                <a:solidFill>
                  <a:srgbClr val="94A3B8"/>
                </a:solidFill>
                <a:latin typeface="Arial" pitchFamily="34" charset="0"/>
                <a:ea typeface="Arial" pitchFamily="34" charset="-122"/>
                <a:cs typeface="Arial" pitchFamily="34" charset="-120"/>
              </a:rPr>
              <a:t>BEST EPOCH</a:t>
            </a:r>
            <a:endParaRPr lang="en-US" sz="900" dirty="0"/>
          </a:p>
        </p:txBody>
      </p:sp>
      <p:sp>
        <p:nvSpPr>
          <p:cNvPr id="48" name="Text 45"/>
          <p:cNvSpPr/>
          <p:nvPr/>
        </p:nvSpPr>
        <p:spPr>
          <a:xfrm>
            <a:off x="4698950" y="4203650"/>
            <a:ext cx="4067607" cy="177701"/>
          </a:xfrm>
          <a:prstGeom prst="rect">
            <a:avLst/>
          </a:prstGeom>
          <a:noFill/>
          <a:ln/>
        </p:spPr>
        <p:txBody>
          <a:bodyPr wrap="square" lIns="0" tIns="0" rIns="0" bIns="0" rtlCol="0" anchor="t"/>
          <a:lstStyle/>
          <a:p>
            <a:pPr algn="l" indent="0" marL="0">
              <a:lnSpc>
                <a:spcPts val="1400"/>
              </a:lnSpc>
              <a:spcAft>
                <a:spcPts val="500"/>
              </a:spcAft>
              <a:buNone/>
            </a:pPr>
            <a:r>
              <a:rPr lang="en-US" sz="1000" dirty="0">
                <a:solidFill>
                  <a:srgbClr val="CBD5E1"/>
                </a:solidFill>
                <a:latin typeface="Arial" pitchFamily="34" charset="0"/>
                <a:ea typeface="Arial" pitchFamily="34" charset="-122"/>
                <a:cs typeface="Arial" pitchFamily="34" charset="-120"/>
              </a:rPr>
              <a:t>Epoch 4: val_f1_micro = 0.628</a:t>
            </a:r>
            <a:endParaRPr lang="en-US" sz="1000" dirty="0"/>
          </a:p>
        </p:txBody>
      </p:sp>
      <p:sp>
        <p:nvSpPr>
          <p:cNvPr id="49" name="Text 46"/>
          <p:cNvSpPr/>
          <p:nvPr/>
        </p:nvSpPr>
        <p:spPr>
          <a:xfrm>
            <a:off x="4698950" y="4444752"/>
            <a:ext cx="4067607" cy="177701"/>
          </a:xfrm>
          <a:prstGeom prst="rect">
            <a:avLst/>
          </a:prstGeom>
          <a:noFill/>
          <a:ln/>
        </p:spPr>
        <p:txBody>
          <a:bodyPr wrap="square" lIns="0" tIns="0" rIns="0" bIns="0" rtlCol="0" anchor="t"/>
          <a:lstStyle/>
          <a:p>
            <a:pPr algn="l" indent="0" marL="0">
              <a:lnSpc>
                <a:spcPts val="1400"/>
              </a:lnSpc>
              <a:spcAft>
                <a:spcPts val="500"/>
              </a:spcAft>
              <a:buNone/>
            </a:pPr>
            <a:r>
              <a:rPr lang="en-US" sz="1000" dirty="0">
                <a:solidFill>
                  <a:srgbClr val="CBD5E1"/>
                </a:solidFill>
                <a:latin typeface="Arial" pitchFamily="34" charset="0"/>
                <a:ea typeface="Arial" pitchFamily="34" charset="-122"/>
                <a:cs typeface="Arial" pitchFamily="34" charset="-120"/>
              </a:rPr>
              <a:t>Training converged, F1 plateaued at ~0.62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228451"/>
            <a:ext cx="8394192" cy="295275"/>
          </a:xfrm>
          <a:prstGeom prst="rect">
            <a:avLst/>
          </a:prstGeom>
          <a:noFill/>
          <a:ln/>
        </p:spPr>
        <p:txBody>
          <a:bodyPr wrap="square" lIns="0" tIns="0" rIns="0" bIns="0" rtlCol="0" anchor="t"/>
          <a:lstStyle/>
          <a:p>
            <a:pPr algn="l" indent="0" marL="0">
              <a:buNone/>
            </a:pPr>
            <a:r>
              <a:rPr lang="en-US" sz="2000" b="1" dirty="0">
                <a:solidFill>
                  <a:srgbClr val="00B4D8"/>
                </a:solidFill>
                <a:latin typeface="Arial" pitchFamily="34" charset="0"/>
                <a:ea typeface="Arial" pitchFamily="34" charset="-122"/>
                <a:cs typeface="Arial" pitchFamily="34" charset="-120"/>
              </a:rPr>
              <a:t>Training Progress</a:t>
            </a:r>
            <a:endParaRPr lang="en-US" sz="2000" dirty="0"/>
          </a:p>
        </p:txBody>
      </p:sp>
      <p:pic>
        <p:nvPicPr>
          <p:cNvPr id="4" name="Image 1" descr="/Users/alessandrodibari/Ale/projects/TR_hiring_exercise/outputs/pptx_workspace/slides/chart_training_loss.png">    </p:cNvPr>
          <p:cNvPicPr>
            <a:picLocks noChangeAspect="1"/>
          </p:cNvPicPr>
          <p:nvPr/>
        </p:nvPicPr>
        <p:blipFill>
          <a:blip r:embed="rId3"/>
          <a:stretch>
            <a:fillRect/>
          </a:stretch>
        </p:blipFill>
        <p:spPr>
          <a:xfrm>
            <a:off x="457200" y="1305818"/>
            <a:ext cx="8229600" cy="290304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62000" y="1881336"/>
            <a:ext cx="7772400" cy="171450"/>
          </a:xfrm>
          <a:prstGeom prst="rect">
            <a:avLst/>
          </a:prstGeom>
          <a:noFill/>
          <a:ln/>
        </p:spPr>
        <p:txBody>
          <a:bodyPr wrap="square" lIns="0" tIns="0" rIns="0" bIns="0" rtlCol="0" anchor="t"/>
          <a:lstStyle/>
          <a:p>
            <a:pPr algn="l" indent="0" marL="0">
              <a:spcAft>
                <a:spcPts val="800"/>
              </a:spcAft>
              <a:buNone/>
            </a:pPr>
            <a:r>
              <a:rPr lang="en-US" sz="1200" dirty="0">
                <a:solidFill>
                  <a:srgbClr val="00B4D8"/>
                </a:solidFill>
                <a:latin typeface="Arial" pitchFamily="34" charset="0"/>
                <a:ea typeface="Arial" pitchFamily="34" charset="-122"/>
                <a:cs typeface="Arial" pitchFamily="34" charset="-120"/>
              </a:rPr>
              <a:t>SECTION 3</a:t>
            </a:r>
            <a:endParaRPr lang="en-US" sz="1200" dirty="0"/>
          </a:p>
        </p:txBody>
      </p:sp>
      <p:sp>
        <p:nvSpPr>
          <p:cNvPr id="3" name="Text 1"/>
          <p:cNvSpPr/>
          <p:nvPr/>
        </p:nvSpPr>
        <p:spPr>
          <a:xfrm>
            <a:off x="762000" y="2154287"/>
            <a:ext cx="7772400" cy="466725"/>
          </a:xfrm>
          <a:prstGeom prst="rect">
            <a:avLst/>
          </a:prstGeom>
          <a:noFill/>
          <a:ln/>
        </p:spPr>
        <p:txBody>
          <a:bodyPr wrap="square" lIns="0" tIns="0" rIns="0" bIns="0" rtlCol="0" anchor="t"/>
          <a:lstStyle/>
          <a:p>
            <a:pPr algn="l" indent="0" marL="0">
              <a:spcAft>
                <a:spcPts val="1200"/>
              </a:spcAft>
              <a:buNone/>
            </a:pPr>
            <a:r>
              <a:rPr lang="en-US" sz="3200" b="1" dirty="0">
                <a:solidFill>
                  <a:srgbClr val="FFFFFF"/>
                </a:solidFill>
                <a:latin typeface="Arial" pitchFamily="34" charset="0"/>
                <a:ea typeface="Arial" pitchFamily="34" charset="-122"/>
                <a:cs typeface="Arial" pitchFamily="34" charset="-120"/>
              </a:rPr>
              <a:t>Repository Structure</a:t>
            </a:r>
            <a:endParaRPr lang="en-US" sz="3200" dirty="0"/>
          </a:p>
        </p:txBody>
      </p:sp>
      <p:pic>
        <p:nvPicPr>
          <p:cNvPr id="4" name="Image 0" descr="/Users/alessandrodibari/Ale/projects/TR_hiring_exercise/outputs/pptx_workspace/slides/accent_teal.png">    </p:cNvPr>
          <p:cNvPicPr>
            <a:picLocks noChangeAspect="1"/>
          </p:cNvPicPr>
          <p:nvPr/>
        </p:nvPicPr>
        <p:blipFill>
          <a:blip r:embed="rId2"/>
          <a:stretch>
            <a:fillRect/>
          </a:stretch>
        </p:blipFill>
        <p:spPr>
          <a:xfrm>
            <a:off x="762000" y="2868662"/>
            <a:ext cx="762000" cy="38100"/>
          </a:xfrm>
          <a:prstGeom prst="rect">
            <a:avLst/>
          </a:prstGeom>
        </p:spPr>
      </p:pic>
      <p:sp>
        <p:nvSpPr>
          <p:cNvPr id="5" name="Text 2"/>
          <p:cNvSpPr/>
          <p:nvPr/>
        </p:nvSpPr>
        <p:spPr>
          <a:xfrm>
            <a:off x="762000" y="3014663"/>
            <a:ext cx="7772400" cy="247501"/>
          </a:xfrm>
          <a:prstGeom prst="rect">
            <a:avLst/>
          </a:prstGeom>
          <a:noFill/>
          <a:ln/>
        </p:spPr>
        <p:txBody>
          <a:bodyPr wrap="square" lIns="0" tIns="0" rIns="0" bIns="0" rtlCol="0" anchor="t"/>
          <a:lstStyle/>
          <a:p>
            <a:pPr algn="l" indent="0" marL="0">
              <a:lnSpc>
                <a:spcPts val="1950"/>
              </a:lnSpc>
              <a:buNone/>
            </a:pPr>
            <a:r>
              <a:rPr lang="en-US" sz="1300" dirty="0">
                <a:solidFill>
                  <a:srgbClr val="94A3B8"/>
                </a:solidFill>
                <a:latin typeface="Arial" pitchFamily="34" charset="0"/>
                <a:ea typeface="Arial" pitchFamily="34" charset="-122"/>
                <a:cs typeface="Arial" pitchFamily="34" charset="-120"/>
              </a:rPr>
              <a:t>Modular, reproducible, clean code organization</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228451"/>
            <a:ext cx="8394192" cy="295275"/>
          </a:xfrm>
          <a:prstGeom prst="rect">
            <a:avLst/>
          </a:prstGeom>
          <a:noFill/>
          <a:ln/>
        </p:spPr>
        <p:txBody>
          <a:bodyPr wrap="square" lIns="0" tIns="0" rIns="0" bIns="0" rtlCol="0" anchor="t"/>
          <a:lstStyle/>
          <a:p>
            <a:pPr algn="l" indent="0" marL="0">
              <a:buNone/>
            </a:pPr>
            <a:r>
              <a:rPr lang="en-US" sz="2000" b="1" dirty="0">
                <a:solidFill>
                  <a:srgbClr val="00B4D8"/>
                </a:solidFill>
                <a:latin typeface="Arial" pitchFamily="34" charset="0"/>
                <a:ea typeface="Arial" pitchFamily="34" charset="-122"/>
                <a:cs typeface="Arial" pitchFamily="34" charset="-120"/>
              </a:rPr>
              <a:t>Project Organization</a:t>
            </a:r>
            <a:endParaRPr lang="en-US" sz="2000" dirty="0"/>
          </a:p>
        </p:txBody>
      </p:sp>
      <p:sp>
        <p:nvSpPr>
          <p:cNvPr id="4" name="Text 1"/>
          <p:cNvSpPr/>
          <p:nvPr/>
        </p:nvSpPr>
        <p:spPr>
          <a:xfrm>
            <a:off x="457200" y="599926"/>
            <a:ext cx="4980980" cy="4543574"/>
          </a:xfrm>
          <a:prstGeom prst="roundRect">
            <a:avLst>
              <a:gd name="adj" fmla="val 1677"/>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5" name="Text 2"/>
          <p:cNvSpPr/>
          <p:nvPr/>
        </p:nvSpPr>
        <p:spPr>
          <a:xfrm>
            <a:off x="644426" y="710952"/>
            <a:ext cx="4698659" cy="142280"/>
          </a:xfrm>
          <a:prstGeom prst="rect">
            <a:avLst/>
          </a:prstGeom>
          <a:noFill/>
          <a:ln/>
        </p:spPr>
        <p:txBody>
          <a:bodyPr wrap="square" lIns="0" tIns="0" rIns="0" bIns="0" rtlCol="0" anchor="t"/>
          <a:lstStyle/>
          <a:p>
            <a:pPr algn="l" indent="0" marL="0">
              <a:lnSpc>
                <a:spcPts val="1120"/>
              </a:lnSpc>
              <a:buNone/>
            </a:pPr>
            <a:r>
              <a:rPr lang="en-US" sz="800" b="1" dirty="0">
                <a:solidFill>
                  <a:srgbClr val="00B4D8"/>
                </a:solidFill>
                <a:latin typeface="Courier New" pitchFamily="34" charset="0"/>
                <a:ea typeface="Courier New" pitchFamily="34" charset="-122"/>
                <a:cs typeface="Courier New" pitchFamily="34" charset="-120"/>
              </a:rPr>
              <a:t>TR_hiring_exercise/</a:t>
            </a:r>
            <a:endParaRPr lang="en-US" sz="800" dirty="0"/>
          </a:p>
        </p:txBody>
      </p:sp>
      <p:sp>
        <p:nvSpPr>
          <p:cNvPr id="6" name="Text 3"/>
          <p:cNvSpPr/>
          <p:nvPr/>
        </p:nvSpPr>
        <p:spPr>
          <a:xfrm>
            <a:off x="644426" y="853232"/>
            <a:ext cx="4698659" cy="142280"/>
          </a:xfrm>
          <a:prstGeom prst="rect">
            <a:avLst/>
          </a:prstGeom>
          <a:noFill/>
          <a:ln/>
        </p:spPr>
        <p:txBody>
          <a:bodyPr wrap="square" lIns="0" tIns="0" rIns="0" bIns="0" rtlCol="0" anchor="t"/>
          <a:lstStyle/>
          <a:p>
            <a:pPr algn="l" indent="0" marL="0">
              <a:lnSpc>
                <a:spcPts val="1120"/>
              </a:lnSpc>
              <a:buNone/>
            </a:pPr>
            <a:r>
              <a:rPr lang="en-US" sz="800" b="1" dirty="0">
                <a:solidFill>
                  <a:srgbClr val="00B4D8"/>
                </a:solidFill>
                <a:latin typeface="Courier New" pitchFamily="34" charset="0"/>
                <a:ea typeface="Courier New" pitchFamily="34" charset="-122"/>
                <a:cs typeface="Courier New" pitchFamily="34" charset="-120"/>
              </a:rPr>
              <a:t>notebooks/</a:t>
            </a:r>
            <a:endParaRPr lang="en-US" sz="800" dirty="0"/>
          </a:p>
        </p:txBody>
      </p:sp>
      <p:sp>
        <p:nvSpPr>
          <p:cNvPr id="7" name="Text 4"/>
          <p:cNvSpPr/>
          <p:nvPr/>
        </p:nvSpPr>
        <p:spPr>
          <a:xfrm>
            <a:off x="644426" y="995511"/>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01_data_exploration.ipynb</a:t>
            </a:r>
            <a:endParaRPr lang="en-US" sz="800" dirty="0"/>
          </a:p>
        </p:txBody>
      </p:sp>
      <p:sp>
        <p:nvSpPr>
          <p:cNvPr id="8" name="Text 5"/>
          <p:cNvSpPr/>
          <p:nvPr/>
        </p:nvSpPr>
        <p:spPr>
          <a:xfrm>
            <a:off x="644426" y="1137791"/>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02_modeling.ipynb</a:t>
            </a:r>
            <a:endParaRPr lang="en-US" sz="800" dirty="0"/>
          </a:p>
        </p:txBody>
      </p:sp>
      <p:sp>
        <p:nvSpPr>
          <p:cNvPr id="9" name="Text 6"/>
          <p:cNvSpPr/>
          <p:nvPr/>
        </p:nvSpPr>
        <p:spPr>
          <a:xfrm>
            <a:off x="644426" y="1280071"/>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03_evaluation.ipynb</a:t>
            </a:r>
            <a:endParaRPr lang="en-US" sz="800" dirty="0"/>
          </a:p>
        </p:txBody>
      </p:sp>
      <p:sp>
        <p:nvSpPr>
          <p:cNvPr id="10" name="Text 7"/>
          <p:cNvSpPr/>
          <p:nvPr/>
        </p:nvSpPr>
        <p:spPr>
          <a:xfrm>
            <a:off x="644426" y="1422350"/>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04_ensemble_analysis.ipynb</a:t>
            </a:r>
            <a:endParaRPr lang="en-US" sz="800" dirty="0"/>
          </a:p>
        </p:txBody>
      </p:sp>
      <p:sp>
        <p:nvSpPr>
          <p:cNvPr id="11" name="Text 8"/>
          <p:cNvSpPr/>
          <p:nvPr/>
        </p:nvSpPr>
        <p:spPr>
          <a:xfrm>
            <a:off x="644426" y="1564630"/>
            <a:ext cx="4698659" cy="142280"/>
          </a:xfrm>
          <a:prstGeom prst="rect">
            <a:avLst/>
          </a:prstGeom>
          <a:noFill/>
          <a:ln/>
        </p:spPr>
        <p:txBody>
          <a:bodyPr wrap="square" lIns="0" tIns="0" rIns="0" bIns="0" rtlCol="0" anchor="t"/>
          <a:lstStyle/>
          <a:p>
            <a:pPr algn="l" indent="0" marL="0">
              <a:lnSpc>
                <a:spcPts val="1120"/>
              </a:lnSpc>
              <a:buNone/>
            </a:pPr>
            <a:r>
              <a:rPr lang="en-US" sz="800" b="1" dirty="0">
                <a:solidFill>
                  <a:srgbClr val="00B4D8"/>
                </a:solidFill>
                <a:latin typeface="Courier New" pitchFamily="34" charset="0"/>
                <a:ea typeface="Courier New" pitchFamily="34" charset="-122"/>
                <a:cs typeface="Courier New" pitchFamily="34" charset="-120"/>
              </a:rPr>
              <a:t>src/</a:t>
            </a:r>
            <a:endParaRPr lang="en-US" sz="800" dirty="0"/>
          </a:p>
        </p:txBody>
      </p:sp>
      <p:sp>
        <p:nvSpPr>
          <p:cNvPr id="12" name="Text 9"/>
          <p:cNvSpPr/>
          <p:nvPr/>
        </p:nvSpPr>
        <p:spPr>
          <a:xfrm>
            <a:off x="644426" y="1706910"/>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data_loader.py</a:t>
            </a:r>
            <a:endParaRPr lang="en-US" sz="800" dirty="0"/>
          </a:p>
        </p:txBody>
      </p:sp>
      <p:sp>
        <p:nvSpPr>
          <p:cNvPr id="13" name="Text 10"/>
          <p:cNvSpPr/>
          <p:nvPr/>
        </p:nvSpPr>
        <p:spPr>
          <a:xfrm>
            <a:off x="644426" y="1849189"/>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data_analyzer.py</a:t>
            </a:r>
            <a:endParaRPr lang="en-US" sz="800" dirty="0"/>
          </a:p>
        </p:txBody>
      </p:sp>
      <p:sp>
        <p:nvSpPr>
          <p:cNvPr id="14" name="Text 11"/>
          <p:cNvSpPr/>
          <p:nvPr/>
        </p:nvSpPr>
        <p:spPr>
          <a:xfrm>
            <a:off x="644426" y="1991469"/>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model_trainer.py</a:t>
            </a:r>
            <a:endParaRPr lang="en-US" sz="800" dirty="0"/>
          </a:p>
        </p:txBody>
      </p:sp>
      <p:sp>
        <p:nvSpPr>
          <p:cNvPr id="15" name="Text 12"/>
          <p:cNvSpPr/>
          <p:nvPr/>
        </p:nvSpPr>
        <p:spPr>
          <a:xfrm>
            <a:off x="644426" y="2133749"/>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model_evaluator.py</a:t>
            </a:r>
            <a:endParaRPr lang="en-US" sz="800" dirty="0"/>
          </a:p>
        </p:txBody>
      </p:sp>
      <p:sp>
        <p:nvSpPr>
          <p:cNvPr id="16" name="Text 13"/>
          <p:cNvSpPr/>
          <p:nvPr/>
        </p:nvSpPr>
        <p:spPr>
          <a:xfrm>
            <a:off x="644426" y="2276029"/>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bert_trainer.py</a:t>
            </a:r>
            <a:endParaRPr lang="en-US" sz="800" dirty="0"/>
          </a:p>
        </p:txBody>
      </p:sp>
      <p:sp>
        <p:nvSpPr>
          <p:cNvPr id="17" name="Text 14"/>
          <p:cNvSpPr/>
          <p:nvPr/>
        </p:nvSpPr>
        <p:spPr>
          <a:xfrm>
            <a:off x="644426" y="2418308"/>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visualization.py</a:t>
            </a:r>
            <a:endParaRPr lang="en-US" sz="800" dirty="0"/>
          </a:p>
        </p:txBody>
      </p:sp>
      <p:sp>
        <p:nvSpPr>
          <p:cNvPr id="18" name="Text 15"/>
          <p:cNvSpPr/>
          <p:nvPr/>
        </p:nvSpPr>
        <p:spPr>
          <a:xfrm>
            <a:off x="644426" y="2560588"/>
            <a:ext cx="4698659" cy="142280"/>
          </a:xfrm>
          <a:prstGeom prst="rect">
            <a:avLst/>
          </a:prstGeom>
          <a:noFill/>
          <a:ln/>
        </p:spPr>
        <p:txBody>
          <a:bodyPr wrap="square" lIns="0" tIns="0" rIns="0" bIns="0" rtlCol="0" anchor="t"/>
          <a:lstStyle/>
          <a:p>
            <a:pPr algn="l" indent="0" marL="0">
              <a:lnSpc>
                <a:spcPts val="1120"/>
              </a:lnSpc>
              <a:buNone/>
            </a:pPr>
            <a:r>
              <a:rPr lang="en-US" sz="800" b="1" dirty="0">
                <a:solidFill>
                  <a:srgbClr val="00B4D8"/>
                </a:solidFill>
                <a:latin typeface="Courier New" pitchFamily="34" charset="0"/>
                <a:ea typeface="Courier New" pitchFamily="34" charset="-122"/>
                <a:cs typeface="Courier New" pitchFamily="34" charset="-120"/>
              </a:rPr>
              <a:t>tests/</a:t>
            </a:r>
            <a:endParaRPr lang="en-US" sz="800" dirty="0"/>
          </a:p>
        </p:txBody>
      </p:sp>
      <p:sp>
        <p:nvSpPr>
          <p:cNvPr id="19" name="Text 16"/>
          <p:cNvSpPr/>
          <p:nvPr/>
        </p:nvSpPr>
        <p:spPr>
          <a:xfrm>
            <a:off x="644426" y="2702868"/>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test_data_loader.py</a:t>
            </a:r>
            <a:endParaRPr lang="en-US" sz="800" dirty="0"/>
          </a:p>
        </p:txBody>
      </p:sp>
      <p:sp>
        <p:nvSpPr>
          <p:cNvPr id="20" name="Text 17"/>
          <p:cNvSpPr/>
          <p:nvPr/>
        </p:nvSpPr>
        <p:spPr>
          <a:xfrm>
            <a:off x="644426" y="2845147"/>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test_model_trainer.py</a:t>
            </a:r>
            <a:endParaRPr lang="en-US" sz="800" dirty="0"/>
          </a:p>
        </p:txBody>
      </p:sp>
      <p:sp>
        <p:nvSpPr>
          <p:cNvPr id="21" name="Text 18"/>
          <p:cNvSpPr/>
          <p:nvPr/>
        </p:nvSpPr>
        <p:spPr>
          <a:xfrm>
            <a:off x="644426" y="2987427"/>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test_model_evaluator.py</a:t>
            </a:r>
            <a:endParaRPr lang="en-US" sz="800" dirty="0"/>
          </a:p>
        </p:txBody>
      </p:sp>
      <p:sp>
        <p:nvSpPr>
          <p:cNvPr id="22" name="Text 19"/>
          <p:cNvSpPr/>
          <p:nvPr/>
        </p:nvSpPr>
        <p:spPr>
          <a:xfrm>
            <a:off x="644426" y="3129707"/>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test_bert_trainer.py</a:t>
            </a:r>
            <a:endParaRPr lang="en-US" sz="800" dirty="0"/>
          </a:p>
        </p:txBody>
      </p:sp>
      <p:sp>
        <p:nvSpPr>
          <p:cNvPr id="23" name="Text 20"/>
          <p:cNvSpPr/>
          <p:nvPr/>
        </p:nvSpPr>
        <p:spPr>
          <a:xfrm>
            <a:off x="644426" y="3271986"/>
            <a:ext cx="4698659" cy="142280"/>
          </a:xfrm>
          <a:prstGeom prst="rect">
            <a:avLst/>
          </a:prstGeom>
          <a:noFill/>
          <a:ln/>
        </p:spPr>
        <p:txBody>
          <a:bodyPr wrap="square" lIns="0" tIns="0" rIns="0" bIns="0" rtlCol="0" anchor="t"/>
          <a:lstStyle/>
          <a:p>
            <a:pPr algn="l" indent="0" marL="0">
              <a:lnSpc>
                <a:spcPts val="1120"/>
              </a:lnSpc>
              <a:buNone/>
            </a:pPr>
            <a:r>
              <a:rPr lang="en-US" sz="800" b="1" dirty="0">
                <a:solidFill>
                  <a:srgbClr val="00B4D8"/>
                </a:solidFill>
                <a:latin typeface="Courier New" pitchFamily="34" charset="0"/>
                <a:ea typeface="Courier New" pitchFamily="34" charset="-122"/>
                <a:cs typeface="Courier New" pitchFamily="34" charset="-120"/>
              </a:rPr>
              <a:t>docs/</a:t>
            </a:r>
            <a:endParaRPr lang="en-US" sz="800" dirty="0"/>
          </a:p>
        </p:txBody>
      </p:sp>
      <p:sp>
        <p:nvSpPr>
          <p:cNvPr id="24" name="Text 21"/>
          <p:cNvSpPr/>
          <p:nvPr/>
        </p:nvSpPr>
        <p:spPr>
          <a:xfrm>
            <a:off x="644426" y="3414266"/>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legal_posture_ontology.md</a:t>
            </a:r>
            <a:endParaRPr lang="en-US" sz="800" dirty="0"/>
          </a:p>
        </p:txBody>
      </p:sp>
      <p:sp>
        <p:nvSpPr>
          <p:cNvPr id="25" name="Text 22"/>
          <p:cNvSpPr/>
          <p:nvPr/>
        </p:nvSpPr>
        <p:spPr>
          <a:xfrm>
            <a:off x="644426" y="3556546"/>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question_3_next_steps.md</a:t>
            </a:r>
            <a:endParaRPr lang="en-US" sz="800" dirty="0"/>
          </a:p>
        </p:txBody>
      </p:sp>
      <p:sp>
        <p:nvSpPr>
          <p:cNvPr id="26" name="Text 23"/>
          <p:cNvSpPr/>
          <p:nvPr/>
        </p:nvSpPr>
        <p:spPr>
          <a:xfrm>
            <a:off x="644426" y="3698825"/>
            <a:ext cx="4698659" cy="142280"/>
          </a:xfrm>
          <a:prstGeom prst="rect">
            <a:avLst/>
          </a:prstGeom>
          <a:noFill/>
          <a:ln/>
        </p:spPr>
        <p:txBody>
          <a:bodyPr wrap="square" lIns="0" tIns="0" rIns="0" bIns="0" rtlCol="0" anchor="t"/>
          <a:lstStyle/>
          <a:p>
            <a:pPr algn="l" indent="0" marL="0">
              <a:lnSpc>
                <a:spcPts val="1120"/>
              </a:lnSpc>
              <a:buNone/>
            </a:pPr>
            <a:r>
              <a:rPr lang="en-US" sz="800" b="1" dirty="0">
                <a:solidFill>
                  <a:srgbClr val="00B4D8"/>
                </a:solidFill>
                <a:latin typeface="Courier New" pitchFamily="34" charset="0"/>
                <a:ea typeface="Courier New" pitchFamily="34" charset="-122"/>
                <a:cs typeface="Courier New" pitchFamily="34" charset="-120"/>
              </a:rPr>
              <a:t>data/</a:t>
            </a:r>
            <a:endParaRPr lang="en-US" sz="800" dirty="0"/>
          </a:p>
        </p:txBody>
      </p:sp>
      <p:sp>
        <p:nvSpPr>
          <p:cNvPr id="27" name="Text 24"/>
          <p:cNvSpPr/>
          <p:nvPr/>
        </p:nvSpPr>
        <p:spPr>
          <a:xfrm>
            <a:off x="644426" y="3841105"/>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TRDataChallenge2023.txt</a:t>
            </a:r>
            <a:endParaRPr lang="en-US" sz="800" dirty="0"/>
          </a:p>
        </p:txBody>
      </p:sp>
      <p:sp>
        <p:nvSpPr>
          <p:cNvPr id="28" name="Text 25"/>
          <p:cNvSpPr/>
          <p:nvPr/>
        </p:nvSpPr>
        <p:spPr>
          <a:xfrm>
            <a:off x="644426" y="3983385"/>
            <a:ext cx="4698659" cy="142280"/>
          </a:xfrm>
          <a:prstGeom prst="rect">
            <a:avLst/>
          </a:prstGeom>
          <a:noFill/>
          <a:ln/>
        </p:spPr>
        <p:txBody>
          <a:bodyPr wrap="square" lIns="0" tIns="0" rIns="0" bIns="0" rtlCol="0" anchor="t"/>
          <a:lstStyle/>
          <a:p>
            <a:pPr algn="l" indent="0" marL="0">
              <a:lnSpc>
                <a:spcPts val="1120"/>
              </a:lnSpc>
              <a:buNone/>
            </a:pPr>
            <a:r>
              <a:rPr lang="en-US" sz="800" b="1" dirty="0">
                <a:solidFill>
                  <a:srgbClr val="00B4D8"/>
                </a:solidFill>
                <a:latin typeface="Courier New" pitchFamily="34" charset="0"/>
                <a:ea typeface="Courier New" pitchFamily="34" charset="-122"/>
                <a:cs typeface="Courier New" pitchFamily="34" charset="-120"/>
              </a:rPr>
              <a:t>outputs/</a:t>
            </a:r>
            <a:endParaRPr lang="en-US" sz="800" dirty="0"/>
          </a:p>
        </p:txBody>
      </p:sp>
      <p:sp>
        <p:nvSpPr>
          <p:cNvPr id="29" name="Text 26"/>
          <p:cNvSpPr/>
          <p:nvPr/>
        </p:nvSpPr>
        <p:spPr>
          <a:xfrm>
            <a:off x="644426" y="4125664"/>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summaries/  (5,530 cached)</a:t>
            </a:r>
            <a:endParaRPr lang="en-US" sz="800" dirty="0"/>
          </a:p>
        </p:txBody>
      </p:sp>
      <p:sp>
        <p:nvSpPr>
          <p:cNvPr id="30" name="Text 27"/>
          <p:cNvSpPr/>
          <p:nvPr/>
        </p:nvSpPr>
        <p:spPr>
          <a:xfrm>
            <a:off x="644426" y="4267944"/>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*_predictions.npz</a:t>
            </a:r>
            <a:endParaRPr lang="en-US" sz="800" dirty="0"/>
          </a:p>
        </p:txBody>
      </p:sp>
      <p:sp>
        <p:nvSpPr>
          <p:cNvPr id="31" name="Text 28"/>
          <p:cNvSpPr/>
          <p:nvPr/>
        </p:nvSpPr>
        <p:spPr>
          <a:xfrm>
            <a:off x="644426" y="4410224"/>
            <a:ext cx="4698659" cy="142280"/>
          </a:xfrm>
          <a:prstGeom prst="rect">
            <a:avLst/>
          </a:prstGeom>
          <a:noFill/>
          <a:ln/>
        </p:spPr>
        <p:txBody>
          <a:bodyPr wrap="square" lIns="0" tIns="0" rIns="0" bIns="0" rtlCol="0" anchor="t"/>
          <a:lstStyle/>
          <a:p>
            <a:pPr algn="l" indent="0" marL="0">
              <a:lnSpc>
                <a:spcPts val="1120"/>
              </a:lnSpc>
              <a:buNone/>
            </a:pPr>
            <a:r>
              <a:rPr lang="en-US" sz="800" dirty="0">
                <a:solidFill>
                  <a:srgbClr val="CBD5E1"/>
                </a:solidFill>
                <a:latin typeface="Courier New" pitchFamily="34" charset="0"/>
                <a:ea typeface="Courier New" pitchFamily="34" charset="-122"/>
                <a:cs typeface="Courier New" pitchFamily="34" charset="-120"/>
              </a:rPr>
              <a:t>*.history.json</a:t>
            </a:r>
            <a:endParaRPr lang="en-US" sz="800" dirty="0"/>
          </a:p>
        </p:txBody>
      </p:sp>
      <p:sp>
        <p:nvSpPr>
          <p:cNvPr id="32" name="Text 29"/>
          <p:cNvSpPr/>
          <p:nvPr/>
        </p:nvSpPr>
        <p:spPr>
          <a:xfrm>
            <a:off x="5615880" y="599926"/>
            <a:ext cx="3070920" cy="403027"/>
          </a:xfrm>
          <a:prstGeom prst="roundRect">
            <a:avLst>
              <a:gd name="adj" fmla="val 18907"/>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33" name="Text 30"/>
          <p:cNvSpPr/>
          <p:nvPr/>
        </p:nvSpPr>
        <p:spPr>
          <a:xfrm>
            <a:off x="5752356" y="660202"/>
            <a:ext cx="2853928" cy="142875"/>
          </a:xfrm>
          <a:prstGeom prst="rect">
            <a:avLst/>
          </a:prstGeom>
          <a:noFill/>
          <a:ln/>
        </p:spPr>
        <p:txBody>
          <a:bodyPr wrap="square" lIns="0" tIns="0" rIns="0" bIns="0" rtlCol="0" anchor="t"/>
          <a:lstStyle/>
          <a:p>
            <a:pPr algn="l" indent="0" marL="0">
              <a:spcAft>
                <a:spcPts val="200"/>
              </a:spcAft>
              <a:buNone/>
            </a:pPr>
            <a:r>
              <a:rPr lang="en-US" sz="950" b="1" dirty="0">
                <a:solidFill>
                  <a:srgbClr val="00B4D8"/>
                </a:solidFill>
                <a:latin typeface="Courier New" pitchFamily="34" charset="0"/>
                <a:ea typeface="Courier New" pitchFamily="34" charset="-122"/>
                <a:cs typeface="Courier New" pitchFamily="34" charset="-120"/>
              </a:rPr>
              <a:t>data_loader.py</a:t>
            </a:r>
            <a:endParaRPr lang="en-US" sz="950" dirty="0"/>
          </a:p>
        </p:txBody>
      </p:sp>
      <p:sp>
        <p:nvSpPr>
          <p:cNvPr id="34" name="Text 31"/>
          <p:cNvSpPr/>
          <p:nvPr/>
        </p:nvSpPr>
        <p:spPr>
          <a:xfrm>
            <a:off x="5752356" y="828377"/>
            <a:ext cx="2853928" cy="114300"/>
          </a:xfrm>
          <a:prstGeom prst="rect">
            <a:avLst/>
          </a:prstGeom>
          <a:noFill/>
          <a:ln/>
        </p:spPr>
        <p:txBody>
          <a:bodyPr wrap="square" lIns="0" tIns="0" rIns="0" bIns="0" rtlCol="0" anchor="t"/>
          <a:lstStyle/>
          <a:p>
            <a:pPr algn="l" indent="0" marL="0">
              <a:buNone/>
            </a:pPr>
            <a:r>
              <a:rPr lang="en-US" sz="850" dirty="0">
                <a:solidFill>
                  <a:srgbClr val="94A3B8"/>
                </a:solidFill>
                <a:latin typeface="Arial" pitchFamily="34" charset="0"/>
                <a:ea typeface="Arial" pitchFamily="34" charset="-122"/>
                <a:cs typeface="Arial" pitchFamily="34" charset="-120"/>
              </a:rPr>
              <a:t>Streaming JSON Lines parser</a:t>
            </a:r>
            <a:endParaRPr lang="en-US" sz="850" dirty="0"/>
          </a:p>
        </p:txBody>
      </p:sp>
      <p:sp>
        <p:nvSpPr>
          <p:cNvPr id="35" name="Text 32"/>
          <p:cNvSpPr/>
          <p:nvPr/>
        </p:nvSpPr>
        <p:spPr>
          <a:xfrm>
            <a:off x="5615880" y="1041053"/>
            <a:ext cx="3070920" cy="403027"/>
          </a:xfrm>
          <a:prstGeom prst="roundRect">
            <a:avLst>
              <a:gd name="adj" fmla="val 18907"/>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36" name="Text 33"/>
          <p:cNvSpPr/>
          <p:nvPr/>
        </p:nvSpPr>
        <p:spPr>
          <a:xfrm>
            <a:off x="5752356" y="1101328"/>
            <a:ext cx="2853928" cy="142875"/>
          </a:xfrm>
          <a:prstGeom prst="rect">
            <a:avLst/>
          </a:prstGeom>
          <a:noFill/>
          <a:ln/>
        </p:spPr>
        <p:txBody>
          <a:bodyPr wrap="square" lIns="0" tIns="0" rIns="0" bIns="0" rtlCol="0" anchor="t"/>
          <a:lstStyle/>
          <a:p>
            <a:pPr algn="l" indent="0" marL="0">
              <a:spcAft>
                <a:spcPts val="200"/>
              </a:spcAft>
              <a:buNone/>
            </a:pPr>
            <a:r>
              <a:rPr lang="en-US" sz="950" b="1" dirty="0">
                <a:solidFill>
                  <a:srgbClr val="00B4D8"/>
                </a:solidFill>
                <a:latin typeface="Courier New" pitchFamily="34" charset="0"/>
                <a:ea typeface="Courier New" pitchFamily="34" charset="-122"/>
                <a:cs typeface="Courier New" pitchFamily="34" charset="-120"/>
              </a:rPr>
              <a:t>data_analyzer.py</a:t>
            </a:r>
            <a:endParaRPr lang="en-US" sz="950" dirty="0"/>
          </a:p>
        </p:txBody>
      </p:sp>
      <p:sp>
        <p:nvSpPr>
          <p:cNvPr id="37" name="Text 34"/>
          <p:cNvSpPr/>
          <p:nvPr/>
        </p:nvSpPr>
        <p:spPr>
          <a:xfrm>
            <a:off x="5752356" y="1269504"/>
            <a:ext cx="2853928" cy="114300"/>
          </a:xfrm>
          <a:prstGeom prst="rect">
            <a:avLst/>
          </a:prstGeom>
          <a:noFill/>
          <a:ln/>
        </p:spPr>
        <p:txBody>
          <a:bodyPr wrap="square" lIns="0" tIns="0" rIns="0" bIns="0" rtlCol="0" anchor="t"/>
          <a:lstStyle/>
          <a:p>
            <a:pPr algn="l" indent="0" marL="0">
              <a:buNone/>
            </a:pPr>
            <a:r>
              <a:rPr lang="en-US" sz="850" dirty="0">
                <a:solidFill>
                  <a:srgbClr val="94A3B8"/>
                </a:solidFill>
                <a:latin typeface="Arial" pitchFamily="34" charset="0"/>
                <a:ea typeface="Arial" pitchFamily="34" charset="-122"/>
                <a:cs typeface="Arial" pitchFamily="34" charset="-120"/>
              </a:rPr>
              <a:t>DatasetAnalyzer, PostureTaxonomy</a:t>
            </a:r>
            <a:endParaRPr lang="en-US" sz="850" dirty="0"/>
          </a:p>
        </p:txBody>
      </p:sp>
      <p:sp>
        <p:nvSpPr>
          <p:cNvPr id="38" name="Text 35"/>
          <p:cNvSpPr/>
          <p:nvPr/>
        </p:nvSpPr>
        <p:spPr>
          <a:xfrm>
            <a:off x="5615880" y="1482179"/>
            <a:ext cx="3070920" cy="403027"/>
          </a:xfrm>
          <a:prstGeom prst="roundRect">
            <a:avLst>
              <a:gd name="adj" fmla="val 18907"/>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39" name="Text 36"/>
          <p:cNvSpPr/>
          <p:nvPr/>
        </p:nvSpPr>
        <p:spPr>
          <a:xfrm>
            <a:off x="5752356" y="1542455"/>
            <a:ext cx="2853928" cy="142875"/>
          </a:xfrm>
          <a:prstGeom prst="rect">
            <a:avLst/>
          </a:prstGeom>
          <a:noFill/>
          <a:ln/>
        </p:spPr>
        <p:txBody>
          <a:bodyPr wrap="square" lIns="0" tIns="0" rIns="0" bIns="0" rtlCol="0" anchor="t"/>
          <a:lstStyle/>
          <a:p>
            <a:pPr algn="l" indent="0" marL="0">
              <a:spcAft>
                <a:spcPts val="200"/>
              </a:spcAft>
              <a:buNone/>
            </a:pPr>
            <a:r>
              <a:rPr lang="en-US" sz="950" b="1" dirty="0">
                <a:solidFill>
                  <a:srgbClr val="00B4D8"/>
                </a:solidFill>
                <a:latin typeface="Courier New" pitchFamily="34" charset="0"/>
                <a:ea typeface="Courier New" pitchFamily="34" charset="-122"/>
                <a:cs typeface="Courier New" pitchFamily="34" charset="-120"/>
              </a:rPr>
              <a:t>model_trainer.py</a:t>
            </a:r>
            <a:endParaRPr lang="en-US" sz="950" dirty="0"/>
          </a:p>
        </p:txBody>
      </p:sp>
      <p:sp>
        <p:nvSpPr>
          <p:cNvPr id="40" name="Text 37"/>
          <p:cNvSpPr/>
          <p:nvPr/>
        </p:nvSpPr>
        <p:spPr>
          <a:xfrm>
            <a:off x="5752356" y="1710630"/>
            <a:ext cx="2853928" cy="114300"/>
          </a:xfrm>
          <a:prstGeom prst="rect">
            <a:avLst/>
          </a:prstGeom>
          <a:noFill/>
          <a:ln/>
        </p:spPr>
        <p:txBody>
          <a:bodyPr wrap="square" lIns="0" tIns="0" rIns="0" bIns="0" rtlCol="0" anchor="t"/>
          <a:lstStyle/>
          <a:p>
            <a:pPr algn="l" indent="0" marL="0">
              <a:buNone/>
            </a:pPr>
            <a:r>
              <a:rPr lang="en-US" sz="850" dirty="0">
                <a:solidFill>
                  <a:srgbClr val="94A3B8"/>
                </a:solidFill>
                <a:latin typeface="Arial" pitchFamily="34" charset="0"/>
                <a:ea typeface="Arial" pitchFamily="34" charset="-122"/>
                <a:cs typeface="Arial" pitchFamily="34" charset="-120"/>
              </a:rPr>
              <a:t>DataPreparer, BaselineTrainer</a:t>
            </a:r>
            <a:endParaRPr lang="en-US" sz="850" dirty="0"/>
          </a:p>
        </p:txBody>
      </p:sp>
      <p:sp>
        <p:nvSpPr>
          <p:cNvPr id="41" name="Text 38"/>
          <p:cNvSpPr/>
          <p:nvPr/>
        </p:nvSpPr>
        <p:spPr>
          <a:xfrm>
            <a:off x="5615880" y="1923306"/>
            <a:ext cx="3070920" cy="403027"/>
          </a:xfrm>
          <a:prstGeom prst="roundRect">
            <a:avLst>
              <a:gd name="adj" fmla="val 18907"/>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42" name="Text 39"/>
          <p:cNvSpPr/>
          <p:nvPr/>
        </p:nvSpPr>
        <p:spPr>
          <a:xfrm>
            <a:off x="5752356" y="1983581"/>
            <a:ext cx="2853928" cy="142875"/>
          </a:xfrm>
          <a:prstGeom prst="rect">
            <a:avLst/>
          </a:prstGeom>
          <a:noFill/>
          <a:ln/>
        </p:spPr>
        <p:txBody>
          <a:bodyPr wrap="square" lIns="0" tIns="0" rIns="0" bIns="0" rtlCol="0" anchor="t"/>
          <a:lstStyle/>
          <a:p>
            <a:pPr algn="l" indent="0" marL="0">
              <a:spcAft>
                <a:spcPts val="200"/>
              </a:spcAft>
              <a:buNone/>
            </a:pPr>
            <a:r>
              <a:rPr lang="en-US" sz="950" b="1" dirty="0">
                <a:solidFill>
                  <a:srgbClr val="00B4D8"/>
                </a:solidFill>
                <a:latin typeface="Courier New" pitchFamily="34" charset="0"/>
                <a:ea typeface="Courier New" pitchFamily="34" charset="-122"/>
                <a:cs typeface="Courier New" pitchFamily="34" charset="-120"/>
              </a:rPr>
              <a:t>model_evaluator.py</a:t>
            </a:r>
            <a:endParaRPr lang="en-US" sz="950" dirty="0"/>
          </a:p>
        </p:txBody>
      </p:sp>
      <p:sp>
        <p:nvSpPr>
          <p:cNvPr id="43" name="Text 40"/>
          <p:cNvSpPr/>
          <p:nvPr/>
        </p:nvSpPr>
        <p:spPr>
          <a:xfrm>
            <a:off x="5752356" y="2151757"/>
            <a:ext cx="2853928" cy="114300"/>
          </a:xfrm>
          <a:prstGeom prst="rect">
            <a:avLst/>
          </a:prstGeom>
          <a:noFill/>
          <a:ln/>
        </p:spPr>
        <p:txBody>
          <a:bodyPr wrap="square" lIns="0" tIns="0" rIns="0" bIns="0" rtlCol="0" anchor="t"/>
          <a:lstStyle/>
          <a:p>
            <a:pPr algn="l" indent="0" marL="0">
              <a:buNone/>
            </a:pPr>
            <a:r>
              <a:rPr lang="en-US" sz="850" dirty="0">
                <a:solidFill>
                  <a:srgbClr val="94A3B8"/>
                </a:solidFill>
                <a:latin typeface="Arial" pitchFamily="34" charset="0"/>
                <a:ea typeface="Arial" pitchFamily="34" charset="-122"/>
                <a:cs typeface="Arial" pitchFamily="34" charset="-120"/>
              </a:rPr>
              <a:t>MultiLabelEvaluator, Feasibility</a:t>
            </a:r>
            <a:endParaRPr lang="en-US" sz="850" dirty="0"/>
          </a:p>
        </p:txBody>
      </p:sp>
      <p:sp>
        <p:nvSpPr>
          <p:cNvPr id="44" name="Text 41"/>
          <p:cNvSpPr/>
          <p:nvPr/>
        </p:nvSpPr>
        <p:spPr>
          <a:xfrm>
            <a:off x="5615880" y="2364432"/>
            <a:ext cx="3070920" cy="403027"/>
          </a:xfrm>
          <a:prstGeom prst="roundRect">
            <a:avLst>
              <a:gd name="adj" fmla="val 18907"/>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45" name="Text 42"/>
          <p:cNvSpPr/>
          <p:nvPr/>
        </p:nvSpPr>
        <p:spPr>
          <a:xfrm>
            <a:off x="5752356" y="2424708"/>
            <a:ext cx="2853928" cy="142875"/>
          </a:xfrm>
          <a:prstGeom prst="rect">
            <a:avLst/>
          </a:prstGeom>
          <a:noFill/>
          <a:ln/>
        </p:spPr>
        <p:txBody>
          <a:bodyPr wrap="square" lIns="0" tIns="0" rIns="0" bIns="0" rtlCol="0" anchor="t"/>
          <a:lstStyle/>
          <a:p>
            <a:pPr algn="l" indent="0" marL="0">
              <a:spcAft>
                <a:spcPts val="200"/>
              </a:spcAft>
              <a:buNone/>
            </a:pPr>
            <a:r>
              <a:rPr lang="en-US" sz="950" b="1" dirty="0">
                <a:solidFill>
                  <a:srgbClr val="00B4D8"/>
                </a:solidFill>
                <a:latin typeface="Courier New" pitchFamily="34" charset="0"/>
                <a:ea typeface="Courier New" pitchFamily="34" charset="-122"/>
                <a:cs typeface="Courier New" pitchFamily="34" charset="-120"/>
              </a:rPr>
              <a:t>bert_trainer.py</a:t>
            </a:r>
            <a:endParaRPr lang="en-US" sz="950" dirty="0"/>
          </a:p>
        </p:txBody>
      </p:sp>
      <p:sp>
        <p:nvSpPr>
          <p:cNvPr id="46" name="Text 43"/>
          <p:cNvSpPr/>
          <p:nvPr/>
        </p:nvSpPr>
        <p:spPr>
          <a:xfrm>
            <a:off x="5752356" y="2592884"/>
            <a:ext cx="2853928" cy="114300"/>
          </a:xfrm>
          <a:prstGeom prst="rect">
            <a:avLst/>
          </a:prstGeom>
          <a:noFill/>
          <a:ln/>
        </p:spPr>
        <p:txBody>
          <a:bodyPr wrap="square" lIns="0" tIns="0" rIns="0" bIns="0" rtlCol="0" anchor="t"/>
          <a:lstStyle/>
          <a:p>
            <a:pPr algn="l" indent="0" marL="0">
              <a:buNone/>
            </a:pPr>
            <a:r>
              <a:rPr lang="en-US" sz="850" dirty="0">
                <a:solidFill>
                  <a:srgbClr val="94A3B8"/>
                </a:solidFill>
                <a:latin typeface="Arial" pitchFamily="34" charset="0"/>
                <a:ea typeface="Arial" pitchFamily="34" charset="-122"/>
                <a:cs typeface="Arial" pitchFamily="34" charset="-120"/>
              </a:rPr>
              <a:t>HybridLegalClassifier (7 classes)</a:t>
            </a:r>
            <a:endParaRPr lang="en-US" sz="850" dirty="0"/>
          </a:p>
        </p:txBody>
      </p:sp>
      <p:sp>
        <p:nvSpPr>
          <p:cNvPr id="47" name="Text 44"/>
          <p:cNvSpPr/>
          <p:nvPr/>
        </p:nvSpPr>
        <p:spPr>
          <a:xfrm>
            <a:off x="5615880" y="2805559"/>
            <a:ext cx="3070920" cy="403027"/>
          </a:xfrm>
          <a:prstGeom prst="roundRect">
            <a:avLst>
              <a:gd name="adj" fmla="val 18907"/>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48" name="Text 45"/>
          <p:cNvSpPr/>
          <p:nvPr/>
        </p:nvSpPr>
        <p:spPr>
          <a:xfrm>
            <a:off x="5752356" y="2865834"/>
            <a:ext cx="2853928" cy="142875"/>
          </a:xfrm>
          <a:prstGeom prst="rect">
            <a:avLst/>
          </a:prstGeom>
          <a:noFill/>
          <a:ln/>
        </p:spPr>
        <p:txBody>
          <a:bodyPr wrap="square" lIns="0" tIns="0" rIns="0" bIns="0" rtlCol="0" anchor="t"/>
          <a:lstStyle/>
          <a:p>
            <a:pPr algn="l" indent="0" marL="0">
              <a:spcAft>
                <a:spcPts val="200"/>
              </a:spcAft>
              <a:buNone/>
            </a:pPr>
            <a:r>
              <a:rPr lang="en-US" sz="950" b="1" dirty="0">
                <a:solidFill>
                  <a:srgbClr val="00B4D8"/>
                </a:solidFill>
                <a:latin typeface="Courier New" pitchFamily="34" charset="0"/>
                <a:ea typeface="Courier New" pitchFamily="34" charset="-122"/>
                <a:cs typeface="Courier New" pitchFamily="34" charset="-120"/>
              </a:rPr>
              <a:t>visualization.py</a:t>
            </a:r>
            <a:endParaRPr lang="en-US" sz="950" dirty="0"/>
          </a:p>
        </p:txBody>
      </p:sp>
      <p:sp>
        <p:nvSpPr>
          <p:cNvPr id="49" name="Text 46"/>
          <p:cNvSpPr/>
          <p:nvPr/>
        </p:nvSpPr>
        <p:spPr>
          <a:xfrm>
            <a:off x="5752356" y="3034010"/>
            <a:ext cx="2853928" cy="114300"/>
          </a:xfrm>
          <a:prstGeom prst="rect">
            <a:avLst/>
          </a:prstGeom>
          <a:noFill/>
          <a:ln/>
        </p:spPr>
        <p:txBody>
          <a:bodyPr wrap="square" lIns="0" tIns="0" rIns="0" bIns="0" rtlCol="0" anchor="t"/>
          <a:lstStyle/>
          <a:p>
            <a:pPr algn="l" indent="0" marL="0">
              <a:buNone/>
            </a:pPr>
            <a:r>
              <a:rPr lang="en-US" sz="850" dirty="0">
                <a:solidFill>
                  <a:srgbClr val="94A3B8"/>
                </a:solidFill>
                <a:latin typeface="Arial" pitchFamily="34" charset="0"/>
                <a:ea typeface="Arial" pitchFamily="34" charset="-122"/>
                <a:cs typeface="Arial" pitchFamily="34" charset="-120"/>
              </a:rPr>
              <a:t>Charts and distribution plots</a:t>
            </a:r>
            <a:endParaRPr lang="en-US" sz="850" dirty="0"/>
          </a:p>
        </p:txBody>
      </p:sp>
      <p:sp>
        <p:nvSpPr>
          <p:cNvPr id="50" name="Text 47"/>
          <p:cNvSpPr/>
          <p:nvPr/>
        </p:nvSpPr>
        <p:spPr>
          <a:xfrm>
            <a:off x="5615880" y="3259336"/>
            <a:ext cx="3070920" cy="419100"/>
          </a:xfrm>
          <a:prstGeom prst="rect">
            <a:avLst/>
          </a:prstGeom>
          <a:solidFill>
            <a:srgbClr val="00B4D8">
              <a:alpha val="8000"/>
            </a:srgbClr>
          </a:solidFill>
          <a:ln/>
        </p:spPr>
        <p:txBody>
          <a:bodyPr wrap="square" rtlCol="0" anchor="ctr"/>
          <a:lstStyle/>
          <a:p>
            <a:pPr indent="0" marL="0">
              <a:buNone/>
            </a:pPr>
            <a:endParaRPr lang="en-US" dirty="0"/>
          </a:p>
        </p:txBody>
      </p:sp>
      <p:sp>
        <p:nvSpPr>
          <p:cNvPr id="51" name="Shape 48"/>
          <p:cNvSpPr/>
          <p:nvPr/>
        </p:nvSpPr>
        <p:spPr>
          <a:xfrm>
            <a:off x="5639693" y="3259336"/>
            <a:ext cx="0" cy="419100"/>
          </a:xfrm>
          <a:prstGeom prst="line">
            <a:avLst/>
          </a:prstGeom>
          <a:noFill/>
          <a:ln w="47625">
            <a:solidFill>
              <a:srgbClr val="00B4D8"/>
            </a:solidFill>
            <a:prstDash val="solid"/>
          </a:ln>
        </p:spPr>
      </p:sp>
      <p:sp>
        <p:nvSpPr>
          <p:cNvPr id="52" name="Text 49"/>
          <p:cNvSpPr/>
          <p:nvPr/>
        </p:nvSpPr>
        <p:spPr>
          <a:xfrm>
            <a:off x="5790456" y="3335536"/>
            <a:ext cx="2824782" cy="266700"/>
          </a:xfrm>
          <a:prstGeom prst="rect">
            <a:avLst/>
          </a:prstGeom>
          <a:noFill/>
          <a:ln/>
        </p:spPr>
        <p:txBody>
          <a:bodyPr wrap="square" lIns="0" tIns="0" rIns="0" bIns="0" rtlCol="0" anchor="t"/>
          <a:lstStyle/>
          <a:p>
            <a:pPr algn="l" indent="0" marL="0">
              <a:buNone/>
            </a:pPr>
            <a:r>
              <a:rPr lang="en-US" sz="950" b="1" dirty="0">
                <a:solidFill>
                  <a:srgbClr val="E2E8F0"/>
                </a:solidFill>
                <a:latin typeface="Arial" pitchFamily="34" charset="0"/>
                <a:ea typeface="Arial" pitchFamily="34" charset="-122"/>
                <a:cs typeface="Arial" pitchFamily="34" charset="-120"/>
              </a:rPr>
              <a:t>Principle:</a:t>
            </a:r>
            <a:pPr algn="l" indent="0" marL="0">
              <a:buNone/>
            </a:pPr>
            <a:r>
              <a:rPr lang="en-US" sz="950" dirty="0">
                <a:solidFill>
                  <a:srgbClr val="E2E8F0"/>
                </a:solidFill>
                <a:latin typeface="Arial" pitchFamily="34" charset="0"/>
                <a:ea typeface="Arial" pitchFamily="34" charset="-122"/>
                <a:cs typeface="Arial" pitchFamily="34" charset="-120"/>
              </a:rPr>
              <a:t> All logic in src/ modules. Notebooks are clean, concise wrappers.</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355550"/>
            <a:ext cx="8394192" cy="323850"/>
          </a:xfrm>
          <a:prstGeom prst="rect">
            <a:avLst/>
          </a:prstGeom>
          <a:noFill/>
          <a:ln/>
        </p:spPr>
        <p:txBody>
          <a:bodyPr wrap="square" lIns="0" tIns="0" rIns="0" bIns="0" rtlCol="0" anchor="t"/>
          <a:lstStyle/>
          <a:p>
            <a:pPr algn="l" indent="0" marL="0">
              <a:buNone/>
            </a:pPr>
            <a:r>
              <a:rPr lang="en-US" sz="2200" b="1" dirty="0">
                <a:solidFill>
                  <a:srgbClr val="00B4D8"/>
                </a:solidFill>
                <a:latin typeface="Arial" pitchFamily="34" charset="0"/>
                <a:ea typeface="Arial" pitchFamily="34" charset="-122"/>
                <a:cs typeface="Arial" pitchFamily="34" charset="-120"/>
              </a:rPr>
              <a:t>Key Design Decisions</a:t>
            </a:r>
            <a:endParaRPr lang="en-US" sz="2200" dirty="0"/>
          </a:p>
        </p:txBody>
      </p:sp>
      <p:sp>
        <p:nvSpPr>
          <p:cNvPr id="4" name="Text 1"/>
          <p:cNvSpPr/>
          <p:nvPr/>
        </p:nvSpPr>
        <p:spPr>
          <a:xfrm>
            <a:off x="457200" y="857101"/>
            <a:ext cx="8394192" cy="133350"/>
          </a:xfrm>
          <a:prstGeom prst="rect">
            <a:avLst/>
          </a:prstGeom>
          <a:noFill/>
          <a:ln/>
        </p:spPr>
        <p:txBody>
          <a:bodyPr wrap="square" lIns="0" tIns="0" rIns="0" bIns="0" rtlCol="0" anchor="t"/>
          <a:lstStyle/>
          <a:p>
            <a:pPr algn="l" indent="0" marL="0">
              <a:spcAft>
                <a:spcPts val="600"/>
              </a:spcAft>
              <a:buNone/>
            </a:pPr>
            <a:r>
              <a:rPr lang="en-US" sz="900" dirty="0">
                <a:solidFill>
                  <a:srgbClr val="94A3B8"/>
                </a:solidFill>
                <a:latin typeface="Arial" pitchFamily="34" charset="0"/>
                <a:ea typeface="Arial" pitchFamily="34" charset="-122"/>
                <a:cs typeface="Arial" pitchFamily="34" charset="-120"/>
              </a:rPr>
              <a:t>MODULAR PIPELINE</a:t>
            </a:r>
            <a:endParaRPr lang="en-US" sz="900" dirty="0"/>
          </a:p>
        </p:txBody>
      </p:sp>
      <p:sp>
        <p:nvSpPr>
          <p:cNvPr id="5" name="Text 2"/>
          <p:cNvSpPr/>
          <p:nvPr/>
        </p:nvSpPr>
        <p:spPr>
          <a:xfrm>
            <a:off x="457200" y="1066651"/>
            <a:ext cx="1022449" cy="364927"/>
          </a:xfrm>
          <a:prstGeom prst="roundRect">
            <a:avLst>
              <a:gd name="adj" fmla="val 20881"/>
            </a:avLst>
          </a:prstGeom>
          <a:solidFill>
            <a:srgbClr val="00B4D8">
              <a:alpha val="12000"/>
            </a:srgbClr>
          </a:solidFill>
          <a:ln w="9525">
            <a:solidFill>
              <a:srgbClr val="00B4D8"/>
            </a:solidFill>
          </a:ln>
        </p:spPr>
        <p:txBody>
          <a:bodyPr wrap="square" rtlCol="0" anchor="ctr"/>
          <a:lstStyle/>
          <a:p>
            <a:pPr indent="0" marL="0">
              <a:buNone/>
            </a:pPr>
            <a:endParaRPr lang="en-US" dirty="0"/>
          </a:p>
        </p:txBody>
      </p:sp>
      <p:sp>
        <p:nvSpPr>
          <p:cNvPr id="6" name="Text 3"/>
          <p:cNvSpPr/>
          <p:nvPr/>
        </p:nvSpPr>
        <p:spPr>
          <a:xfrm>
            <a:off x="612139" y="1177677"/>
            <a:ext cx="712571" cy="142875"/>
          </a:xfrm>
          <a:prstGeom prst="rect">
            <a:avLst/>
          </a:prstGeom>
          <a:noFill/>
          <a:ln/>
        </p:spPr>
        <p:txBody>
          <a:bodyPr wrap="square" lIns="0" tIns="0" rIns="0" bIns="0" rtlCol="0" anchor="t"/>
          <a:lstStyle/>
          <a:p>
            <a:pPr algn="ctr" indent="0" marL="0">
              <a:buNone/>
            </a:pPr>
            <a:r>
              <a:rPr lang="en-US" sz="1000" b="1" dirty="0">
                <a:solidFill>
                  <a:srgbClr val="00B4D8"/>
                </a:solidFill>
                <a:latin typeface="Arial" pitchFamily="34" charset="0"/>
                <a:ea typeface="Arial" pitchFamily="34" charset="-122"/>
                <a:cs typeface="Arial" pitchFamily="34" charset="-120"/>
              </a:rPr>
              <a:t>DataLoader</a:t>
            </a:r>
            <a:endParaRPr lang="en-US" sz="1000" dirty="0"/>
          </a:p>
        </p:txBody>
      </p:sp>
      <p:sp>
        <p:nvSpPr>
          <p:cNvPr id="7" name="Text 4"/>
          <p:cNvSpPr/>
          <p:nvPr/>
        </p:nvSpPr>
        <p:spPr>
          <a:xfrm>
            <a:off x="1555849" y="1144339"/>
            <a:ext cx="166378" cy="209550"/>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-&gt;</a:t>
            </a:r>
            <a:endParaRPr lang="en-US" sz="1400" dirty="0"/>
          </a:p>
        </p:txBody>
      </p:sp>
      <p:sp>
        <p:nvSpPr>
          <p:cNvPr id="8" name="Text 5"/>
          <p:cNvSpPr/>
          <p:nvPr/>
        </p:nvSpPr>
        <p:spPr>
          <a:xfrm>
            <a:off x="1795165" y="1066651"/>
            <a:ext cx="1121420" cy="364927"/>
          </a:xfrm>
          <a:prstGeom prst="roundRect">
            <a:avLst>
              <a:gd name="adj" fmla="val 20881"/>
            </a:avLst>
          </a:prstGeom>
          <a:solidFill>
            <a:srgbClr val="00B4D8">
              <a:alpha val="12000"/>
            </a:srgbClr>
          </a:solidFill>
          <a:ln w="9525">
            <a:solidFill>
              <a:srgbClr val="00B4D8"/>
            </a:solidFill>
          </a:ln>
        </p:spPr>
        <p:txBody>
          <a:bodyPr wrap="square" rtlCol="0" anchor="ctr"/>
          <a:lstStyle/>
          <a:p>
            <a:pPr indent="0" marL="0">
              <a:buNone/>
            </a:pPr>
            <a:endParaRPr lang="en-US" dirty="0"/>
          </a:p>
        </p:txBody>
      </p:sp>
      <p:sp>
        <p:nvSpPr>
          <p:cNvPr id="9" name="Text 6"/>
          <p:cNvSpPr/>
          <p:nvPr/>
        </p:nvSpPr>
        <p:spPr>
          <a:xfrm>
            <a:off x="1949114" y="1177677"/>
            <a:ext cx="813521" cy="142875"/>
          </a:xfrm>
          <a:prstGeom prst="rect">
            <a:avLst/>
          </a:prstGeom>
          <a:noFill/>
          <a:ln/>
        </p:spPr>
        <p:txBody>
          <a:bodyPr wrap="square" lIns="0" tIns="0" rIns="0" bIns="0" rtlCol="0" anchor="t"/>
          <a:lstStyle/>
          <a:p>
            <a:pPr algn="ctr" indent="0" marL="0">
              <a:buNone/>
            </a:pPr>
            <a:r>
              <a:rPr lang="en-US" sz="1000" b="1" dirty="0">
                <a:solidFill>
                  <a:srgbClr val="00B4D8"/>
                </a:solidFill>
                <a:latin typeface="Arial" pitchFamily="34" charset="0"/>
                <a:ea typeface="Arial" pitchFamily="34" charset="-122"/>
                <a:cs typeface="Arial" pitchFamily="34" charset="-120"/>
              </a:rPr>
              <a:t>DataPreparer</a:t>
            </a:r>
            <a:endParaRPr lang="en-US" sz="1000" dirty="0"/>
          </a:p>
        </p:txBody>
      </p:sp>
      <p:sp>
        <p:nvSpPr>
          <p:cNvPr id="10" name="Text 7"/>
          <p:cNvSpPr/>
          <p:nvPr/>
        </p:nvSpPr>
        <p:spPr>
          <a:xfrm>
            <a:off x="2992785" y="1144339"/>
            <a:ext cx="166378" cy="209550"/>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-&gt;</a:t>
            </a:r>
            <a:endParaRPr lang="en-US" sz="1400" dirty="0"/>
          </a:p>
        </p:txBody>
      </p:sp>
      <p:sp>
        <p:nvSpPr>
          <p:cNvPr id="11" name="Text 8"/>
          <p:cNvSpPr/>
          <p:nvPr/>
        </p:nvSpPr>
        <p:spPr>
          <a:xfrm>
            <a:off x="3232100" y="1066651"/>
            <a:ext cx="747415" cy="364927"/>
          </a:xfrm>
          <a:prstGeom prst="roundRect">
            <a:avLst>
              <a:gd name="adj" fmla="val 20881"/>
            </a:avLst>
          </a:prstGeom>
          <a:solidFill>
            <a:srgbClr val="00B4D8">
              <a:alpha val="12000"/>
            </a:srgbClr>
          </a:solidFill>
          <a:ln w="9525">
            <a:solidFill>
              <a:srgbClr val="00B4D8"/>
            </a:solidFill>
          </a:ln>
        </p:spPr>
        <p:txBody>
          <a:bodyPr wrap="square" rtlCol="0" anchor="ctr"/>
          <a:lstStyle/>
          <a:p>
            <a:pPr indent="0" marL="0">
              <a:buNone/>
            </a:pPr>
            <a:endParaRPr lang="en-US" dirty="0"/>
          </a:p>
        </p:txBody>
      </p:sp>
      <p:sp>
        <p:nvSpPr>
          <p:cNvPr id="12" name="Text 9"/>
          <p:cNvSpPr/>
          <p:nvPr/>
        </p:nvSpPr>
        <p:spPr>
          <a:xfrm>
            <a:off x="3389790" y="1177677"/>
            <a:ext cx="432036" cy="142875"/>
          </a:xfrm>
          <a:prstGeom prst="rect">
            <a:avLst/>
          </a:prstGeom>
          <a:noFill/>
          <a:ln/>
        </p:spPr>
        <p:txBody>
          <a:bodyPr wrap="square" lIns="0" tIns="0" rIns="0" bIns="0" rtlCol="0" anchor="t"/>
          <a:lstStyle/>
          <a:p>
            <a:pPr algn="ctr" indent="0" marL="0">
              <a:buNone/>
            </a:pPr>
            <a:r>
              <a:rPr lang="en-US" sz="1000" b="1" dirty="0">
                <a:solidFill>
                  <a:srgbClr val="00B4D8"/>
                </a:solidFill>
                <a:latin typeface="Arial" pitchFamily="34" charset="0"/>
                <a:ea typeface="Arial" pitchFamily="34" charset="-122"/>
                <a:cs typeface="Arial" pitchFamily="34" charset="-120"/>
              </a:rPr>
              <a:t>Trainer</a:t>
            </a:r>
            <a:endParaRPr lang="en-US" sz="1000" dirty="0"/>
          </a:p>
        </p:txBody>
      </p:sp>
      <p:sp>
        <p:nvSpPr>
          <p:cNvPr id="13" name="Text 10"/>
          <p:cNvSpPr/>
          <p:nvPr/>
        </p:nvSpPr>
        <p:spPr>
          <a:xfrm>
            <a:off x="4055715" y="1144339"/>
            <a:ext cx="166378" cy="209550"/>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-&gt;</a:t>
            </a:r>
            <a:endParaRPr lang="en-US" sz="1400" dirty="0"/>
          </a:p>
        </p:txBody>
      </p:sp>
      <p:sp>
        <p:nvSpPr>
          <p:cNvPr id="14" name="Text 11"/>
          <p:cNvSpPr/>
          <p:nvPr/>
        </p:nvSpPr>
        <p:spPr>
          <a:xfrm>
            <a:off x="4295031" y="1066651"/>
            <a:ext cx="902494" cy="364927"/>
          </a:xfrm>
          <a:prstGeom prst="roundRect">
            <a:avLst>
              <a:gd name="adj" fmla="val 20881"/>
            </a:avLst>
          </a:prstGeom>
          <a:solidFill>
            <a:srgbClr val="00B4D8">
              <a:alpha val="12000"/>
            </a:srgbClr>
          </a:solidFill>
          <a:ln w="9525">
            <a:solidFill>
              <a:srgbClr val="00B4D8"/>
            </a:solidFill>
          </a:ln>
        </p:spPr>
        <p:txBody>
          <a:bodyPr wrap="square" rtlCol="0" anchor="ctr"/>
          <a:lstStyle/>
          <a:p>
            <a:pPr indent="0" marL="0">
              <a:buNone/>
            </a:pPr>
            <a:endParaRPr lang="en-US" dirty="0"/>
          </a:p>
        </p:txBody>
      </p:sp>
      <p:sp>
        <p:nvSpPr>
          <p:cNvPr id="15" name="Text 12"/>
          <p:cNvSpPr/>
          <p:nvPr/>
        </p:nvSpPr>
        <p:spPr>
          <a:xfrm>
            <a:off x="4451169" y="1177677"/>
            <a:ext cx="590217" cy="142875"/>
          </a:xfrm>
          <a:prstGeom prst="rect">
            <a:avLst/>
          </a:prstGeom>
          <a:noFill/>
          <a:ln/>
        </p:spPr>
        <p:txBody>
          <a:bodyPr wrap="square" lIns="0" tIns="0" rIns="0" bIns="0" rtlCol="0" anchor="t"/>
          <a:lstStyle/>
          <a:p>
            <a:pPr algn="ctr" indent="0" marL="0">
              <a:buNone/>
            </a:pPr>
            <a:r>
              <a:rPr lang="en-US" sz="1000" b="1" dirty="0">
                <a:solidFill>
                  <a:srgbClr val="00B4D8"/>
                </a:solidFill>
                <a:latin typeface="Arial" pitchFamily="34" charset="0"/>
                <a:ea typeface="Arial" pitchFamily="34" charset="-122"/>
                <a:cs typeface="Arial" pitchFamily="34" charset="-120"/>
              </a:rPr>
              <a:t>Evaluator</a:t>
            </a:r>
            <a:endParaRPr lang="en-US" sz="1000" dirty="0"/>
          </a:p>
        </p:txBody>
      </p:sp>
      <p:sp>
        <p:nvSpPr>
          <p:cNvPr id="16" name="Text 13"/>
          <p:cNvSpPr/>
          <p:nvPr/>
        </p:nvSpPr>
        <p:spPr>
          <a:xfrm>
            <a:off x="5273725" y="1144339"/>
            <a:ext cx="166378" cy="209550"/>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-&gt;</a:t>
            </a:r>
            <a:endParaRPr lang="en-US" sz="1400" dirty="0"/>
          </a:p>
        </p:txBody>
      </p:sp>
      <p:sp>
        <p:nvSpPr>
          <p:cNvPr id="17" name="Text 14"/>
          <p:cNvSpPr/>
          <p:nvPr/>
        </p:nvSpPr>
        <p:spPr>
          <a:xfrm>
            <a:off x="5513040" y="1066651"/>
            <a:ext cx="944910" cy="364927"/>
          </a:xfrm>
          <a:prstGeom prst="roundRect">
            <a:avLst>
              <a:gd name="adj" fmla="val 20881"/>
            </a:avLst>
          </a:prstGeom>
          <a:solidFill>
            <a:srgbClr val="00B4D8">
              <a:alpha val="12000"/>
            </a:srgbClr>
          </a:solidFill>
          <a:ln w="9525">
            <a:solidFill>
              <a:srgbClr val="00B4D8"/>
            </a:solidFill>
          </a:ln>
        </p:spPr>
        <p:txBody>
          <a:bodyPr wrap="square" rtlCol="0" anchor="ctr"/>
          <a:lstStyle/>
          <a:p>
            <a:pPr indent="0" marL="0">
              <a:buNone/>
            </a:pPr>
            <a:endParaRPr lang="en-US" dirty="0"/>
          </a:p>
        </p:txBody>
      </p:sp>
      <p:sp>
        <p:nvSpPr>
          <p:cNvPr id="18" name="Text 15"/>
          <p:cNvSpPr/>
          <p:nvPr/>
        </p:nvSpPr>
        <p:spPr>
          <a:xfrm>
            <a:off x="5668755" y="1177677"/>
            <a:ext cx="633481" cy="142875"/>
          </a:xfrm>
          <a:prstGeom prst="rect">
            <a:avLst/>
          </a:prstGeom>
          <a:noFill/>
          <a:ln/>
        </p:spPr>
        <p:txBody>
          <a:bodyPr wrap="square" lIns="0" tIns="0" rIns="0" bIns="0" rtlCol="0" anchor="t"/>
          <a:lstStyle/>
          <a:p>
            <a:pPr algn="ctr" indent="0" marL="0">
              <a:buNone/>
            </a:pPr>
            <a:r>
              <a:rPr lang="en-US" sz="1000" b="1" dirty="0">
                <a:solidFill>
                  <a:srgbClr val="00B4D8"/>
                </a:solidFill>
                <a:latin typeface="Arial" pitchFamily="34" charset="0"/>
                <a:ea typeface="Arial" pitchFamily="34" charset="-122"/>
                <a:cs typeface="Arial" pitchFamily="34" charset="-120"/>
              </a:rPr>
              <a:t>Feasibility</a:t>
            </a:r>
            <a:endParaRPr lang="en-US" sz="1000" dirty="0"/>
          </a:p>
        </p:txBody>
      </p:sp>
      <p:sp>
        <p:nvSpPr>
          <p:cNvPr id="19" name="Text 16"/>
          <p:cNvSpPr/>
          <p:nvPr/>
        </p:nvSpPr>
        <p:spPr>
          <a:xfrm>
            <a:off x="457200" y="1634728"/>
            <a:ext cx="8394192" cy="133350"/>
          </a:xfrm>
          <a:prstGeom prst="rect">
            <a:avLst/>
          </a:prstGeom>
          <a:noFill/>
          <a:ln/>
        </p:spPr>
        <p:txBody>
          <a:bodyPr wrap="square" lIns="0" tIns="0" rIns="0" bIns="0" rtlCol="0" anchor="t"/>
          <a:lstStyle/>
          <a:p>
            <a:pPr algn="l" indent="0" marL="0">
              <a:spcAft>
                <a:spcPts val="800"/>
              </a:spcAft>
              <a:buNone/>
            </a:pPr>
            <a:r>
              <a:rPr lang="en-US" sz="900" dirty="0">
                <a:solidFill>
                  <a:srgbClr val="94A3B8"/>
                </a:solidFill>
                <a:latin typeface="Arial" pitchFamily="34" charset="0"/>
                <a:ea typeface="Arial" pitchFamily="34" charset="-122"/>
                <a:cs typeface="Arial" pitchFamily="34" charset="-120"/>
              </a:rPr>
              <a:t>KEY COMPONENTS</a:t>
            </a:r>
            <a:endParaRPr lang="en-US" sz="900" dirty="0"/>
          </a:p>
        </p:txBody>
      </p:sp>
      <p:sp>
        <p:nvSpPr>
          <p:cNvPr id="20" name="Text 17"/>
          <p:cNvSpPr/>
          <p:nvPr/>
        </p:nvSpPr>
        <p:spPr>
          <a:xfrm>
            <a:off x="457200" y="1869579"/>
            <a:ext cx="1943100" cy="1441103"/>
          </a:xfrm>
          <a:prstGeom prst="roundRect">
            <a:avLst>
              <a:gd name="adj" fmla="val 5288"/>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21" name="Text 18"/>
          <p:cNvSpPr/>
          <p:nvPr/>
        </p:nvSpPr>
        <p:spPr>
          <a:xfrm>
            <a:off x="619125" y="2006054"/>
            <a:ext cx="1651635" cy="177701"/>
          </a:xfrm>
          <a:prstGeom prst="rect">
            <a:avLst/>
          </a:prstGeom>
          <a:noFill/>
          <a:ln/>
        </p:spPr>
        <p:txBody>
          <a:bodyPr wrap="square" lIns="0" tIns="0" rIns="0" bIns="0" rtlCol="0" anchor="t"/>
          <a:lstStyle/>
          <a:p>
            <a:pPr algn="l" indent="0" marL="0">
              <a:lnSpc>
                <a:spcPts val="1400"/>
              </a:lnSpc>
              <a:spcAft>
                <a:spcPts val="600"/>
              </a:spcAft>
              <a:buNone/>
            </a:pPr>
            <a:r>
              <a:rPr lang="en-US" sz="1000" b="1" dirty="0">
                <a:solidFill>
                  <a:srgbClr val="E2E8F0"/>
                </a:solidFill>
                <a:latin typeface="Arial" pitchFamily="34" charset="0"/>
                <a:ea typeface="Arial" pitchFamily="34" charset="-122"/>
                <a:cs typeface="Arial" pitchFamily="34" charset="-120"/>
              </a:rPr>
              <a:t>HybridLegalClassifier</a:t>
            </a:r>
            <a:endParaRPr lang="en-US" sz="1000" dirty="0"/>
          </a:p>
        </p:txBody>
      </p:sp>
      <p:sp>
        <p:nvSpPr>
          <p:cNvPr id="22" name="Text 19"/>
          <p:cNvSpPr/>
          <p:nvPr/>
        </p:nvSpPr>
        <p:spPr>
          <a:xfrm>
            <a:off x="619125" y="2259955"/>
            <a:ext cx="1651635" cy="31998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94A3B8"/>
                </a:solidFill>
                <a:latin typeface="Arial" pitchFamily="34" charset="0"/>
                <a:ea typeface="Arial" pitchFamily="34" charset="-122"/>
                <a:cs typeface="Arial" pitchFamily="34" charset="-120"/>
              </a:rPr>
              <a:t>Orchestrates summarize + classify</a:t>
            </a:r>
            <a:endParaRPr lang="en-US" sz="900" dirty="0"/>
          </a:p>
        </p:txBody>
      </p:sp>
      <p:sp>
        <p:nvSpPr>
          <p:cNvPr id="23" name="Text 20"/>
          <p:cNvSpPr/>
          <p:nvPr/>
        </p:nvSpPr>
        <p:spPr>
          <a:xfrm>
            <a:off x="619125" y="2618036"/>
            <a:ext cx="1651635"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94A3B8"/>
                </a:solidFill>
                <a:latin typeface="Arial" pitchFamily="34" charset="0"/>
                <a:ea typeface="Arial" pitchFamily="34" charset="-122"/>
                <a:cs typeface="Arial" pitchFamily="34" charset="-120"/>
              </a:rPr>
              <a:t>Routes docs by token length</a:t>
            </a:r>
            <a:endParaRPr lang="en-US" sz="900" dirty="0"/>
          </a:p>
        </p:txBody>
      </p:sp>
      <p:sp>
        <p:nvSpPr>
          <p:cNvPr id="24" name="Text 21"/>
          <p:cNvSpPr/>
          <p:nvPr/>
        </p:nvSpPr>
        <p:spPr>
          <a:xfrm>
            <a:off x="619125" y="2816126"/>
            <a:ext cx="1651635" cy="31998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94A3B8"/>
                </a:solidFill>
                <a:latin typeface="Arial" pitchFamily="34" charset="0"/>
                <a:ea typeface="Arial" pitchFamily="34" charset="-122"/>
                <a:cs typeface="Arial" pitchFamily="34" charset="-120"/>
              </a:rPr>
              <a:t>Handles preprocessing transparently</a:t>
            </a:r>
            <a:endParaRPr lang="en-US" sz="900" dirty="0"/>
          </a:p>
        </p:txBody>
      </p:sp>
      <p:sp>
        <p:nvSpPr>
          <p:cNvPr id="25" name="Text 22"/>
          <p:cNvSpPr/>
          <p:nvPr/>
        </p:nvSpPr>
        <p:spPr>
          <a:xfrm>
            <a:off x="2552700" y="1869579"/>
            <a:ext cx="1943100" cy="1441103"/>
          </a:xfrm>
          <a:prstGeom prst="roundRect">
            <a:avLst>
              <a:gd name="adj" fmla="val 5288"/>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26" name="Text 23"/>
          <p:cNvSpPr/>
          <p:nvPr/>
        </p:nvSpPr>
        <p:spPr>
          <a:xfrm>
            <a:off x="2714625" y="2006054"/>
            <a:ext cx="1651635" cy="177701"/>
          </a:xfrm>
          <a:prstGeom prst="rect">
            <a:avLst/>
          </a:prstGeom>
          <a:noFill/>
          <a:ln/>
        </p:spPr>
        <p:txBody>
          <a:bodyPr wrap="square" lIns="0" tIns="0" rIns="0" bIns="0" rtlCol="0" anchor="t"/>
          <a:lstStyle/>
          <a:p>
            <a:pPr algn="l" indent="0" marL="0">
              <a:lnSpc>
                <a:spcPts val="1400"/>
              </a:lnSpc>
              <a:spcAft>
                <a:spcPts val="600"/>
              </a:spcAft>
              <a:buNone/>
            </a:pPr>
            <a:r>
              <a:rPr lang="en-US" sz="1000" b="1" dirty="0">
                <a:solidFill>
                  <a:srgbClr val="E2E8F0"/>
                </a:solidFill>
                <a:latin typeface="Arial" pitchFamily="34" charset="0"/>
                <a:ea typeface="Arial" pitchFamily="34" charset="-122"/>
                <a:cs typeface="Arial" pitchFamily="34" charset="-120"/>
              </a:rPr>
              <a:t>SummaryCache</a:t>
            </a:r>
            <a:endParaRPr lang="en-US" sz="1000" dirty="0"/>
          </a:p>
        </p:txBody>
      </p:sp>
      <p:sp>
        <p:nvSpPr>
          <p:cNvPr id="27" name="Text 24"/>
          <p:cNvSpPr/>
          <p:nvPr/>
        </p:nvSpPr>
        <p:spPr>
          <a:xfrm>
            <a:off x="2714625" y="2259955"/>
            <a:ext cx="1651635"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94A3B8"/>
                </a:solidFill>
                <a:latin typeface="Arial" pitchFamily="34" charset="0"/>
                <a:ea typeface="Arial" pitchFamily="34" charset="-122"/>
                <a:cs typeface="Arial" pitchFamily="34" charset="-120"/>
              </a:rPr>
              <a:t>Disk cache for LED summaries</a:t>
            </a:r>
            <a:endParaRPr lang="en-US" sz="900" dirty="0"/>
          </a:p>
        </p:txBody>
      </p:sp>
      <p:sp>
        <p:nvSpPr>
          <p:cNvPr id="28" name="Text 25"/>
          <p:cNvSpPr/>
          <p:nvPr/>
        </p:nvSpPr>
        <p:spPr>
          <a:xfrm>
            <a:off x="2714625" y="2458045"/>
            <a:ext cx="1651635"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94A3B8"/>
                </a:solidFill>
                <a:latin typeface="Arial" pitchFamily="34" charset="0"/>
                <a:ea typeface="Arial" pitchFamily="34" charset="-122"/>
                <a:cs typeface="Arial" pitchFamily="34" charset="-120"/>
              </a:rPr>
              <a:t>Hash-based deduplication</a:t>
            </a:r>
            <a:endParaRPr lang="en-US" sz="900" dirty="0"/>
          </a:p>
        </p:txBody>
      </p:sp>
      <p:sp>
        <p:nvSpPr>
          <p:cNvPr id="29" name="Text 26"/>
          <p:cNvSpPr/>
          <p:nvPr/>
        </p:nvSpPr>
        <p:spPr>
          <a:xfrm>
            <a:off x="2714625" y="2656136"/>
            <a:ext cx="1651635"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94A3B8"/>
                </a:solidFill>
                <a:latin typeface="Arial" pitchFamily="34" charset="0"/>
                <a:ea typeface="Arial" pitchFamily="34" charset="-122"/>
                <a:cs typeface="Arial" pitchFamily="34" charset="-120"/>
              </a:rPr>
              <a:t>5,530 cached summaries</a:t>
            </a:r>
            <a:endParaRPr lang="en-US" sz="900" dirty="0"/>
          </a:p>
        </p:txBody>
      </p:sp>
      <p:sp>
        <p:nvSpPr>
          <p:cNvPr id="30" name="Text 27"/>
          <p:cNvSpPr/>
          <p:nvPr/>
        </p:nvSpPr>
        <p:spPr>
          <a:xfrm>
            <a:off x="4648200" y="1869579"/>
            <a:ext cx="1943100" cy="1441103"/>
          </a:xfrm>
          <a:prstGeom prst="roundRect">
            <a:avLst>
              <a:gd name="adj" fmla="val 5288"/>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31" name="Text 28"/>
          <p:cNvSpPr/>
          <p:nvPr/>
        </p:nvSpPr>
        <p:spPr>
          <a:xfrm>
            <a:off x="4810125" y="2006054"/>
            <a:ext cx="1651635" cy="177701"/>
          </a:xfrm>
          <a:prstGeom prst="rect">
            <a:avLst/>
          </a:prstGeom>
          <a:noFill/>
          <a:ln/>
        </p:spPr>
        <p:txBody>
          <a:bodyPr wrap="square" lIns="0" tIns="0" rIns="0" bIns="0" rtlCol="0" anchor="t"/>
          <a:lstStyle/>
          <a:p>
            <a:pPr algn="l" indent="0" marL="0">
              <a:lnSpc>
                <a:spcPts val="1400"/>
              </a:lnSpc>
              <a:spcAft>
                <a:spcPts val="600"/>
              </a:spcAft>
              <a:buNone/>
            </a:pPr>
            <a:r>
              <a:rPr lang="en-US" sz="1000" b="1" dirty="0">
                <a:solidFill>
                  <a:srgbClr val="E2E8F0"/>
                </a:solidFill>
                <a:latin typeface="Arial" pitchFamily="34" charset="0"/>
                <a:ea typeface="Arial" pitchFamily="34" charset="-122"/>
                <a:cs typeface="Arial" pitchFamily="34" charset="-120"/>
              </a:rPr>
              <a:t>DeviceManager</a:t>
            </a:r>
            <a:endParaRPr lang="en-US" sz="1000" dirty="0"/>
          </a:p>
        </p:txBody>
      </p:sp>
      <p:sp>
        <p:nvSpPr>
          <p:cNvPr id="32" name="Text 29"/>
          <p:cNvSpPr/>
          <p:nvPr/>
        </p:nvSpPr>
        <p:spPr>
          <a:xfrm>
            <a:off x="4810125" y="2259955"/>
            <a:ext cx="1651635"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94A3B8"/>
                </a:solidFill>
                <a:latin typeface="Arial" pitchFamily="34" charset="0"/>
                <a:ea typeface="Arial" pitchFamily="34" charset="-122"/>
                <a:cs typeface="Arial" pitchFamily="34" charset="-120"/>
              </a:rPr>
              <a:t>Auto-detect CUDA / MPS / CPU</a:t>
            </a:r>
            <a:endParaRPr lang="en-US" sz="900" dirty="0"/>
          </a:p>
        </p:txBody>
      </p:sp>
      <p:sp>
        <p:nvSpPr>
          <p:cNvPr id="33" name="Text 30"/>
          <p:cNvSpPr/>
          <p:nvPr/>
        </p:nvSpPr>
        <p:spPr>
          <a:xfrm>
            <a:off x="4810125" y="2458045"/>
            <a:ext cx="1651635"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94A3B8"/>
                </a:solidFill>
                <a:latin typeface="Arial" pitchFamily="34" charset="0"/>
                <a:ea typeface="Arial" pitchFamily="34" charset="-122"/>
                <a:cs typeface="Arial" pitchFamily="34" charset="-120"/>
              </a:rPr>
              <a:t>Transparent device handling</a:t>
            </a:r>
            <a:endParaRPr lang="en-US" sz="900" dirty="0"/>
          </a:p>
        </p:txBody>
      </p:sp>
      <p:sp>
        <p:nvSpPr>
          <p:cNvPr id="34" name="Text 31"/>
          <p:cNvSpPr/>
          <p:nvPr/>
        </p:nvSpPr>
        <p:spPr>
          <a:xfrm>
            <a:off x="4810125" y="2656136"/>
            <a:ext cx="1651635"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94A3B8"/>
                </a:solidFill>
                <a:latin typeface="Arial" pitchFamily="34" charset="0"/>
                <a:ea typeface="Arial" pitchFamily="34" charset="-122"/>
                <a:cs typeface="Arial" pitchFamily="34" charset="-120"/>
              </a:rPr>
              <a:t>MPS batch size optimization</a:t>
            </a:r>
            <a:endParaRPr lang="en-US" sz="900" dirty="0"/>
          </a:p>
        </p:txBody>
      </p:sp>
      <p:sp>
        <p:nvSpPr>
          <p:cNvPr id="35" name="Text 32"/>
          <p:cNvSpPr/>
          <p:nvPr/>
        </p:nvSpPr>
        <p:spPr>
          <a:xfrm>
            <a:off x="6743700" y="1869579"/>
            <a:ext cx="1943100" cy="1441103"/>
          </a:xfrm>
          <a:prstGeom prst="roundRect">
            <a:avLst>
              <a:gd name="adj" fmla="val 5288"/>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36" name="Text 33"/>
          <p:cNvSpPr/>
          <p:nvPr/>
        </p:nvSpPr>
        <p:spPr>
          <a:xfrm>
            <a:off x="6905625" y="2006054"/>
            <a:ext cx="1651635" cy="177701"/>
          </a:xfrm>
          <a:prstGeom prst="rect">
            <a:avLst/>
          </a:prstGeom>
          <a:noFill/>
          <a:ln/>
        </p:spPr>
        <p:txBody>
          <a:bodyPr wrap="square" lIns="0" tIns="0" rIns="0" bIns="0" rtlCol="0" anchor="t"/>
          <a:lstStyle/>
          <a:p>
            <a:pPr algn="l" indent="0" marL="0">
              <a:lnSpc>
                <a:spcPts val="1400"/>
              </a:lnSpc>
              <a:spcAft>
                <a:spcPts val="600"/>
              </a:spcAft>
              <a:buNone/>
            </a:pPr>
            <a:r>
              <a:rPr lang="en-US" sz="1000" b="1" dirty="0">
                <a:solidFill>
                  <a:srgbClr val="E2E8F0"/>
                </a:solidFill>
                <a:latin typeface="Arial" pitchFamily="34" charset="0"/>
                <a:ea typeface="Arial" pitchFamily="34" charset="-122"/>
                <a:cs typeface="Arial" pitchFamily="34" charset="-120"/>
              </a:rPr>
              <a:t>MultiLabelEvaluator</a:t>
            </a:r>
            <a:endParaRPr lang="en-US" sz="1000" dirty="0"/>
          </a:p>
        </p:txBody>
      </p:sp>
      <p:sp>
        <p:nvSpPr>
          <p:cNvPr id="37" name="Text 34"/>
          <p:cNvSpPr/>
          <p:nvPr/>
        </p:nvSpPr>
        <p:spPr>
          <a:xfrm>
            <a:off x="6905625" y="2259955"/>
            <a:ext cx="1651635" cy="31998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94A3B8"/>
                </a:solidFill>
                <a:latin typeface="Arial" pitchFamily="34" charset="0"/>
                <a:ea typeface="Arial" pitchFamily="34" charset="-122"/>
                <a:cs typeface="Arial" pitchFamily="34" charset="-120"/>
              </a:rPr>
              <a:t>Per-class and aggregate metrics</a:t>
            </a:r>
            <a:endParaRPr lang="en-US" sz="900" dirty="0"/>
          </a:p>
        </p:txBody>
      </p:sp>
      <p:sp>
        <p:nvSpPr>
          <p:cNvPr id="38" name="Text 35"/>
          <p:cNvSpPr/>
          <p:nvPr/>
        </p:nvSpPr>
        <p:spPr>
          <a:xfrm>
            <a:off x="6905625" y="2618036"/>
            <a:ext cx="1651635" cy="31998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94A3B8"/>
                </a:solidFill>
                <a:latin typeface="Arial" pitchFamily="34" charset="0"/>
                <a:ea typeface="Arial" pitchFamily="34" charset="-122"/>
                <a:cs typeface="Arial" pitchFamily="34" charset="-120"/>
              </a:rPr>
              <a:t>Feasibility analysis vs human kappa</a:t>
            </a:r>
            <a:endParaRPr lang="en-US" sz="900" dirty="0"/>
          </a:p>
        </p:txBody>
      </p:sp>
      <p:sp>
        <p:nvSpPr>
          <p:cNvPr id="39" name="Text 36"/>
          <p:cNvSpPr/>
          <p:nvPr/>
        </p:nvSpPr>
        <p:spPr>
          <a:xfrm>
            <a:off x="6905625" y="2976116"/>
            <a:ext cx="1651635" cy="159990"/>
          </a:xfrm>
          <a:prstGeom prst="rect">
            <a:avLst/>
          </a:prstGeom>
          <a:noFill/>
          <a:ln/>
        </p:spPr>
        <p:txBody>
          <a:bodyPr wrap="square" lIns="0" tIns="0" rIns="0" bIns="0" rtlCol="0" anchor="t"/>
          <a:lstStyle/>
          <a:p>
            <a:pPr algn="l" indent="0" marL="0">
              <a:lnSpc>
                <a:spcPts val="1260"/>
              </a:lnSpc>
              <a:spcAft>
                <a:spcPts val="300"/>
              </a:spcAft>
              <a:buNone/>
            </a:pPr>
            <a:r>
              <a:rPr lang="en-US" sz="900" dirty="0">
                <a:solidFill>
                  <a:srgbClr val="94A3B8"/>
                </a:solidFill>
                <a:latin typeface="Arial" pitchFamily="34" charset="0"/>
                <a:ea typeface="Arial" pitchFamily="34" charset="-122"/>
                <a:cs typeface="Arial" pitchFamily="34" charset="-120"/>
              </a:rPr>
              <a:t>Threshold optimization</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62000" y="1881336"/>
            <a:ext cx="7772400" cy="171450"/>
          </a:xfrm>
          <a:prstGeom prst="rect">
            <a:avLst/>
          </a:prstGeom>
          <a:noFill/>
          <a:ln/>
        </p:spPr>
        <p:txBody>
          <a:bodyPr wrap="square" lIns="0" tIns="0" rIns="0" bIns="0" rtlCol="0" anchor="t"/>
          <a:lstStyle/>
          <a:p>
            <a:pPr algn="l" indent="0" marL="0">
              <a:spcAft>
                <a:spcPts val="800"/>
              </a:spcAft>
              <a:buNone/>
            </a:pPr>
            <a:r>
              <a:rPr lang="en-US" sz="1200" dirty="0">
                <a:solidFill>
                  <a:srgbClr val="00B4D8"/>
                </a:solidFill>
                <a:latin typeface="Arial" pitchFamily="34" charset="0"/>
                <a:ea typeface="Arial" pitchFamily="34" charset="-122"/>
                <a:cs typeface="Arial" pitchFamily="34" charset="-120"/>
              </a:rPr>
              <a:t>SECTION 4</a:t>
            </a:r>
            <a:endParaRPr lang="en-US" sz="1200" dirty="0"/>
          </a:p>
        </p:txBody>
      </p:sp>
      <p:sp>
        <p:nvSpPr>
          <p:cNvPr id="3" name="Text 1"/>
          <p:cNvSpPr/>
          <p:nvPr/>
        </p:nvSpPr>
        <p:spPr>
          <a:xfrm>
            <a:off x="762000" y="2154287"/>
            <a:ext cx="7772400" cy="466725"/>
          </a:xfrm>
          <a:prstGeom prst="rect">
            <a:avLst/>
          </a:prstGeom>
          <a:noFill/>
          <a:ln/>
        </p:spPr>
        <p:txBody>
          <a:bodyPr wrap="square" lIns="0" tIns="0" rIns="0" bIns="0" rtlCol="0" anchor="t"/>
          <a:lstStyle/>
          <a:p>
            <a:pPr algn="l" indent="0" marL="0">
              <a:spcAft>
                <a:spcPts val="1200"/>
              </a:spcAft>
              <a:buNone/>
            </a:pPr>
            <a:r>
              <a:rPr lang="en-US" sz="3200" b="1" dirty="0">
                <a:solidFill>
                  <a:srgbClr val="FFFFFF"/>
                </a:solidFill>
                <a:latin typeface="Arial" pitchFamily="34" charset="0"/>
                <a:ea typeface="Arial" pitchFamily="34" charset="-122"/>
                <a:cs typeface="Arial" pitchFamily="34" charset="-120"/>
              </a:rPr>
              <a:t>Evaluation &amp; Results</a:t>
            </a:r>
            <a:endParaRPr lang="en-US" sz="3200" dirty="0"/>
          </a:p>
        </p:txBody>
      </p:sp>
      <p:pic>
        <p:nvPicPr>
          <p:cNvPr id="4" name="Image 0" descr="/Users/alessandrodibari/Ale/projects/TR_hiring_exercise/outputs/pptx_workspace/slides/accent_orange.png">    </p:cNvPr>
          <p:cNvPicPr>
            <a:picLocks noChangeAspect="1"/>
          </p:cNvPicPr>
          <p:nvPr/>
        </p:nvPicPr>
        <p:blipFill>
          <a:blip r:embed="rId2"/>
          <a:stretch>
            <a:fillRect/>
          </a:stretch>
        </p:blipFill>
        <p:spPr>
          <a:xfrm>
            <a:off x="762000" y="2868662"/>
            <a:ext cx="762000" cy="38100"/>
          </a:xfrm>
          <a:prstGeom prst="rect">
            <a:avLst/>
          </a:prstGeom>
        </p:spPr>
      </p:pic>
      <p:sp>
        <p:nvSpPr>
          <p:cNvPr id="5" name="Text 2"/>
          <p:cNvSpPr/>
          <p:nvPr/>
        </p:nvSpPr>
        <p:spPr>
          <a:xfrm>
            <a:off x="762000" y="3014663"/>
            <a:ext cx="7772400" cy="247501"/>
          </a:xfrm>
          <a:prstGeom prst="rect">
            <a:avLst/>
          </a:prstGeom>
          <a:noFill/>
          <a:ln/>
        </p:spPr>
        <p:txBody>
          <a:bodyPr wrap="square" lIns="0" tIns="0" rIns="0" bIns="0" rtlCol="0" anchor="t"/>
          <a:lstStyle/>
          <a:p>
            <a:pPr algn="l" indent="0" marL="0">
              <a:lnSpc>
                <a:spcPts val="1950"/>
              </a:lnSpc>
              <a:buNone/>
            </a:pPr>
            <a:r>
              <a:rPr lang="en-US" sz="1300" dirty="0">
                <a:solidFill>
                  <a:srgbClr val="94A3B8"/>
                </a:solidFill>
                <a:latin typeface="Arial" pitchFamily="34" charset="0"/>
                <a:ea typeface="Arial" pitchFamily="34" charset="-122"/>
                <a:cs typeface="Arial" pitchFamily="34" charset="-120"/>
              </a:rPr>
              <a:t>Honest characterization of model performance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355550"/>
            <a:ext cx="8394192" cy="323850"/>
          </a:xfrm>
          <a:prstGeom prst="rect">
            <a:avLst/>
          </a:prstGeom>
          <a:noFill/>
          <a:ln/>
        </p:spPr>
        <p:txBody>
          <a:bodyPr wrap="square" lIns="0" tIns="0" rIns="0" bIns="0" rtlCol="0" anchor="t"/>
          <a:lstStyle/>
          <a:p>
            <a:pPr algn="l" indent="0" marL="0">
              <a:buNone/>
            </a:pPr>
            <a:r>
              <a:rPr lang="en-US" sz="2200" b="1" dirty="0">
                <a:solidFill>
                  <a:srgbClr val="00B4D8"/>
                </a:solidFill>
                <a:latin typeface="Arial" pitchFamily="34" charset="0"/>
                <a:ea typeface="Arial" pitchFamily="34" charset="-122"/>
                <a:cs typeface="Arial" pitchFamily="34" charset="-120"/>
              </a:rPr>
              <a:t>Baseline Results (TF-IDF)</a:t>
            </a:r>
            <a:endParaRPr lang="en-US" sz="2200" dirty="0"/>
          </a:p>
        </p:txBody>
      </p:sp>
      <p:sp>
        <p:nvSpPr>
          <p:cNvPr id="4" name="Text 1"/>
          <p:cNvSpPr/>
          <p:nvPr/>
        </p:nvSpPr>
        <p:spPr>
          <a:xfrm>
            <a:off x="457200" y="857101"/>
            <a:ext cx="4067607" cy="159990"/>
          </a:xfrm>
          <a:prstGeom prst="rect">
            <a:avLst/>
          </a:prstGeom>
          <a:noFill/>
          <a:ln/>
        </p:spPr>
        <p:txBody>
          <a:bodyPr wrap="square" lIns="0" tIns="0" rIns="0" bIns="0" rtlCol="0" anchor="t"/>
          <a:lstStyle/>
          <a:p>
            <a:pPr algn="l" indent="0" marL="0">
              <a:lnSpc>
                <a:spcPts val="1260"/>
              </a:lnSpc>
              <a:spcAft>
                <a:spcPts val="600"/>
              </a:spcAft>
              <a:buNone/>
            </a:pPr>
            <a:r>
              <a:rPr lang="en-US" sz="900" dirty="0">
                <a:solidFill>
                  <a:srgbClr val="94A3B8"/>
                </a:solidFill>
                <a:latin typeface="Arial" pitchFamily="34" charset="0"/>
                <a:ea typeface="Arial" pitchFamily="34" charset="-122"/>
                <a:cs typeface="Arial" pitchFamily="34" charset="-120"/>
              </a:rPr>
              <a:t>OVERALL METRICS</a:t>
            </a:r>
            <a:endParaRPr lang="en-US" sz="900" dirty="0"/>
          </a:p>
        </p:txBody>
      </p:sp>
      <p:sp>
        <p:nvSpPr>
          <p:cNvPr id="5" name="Text 2"/>
          <p:cNvSpPr/>
          <p:nvPr/>
        </p:nvSpPr>
        <p:spPr>
          <a:xfrm>
            <a:off x="457200" y="1093291"/>
            <a:ext cx="777999" cy="426690"/>
          </a:xfrm>
          <a:prstGeom prst="rect">
            <a:avLst/>
          </a:prstGeom>
          <a:noFill/>
          <a:ln/>
        </p:spPr>
        <p:txBody>
          <a:bodyPr wrap="square" lIns="0" tIns="0" rIns="0" bIns="0" rtlCol="0" anchor="t"/>
          <a:lstStyle/>
          <a:p>
            <a:pPr algn="l" indent="0" marL="0">
              <a:lnSpc>
                <a:spcPts val="3360"/>
              </a:lnSpc>
              <a:buNone/>
            </a:pPr>
            <a:r>
              <a:rPr lang="en-US" sz="2400" b="1" dirty="0">
                <a:solidFill>
                  <a:srgbClr val="00B4D8"/>
                </a:solidFill>
                <a:latin typeface="Arial" pitchFamily="34" charset="0"/>
                <a:ea typeface="Arial" pitchFamily="34" charset="-122"/>
                <a:cs typeface="Arial" pitchFamily="34" charset="-120"/>
              </a:rPr>
              <a:t>0.752</a:t>
            </a:r>
            <a:endParaRPr lang="en-US" sz="2400" dirty="0"/>
          </a:p>
        </p:txBody>
      </p:sp>
      <p:sp>
        <p:nvSpPr>
          <p:cNvPr id="6" name="Text 3"/>
          <p:cNvSpPr/>
          <p:nvPr/>
        </p:nvSpPr>
        <p:spPr>
          <a:xfrm>
            <a:off x="1321445" y="1283791"/>
            <a:ext cx="503688" cy="177701"/>
          </a:xfrm>
          <a:prstGeom prst="rect">
            <a:avLst/>
          </a:prstGeom>
          <a:noFill/>
          <a:ln/>
        </p:spPr>
        <p:txBody>
          <a:bodyPr wrap="square" lIns="0" tIns="0" rIns="0" bIns="0" rtlCol="0" anchor="t"/>
          <a:lstStyle/>
          <a:p>
            <a:pPr algn="l" indent="0" marL="0">
              <a:lnSpc>
                <a:spcPts val="1400"/>
              </a:lnSpc>
              <a:buNone/>
            </a:pPr>
            <a:r>
              <a:rPr lang="en-US" sz="1000" dirty="0">
                <a:solidFill>
                  <a:srgbClr val="94A3B8"/>
                </a:solidFill>
                <a:latin typeface="Arial" pitchFamily="34" charset="0"/>
                <a:ea typeface="Arial" pitchFamily="34" charset="-122"/>
                <a:cs typeface="Arial" pitchFamily="34" charset="-120"/>
              </a:rPr>
              <a:t>F1 Micro</a:t>
            </a:r>
            <a:endParaRPr lang="en-US" sz="1000" dirty="0"/>
          </a:p>
        </p:txBody>
      </p:sp>
      <p:sp>
        <p:nvSpPr>
          <p:cNvPr id="7" name="Text 4"/>
          <p:cNvSpPr/>
          <p:nvPr/>
        </p:nvSpPr>
        <p:spPr>
          <a:xfrm>
            <a:off x="457200" y="1621482"/>
            <a:ext cx="777999" cy="426690"/>
          </a:xfrm>
          <a:prstGeom prst="rect">
            <a:avLst/>
          </a:prstGeom>
          <a:noFill/>
          <a:ln/>
        </p:spPr>
        <p:txBody>
          <a:bodyPr wrap="square" lIns="0" tIns="0" rIns="0" bIns="0" rtlCol="0" anchor="t"/>
          <a:lstStyle/>
          <a:p>
            <a:pPr algn="l" indent="0" marL="0">
              <a:lnSpc>
                <a:spcPts val="3360"/>
              </a:lnSpc>
              <a:buNone/>
            </a:pPr>
            <a:r>
              <a:rPr lang="en-US" sz="2400" b="1" dirty="0">
                <a:solidFill>
                  <a:srgbClr val="00B4D8"/>
                </a:solidFill>
                <a:latin typeface="Arial" pitchFamily="34" charset="0"/>
                <a:ea typeface="Arial" pitchFamily="34" charset="-122"/>
                <a:cs typeface="Arial" pitchFamily="34" charset="-120"/>
              </a:rPr>
              <a:t>0.533</a:t>
            </a:r>
            <a:endParaRPr lang="en-US" sz="2400" dirty="0"/>
          </a:p>
        </p:txBody>
      </p:sp>
      <p:sp>
        <p:nvSpPr>
          <p:cNvPr id="8" name="Text 5"/>
          <p:cNvSpPr/>
          <p:nvPr/>
        </p:nvSpPr>
        <p:spPr>
          <a:xfrm>
            <a:off x="1321445" y="1811982"/>
            <a:ext cx="546952" cy="177701"/>
          </a:xfrm>
          <a:prstGeom prst="rect">
            <a:avLst/>
          </a:prstGeom>
          <a:noFill/>
          <a:ln/>
        </p:spPr>
        <p:txBody>
          <a:bodyPr wrap="square" lIns="0" tIns="0" rIns="0" bIns="0" rtlCol="0" anchor="t"/>
          <a:lstStyle/>
          <a:p>
            <a:pPr algn="l" indent="0" marL="0">
              <a:lnSpc>
                <a:spcPts val="1400"/>
              </a:lnSpc>
              <a:buNone/>
            </a:pPr>
            <a:r>
              <a:rPr lang="en-US" sz="1000" dirty="0">
                <a:solidFill>
                  <a:srgbClr val="94A3B8"/>
                </a:solidFill>
                <a:latin typeface="Arial" pitchFamily="34" charset="0"/>
                <a:ea typeface="Arial" pitchFamily="34" charset="-122"/>
                <a:cs typeface="Arial" pitchFamily="34" charset="-120"/>
              </a:rPr>
              <a:t>F1 Macro</a:t>
            </a:r>
            <a:endParaRPr lang="en-US" sz="1000" dirty="0"/>
          </a:p>
        </p:txBody>
      </p:sp>
      <p:sp>
        <p:nvSpPr>
          <p:cNvPr id="9" name="Text 6"/>
          <p:cNvSpPr/>
          <p:nvPr/>
        </p:nvSpPr>
        <p:spPr>
          <a:xfrm>
            <a:off x="457200" y="2149673"/>
            <a:ext cx="777999" cy="426690"/>
          </a:xfrm>
          <a:prstGeom prst="rect">
            <a:avLst/>
          </a:prstGeom>
          <a:noFill/>
          <a:ln/>
        </p:spPr>
        <p:txBody>
          <a:bodyPr wrap="square" lIns="0" tIns="0" rIns="0" bIns="0" rtlCol="0" anchor="t"/>
          <a:lstStyle/>
          <a:p>
            <a:pPr algn="l" indent="0" marL="0">
              <a:lnSpc>
                <a:spcPts val="3360"/>
              </a:lnSpc>
              <a:buNone/>
            </a:pPr>
            <a:r>
              <a:rPr lang="en-US" sz="2400" b="1" dirty="0">
                <a:solidFill>
                  <a:srgbClr val="00B4D8"/>
                </a:solidFill>
                <a:latin typeface="Arial" pitchFamily="34" charset="0"/>
                <a:ea typeface="Arial" pitchFamily="34" charset="-122"/>
                <a:cs typeface="Arial" pitchFamily="34" charset="-120"/>
              </a:rPr>
              <a:t>0.798</a:t>
            </a:r>
            <a:endParaRPr lang="en-US" sz="2400" dirty="0"/>
          </a:p>
        </p:txBody>
      </p:sp>
      <p:sp>
        <p:nvSpPr>
          <p:cNvPr id="10" name="Text 7"/>
          <p:cNvSpPr/>
          <p:nvPr/>
        </p:nvSpPr>
        <p:spPr>
          <a:xfrm>
            <a:off x="1321445" y="2340173"/>
            <a:ext cx="732002" cy="177701"/>
          </a:xfrm>
          <a:prstGeom prst="rect">
            <a:avLst/>
          </a:prstGeom>
          <a:noFill/>
          <a:ln/>
        </p:spPr>
        <p:txBody>
          <a:bodyPr wrap="square" lIns="0" tIns="0" rIns="0" bIns="0" rtlCol="0" anchor="t"/>
          <a:lstStyle/>
          <a:p>
            <a:pPr algn="l" indent="0" marL="0">
              <a:lnSpc>
                <a:spcPts val="1400"/>
              </a:lnSpc>
              <a:buNone/>
            </a:pPr>
            <a:r>
              <a:rPr lang="en-US" sz="1000" dirty="0">
                <a:solidFill>
                  <a:srgbClr val="94A3B8"/>
                </a:solidFill>
                <a:latin typeface="Arial" pitchFamily="34" charset="0"/>
                <a:ea typeface="Arial" pitchFamily="34" charset="-122"/>
                <a:cs typeface="Arial" pitchFamily="34" charset="-120"/>
              </a:rPr>
              <a:t>F1 Weighted</a:t>
            </a:r>
            <a:endParaRPr lang="en-US" sz="1000" dirty="0"/>
          </a:p>
        </p:txBody>
      </p:sp>
      <p:sp>
        <p:nvSpPr>
          <p:cNvPr id="11" name="Text 8"/>
          <p:cNvSpPr/>
          <p:nvPr/>
        </p:nvSpPr>
        <p:spPr>
          <a:xfrm>
            <a:off x="457200" y="2677864"/>
            <a:ext cx="4067607" cy="177701"/>
          </a:xfrm>
          <a:prstGeom prst="rect">
            <a:avLst/>
          </a:prstGeom>
          <a:noFill/>
          <a:ln/>
        </p:spPr>
        <p:txBody>
          <a:bodyPr wrap="square" lIns="0" tIns="0" rIns="0" bIns="0" rtlCol="0" anchor="t"/>
          <a:lstStyle/>
          <a:p>
            <a:pPr algn="l" indent="0" marL="0">
              <a:lnSpc>
                <a:spcPts val="1400"/>
              </a:lnSpc>
              <a:spcBef>
                <a:spcPts val="600"/>
              </a:spcBef>
              <a:spcAft>
                <a:spcPts val="500"/>
              </a:spcAft>
              <a:buNone/>
            </a:pPr>
            <a:r>
              <a:rPr lang="en-US" sz="1000" dirty="0">
                <a:solidFill>
                  <a:srgbClr val="CBD5E1"/>
                </a:solidFill>
                <a:latin typeface="Arial" pitchFamily="34" charset="0"/>
                <a:ea typeface="Arial" pitchFamily="34" charset="-122"/>
                <a:cs typeface="Arial" pitchFamily="34" charset="-120"/>
              </a:rPr>
              <a:t>Precision (micro): 0.648</a:t>
            </a:r>
            <a:endParaRPr lang="en-US" sz="1000" dirty="0"/>
          </a:p>
        </p:txBody>
      </p:sp>
      <p:sp>
        <p:nvSpPr>
          <p:cNvPr id="12" name="Text 9"/>
          <p:cNvSpPr/>
          <p:nvPr/>
        </p:nvSpPr>
        <p:spPr>
          <a:xfrm>
            <a:off x="457200" y="2918966"/>
            <a:ext cx="4067607" cy="177701"/>
          </a:xfrm>
          <a:prstGeom prst="rect">
            <a:avLst/>
          </a:prstGeom>
          <a:noFill/>
          <a:ln/>
        </p:spPr>
        <p:txBody>
          <a:bodyPr wrap="square" lIns="0" tIns="0" rIns="0" bIns="0" rtlCol="0" anchor="t"/>
          <a:lstStyle/>
          <a:p>
            <a:pPr algn="l" indent="0" marL="0">
              <a:lnSpc>
                <a:spcPts val="1400"/>
              </a:lnSpc>
              <a:spcAft>
                <a:spcPts val="500"/>
              </a:spcAft>
              <a:buNone/>
            </a:pPr>
            <a:r>
              <a:rPr lang="en-US" sz="1000" dirty="0">
                <a:solidFill>
                  <a:srgbClr val="CBD5E1"/>
                </a:solidFill>
                <a:latin typeface="Arial" pitchFamily="34" charset="0"/>
                <a:ea typeface="Arial" pitchFamily="34" charset="-122"/>
                <a:cs typeface="Arial" pitchFamily="34" charset="-120"/>
              </a:rPr>
              <a:t>Recall (micro): 0.897</a:t>
            </a:r>
            <a:endParaRPr lang="en-US" sz="1000" dirty="0"/>
          </a:p>
        </p:txBody>
      </p:sp>
      <p:sp>
        <p:nvSpPr>
          <p:cNvPr id="13" name="Text 10"/>
          <p:cNvSpPr/>
          <p:nvPr/>
        </p:nvSpPr>
        <p:spPr>
          <a:xfrm>
            <a:off x="457200" y="3223617"/>
            <a:ext cx="3987850" cy="736104"/>
          </a:xfrm>
          <a:prstGeom prst="rect">
            <a:avLst/>
          </a:prstGeom>
          <a:solidFill>
            <a:srgbClr val="00B4D8">
              <a:alpha val="8000"/>
            </a:srgbClr>
          </a:solidFill>
          <a:ln/>
        </p:spPr>
        <p:txBody>
          <a:bodyPr wrap="square" rtlCol="0" anchor="ctr"/>
          <a:lstStyle/>
          <a:p>
            <a:pPr indent="0" marL="0">
              <a:buNone/>
            </a:pPr>
            <a:endParaRPr lang="en-US" dirty="0"/>
          </a:p>
        </p:txBody>
      </p:sp>
      <p:sp>
        <p:nvSpPr>
          <p:cNvPr id="14" name="Shape 11"/>
          <p:cNvSpPr/>
          <p:nvPr/>
        </p:nvSpPr>
        <p:spPr>
          <a:xfrm>
            <a:off x="481012" y="3223617"/>
            <a:ext cx="0" cy="736104"/>
          </a:xfrm>
          <a:prstGeom prst="line">
            <a:avLst/>
          </a:prstGeom>
          <a:noFill/>
          <a:ln w="47625">
            <a:solidFill>
              <a:srgbClr val="00B4D8"/>
            </a:solidFill>
            <a:prstDash val="solid"/>
          </a:ln>
        </p:spPr>
      </p:sp>
      <p:sp>
        <p:nvSpPr>
          <p:cNvPr id="15" name="Text 12"/>
          <p:cNvSpPr/>
          <p:nvPr/>
        </p:nvSpPr>
        <p:spPr>
          <a:xfrm>
            <a:off x="682526" y="3325118"/>
            <a:ext cx="3656520" cy="533102"/>
          </a:xfrm>
          <a:prstGeom prst="rect">
            <a:avLst/>
          </a:prstGeom>
          <a:noFill/>
          <a:ln/>
        </p:spPr>
        <p:txBody>
          <a:bodyPr wrap="square" lIns="0" tIns="0" rIns="0" bIns="0" rtlCol="0" anchor="t"/>
          <a:lstStyle/>
          <a:p>
            <a:pPr algn="l" indent="0" marL="0">
              <a:lnSpc>
                <a:spcPts val="1400"/>
              </a:lnSpc>
              <a:buNone/>
            </a:pPr>
            <a:r>
              <a:rPr lang="en-US" sz="1000" b="1" dirty="0">
                <a:solidFill>
                  <a:srgbClr val="E2E8F0"/>
                </a:solidFill>
                <a:latin typeface="Arial" pitchFamily="34" charset="0"/>
                <a:ea typeface="Arial" pitchFamily="34" charset="-122"/>
                <a:cs typeface="Arial" pitchFamily="34" charset="-120"/>
              </a:rPr>
              <a:t>Key finding:</a:t>
            </a:r>
            <a:pPr algn="l" indent="0" marL="0">
              <a:lnSpc>
                <a:spcPts val="1400"/>
              </a:lnSpc>
              <a:buNone/>
            </a:pPr>
            <a:r>
              <a:rPr lang="en-US" sz="1000" dirty="0">
                <a:solidFill>
                  <a:srgbClr val="E2E8F0"/>
                </a:solidFill>
                <a:latin typeface="Arial" pitchFamily="34" charset="0"/>
                <a:ea typeface="Arial" pitchFamily="34" charset="-122"/>
                <a:cs typeface="Arial" pitchFamily="34" charset="-120"/>
              </a:rPr>
              <a:t> Performance correlates with sample size. Postures with 500+ samples achieve F1 &gt; 0.92. Can the transformer beat this?</a:t>
            </a:r>
            <a:endParaRPr lang="en-US" sz="1000" dirty="0"/>
          </a:p>
        </p:txBody>
      </p:sp>
      <p:sp>
        <p:nvSpPr>
          <p:cNvPr id="16" name="Text 13"/>
          <p:cNvSpPr/>
          <p:nvPr/>
        </p:nvSpPr>
        <p:spPr>
          <a:xfrm>
            <a:off x="4698950" y="857101"/>
            <a:ext cx="4067607" cy="159990"/>
          </a:xfrm>
          <a:prstGeom prst="rect">
            <a:avLst/>
          </a:prstGeom>
          <a:noFill/>
          <a:ln/>
        </p:spPr>
        <p:txBody>
          <a:bodyPr wrap="square" lIns="0" tIns="0" rIns="0" bIns="0" rtlCol="0" anchor="t"/>
          <a:lstStyle/>
          <a:p>
            <a:pPr algn="l" indent="0" marL="0">
              <a:lnSpc>
                <a:spcPts val="1260"/>
              </a:lnSpc>
              <a:spcAft>
                <a:spcPts val="600"/>
              </a:spcAft>
              <a:buNone/>
            </a:pPr>
            <a:r>
              <a:rPr lang="en-US" sz="900" dirty="0">
                <a:solidFill>
                  <a:srgbClr val="94A3B8"/>
                </a:solidFill>
                <a:latin typeface="Arial" pitchFamily="34" charset="0"/>
                <a:ea typeface="Arial" pitchFamily="34" charset="-122"/>
                <a:cs typeface="Arial" pitchFamily="34" charset="-120"/>
              </a:rPr>
              <a:t>TOP PERFORMERS</a:t>
            </a:r>
            <a:endParaRPr lang="en-US" sz="900" dirty="0"/>
          </a:p>
        </p:txBody>
      </p:sp>
      <p:sp>
        <p:nvSpPr>
          <p:cNvPr id="17" name="Shape 14"/>
          <p:cNvSpPr/>
          <p:nvPr/>
        </p:nvSpPr>
        <p:spPr>
          <a:xfrm>
            <a:off x="4698950" y="1393775"/>
            <a:ext cx="3987850" cy="0"/>
          </a:xfrm>
          <a:prstGeom prst="line">
            <a:avLst/>
          </a:prstGeom>
          <a:noFill/>
          <a:ln w="9525">
            <a:solidFill>
              <a:srgbClr val="FFFFFF"/>
            </a:solidFill>
            <a:prstDash val="solid"/>
          </a:ln>
        </p:spPr>
      </p:sp>
      <p:sp>
        <p:nvSpPr>
          <p:cNvPr id="18" name="Text 15"/>
          <p:cNvSpPr/>
          <p:nvPr/>
        </p:nvSpPr>
        <p:spPr>
          <a:xfrm>
            <a:off x="4698950" y="1156692"/>
            <a:ext cx="950449" cy="168920"/>
          </a:xfrm>
          <a:prstGeom prst="rect">
            <a:avLst/>
          </a:prstGeom>
          <a:noFill/>
          <a:ln/>
        </p:spPr>
        <p:txBody>
          <a:bodyPr wrap="square" lIns="0" tIns="0" rIns="0" bIns="0" rtlCol="0" anchor="t"/>
          <a:lstStyle/>
          <a:p>
            <a:pPr algn="l" indent="0" marL="0">
              <a:lnSpc>
                <a:spcPts val="1330"/>
              </a:lnSpc>
              <a:buNone/>
            </a:pPr>
            <a:r>
              <a:rPr lang="en-US" sz="950" dirty="0">
                <a:solidFill>
                  <a:srgbClr val="CBD5E1"/>
                </a:solidFill>
                <a:latin typeface="Arial" pitchFamily="34" charset="0"/>
                <a:ea typeface="Arial" pitchFamily="34" charset="-122"/>
                <a:cs typeface="Arial" pitchFamily="34" charset="-120"/>
              </a:rPr>
              <a:t>Appellate Review</a:t>
            </a:r>
            <a:endParaRPr lang="en-US" sz="950" dirty="0"/>
          </a:p>
        </p:txBody>
      </p:sp>
      <p:sp>
        <p:nvSpPr>
          <p:cNvPr id="19" name="Text 16"/>
          <p:cNvSpPr/>
          <p:nvPr/>
        </p:nvSpPr>
        <p:spPr>
          <a:xfrm>
            <a:off x="8384977" y="1156692"/>
            <a:ext cx="307860" cy="168920"/>
          </a:xfrm>
          <a:prstGeom prst="rect">
            <a:avLst/>
          </a:prstGeom>
          <a:noFill/>
          <a:ln/>
        </p:spPr>
        <p:txBody>
          <a:bodyPr wrap="square" lIns="0" tIns="0" rIns="0" bIns="0" rtlCol="0" anchor="t"/>
          <a:lstStyle/>
          <a:p>
            <a:pPr algn="l" indent="0" marL="0">
              <a:lnSpc>
                <a:spcPts val="1330"/>
              </a:lnSpc>
              <a:buNone/>
            </a:pPr>
            <a:r>
              <a:rPr lang="en-US" sz="950" b="1" dirty="0">
                <a:solidFill>
                  <a:srgbClr val="22C55E"/>
                </a:solidFill>
                <a:latin typeface="Arial" pitchFamily="34" charset="0"/>
                <a:ea typeface="Arial" pitchFamily="34" charset="-122"/>
                <a:cs typeface="Arial" pitchFamily="34" charset="-120"/>
              </a:rPr>
              <a:t>0.940</a:t>
            </a:r>
            <a:endParaRPr lang="en-US" sz="950" dirty="0"/>
          </a:p>
        </p:txBody>
      </p:sp>
      <p:sp>
        <p:nvSpPr>
          <p:cNvPr id="20" name="Shape 17"/>
          <p:cNvSpPr/>
          <p:nvPr/>
        </p:nvSpPr>
        <p:spPr>
          <a:xfrm>
            <a:off x="4698950" y="1699022"/>
            <a:ext cx="3987850" cy="0"/>
          </a:xfrm>
          <a:prstGeom prst="line">
            <a:avLst/>
          </a:prstGeom>
          <a:noFill/>
          <a:ln w="9525">
            <a:solidFill>
              <a:srgbClr val="FFFFFF"/>
            </a:solidFill>
            <a:prstDash val="solid"/>
          </a:ln>
        </p:spPr>
      </p:sp>
      <p:sp>
        <p:nvSpPr>
          <p:cNvPr id="21" name="Text 18"/>
          <p:cNvSpPr/>
          <p:nvPr/>
        </p:nvSpPr>
        <p:spPr>
          <a:xfrm>
            <a:off x="4698950" y="1461939"/>
            <a:ext cx="574581" cy="168920"/>
          </a:xfrm>
          <a:prstGeom prst="rect">
            <a:avLst/>
          </a:prstGeom>
          <a:noFill/>
          <a:ln/>
        </p:spPr>
        <p:txBody>
          <a:bodyPr wrap="square" lIns="0" tIns="0" rIns="0" bIns="0" rtlCol="0" anchor="t"/>
          <a:lstStyle/>
          <a:p>
            <a:pPr algn="l" indent="0" marL="0">
              <a:lnSpc>
                <a:spcPts val="1330"/>
              </a:lnSpc>
              <a:buNone/>
            </a:pPr>
            <a:r>
              <a:rPr lang="en-US" sz="950" dirty="0">
                <a:solidFill>
                  <a:srgbClr val="CBD5E1"/>
                </a:solidFill>
                <a:latin typeface="Arial" pitchFamily="34" charset="0"/>
                <a:ea typeface="Arial" pitchFamily="34" charset="-122"/>
                <a:cs typeface="Arial" pitchFamily="34" charset="-120"/>
              </a:rPr>
              <a:t>On Appeal</a:t>
            </a:r>
            <a:endParaRPr lang="en-US" sz="950" dirty="0"/>
          </a:p>
        </p:txBody>
      </p:sp>
      <p:sp>
        <p:nvSpPr>
          <p:cNvPr id="22" name="Text 19"/>
          <p:cNvSpPr/>
          <p:nvPr/>
        </p:nvSpPr>
        <p:spPr>
          <a:xfrm>
            <a:off x="8384977" y="1461939"/>
            <a:ext cx="307860" cy="168920"/>
          </a:xfrm>
          <a:prstGeom prst="rect">
            <a:avLst/>
          </a:prstGeom>
          <a:noFill/>
          <a:ln/>
        </p:spPr>
        <p:txBody>
          <a:bodyPr wrap="square" lIns="0" tIns="0" rIns="0" bIns="0" rtlCol="0" anchor="t"/>
          <a:lstStyle/>
          <a:p>
            <a:pPr algn="l" indent="0" marL="0">
              <a:lnSpc>
                <a:spcPts val="1330"/>
              </a:lnSpc>
              <a:buNone/>
            </a:pPr>
            <a:r>
              <a:rPr lang="en-US" sz="950" b="1" dirty="0">
                <a:solidFill>
                  <a:srgbClr val="22C55E"/>
                </a:solidFill>
                <a:latin typeface="Arial" pitchFamily="34" charset="0"/>
                <a:ea typeface="Arial" pitchFamily="34" charset="-122"/>
                <a:cs typeface="Arial" pitchFamily="34" charset="-120"/>
              </a:rPr>
              <a:t>0.915</a:t>
            </a:r>
            <a:endParaRPr lang="en-US" sz="950" dirty="0"/>
          </a:p>
        </p:txBody>
      </p:sp>
      <p:sp>
        <p:nvSpPr>
          <p:cNvPr id="23" name="Shape 20"/>
          <p:cNvSpPr/>
          <p:nvPr/>
        </p:nvSpPr>
        <p:spPr>
          <a:xfrm>
            <a:off x="4698950" y="2004268"/>
            <a:ext cx="3987850" cy="0"/>
          </a:xfrm>
          <a:prstGeom prst="line">
            <a:avLst/>
          </a:prstGeom>
          <a:noFill/>
          <a:ln w="9525">
            <a:solidFill>
              <a:srgbClr val="FFFFFF"/>
            </a:solidFill>
            <a:prstDash val="solid"/>
          </a:ln>
        </p:spPr>
      </p:sp>
      <p:sp>
        <p:nvSpPr>
          <p:cNvPr id="24" name="Text 21"/>
          <p:cNvSpPr/>
          <p:nvPr/>
        </p:nvSpPr>
        <p:spPr>
          <a:xfrm>
            <a:off x="4698950" y="1767185"/>
            <a:ext cx="1421955" cy="168920"/>
          </a:xfrm>
          <a:prstGeom prst="rect">
            <a:avLst/>
          </a:prstGeom>
          <a:noFill/>
          <a:ln/>
        </p:spPr>
        <p:txBody>
          <a:bodyPr wrap="square" lIns="0" tIns="0" rIns="0" bIns="0" rtlCol="0" anchor="t"/>
          <a:lstStyle/>
          <a:p>
            <a:pPr algn="l" indent="0" marL="0">
              <a:lnSpc>
                <a:spcPts val="1330"/>
              </a:lnSpc>
              <a:buNone/>
            </a:pPr>
            <a:r>
              <a:rPr lang="en-US" sz="950" dirty="0">
                <a:solidFill>
                  <a:srgbClr val="CBD5E1"/>
                </a:solidFill>
                <a:latin typeface="Arial" pitchFamily="34" charset="0"/>
                <a:ea typeface="Arial" pitchFamily="34" charset="-122"/>
                <a:cs typeface="Arial" pitchFamily="34" charset="-120"/>
              </a:rPr>
              <a:t>Review of Admin Decision</a:t>
            </a:r>
            <a:endParaRPr lang="en-US" sz="950" dirty="0"/>
          </a:p>
        </p:txBody>
      </p:sp>
      <p:sp>
        <p:nvSpPr>
          <p:cNvPr id="25" name="Text 22"/>
          <p:cNvSpPr/>
          <p:nvPr/>
        </p:nvSpPr>
        <p:spPr>
          <a:xfrm>
            <a:off x="8384977" y="1767185"/>
            <a:ext cx="307860" cy="168920"/>
          </a:xfrm>
          <a:prstGeom prst="rect">
            <a:avLst/>
          </a:prstGeom>
          <a:noFill/>
          <a:ln/>
        </p:spPr>
        <p:txBody>
          <a:bodyPr wrap="square" lIns="0" tIns="0" rIns="0" bIns="0" rtlCol="0" anchor="t"/>
          <a:lstStyle/>
          <a:p>
            <a:pPr algn="l" indent="0" marL="0">
              <a:lnSpc>
                <a:spcPts val="1330"/>
              </a:lnSpc>
              <a:buNone/>
            </a:pPr>
            <a:r>
              <a:rPr lang="en-US" sz="950" b="1" dirty="0">
                <a:solidFill>
                  <a:srgbClr val="22C55E"/>
                </a:solidFill>
                <a:latin typeface="Arial" pitchFamily="34" charset="0"/>
                <a:ea typeface="Arial" pitchFamily="34" charset="-122"/>
                <a:cs typeface="Arial" pitchFamily="34" charset="-120"/>
              </a:rPr>
              <a:t>0.908</a:t>
            </a:r>
            <a:endParaRPr lang="en-US" sz="950" dirty="0"/>
          </a:p>
        </p:txBody>
      </p:sp>
      <p:sp>
        <p:nvSpPr>
          <p:cNvPr id="26" name="Shape 23"/>
          <p:cNvSpPr/>
          <p:nvPr/>
        </p:nvSpPr>
        <p:spPr>
          <a:xfrm>
            <a:off x="4698950" y="2309515"/>
            <a:ext cx="3987850" cy="0"/>
          </a:xfrm>
          <a:prstGeom prst="line">
            <a:avLst/>
          </a:prstGeom>
          <a:noFill/>
          <a:ln w="9525">
            <a:solidFill>
              <a:srgbClr val="FFFFFF"/>
            </a:solidFill>
            <a:prstDash val="solid"/>
          </a:ln>
        </p:spPr>
      </p:sp>
      <p:sp>
        <p:nvSpPr>
          <p:cNvPr id="27" name="Text 24"/>
          <p:cNvSpPr/>
          <p:nvPr/>
        </p:nvSpPr>
        <p:spPr>
          <a:xfrm>
            <a:off x="4698950" y="2072432"/>
            <a:ext cx="1011930" cy="168920"/>
          </a:xfrm>
          <a:prstGeom prst="rect">
            <a:avLst/>
          </a:prstGeom>
          <a:noFill/>
          <a:ln/>
        </p:spPr>
        <p:txBody>
          <a:bodyPr wrap="square" lIns="0" tIns="0" rIns="0" bIns="0" rtlCol="0" anchor="t"/>
          <a:lstStyle/>
          <a:p>
            <a:pPr algn="l" indent="0" marL="0">
              <a:lnSpc>
                <a:spcPts val="1330"/>
              </a:lnSpc>
              <a:buNone/>
            </a:pPr>
            <a:r>
              <a:rPr lang="en-US" sz="950" dirty="0">
                <a:solidFill>
                  <a:srgbClr val="CBD5E1"/>
                </a:solidFill>
                <a:latin typeface="Arial" pitchFamily="34" charset="0"/>
                <a:ea typeface="Arial" pitchFamily="34" charset="-122"/>
                <a:cs typeface="Arial" pitchFamily="34" charset="-120"/>
              </a:rPr>
              <a:t>Compel Arbitration</a:t>
            </a:r>
            <a:endParaRPr lang="en-US" sz="950" dirty="0"/>
          </a:p>
        </p:txBody>
      </p:sp>
      <p:sp>
        <p:nvSpPr>
          <p:cNvPr id="28" name="Text 25"/>
          <p:cNvSpPr/>
          <p:nvPr/>
        </p:nvSpPr>
        <p:spPr>
          <a:xfrm>
            <a:off x="8384977" y="2072432"/>
            <a:ext cx="307860" cy="168920"/>
          </a:xfrm>
          <a:prstGeom prst="rect">
            <a:avLst/>
          </a:prstGeom>
          <a:noFill/>
          <a:ln/>
        </p:spPr>
        <p:txBody>
          <a:bodyPr wrap="square" lIns="0" tIns="0" rIns="0" bIns="0" rtlCol="0" anchor="t"/>
          <a:lstStyle/>
          <a:p>
            <a:pPr algn="l" indent="0" marL="0">
              <a:lnSpc>
                <a:spcPts val="1330"/>
              </a:lnSpc>
              <a:buNone/>
            </a:pPr>
            <a:r>
              <a:rPr lang="en-US" sz="950" b="1" dirty="0">
                <a:solidFill>
                  <a:srgbClr val="22C55E"/>
                </a:solidFill>
                <a:latin typeface="Arial" pitchFamily="34" charset="0"/>
                <a:ea typeface="Arial" pitchFamily="34" charset="-122"/>
                <a:cs typeface="Arial" pitchFamily="34" charset="-120"/>
              </a:rPr>
              <a:t>0.848</a:t>
            </a:r>
            <a:endParaRPr lang="en-US" sz="950" dirty="0"/>
          </a:p>
        </p:txBody>
      </p:sp>
      <p:sp>
        <p:nvSpPr>
          <p:cNvPr id="29" name="Shape 26"/>
          <p:cNvSpPr/>
          <p:nvPr/>
        </p:nvSpPr>
        <p:spPr>
          <a:xfrm>
            <a:off x="4698950" y="2614761"/>
            <a:ext cx="3987850" cy="0"/>
          </a:xfrm>
          <a:prstGeom prst="line">
            <a:avLst/>
          </a:prstGeom>
          <a:noFill/>
          <a:ln w="9525">
            <a:solidFill>
              <a:srgbClr val="FFFFFF"/>
            </a:solidFill>
            <a:prstDash val="solid"/>
          </a:ln>
        </p:spPr>
      </p:sp>
      <p:sp>
        <p:nvSpPr>
          <p:cNvPr id="30" name="Text 27"/>
          <p:cNvSpPr/>
          <p:nvPr/>
        </p:nvSpPr>
        <p:spPr>
          <a:xfrm>
            <a:off x="4698950" y="2377678"/>
            <a:ext cx="836444" cy="168920"/>
          </a:xfrm>
          <a:prstGeom prst="rect">
            <a:avLst/>
          </a:prstGeom>
          <a:noFill/>
          <a:ln/>
        </p:spPr>
        <p:txBody>
          <a:bodyPr wrap="square" lIns="0" tIns="0" rIns="0" bIns="0" rtlCol="0" anchor="t"/>
          <a:lstStyle/>
          <a:p>
            <a:pPr algn="l" indent="0" marL="0">
              <a:lnSpc>
                <a:spcPts val="1330"/>
              </a:lnSpc>
              <a:buNone/>
            </a:pPr>
            <a:r>
              <a:rPr lang="en-US" sz="950" dirty="0">
                <a:solidFill>
                  <a:srgbClr val="CBD5E1"/>
                </a:solidFill>
                <a:latin typeface="Arial" pitchFamily="34" charset="0"/>
                <a:ea typeface="Arial" pitchFamily="34" charset="-122"/>
                <a:cs typeface="Arial" pitchFamily="34" charset="-120"/>
              </a:rPr>
              <a:t>Transfer Venue</a:t>
            </a:r>
            <a:endParaRPr lang="en-US" sz="950" dirty="0"/>
          </a:p>
        </p:txBody>
      </p:sp>
      <p:sp>
        <p:nvSpPr>
          <p:cNvPr id="31" name="Text 28"/>
          <p:cNvSpPr/>
          <p:nvPr/>
        </p:nvSpPr>
        <p:spPr>
          <a:xfrm>
            <a:off x="8384977" y="2377678"/>
            <a:ext cx="307860" cy="168920"/>
          </a:xfrm>
          <a:prstGeom prst="rect">
            <a:avLst/>
          </a:prstGeom>
          <a:noFill/>
          <a:ln/>
        </p:spPr>
        <p:txBody>
          <a:bodyPr wrap="square" lIns="0" tIns="0" rIns="0" bIns="0" rtlCol="0" anchor="t"/>
          <a:lstStyle/>
          <a:p>
            <a:pPr algn="l" indent="0" marL="0">
              <a:lnSpc>
                <a:spcPts val="1330"/>
              </a:lnSpc>
              <a:buNone/>
            </a:pPr>
            <a:r>
              <a:rPr lang="en-US" sz="950" b="1" dirty="0">
                <a:solidFill>
                  <a:srgbClr val="22C55E"/>
                </a:solidFill>
                <a:latin typeface="Arial" pitchFamily="34" charset="0"/>
                <a:ea typeface="Arial" pitchFamily="34" charset="-122"/>
                <a:cs typeface="Arial" pitchFamily="34" charset="-120"/>
              </a:rPr>
              <a:t>0.824</a:t>
            </a:r>
            <a:endParaRPr lang="en-US" sz="950" dirty="0"/>
          </a:p>
        </p:txBody>
      </p:sp>
      <p:sp>
        <p:nvSpPr>
          <p:cNvPr id="32" name="Text 29"/>
          <p:cNvSpPr/>
          <p:nvPr/>
        </p:nvSpPr>
        <p:spPr>
          <a:xfrm>
            <a:off x="4698950" y="2746474"/>
            <a:ext cx="4067607" cy="159990"/>
          </a:xfrm>
          <a:prstGeom prst="rect">
            <a:avLst/>
          </a:prstGeom>
          <a:noFill/>
          <a:ln/>
        </p:spPr>
        <p:txBody>
          <a:bodyPr wrap="square" lIns="0" tIns="0" rIns="0" bIns="0" rtlCol="0" anchor="t"/>
          <a:lstStyle/>
          <a:p>
            <a:pPr algn="l" indent="0" marL="0">
              <a:lnSpc>
                <a:spcPts val="1260"/>
              </a:lnSpc>
              <a:spcBef>
                <a:spcPts val="1000"/>
              </a:spcBef>
              <a:spcAft>
                <a:spcPts val="600"/>
              </a:spcAft>
              <a:buNone/>
            </a:pPr>
            <a:r>
              <a:rPr lang="en-US" sz="900" dirty="0">
                <a:solidFill>
                  <a:srgbClr val="94A3B8"/>
                </a:solidFill>
                <a:latin typeface="Arial" pitchFamily="34" charset="0"/>
                <a:ea typeface="Arial" pitchFamily="34" charset="-122"/>
                <a:cs typeface="Arial" pitchFamily="34" charset="-120"/>
              </a:rPr>
              <a:t>BOTTOM PERFORMERS</a:t>
            </a:r>
            <a:endParaRPr lang="en-US" sz="900" dirty="0"/>
          </a:p>
        </p:txBody>
      </p:sp>
      <p:sp>
        <p:nvSpPr>
          <p:cNvPr id="33" name="Shape 30"/>
          <p:cNvSpPr/>
          <p:nvPr/>
        </p:nvSpPr>
        <p:spPr>
          <a:xfrm>
            <a:off x="4698950" y="3283148"/>
            <a:ext cx="3987850" cy="0"/>
          </a:xfrm>
          <a:prstGeom prst="line">
            <a:avLst/>
          </a:prstGeom>
          <a:noFill/>
          <a:ln w="9525">
            <a:solidFill>
              <a:srgbClr val="FFFFFF"/>
            </a:solidFill>
            <a:prstDash val="solid"/>
          </a:ln>
        </p:spPr>
      </p:sp>
      <p:sp>
        <p:nvSpPr>
          <p:cNvPr id="34" name="Text 31"/>
          <p:cNvSpPr/>
          <p:nvPr/>
        </p:nvSpPr>
        <p:spPr>
          <a:xfrm>
            <a:off x="4698950" y="3046065"/>
            <a:ext cx="1162368" cy="168920"/>
          </a:xfrm>
          <a:prstGeom prst="rect">
            <a:avLst/>
          </a:prstGeom>
          <a:noFill/>
          <a:ln/>
        </p:spPr>
        <p:txBody>
          <a:bodyPr wrap="square" lIns="0" tIns="0" rIns="0" bIns="0" rtlCol="0" anchor="t"/>
          <a:lstStyle/>
          <a:p>
            <a:pPr algn="l" indent="0" marL="0">
              <a:lnSpc>
                <a:spcPts val="1330"/>
              </a:lnSpc>
              <a:buNone/>
            </a:pPr>
            <a:r>
              <a:rPr lang="en-US" sz="950" dirty="0">
                <a:solidFill>
                  <a:srgbClr val="CBD5E1"/>
                </a:solidFill>
                <a:latin typeface="Arial" pitchFamily="34" charset="0"/>
                <a:ea typeface="Arial" pitchFamily="34" charset="-122"/>
                <a:cs typeface="Arial" pitchFamily="34" charset="-120"/>
              </a:rPr>
              <a:t>Permanent Injunction</a:t>
            </a:r>
            <a:endParaRPr lang="en-US" sz="950" dirty="0"/>
          </a:p>
        </p:txBody>
      </p:sp>
      <p:sp>
        <p:nvSpPr>
          <p:cNvPr id="35" name="Text 32"/>
          <p:cNvSpPr/>
          <p:nvPr/>
        </p:nvSpPr>
        <p:spPr>
          <a:xfrm>
            <a:off x="8384977" y="3046065"/>
            <a:ext cx="307860" cy="168920"/>
          </a:xfrm>
          <a:prstGeom prst="rect">
            <a:avLst/>
          </a:prstGeom>
          <a:noFill/>
          <a:ln/>
        </p:spPr>
        <p:txBody>
          <a:bodyPr wrap="square" lIns="0" tIns="0" rIns="0" bIns="0" rtlCol="0" anchor="t"/>
          <a:lstStyle/>
          <a:p>
            <a:pPr algn="l" indent="0" marL="0">
              <a:lnSpc>
                <a:spcPts val="1330"/>
              </a:lnSpc>
              <a:buNone/>
            </a:pPr>
            <a:r>
              <a:rPr lang="en-US" sz="950" b="1" dirty="0">
                <a:solidFill>
                  <a:srgbClr val="EF4444"/>
                </a:solidFill>
                <a:latin typeface="Arial" pitchFamily="34" charset="0"/>
                <a:ea typeface="Arial" pitchFamily="34" charset="-122"/>
                <a:cs typeface="Arial" pitchFamily="34" charset="-120"/>
              </a:rPr>
              <a:t>0.143</a:t>
            </a:r>
            <a:endParaRPr lang="en-US" sz="950" dirty="0"/>
          </a:p>
        </p:txBody>
      </p:sp>
      <p:sp>
        <p:nvSpPr>
          <p:cNvPr id="36" name="Shape 33"/>
          <p:cNvSpPr/>
          <p:nvPr/>
        </p:nvSpPr>
        <p:spPr>
          <a:xfrm>
            <a:off x="4698950" y="3588395"/>
            <a:ext cx="3987850" cy="0"/>
          </a:xfrm>
          <a:prstGeom prst="line">
            <a:avLst/>
          </a:prstGeom>
          <a:noFill/>
          <a:ln w="9525">
            <a:solidFill>
              <a:srgbClr val="FFFFFF"/>
            </a:solidFill>
            <a:prstDash val="solid"/>
          </a:ln>
        </p:spPr>
      </p:sp>
      <p:sp>
        <p:nvSpPr>
          <p:cNvPr id="37" name="Text 34"/>
          <p:cNvSpPr/>
          <p:nvPr/>
        </p:nvSpPr>
        <p:spPr>
          <a:xfrm>
            <a:off x="4698950" y="3351312"/>
            <a:ext cx="1071286" cy="168920"/>
          </a:xfrm>
          <a:prstGeom prst="rect">
            <a:avLst/>
          </a:prstGeom>
          <a:noFill/>
          <a:ln/>
        </p:spPr>
        <p:txBody>
          <a:bodyPr wrap="square" lIns="0" tIns="0" rIns="0" bIns="0" rtlCol="0" anchor="t"/>
          <a:lstStyle/>
          <a:p>
            <a:pPr algn="l" indent="0" marL="0">
              <a:lnSpc>
                <a:spcPts val="1330"/>
              </a:lnSpc>
              <a:buNone/>
            </a:pPr>
            <a:r>
              <a:rPr lang="en-US" sz="950" dirty="0">
                <a:solidFill>
                  <a:srgbClr val="CBD5E1"/>
                </a:solidFill>
                <a:latin typeface="Arial" pitchFamily="34" charset="0"/>
                <a:ea typeface="Arial" pitchFamily="34" charset="-122"/>
                <a:cs typeface="Arial" pitchFamily="34" charset="-120"/>
              </a:rPr>
              <a:t>Set Aside or Vacate</a:t>
            </a:r>
            <a:endParaRPr lang="en-US" sz="950" dirty="0"/>
          </a:p>
        </p:txBody>
      </p:sp>
      <p:sp>
        <p:nvSpPr>
          <p:cNvPr id="38" name="Text 35"/>
          <p:cNvSpPr/>
          <p:nvPr/>
        </p:nvSpPr>
        <p:spPr>
          <a:xfrm>
            <a:off x="8384977" y="3351312"/>
            <a:ext cx="307860" cy="168920"/>
          </a:xfrm>
          <a:prstGeom prst="rect">
            <a:avLst/>
          </a:prstGeom>
          <a:noFill/>
          <a:ln/>
        </p:spPr>
        <p:txBody>
          <a:bodyPr wrap="square" lIns="0" tIns="0" rIns="0" bIns="0" rtlCol="0" anchor="t"/>
          <a:lstStyle/>
          <a:p>
            <a:pPr algn="l" indent="0" marL="0">
              <a:lnSpc>
                <a:spcPts val="1330"/>
              </a:lnSpc>
              <a:buNone/>
            </a:pPr>
            <a:r>
              <a:rPr lang="en-US" sz="950" b="1" dirty="0">
                <a:solidFill>
                  <a:srgbClr val="EF4444"/>
                </a:solidFill>
                <a:latin typeface="Arial" pitchFamily="34" charset="0"/>
                <a:ea typeface="Arial" pitchFamily="34" charset="-122"/>
                <a:cs typeface="Arial" pitchFamily="34" charset="-120"/>
              </a:rPr>
              <a:t>0.179</a:t>
            </a:r>
            <a:endParaRPr lang="en-US" sz="950" dirty="0"/>
          </a:p>
        </p:txBody>
      </p:sp>
      <p:sp>
        <p:nvSpPr>
          <p:cNvPr id="39" name="Shape 36"/>
          <p:cNvSpPr/>
          <p:nvPr/>
        </p:nvSpPr>
        <p:spPr>
          <a:xfrm>
            <a:off x="4698950" y="3893641"/>
            <a:ext cx="3987850" cy="0"/>
          </a:xfrm>
          <a:prstGeom prst="line">
            <a:avLst/>
          </a:prstGeom>
          <a:noFill/>
          <a:ln w="9525">
            <a:solidFill>
              <a:srgbClr val="FFFFFF"/>
            </a:solidFill>
            <a:prstDash val="solid"/>
          </a:ln>
        </p:spPr>
      </p:sp>
      <p:sp>
        <p:nvSpPr>
          <p:cNvPr id="40" name="Text 37"/>
          <p:cNvSpPr/>
          <p:nvPr/>
        </p:nvSpPr>
        <p:spPr>
          <a:xfrm>
            <a:off x="4698950" y="3656558"/>
            <a:ext cx="888968" cy="168920"/>
          </a:xfrm>
          <a:prstGeom prst="rect">
            <a:avLst/>
          </a:prstGeom>
          <a:noFill/>
          <a:ln/>
        </p:spPr>
        <p:txBody>
          <a:bodyPr wrap="square" lIns="0" tIns="0" rIns="0" bIns="0" rtlCol="0" anchor="t"/>
          <a:lstStyle/>
          <a:p>
            <a:pPr algn="l" indent="0" marL="0">
              <a:lnSpc>
                <a:spcPts val="1330"/>
              </a:lnSpc>
              <a:buNone/>
            </a:pPr>
            <a:r>
              <a:rPr lang="en-US" sz="950" dirty="0">
                <a:solidFill>
                  <a:srgbClr val="CBD5E1"/>
                </a:solidFill>
                <a:latin typeface="Arial" pitchFamily="34" charset="0"/>
                <a:ea typeface="Arial" pitchFamily="34" charset="-122"/>
                <a:cs typeface="Arial" pitchFamily="34" charset="-120"/>
              </a:rPr>
              <a:t>Reconsideration</a:t>
            </a:r>
            <a:endParaRPr lang="en-US" sz="950" dirty="0"/>
          </a:p>
        </p:txBody>
      </p:sp>
      <p:sp>
        <p:nvSpPr>
          <p:cNvPr id="41" name="Text 38"/>
          <p:cNvSpPr/>
          <p:nvPr/>
        </p:nvSpPr>
        <p:spPr>
          <a:xfrm>
            <a:off x="8384977" y="3656558"/>
            <a:ext cx="307860" cy="168920"/>
          </a:xfrm>
          <a:prstGeom prst="rect">
            <a:avLst/>
          </a:prstGeom>
          <a:noFill/>
          <a:ln/>
        </p:spPr>
        <p:txBody>
          <a:bodyPr wrap="square" lIns="0" tIns="0" rIns="0" bIns="0" rtlCol="0" anchor="t"/>
          <a:lstStyle/>
          <a:p>
            <a:pPr algn="l" indent="0" marL="0">
              <a:lnSpc>
                <a:spcPts val="1330"/>
              </a:lnSpc>
              <a:buNone/>
            </a:pPr>
            <a:r>
              <a:rPr lang="en-US" sz="950" b="1" dirty="0">
                <a:solidFill>
                  <a:srgbClr val="EF4444"/>
                </a:solidFill>
                <a:latin typeface="Arial" pitchFamily="34" charset="0"/>
                <a:ea typeface="Arial" pitchFamily="34" charset="-122"/>
                <a:cs typeface="Arial" pitchFamily="34" charset="-120"/>
              </a:rPr>
              <a:t>0.195</a:t>
            </a:r>
            <a:endParaRPr lang="en-US" sz="950" dirty="0"/>
          </a:p>
        </p:txBody>
      </p:sp>
      <p:sp>
        <p:nvSpPr>
          <p:cNvPr id="42" name="Shape 39"/>
          <p:cNvSpPr/>
          <p:nvPr/>
        </p:nvSpPr>
        <p:spPr>
          <a:xfrm>
            <a:off x="4698950" y="4198888"/>
            <a:ext cx="3987850" cy="0"/>
          </a:xfrm>
          <a:prstGeom prst="line">
            <a:avLst/>
          </a:prstGeom>
          <a:noFill/>
          <a:ln w="9525">
            <a:solidFill>
              <a:srgbClr val="FFFFFF"/>
            </a:solidFill>
            <a:prstDash val="solid"/>
          </a:ln>
        </p:spPr>
      </p:sp>
      <p:sp>
        <p:nvSpPr>
          <p:cNvPr id="43" name="Text 40"/>
          <p:cNvSpPr/>
          <p:nvPr/>
        </p:nvSpPr>
        <p:spPr>
          <a:xfrm>
            <a:off x="4698950" y="3961805"/>
            <a:ext cx="827336" cy="168920"/>
          </a:xfrm>
          <a:prstGeom prst="rect">
            <a:avLst/>
          </a:prstGeom>
          <a:noFill/>
          <a:ln/>
        </p:spPr>
        <p:txBody>
          <a:bodyPr wrap="square" lIns="0" tIns="0" rIns="0" bIns="0" rtlCol="0" anchor="t"/>
          <a:lstStyle/>
          <a:p>
            <a:pPr algn="l" indent="0" marL="0">
              <a:lnSpc>
                <a:spcPts val="1330"/>
              </a:lnSpc>
              <a:buNone/>
            </a:pPr>
            <a:r>
              <a:rPr lang="en-US" sz="950" dirty="0">
                <a:solidFill>
                  <a:srgbClr val="CBD5E1"/>
                </a:solidFill>
                <a:latin typeface="Arial" pitchFamily="34" charset="0"/>
                <a:ea typeface="Arial" pitchFamily="34" charset="-122"/>
                <a:cs typeface="Arial" pitchFamily="34" charset="-120"/>
              </a:rPr>
              <a:t>Strike Pleading</a:t>
            </a:r>
            <a:endParaRPr lang="en-US" sz="950" dirty="0"/>
          </a:p>
        </p:txBody>
      </p:sp>
      <p:sp>
        <p:nvSpPr>
          <p:cNvPr id="44" name="Text 41"/>
          <p:cNvSpPr/>
          <p:nvPr/>
        </p:nvSpPr>
        <p:spPr>
          <a:xfrm>
            <a:off x="8384977" y="3961805"/>
            <a:ext cx="307860" cy="168920"/>
          </a:xfrm>
          <a:prstGeom prst="rect">
            <a:avLst/>
          </a:prstGeom>
          <a:noFill/>
          <a:ln/>
        </p:spPr>
        <p:txBody>
          <a:bodyPr wrap="square" lIns="0" tIns="0" rIns="0" bIns="0" rtlCol="0" anchor="t"/>
          <a:lstStyle/>
          <a:p>
            <a:pPr algn="l" indent="0" marL="0">
              <a:lnSpc>
                <a:spcPts val="1330"/>
              </a:lnSpc>
              <a:buNone/>
            </a:pPr>
            <a:r>
              <a:rPr lang="en-US" sz="950" b="1" dirty="0">
                <a:solidFill>
                  <a:srgbClr val="EF4444"/>
                </a:solidFill>
                <a:latin typeface="Arial" pitchFamily="34" charset="0"/>
                <a:ea typeface="Arial" pitchFamily="34" charset="-122"/>
                <a:cs typeface="Arial" pitchFamily="34" charset="-120"/>
              </a:rPr>
              <a:t>0.216</a:t>
            </a:r>
            <a:endParaRPr lang="en-US" sz="950" dirty="0"/>
          </a:p>
        </p:txBody>
      </p:sp>
      <p:sp>
        <p:nvSpPr>
          <p:cNvPr id="45" name="Shape 42"/>
          <p:cNvSpPr/>
          <p:nvPr/>
        </p:nvSpPr>
        <p:spPr>
          <a:xfrm>
            <a:off x="4698950" y="4504134"/>
            <a:ext cx="3987850" cy="0"/>
          </a:xfrm>
          <a:prstGeom prst="line">
            <a:avLst/>
          </a:prstGeom>
          <a:noFill/>
          <a:ln w="9525">
            <a:solidFill>
              <a:srgbClr val="FFFFFF"/>
            </a:solidFill>
            <a:prstDash val="solid"/>
          </a:ln>
        </p:spPr>
      </p:sp>
      <p:sp>
        <p:nvSpPr>
          <p:cNvPr id="46" name="Text 43"/>
          <p:cNvSpPr/>
          <p:nvPr/>
        </p:nvSpPr>
        <p:spPr>
          <a:xfrm>
            <a:off x="4698950" y="4267051"/>
            <a:ext cx="895496" cy="168920"/>
          </a:xfrm>
          <a:prstGeom prst="rect">
            <a:avLst/>
          </a:prstGeom>
          <a:noFill/>
          <a:ln/>
        </p:spPr>
        <p:txBody>
          <a:bodyPr wrap="square" lIns="0" tIns="0" rIns="0" bIns="0" rtlCol="0" anchor="t"/>
          <a:lstStyle/>
          <a:p>
            <a:pPr algn="l" indent="0" marL="0">
              <a:lnSpc>
                <a:spcPts val="1330"/>
              </a:lnSpc>
              <a:buNone/>
            </a:pPr>
            <a:r>
              <a:rPr lang="en-US" sz="950" dirty="0">
                <a:solidFill>
                  <a:srgbClr val="CBD5E1"/>
                </a:solidFill>
                <a:latin typeface="Arial" pitchFamily="34" charset="0"/>
                <a:ea typeface="Arial" pitchFamily="34" charset="-122"/>
                <a:cs typeface="Arial" pitchFamily="34" charset="-120"/>
              </a:rPr>
              <a:t>Motion for Costs</a:t>
            </a:r>
            <a:endParaRPr lang="en-US" sz="950" dirty="0"/>
          </a:p>
        </p:txBody>
      </p:sp>
      <p:sp>
        <p:nvSpPr>
          <p:cNvPr id="47" name="Text 44"/>
          <p:cNvSpPr/>
          <p:nvPr/>
        </p:nvSpPr>
        <p:spPr>
          <a:xfrm>
            <a:off x="8384977" y="4267051"/>
            <a:ext cx="307860" cy="168920"/>
          </a:xfrm>
          <a:prstGeom prst="rect">
            <a:avLst/>
          </a:prstGeom>
          <a:noFill/>
          <a:ln/>
        </p:spPr>
        <p:txBody>
          <a:bodyPr wrap="square" lIns="0" tIns="0" rIns="0" bIns="0" rtlCol="0" anchor="t"/>
          <a:lstStyle/>
          <a:p>
            <a:pPr algn="l" indent="0" marL="0">
              <a:lnSpc>
                <a:spcPts val="1330"/>
              </a:lnSpc>
              <a:buNone/>
            </a:pPr>
            <a:r>
              <a:rPr lang="en-US" sz="950" b="1" dirty="0">
                <a:solidFill>
                  <a:srgbClr val="EF4444"/>
                </a:solidFill>
                <a:latin typeface="Arial" pitchFamily="34" charset="0"/>
                <a:ea typeface="Arial" pitchFamily="34" charset="-122"/>
                <a:cs typeface="Arial" pitchFamily="34" charset="-120"/>
              </a:rPr>
              <a:t>0.247</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304651"/>
            <a:ext cx="8394192" cy="295275"/>
          </a:xfrm>
          <a:prstGeom prst="rect">
            <a:avLst/>
          </a:prstGeom>
          <a:noFill/>
          <a:ln/>
        </p:spPr>
        <p:txBody>
          <a:bodyPr wrap="square" lIns="0" tIns="0" rIns="0" bIns="0" rtlCol="0" anchor="t"/>
          <a:lstStyle/>
          <a:p>
            <a:pPr algn="l" indent="0" marL="0">
              <a:buNone/>
            </a:pPr>
            <a:r>
              <a:rPr lang="en-US" sz="2000" dirty="0">
                <a:solidFill>
                  <a:srgbClr val="00B4D8"/>
                </a:solidFill>
                <a:latin typeface="Arial" pitchFamily="34" charset="0"/>
                <a:ea typeface="Arial" pitchFamily="34" charset="-122"/>
                <a:cs typeface="Arial" pitchFamily="34" charset="-120"/>
              </a:rPr>
              <a:t>Threshold Optimization: </a:t>
            </a:r>
            <a:pPr algn="l" indent="0" marL="0">
              <a:buNone/>
            </a:pPr>
            <a:r>
              <a:rPr lang="en-US" sz="2000" b="1" dirty="0">
                <a:solidFill>
                  <a:srgbClr val="22C55E"/>
                </a:solidFill>
                <a:latin typeface="Arial" pitchFamily="34" charset="0"/>
                <a:ea typeface="Arial" pitchFamily="34" charset="-122"/>
                <a:cs typeface="Arial" pitchFamily="34" charset="-120"/>
              </a:rPr>
              <a:t>Transformer Wins</a:t>
            </a:r>
            <a:endParaRPr lang="en-US" sz="2000" dirty="0"/>
          </a:p>
        </p:txBody>
      </p:sp>
      <p:sp>
        <p:nvSpPr>
          <p:cNvPr id="4" name="Text 1"/>
          <p:cNvSpPr/>
          <p:nvPr/>
        </p:nvSpPr>
        <p:spPr>
          <a:xfrm>
            <a:off x="457200" y="726877"/>
            <a:ext cx="8394192" cy="133350"/>
          </a:xfrm>
          <a:prstGeom prst="rect">
            <a:avLst/>
          </a:prstGeom>
          <a:noFill/>
          <a:ln/>
        </p:spPr>
        <p:txBody>
          <a:bodyPr wrap="square" lIns="0" tIns="0" rIns="0" bIns="0" rtlCol="0" anchor="t"/>
          <a:lstStyle/>
          <a:p>
            <a:pPr algn="l" indent="0" marL="0">
              <a:spcAft>
                <a:spcPts val="600"/>
              </a:spcAft>
              <a:buNone/>
            </a:pPr>
            <a:r>
              <a:rPr lang="en-US" sz="900" dirty="0">
                <a:solidFill>
                  <a:srgbClr val="94A3B8"/>
                </a:solidFill>
                <a:latin typeface="Arial" pitchFamily="34" charset="0"/>
                <a:ea typeface="Arial" pitchFamily="34" charset="-122"/>
                <a:cs typeface="Arial" pitchFamily="34" charset="-120"/>
              </a:rPr>
              <a:t>MODEL COMPARISON (TEST SET)</a:t>
            </a:r>
            <a:endParaRPr lang="en-US" sz="900" dirty="0"/>
          </a:p>
        </p:txBody>
      </p:sp>
      <p:sp>
        <p:nvSpPr>
          <p:cNvPr id="5" name="Shape 2"/>
          <p:cNvSpPr/>
          <p:nvPr/>
        </p:nvSpPr>
        <p:spPr>
          <a:xfrm>
            <a:off x="457200" y="1231702"/>
            <a:ext cx="8229600" cy="0"/>
          </a:xfrm>
          <a:prstGeom prst="line">
            <a:avLst/>
          </a:prstGeom>
          <a:noFill/>
          <a:ln w="19050">
            <a:solidFill>
              <a:srgbClr val="FFFFFF"/>
            </a:solidFill>
            <a:prstDash val="solid"/>
          </a:ln>
        </p:spPr>
      </p:sp>
      <p:sp>
        <p:nvSpPr>
          <p:cNvPr id="6" name="Text 3"/>
          <p:cNvSpPr/>
          <p:nvPr/>
        </p:nvSpPr>
        <p:spPr>
          <a:xfrm>
            <a:off x="457200" y="1012627"/>
            <a:ext cx="1937028" cy="133350"/>
          </a:xfrm>
          <a:prstGeom prst="rect">
            <a:avLst/>
          </a:prstGeom>
          <a:noFill/>
          <a:ln/>
        </p:spPr>
        <p:txBody>
          <a:bodyPr wrap="square" lIns="0" tIns="0" rIns="0" bIns="0" rtlCol="0" anchor="t"/>
          <a:lstStyle/>
          <a:p>
            <a:pPr algn="l" indent="0" marL="0">
              <a:buNone/>
            </a:pPr>
            <a:r>
              <a:rPr lang="en-US" sz="900" b="1" dirty="0">
                <a:solidFill>
                  <a:srgbClr val="94A3B8"/>
                </a:solidFill>
                <a:latin typeface="Arial" pitchFamily="34" charset="0"/>
                <a:ea typeface="Arial" pitchFamily="34" charset="-122"/>
                <a:cs typeface="Arial" pitchFamily="34" charset="-120"/>
              </a:rPr>
              <a:t>Metric</a:t>
            </a:r>
            <a:endParaRPr lang="en-US" sz="900" dirty="0"/>
          </a:p>
        </p:txBody>
      </p:sp>
      <p:sp>
        <p:nvSpPr>
          <p:cNvPr id="7" name="Text 4"/>
          <p:cNvSpPr/>
          <p:nvPr/>
        </p:nvSpPr>
        <p:spPr>
          <a:xfrm>
            <a:off x="2340420" y="1012627"/>
            <a:ext cx="1614291" cy="133350"/>
          </a:xfrm>
          <a:prstGeom prst="rect">
            <a:avLst/>
          </a:prstGeom>
          <a:noFill/>
          <a:ln/>
        </p:spPr>
        <p:txBody>
          <a:bodyPr wrap="square" lIns="0" tIns="0" rIns="0" bIns="0" rtlCol="0" anchor="t"/>
          <a:lstStyle/>
          <a:p>
            <a:pPr algn="ctr" indent="0" marL="0">
              <a:buNone/>
            </a:pPr>
            <a:r>
              <a:rPr lang="en-US" sz="900" b="1" dirty="0">
                <a:solidFill>
                  <a:srgbClr val="94A3B8"/>
                </a:solidFill>
                <a:latin typeface="Arial" pitchFamily="34" charset="0"/>
                <a:ea typeface="Arial" pitchFamily="34" charset="-122"/>
                <a:cs typeface="Arial" pitchFamily="34" charset="-120"/>
              </a:rPr>
              <a:t>TF-IDF (0.5)</a:t>
            </a:r>
            <a:endParaRPr lang="en-US" sz="900" dirty="0"/>
          </a:p>
        </p:txBody>
      </p:sp>
      <p:sp>
        <p:nvSpPr>
          <p:cNvPr id="8" name="Text 5"/>
          <p:cNvSpPr/>
          <p:nvPr/>
        </p:nvSpPr>
        <p:spPr>
          <a:xfrm>
            <a:off x="3923059" y="1012627"/>
            <a:ext cx="1614291" cy="133350"/>
          </a:xfrm>
          <a:prstGeom prst="rect">
            <a:avLst/>
          </a:prstGeom>
          <a:noFill/>
          <a:ln/>
        </p:spPr>
        <p:txBody>
          <a:bodyPr wrap="square" lIns="0" tIns="0" rIns="0" bIns="0" rtlCol="0" anchor="t"/>
          <a:lstStyle/>
          <a:p>
            <a:pPr algn="ctr" indent="0" marL="0">
              <a:buNone/>
            </a:pPr>
            <a:r>
              <a:rPr lang="en-US" sz="900" b="1" dirty="0">
                <a:solidFill>
                  <a:srgbClr val="94A3B8"/>
                </a:solidFill>
                <a:latin typeface="Arial" pitchFamily="34" charset="0"/>
                <a:ea typeface="Arial" pitchFamily="34" charset="-122"/>
                <a:cs typeface="Arial" pitchFamily="34" charset="-120"/>
              </a:rPr>
              <a:t>LF (0.5)</a:t>
            </a:r>
            <a:endParaRPr lang="en-US" sz="900" dirty="0"/>
          </a:p>
        </p:txBody>
      </p:sp>
      <p:sp>
        <p:nvSpPr>
          <p:cNvPr id="9" name="Text 6"/>
          <p:cNvSpPr/>
          <p:nvPr/>
        </p:nvSpPr>
        <p:spPr>
          <a:xfrm>
            <a:off x="5505697" y="1012627"/>
            <a:ext cx="1614291" cy="133350"/>
          </a:xfrm>
          <a:prstGeom prst="rect">
            <a:avLst/>
          </a:prstGeom>
          <a:noFill/>
          <a:ln/>
        </p:spPr>
        <p:txBody>
          <a:bodyPr wrap="square" lIns="0" tIns="0" rIns="0" bIns="0" rtlCol="0" anchor="t"/>
          <a:lstStyle/>
          <a:p>
            <a:pPr algn="ctr" indent="0" marL="0">
              <a:buNone/>
            </a:pPr>
            <a:r>
              <a:rPr lang="en-US" sz="900" b="1" dirty="0">
                <a:solidFill>
                  <a:srgbClr val="94A3B8"/>
                </a:solidFill>
                <a:latin typeface="Arial" pitchFamily="34" charset="0"/>
                <a:ea typeface="Arial" pitchFamily="34" charset="-122"/>
                <a:cs typeface="Arial" pitchFamily="34" charset="-120"/>
              </a:rPr>
              <a:t>LF (0.6)</a:t>
            </a:r>
            <a:endParaRPr lang="en-US" sz="900" dirty="0"/>
          </a:p>
        </p:txBody>
      </p:sp>
      <p:sp>
        <p:nvSpPr>
          <p:cNvPr id="10" name="Text 7"/>
          <p:cNvSpPr/>
          <p:nvPr/>
        </p:nvSpPr>
        <p:spPr>
          <a:xfrm>
            <a:off x="7088335" y="1012627"/>
            <a:ext cx="1614291" cy="133350"/>
          </a:xfrm>
          <a:prstGeom prst="rect">
            <a:avLst/>
          </a:prstGeom>
          <a:noFill/>
          <a:ln/>
        </p:spPr>
        <p:txBody>
          <a:bodyPr wrap="square" lIns="0" tIns="0" rIns="0" bIns="0" rtlCol="0" anchor="t"/>
          <a:lstStyle/>
          <a:p>
            <a:pPr algn="ctr" indent="0" marL="0">
              <a:buNone/>
            </a:pPr>
            <a:r>
              <a:rPr lang="en-US" sz="900" b="1" dirty="0">
                <a:solidFill>
                  <a:srgbClr val="22C55E"/>
                </a:solidFill>
                <a:latin typeface="Arial" pitchFamily="34" charset="0"/>
                <a:ea typeface="Arial" pitchFamily="34" charset="-122"/>
                <a:cs typeface="Arial" pitchFamily="34" charset="-120"/>
              </a:rPr>
              <a:t>LF Per-Class</a:t>
            </a:r>
            <a:endParaRPr lang="en-US" sz="900" dirty="0"/>
          </a:p>
        </p:txBody>
      </p:sp>
      <p:sp>
        <p:nvSpPr>
          <p:cNvPr id="11" name="Text 8"/>
          <p:cNvSpPr/>
          <p:nvPr/>
        </p:nvSpPr>
        <p:spPr>
          <a:xfrm>
            <a:off x="457200" y="1241227"/>
            <a:ext cx="8229600" cy="279202"/>
          </a:xfrm>
          <a:prstGeom prst="roundRect">
            <a:avLst>
              <a:gd name="adj" fmla="val 13646"/>
            </a:avLst>
          </a:prstGeom>
          <a:solidFill>
            <a:srgbClr val="22C55E">
              <a:alpha val="6000"/>
            </a:srgbClr>
          </a:solidFill>
          <a:ln/>
        </p:spPr>
        <p:txBody>
          <a:bodyPr wrap="square" rtlCol="0" anchor="ctr"/>
          <a:lstStyle/>
          <a:p>
            <a:pPr indent="0" marL="0">
              <a:buNone/>
            </a:pPr>
            <a:endParaRPr lang="en-US" dirty="0"/>
          </a:p>
        </p:txBody>
      </p:sp>
      <p:sp>
        <p:nvSpPr>
          <p:cNvPr id="12" name="Shape 9"/>
          <p:cNvSpPr/>
          <p:nvPr/>
        </p:nvSpPr>
        <p:spPr>
          <a:xfrm>
            <a:off x="457200" y="1515666"/>
            <a:ext cx="8229600" cy="0"/>
          </a:xfrm>
          <a:prstGeom prst="line">
            <a:avLst/>
          </a:prstGeom>
          <a:noFill/>
          <a:ln w="9525">
            <a:solidFill>
              <a:srgbClr val="22C55E"/>
            </a:solidFill>
            <a:prstDash val="solid"/>
          </a:ln>
        </p:spPr>
      </p:sp>
      <p:sp>
        <p:nvSpPr>
          <p:cNvPr id="13" name="Text 10"/>
          <p:cNvSpPr/>
          <p:nvPr/>
        </p:nvSpPr>
        <p:spPr>
          <a:xfrm>
            <a:off x="457200" y="1304627"/>
            <a:ext cx="1937028" cy="142875"/>
          </a:xfrm>
          <a:prstGeom prst="rect">
            <a:avLst/>
          </a:prstGeom>
          <a:noFill/>
          <a:ln/>
        </p:spPr>
        <p:txBody>
          <a:bodyPr wrap="square" lIns="0" tIns="0" rIns="0" bIns="0" rtlCol="0" anchor="t"/>
          <a:lstStyle/>
          <a:p>
            <a:pPr algn="l" indent="0" marL="0">
              <a:buNone/>
            </a:pPr>
            <a:r>
              <a:rPr lang="en-US" sz="1000" b="1" dirty="0">
                <a:solidFill>
                  <a:srgbClr val="E2E8F0"/>
                </a:solidFill>
                <a:latin typeface="Arial" pitchFamily="34" charset="0"/>
                <a:ea typeface="Arial" pitchFamily="34" charset="-122"/>
                <a:cs typeface="Arial" pitchFamily="34" charset="-120"/>
              </a:rPr>
              <a:t>F1 Micro</a:t>
            </a:r>
            <a:endParaRPr lang="en-US" sz="1000" dirty="0"/>
          </a:p>
        </p:txBody>
      </p:sp>
      <p:sp>
        <p:nvSpPr>
          <p:cNvPr id="14" name="Text 11"/>
          <p:cNvSpPr/>
          <p:nvPr/>
        </p:nvSpPr>
        <p:spPr>
          <a:xfrm>
            <a:off x="2340420" y="1304627"/>
            <a:ext cx="1614291" cy="142875"/>
          </a:xfrm>
          <a:prstGeom prst="rect">
            <a:avLst/>
          </a:prstGeom>
          <a:noFill/>
          <a:ln/>
        </p:spPr>
        <p:txBody>
          <a:bodyPr wrap="square" lIns="0" tIns="0" rIns="0" bIns="0" rtlCol="0" anchor="t"/>
          <a:lstStyle/>
          <a:p>
            <a:pPr algn="ctr" indent="0" marL="0">
              <a:buNone/>
            </a:pPr>
            <a:r>
              <a:rPr lang="en-US" sz="1000" dirty="0">
                <a:solidFill>
                  <a:srgbClr val="94A3B8"/>
                </a:solidFill>
                <a:latin typeface="Arial" pitchFamily="34" charset="0"/>
                <a:ea typeface="Arial" pitchFamily="34" charset="-122"/>
                <a:cs typeface="Arial" pitchFamily="34" charset="-120"/>
              </a:rPr>
              <a:t>0.7524</a:t>
            </a:r>
            <a:endParaRPr lang="en-US" sz="1000" dirty="0"/>
          </a:p>
        </p:txBody>
      </p:sp>
      <p:sp>
        <p:nvSpPr>
          <p:cNvPr id="15" name="Text 12"/>
          <p:cNvSpPr/>
          <p:nvPr/>
        </p:nvSpPr>
        <p:spPr>
          <a:xfrm>
            <a:off x="3923059" y="1304627"/>
            <a:ext cx="1614291" cy="142875"/>
          </a:xfrm>
          <a:prstGeom prst="rect">
            <a:avLst/>
          </a:prstGeom>
          <a:noFill/>
          <a:ln/>
        </p:spPr>
        <p:txBody>
          <a:bodyPr wrap="square" lIns="0" tIns="0" rIns="0" bIns="0" rtlCol="0" anchor="t"/>
          <a:lstStyle/>
          <a:p>
            <a:pPr algn="ctr" indent="0" marL="0">
              <a:buNone/>
            </a:pPr>
            <a:r>
              <a:rPr lang="en-US" sz="1000" dirty="0">
                <a:solidFill>
                  <a:srgbClr val="64748B"/>
                </a:solidFill>
                <a:latin typeface="Arial" pitchFamily="34" charset="0"/>
                <a:ea typeface="Arial" pitchFamily="34" charset="-122"/>
                <a:cs typeface="Arial" pitchFamily="34" charset="-120"/>
              </a:rPr>
              <a:t>0.6333</a:t>
            </a:r>
            <a:endParaRPr lang="en-US" sz="1000" dirty="0"/>
          </a:p>
        </p:txBody>
      </p:sp>
      <p:sp>
        <p:nvSpPr>
          <p:cNvPr id="16" name="Text 13"/>
          <p:cNvSpPr/>
          <p:nvPr/>
        </p:nvSpPr>
        <p:spPr>
          <a:xfrm>
            <a:off x="5505697" y="1304627"/>
            <a:ext cx="1614291" cy="142875"/>
          </a:xfrm>
          <a:prstGeom prst="rect">
            <a:avLst/>
          </a:prstGeom>
          <a:noFill/>
          <a:ln/>
        </p:spPr>
        <p:txBody>
          <a:bodyPr wrap="square" lIns="0" tIns="0" rIns="0" bIns="0" rtlCol="0" anchor="t"/>
          <a:lstStyle/>
          <a:p>
            <a:pPr algn="ctr" indent="0" marL="0">
              <a:buNone/>
            </a:pPr>
            <a:r>
              <a:rPr lang="en-US" sz="1000" dirty="0">
                <a:solidFill>
                  <a:srgbClr val="94A3B8"/>
                </a:solidFill>
                <a:latin typeface="Arial" pitchFamily="34" charset="0"/>
                <a:ea typeface="Arial" pitchFamily="34" charset="-122"/>
                <a:cs typeface="Arial" pitchFamily="34" charset="-120"/>
              </a:rPr>
              <a:t>0.7018</a:t>
            </a:r>
            <a:endParaRPr lang="en-US" sz="1000" dirty="0"/>
          </a:p>
        </p:txBody>
      </p:sp>
      <p:sp>
        <p:nvSpPr>
          <p:cNvPr id="17" name="Text 14"/>
          <p:cNvSpPr/>
          <p:nvPr/>
        </p:nvSpPr>
        <p:spPr>
          <a:xfrm>
            <a:off x="7088335" y="1304627"/>
            <a:ext cx="1614291" cy="142875"/>
          </a:xfrm>
          <a:prstGeom prst="rect">
            <a:avLst/>
          </a:prstGeom>
          <a:noFill/>
          <a:ln/>
        </p:spPr>
        <p:txBody>
          <a:bodyPr wrap="square" lIns="0" tIns="0" rIns="0" bIns="0" rtlCol="0" anchor="t"/>
          <a:lstStyle/>
          <a:p>
            <a:pPr algn="ctr" indent="0" marL="0">
              <a:buNone/>
            </a:pPr>
            <a:r>
              <a:rPr lang="en-US" sz="1000" b="1" dirty="0">
                <a:solidFill>
                  <a:srgbClr val="22C55E"/>
                </a:solidFill>
                <a:latin typeface="Arial" pitchFamily="34" charset="0"/>
                <a:ea typeface="Arial" pitchFamily="34" charset="-122"/>
                <a:cs typeface="Arial" pitchFamily="34" charset="-120"/>
              </a:rPr>
              <a:t>0.7735</a:t>
            </a:r>
            <a:endParaRPr lang="en-US" sz="1000" dirty="0"/>
          </a:p>
        </p:txBody>
      </p:sp>
      <p:sp>
        <p:nvSpPr>
          <p:cNvPr id="18" name="Text 15"/>
          <p:cNvSpPr/>
          <p:nvPr/>
        </p:nvSpPr>
        <p:spPr>
          <a:xfrm>
            <a:off x="457200" y="1520428"/>
            <a:ext cx="8229600" cy="279202"/>
          </a:xfrm>
          <a:prstGeom prst="roundRect">
            <a:avLst>
              <a:gd name="adj" fmla="val 13646"/>
            </a:avLst>
          </a:prstGeom>
          <a:solidFill>
            <a:srgbClr val="22C55E">
              <a:alpha val="6000"/>
            </a:srgbClr>
          </a:solidFill>
          <a:ln/>
        </p:spPr>
        <p:txBody>
          <a:bodyPr wrap="square" rtlCol="0" anchor="ctr"/>
          <a:lstStyle/>
          <a:p>
            <a:pPr indent="0" marL="0">
              <a:buNone/>
            </a:pPr>
            <a:endParaRPr lang="en-US" dirty="0"/>
          </a:p>
        </p:txBody>
      </p:sp>
      <p:sp>
        <p:nvSpPr>
          <p:cNvPr id="19" name="Shape 16"/>
          <p:cNvSpPr/>
          <p:nvPr/>
        </p:nvSpPr>
        <p:spPr>
          <a:xfrm>
            <a:off x="457200" y="1794867"/>
            <a:ext cx="8229600" cy="0"/>
          </a:xfrm>
          <a:prstGeom prst="line">
            <a:avLst/>
          </a:prstGeom>
          <a:noFill/>
          <a:ln w="9525">
            <a:solidFill>
              <a:srgbClr val="22C55E"/>
            </a:solidFill>
            <a:prstDash val="solid"/>
          </a:ln>
        </p:spPr>
      </p:sp>
      <p:sp>
        <p:nvSpPr>
          <p:cNvPr id="20" name="Text 17"/>
          <p:cNvSpPr/>
          <p:nvPr/>
        </p:nvSpPr>
        <p:spPr>
          <a:xfrm>
            <a:off x="457200" y="1583829"/>
            <a:ext cx="1937028" cy="142875"/>
          </a:xfrm>
          <a:prstGeom prst="rect">
            <a:avLst/>
          </a:prstGeom>
          <a:noFill/>
          <a:ln/>
        </p:spPr>
        <p:txBody>
          <a:bodyPr wrap="square" lIns="0" tIns="0" rIns="0" bIns="0" rtlCol="0" anchor="t"/>
          <a:lstStyle/>
          <a:p>
            <a:pPr algn="l" indent="0" marL="0">
              <a:buNone/>
            </a:pPr>
            <a:r>
              <a:rPr lang="en-US" sz="1000" b="1" dirty="0">
                <a:solidFill>
                  <a:srgbClr val="E2E8F0"/>
                </a:solidFill>
                <a:latin typeface="Arial" pitchFamily="34" charset="0"/>
                <a:ea typeface="Arial" pitchFamily="34" charset="-122"/>
                <a:cs typeface="Arial" pitchFamily="34" charset="-120"/>
              </a:rPr>
              <a:t>F1 Macro</a:t>
            </a:r>
            <a:endParaRPr lang="en-US" sz="1000" dirty="0"/>
          </a:p>
        </p:txBody>
      </p:sp>
      <p:sp>
        <p:nvSpPr>
          <p:cNvPr id="21" name="Text 18"/>
          <p:cNvSpPr/>
          <p:nvPr/>
        </p:nvSpPr>
        <p:spPr>
          <a:xfrm>
            <a:off x="2340420" y="1583829"/>
            <a:ext cx="1614291" cy="142875"/>
          </a:xfrm>
          <a:prstGeom prst="rect">
            <a:avLst/>
          </a:prstGeom>
          <a:noFill/>
          <a:ln/>
        </p:spPr>
        <p:txBody>
          <a:bodyPr wrap="square" lIns="0" tIns="0" rIns="0" bIns="0" rtlCol="0" anchor="t"/>
          <a:lstStyle/>
          <a:p>
            <a:pPr algn="ctr" indent="0" marL="0">
              <a:buNone/>
            </a:pPr>
            <a:r>
              <a:rPr lang="en-US" sz="1000" dirty="0">
                <a:solidFill>
                  <a:srgbClr val="94A3B8"/>
                </a:solidFill>
                <a:latin typeface="Arial" pitchFamily="34" charset="0"/>
                <a:ea typeface="Arial" pitchFamily="34" charset="-122"/>
                <a:cs typeface="Arial" pitchFamily="34" charset="-120"/>
              </a:rPr>
              <a:t>0.5330</a:t>
            </a:r>
            <a:endParaRPr lang="en-US" sz="1000" dirty="0"/>
          </a:p>
        </p:txBody>
      </p:sp>
      <p:sp>
        <p:nvSpPr>
          <p:cNvPr id="22" name="Text 19"/>
          <p:cNvSpPr/>
          <p:nvPr/>
        </p:nvSpPr>
        <p:spPr>
          <a:xfrm>
            <a:off x="3923059" y="1583829"/>
            <a:ext cx="1614291" cy="142875"/>
          </a:xfrm>
          <a:prstGeom prst="rect">
            <a:avLst/>
          </a:prstGeom>
          <a:noFill/>
          <a:ln/>
        </p:spPr>
        <p:txBody>
          <a:bodyPr wrap="square" lIns="0" tIns="0" rIns="0" bIns="0" rtlCol="0" anchor="t"/>
          <a:lstStyle/>
          <a:p>
            <a:pPr algn="ctr" indent="0" marL="0">
              <a:buNone/>
            </a:pPr>
            <a:r>
              <a:rPr lang="en-US" sz="1000" dirty="0">
                <a:solidFill>
                  <a:srgbClr val="64748B"/>
                </a:solidFill>
                <a:latin typeface="Arial" pitchFamily="34" charset="0"/>
                <a:ea typeface="Arial" pitchFamily="34" charset="-122"/>
                <a:cs typeface="Arial" pitchFamily="34" charset="-120"/>
              </a:rPr>
              <a:t>0.4718</a:t>
            </a:r>
            <a:endParaRPr lang="en-US" sz="1000" dirty="0"/>
          </a:p>
        </p:txBody>
      </p:sp>
      <p:sp>
        <p:nvSpPr>
          <p:cNvPr id="23" name="Text 20"/>
          <p:cNvSpPr/>
          <p:nvPr/>
        </p:nvSpPr>
        <p:spPr>
          <a:xfrm>
            <a:off x="5505697" y="1583829"/>
            <a:ext cx="1614291" cy="142875"/>
          </a:xfrm>
          <a:prstGeom prst="rect">
            <a:avLst/>
          </a:prstGeom>
          <a:noFill/>
          <a:ln/>
        </p:spPr>
        <p:txBody>
          <a:bodyPr wrap="square" lIns="0" tIns="0" rIns="0" bIns="0" rtlCol="0" anchor="t"/>
          <a:lstStyle/>
          <a:p>
            <a:pPr algn="ctr" indent="0" marL="0">
              <a:buNone/>
            </a:pPr>
            <a:r>
              <a:rPr lang="en-US" sz="1000" dirty="0">
                <a:solidFill>
                  <a:srgbClr val="94A3B8"/>
                </a:solidFill>
                <a:latin typeface="Arial" pitchFamily="34" charset="0"/>
                <a:ea typeface="Arial" pitchFamily="34" charset="-122"/>
                <a:cs typeface="Arial" pitchFamily="34" charset="-120"/>
              </a:rPr>
              <a:t>0.5420</a:t>
            </a:r>
            <a:endParaRPr lang="en-US" sz="1000" dirty="0"/>
          </a:p>
        </p:txBody>
      </p:sp>
      <p:sp>
        <p:nvSpPr>
          <p:cNvPr id="24" name="Text 21"/>
          <p:cNvSpPr/>
          <p:nvPr/>
        </p:nvSpPr>
        <p:spPr>
          <a:xfrm>
            <a:off x="7088335" y="1583829"/>
            <a:ext cx="1614291" cy="142875"/>
          </a:xfrm>
          <a:prstGeom prst="rect">
            <a:avLst/>
          </a:prstGeom>
          <a:noFill/>
          <a:ln/>
        </p:spPr>
        <p:txBody>
          <a:bodyPr wrap="square" lIns="0" tIns="0" rIns="0" bIns="0" rtlCol="0" anchor="t"/>
          <a:lstStyle/>
          <a:p>
            <a:pPr algn="ctr" indent="0" marL="0">
              <a:buNone/>
            </a:pPr>
            <a:r>
              <a:rPr lang="en-US" sz="1000" b="1" dirty="0">
                <a:solidFill>
                  <a:srgbClr val="22C55E"/>
                </a:solidFill>
                <a:latin typeface="Arial" pitchFamily="34" charset="0"/>
                <a:ea typeface="Arial" pitchFamily="34" charset="-122"/>
                <a:cs typeface="Arial" pitchFamily="34" charset="-120"/>
              </a:rPr>
              <a:t>0.6000</a:t>
            </a:r>
            <a:endParaRPr lang="en-US" sz="1000" dirty="0"/>
          </a:p>
        </p:txBody>
      </p:sp>
      <p:sp>
        <p:nvSpPr>
          <p:cNvPr id="25" name="Shape 22"/>
          <p:cNvSpPr/>
          <p:nvPr/>
        </p:nvSpPr>
        <p:spPr>
          <a:xfrm>
            <a:off x="457200" y="2074069"/>
            <a:ext cx="8229600" cy="0"/>
          </a:xfrm>
          <a:prstGeom prst="line">
            <a:avLst/>
          </a:prstGeom>
          <a:noFill/>
          <a:ln w="9525">
            <a:solidFill>
              <a:srgbClr val="FFFFFF"/>
            </a:solidFill>
            <a:prstDash val="solid"/>
          </a:ln>
        </p:spPr>
      </p:sp>
      <p:sp>
        <p:nvSpPr>
          <p:cNvPr id="26" name="Text 23"/>
          <p:cNvSpPr/>
          <p:nvPr/>
        </p:nvSpPr>
        <p:spPr>
          <a:xfrm>
            <a:off x="457200" y="1863030"/>
            <a:ext cx="1937028" cy="142875"/>
          </a:xfrm>
          <a:prstGeom prst="rect">
            <a:avLst/>
          </a:prstGeom>
          <a:noFill/>
          <a:ln/>
        </p:spPr>
        <p:txBody>
          <a:bodyPr wrap="square" lIns="0" tIns="0" rIns="0" bIns="0" rtlCol="0" anchor="t"/>
          <a:lstStyle/>
          <a:p>
            <a:pPr algn="l" indent="0" marL="0">
              <a:buNone/>
            </a:pPr>
            <a:r>
              <a:rPr lang="en-US" sz="1000" dirty="0">
                <a:solidFill>
                  <a:srgbClr val="CBD5E1"/>
                </a:solidFill>
                <a:latin typeface="Arial" pitchFamily="34" charset="0"/>
                <a:ea typeface="Arial" pitchFamily="34" charset="-122"/>
                <a:cs typeface="Arial" pitchFamily="34" charset="-120"/>
              </a:rPr>
              <a:t>Precision</a:t>
            </a:r>
            <a:endParaRPr lang="en-US" sz="1000" dirty="0"/>
          </a:p>
        </p:txBody>
      </p:sp>
      <p:sp>
        <p:nvSpPr>
          <p:cNvPr id="27" name="Text 24"/>
          <p:cNvSpPr/>
          <p:nvPr/>
        </p:nvSpPr>
        <p:spPr>
          <a:xfrm>
            <a:off x="2340420" y="1863030"/>
            <a:ext cx="1614291" cy="142875"/>
          </a:xfrm>
          <a:prstGeom prst="rect">
            <a:avLst/>
          </a:prstGeom>
          <a:noFill/>
          <a:ln/>
        </p:spPr>
        <p:txBody>
          <a:bodyPr wrap="square" lIns="0" tIns="0" rIns="0" bIns="0" rtlCol="0" anchor="t"/>
          <a:lstStyle/>
          <a:p>
            <a:pPr algn="ctr" indent="0" marL="0">
              <a:buNone/>
            </a:pPr>
            <a:r>
              <a:rPr lang="en-US" sz="1000" dirty="0">
                <a:solidFill>
                  <a:srgbClr val="94A3B8"/>
                </a:solidFill>
                <a:latin typeface="Arial" pitchFamily="34" charset="0"/>
                <a:ea typeface="Arial" pitchFamily="34" charset="-122"/>
                <a:cs typeface="Arial" pitchFamily="34" charset="-120"/>
              </a:rPr>
              <a:t>0.6482</a:t>
            </a:r>
            <a:endParaRPr lang="en-US" sz="1000" dirty="0"/>
          </a:p>
        </p:txBody>
      </p:sp>
      <p:sp>
        <p:nvSpPr>
          <p:cNvPr id="28" name="Text 25"/>
          <p:cNvSpPr/>
          <p:nvPr/>
        </p:nvSpPr>
        <p:spPr>
          <a:xfrm>
            <a:off x="3923059" y="1863030"/>
            <a:ext cx="1614291" cy="142875"/>
          </a:xfrm>
          <a:prstGeom prst="rect">
            <a:avLst/>
          </a:prstGeom>
          <a:noFill/>
          <a:ln/>
        </p:spPr>
        <p:txBody>
          <a:bodyPr wrap="square" lIns="0" tIns="0" rIns="0" bIns="0" rtlCol="0" anchor="t"/>
          <a:lstStyle/>
          <a:p>
            <a:pPr algn="ctr" indent="0" marL="0">
              <a:buNone/>
            </a:pPr>
            <a:r>
              <a:rPr lang="en-US" sz="1000" dirty="0">
                <a:solidFill>
                  <a:srgbClr val="64748B"/>
                </a:solidFill>
                <a:latin typeface="Arial" pitchFamily="34" charset="0"/>
                <a:ea typeface="Arial" pitchFamily="34" charset="-122"/>
                <a:cs typeface="Arial" pitchFamily="34" charset="-120"/>
              </a:rPr>
              <a:t>0.4785</a:t>
            </a:r>
            <a:endParaRPr lang="en-US" sz="1000" dirty="0"/>
          </a:p>
        </p:txBody>
      </p:sp>
      <p:sp>
        <p:nvSpPr>
          <p:cNvPr id="29" name="Text 26"/>
          <p:cNvSpPr/>
          <p:nvPr/>
        </p:nvSpPr>
        <p:spPr>
          <a:xfrm>
            <a:off x="5505697" y="1863030"/>
            <a:ext cx="1614291" cy="142875"/>
          </a:xfrm>
          <a:prstGeom prst="rect">
            <a:avLst/>
          </a:prstGeom>
          <a:noFill/>
          <a:ln/>
        </p:spPr>
        <p:txBody>
          <a:bodyPr wrap="square" lIns="0" tIns="0" rIns="0" bIns="0" rtlCol="0" anchor="t"/>
          <a:lstStyle/>
          <a:p>
            <a:pPr algn="ctr" indent="0" marL="0">
              <a:buNone/>
            </a:pPr>
            <a:r>
              <a:rPr lang="en-US" sz="1000" dirty="0">
                <a:solidFill>
                  <a:srgbClr val="94A3B8"/>
                </a:solidFill>
                <a:latin typeface="Arial" pitchFamily="34" charset="0"/>
                <a:ea typeface="Arial" pitchFamily="34" charset="-122"/>
                <a:cs typeface="Arial" pitchFamily="34" charset="-120"/>
              </a:rPr>
              <a:t>0.5853</a:t>
            </a:r>
            <a:endParaRPr lang="en-US" sz="1000" dirty="0"/>
          </a:p>
        </p:txBody>
      </p:sp>
      <p:sp>
        <p:nvSpPr>
          <p:cNvPr id="30" name="Text 27"/>
          <p:cNvSpPr/>
          <p:nvPr/>
        </p:nvSpPr>
        <p:spPr>
          <a:xfrm>
            <a:off x="7088335" y="1863030"/>
            <a:ext cx="1614291" cy="142875"/>
          </a:xfrm>
          <a:prstGeom prst="rect">
            <a:avLst/>
          </a:prstGeom>
          <a:noFill/>
          <a:ln/>
        </p:spPr>
        <p:txBody>
          <a:bodyPr wrap="square" lIns="0" tIns="0" rIns="0" bIns="0" rtlCol="0" anchor="t"/>
          <a:lstStyle/>
          <a:p>
            <a:pPr algn="ctr" indent="0" marL="0">
              <a:buNone/>
            </a:pPr>
            <a:r>
              <a:rPr lang="en-US" sz="1000" dirty="0">
                <a:solidFill>
                  <a:srgbClr val="94A3B8"/>
                </a:solidFill>
                <a:latin typeface="Arial" pitchFamily="34" charset="0"/>
                <a:ea typeface="Arial" pitchFamily="34" charset="-122"/>
                <a:cs typeface="Arial" pitchFamily="34" charset="-120"/>
              </a:rPr>
              <a:t>0.7116</a:t>
            </a:r>
            <a:endParaRPr lang="en-US" sz="1000" dirty="0"/>
          </a:p>
        </p:txBody>
      </p:sp>
      <p:sp>
        <p:nvSpPr>
          <p:cNvPr id="31" name="Shape 28"/>
          <p:cNvSpPr/>
          <p:nvPr/>
        </p:nvSpPr>
        <p:spPr>
          <a:xfrm>
            <a:off x="457200" y="2353270"/>
            <a:ext cx="8229600" cy="0"/>
          </a:xfrm>
          <a:prstGeom prst="line">
            <a:avLst/>
          </a:prstGeom>
          <a:noFill/>
          <a:ln w="9525">
            <a:solidFill>
              <a:srgbClr val="FFFFFF"/>
            </a:solidFill>
            <a:prstDash val="solid"/>
          </a:ln>
        </p:spPr>
      </p:sp>
      <p:sp>
        <p:nvSpPr>
          <p:cNvPr id="32" name="Text 29"/>
          <p:cNvSpPr/>
          <p:nvPr/>
        </p:nvSpPr>
        <p:spPr>
          <a:xfrm>
            <a:off x="457200" y="2142232"/>
            <a:ext cx="1937028" cy="142875"/>
          </a:xfrm>
          <a:prstGeom prst="rect">
            <a:avLst/>
          </a:prstGeom>
          <a:noFill/>
          <a:ln/>
        </p:spPr>
        <p:txBody>
          <a:bodyPr wrap="square" lIns="0" tIns="0" rIns="0" bIns="0" rtlCol="0" anchor="t"/>
          <a:lstStyle/>
          <a:p>
            <a:pPr algn="l" indent="0" marL="0">
              <a:buNone/>
            </a:pPr>
            <a:r>
              <a:rPr lang="en-US" sz="1000" dirty="0">
                <a:solidFill>
                  <a:srgbClr val="CBD5E1"/>
                </a:solidFill>
                <a:latin typeface="Arial" pitchFamily="34" charset="0"/>
                <a:ea typeface="Arial" pitchFamily="34" charset="-122"/>
                <a:cs typeface="Arial" pitchFamily="34" charset="-120"/>
              </a:rPr>
              <a:t>Recall</a:t>
            </a:r>
            <a:endParaRPr lang="en-US" sz="1000" dirty="0"/>
          </a:p>
        </p:txBody>
      </p:sp>
      <p:sp>
        <p:nvSpPr>
          <p:cNvPr id="33" name="Text 30"/>
          <p:cNvSpPr/>
          <p:nvPr/>
        </p:nvSpPr>
        <p:spPr>
          <a:xfrm>
            <a:off x="2340420" y="2142232"/>
            <a:ext cx="1614291" cy="142875"/>
          </a:xfrm>
          <a:prstGeom prst="rect">
            <a:avLst/>
          </a:prstGeom>
          <a:noFill/>
          <a:ln/>
        </p:spPr>
        <p:txBody>
          <a:bodyPr wrap="square" lIns="0" tIns="0" rIns="0" bIns="0" rtlCol="0" anchor="t"/>
          <a:lstStyle/>
          <a:p>
            <a:pPr algn="ctr" indent="0" marL="0">
              <a:buNone/>
            </a:pPr>
            <a:r>
              <a:rPr lang="en-US" sz="1000" dirty="0">
                <a:solidFill>
                  <a:srgbClr val="94A3B8"/>
                </a:solidFill>
                <a:latin typeface="Arial" pitchFamily="34" charset="0"/>
                <a:ea typeface="Arial" pitchFamily="34" charset="-122"/>
                <a:cs typeface="Arial" pitchFamily="34" charset="-120"/>
              </a:rPr>
              <a:t>0.8966</a:t>
            </a:r>
            <a:endParaRPr lang="en-US" sz="1000" dirty="0"/>
          </a:p>
        </p:txBody>
      </p:sp>
      <p:sp>
        <p:nvSpPr>
          <p:cNvPr id="34" name="Text 31"/>
          <p:cNvSpPr/>
          <p:nvPr/>
        </p:nvSpPr>
        <p:spPr>
          <a:xfrm>
            <a:off x="3923059" y="2142232"/>
            <a:ext cx="1614291" cy="142875"/>
          </a:xfrm>
          <a:prstGeom prst="rect">
            <a:avLst/>
          </a:prstGeom>
          <a:noFill/>
          <a:ln/>
        </p:spPr>
        <p:txBody>
          <a:bodyPr wrap="square" lIns="0" tIns="0" rIns="0" bIns="0" rtlCol="0" anchor="t"/>
          <a:lstStyle/>
          <a:p>
            <a:pPr algn="ctr" indent="0" marL="0">
              <a:buNone/>
            </a:pPr>
            <a:r>
              <a:rPr lang="en-US" sz="1000" dirty="0">
                <a:solidFill>
                  <a:srgbClr val="64748B"/>
                </a:solidFill>
                <a:latin typeface="Arial" pitchFamily="34" charset="0"/>
                <a:ea typeface="Arial" pitchFamily="34" charset="-122"/>
                <a:cs typeface="Arial" pitchFamily="34" charset="-120"/>
              </a:rPr>
              <a:t>0.9363</a:t>
            </a:r>
            <a:endParaRPr lang="en-US" sz="1000" dirty="0"/>
          </a:p>
        </p:txBody>
      </p:sp>
      <p:sp>
        <p:nvSpPr>
          <p:cNvPr id="35" name="Text 32"/>
          <p:cNvSpPr/>
          <p:nvPr/>
        </p:nvSpPr>
        <p:spPr>
          <a:xfrm>
            <a:off x="5505697" y="2142232"/>
            <a:ext cx="1614291" cy="142875"/>
          </a:xfrm>
          <a:prstGeom prst="rect">
            <a:avLst/>
          </a:prstGeom>
          <a:noFill/>
          <a:ln/>
        </p:spPr>
        <p:txBody>
          <a:bodyPr wrap="square" lIns="0" tIns="0" rIns="0" bIns="0" rtlCol="0" anchor="t"/>
          <a:lstStyle/>
          <a:p>
            <a:pPr algn="ctr" indent="0" marL="0">
              <a:buNone/>
            </a:pPr>
            <a:r>
              <a:rPr lang="en-US" sz="1000" dirty="0">
                <a:solidFill>
                  <a:srgbClr val="94A3B8"/>
                </a:solidFill>
                <a:latin typeface="Arial" pitchFamily="34" charset="0"/>
                <a:ea typeface="Arial" pitchFamily="34" charset="-122"/>
                <a:cs typeface="Arial" pitchFamily="34" charset="-120"/>
              </a:rPr>
              <a:t>0.8764</a:t>
            </a:r>
            <a:endParaRPr lang="en-US" sz="1000" dirty="0"/>
          </a:p>
        </p:txBody>
      </p:sp>
      <p:sp>
        <p:nvSpPr>
          <p:cNvPr id="36" name="Text 33"/>
          <p:cNvSpPr/>
          <p:nvPr/>
        </p:nvSpPr>
        <p:spPr>
          <a:xfrm>
            <a:off x="7088335" y="2142232"/>
            <a:ext cx="1614291" cy="142875"/>
          </a:xfrm>
          <a:prstGeom prst="rect">
            <a:avLst/>
          </a:prstGeom>
          <a:noFill/>
          <a:ln/>
        </p:spPr>
        <p:txBody>
          <a:bodyPr wrap="square" lIns="0" tIns="0" rIns="0" bIns="0" rtlCol="0" anchor="t"/>
          <a:lstStyle/>
          <a:p>
            <a:pPr algn="ctr" indent="0" marL="0">
              <a:buNone/>
            </a:pPr>
            <a:r>
              <a:rPr lang="en-US" sz="1000" dirty="0">
                <a:solidFill>
                  <a:srgbClr val="94A3B8"/>
                </a:solidFill>
                <a:latin typeface="Arial" pitchFamily="34" charset="0"/>
                <a:ea typeface="Arial" pitchFamily="34" charset="-122"/>
                <a:cs typeface="Arial" pitchFamily="34" charset="-120"/>
              </a:rPr>
              <a:t>0.8472</a:t>
            </a:r>
            <a:endParaRPr lang="en-US" sz="1000" dirty="0"/>
          </a:p>
        </p:txBody>
      </p:sp>
      <p:sp>
        <p:nvSpPr>
          <p:cNvPr id="37" name="Text 34"/>
          <p:cNvSpPr/>
          <p:nvPr/>
        </p:nvSpPr>
        <p:spPr>
          <a:xfrm>
            <a:off x="457200" y="2459534"/>
            <a:ext cx="4435822" cy="2683966"/>
          </a:xfrm>
          <a:prstGeom prst="rect">
            <a:avLst/>
          </a:prstGeom>
          <a:solidFill>
            <a:srgbClr val="00B4D8">
              <a:alpha val="8000"/>
            </a:srgbClr>
          </a:solidFill>
          <a:ln/>
        </p:spPr>
        <p:txBody>
          <a:bodyPr wrap="square" rtlCol="0" anchor="ctr"/>
          <a:lstStyle/>
          <a:p>
            <a:pPr indent="0" marL="0">
              <a:buNone/>
            </a:pPr>
            <a:endParaRPr lang="en-US" dirty="0"/>
          </a:p>
        </p:txBody>
      </p:sp>
      <p:sp>
        <p:nvSpPr>
          <p:cNvPr id="38" name="Shape 35"/>
          <p:cNvSpPr/>
          <p:nvPr/>
        </p:nvSpPr>
        <p:spPr>
          <a:xfrm>
            <a:off x="481012" y="2459534"/>
            <a:ext cx="0" cy="2683966"/>
          </a:xfrm>
          <a:prstGeom prst="line">
            <a:avLst/>
          </a:prstGeom>
          <a:noFill/>
          <a:ln w="47625">
            <a:solidFill>
              <a:srgbClr val="00B4D8"/>
            </a:solidFill>
            <a:prstDash val="solid"/>
          </a:ln>
        </p:spPr>
      </p:sp>
      <p:sp>
        <p:nvSpPr>
          <p:cNvPr id="39" name="Text 36"/>
          <p:cNvSpPr/>
          <p:nvPr/>
        </p:nvSpPr>
        <p:spPr>
          <a:xfrm>
            <a:off x="657225" y="2561034"/>
            <a:ext cx="4165065" cy="164902"/>
          </a:xfrm>
          <a:prstGeom prst="rect">
            <a:avLst/>
          </a:prstGeom>
          <a:noFill/>
          <a:ln/>
        </p:spPr>
        <p:txBody>
          <a:bodyPr wrap="square" lIns="0" tIns="0" rIns="0" bIns="0" rtlCol="0" anchor="t"/>
          <a:lstStyle/>
          <a:p>
            <a:pPr algn="l" indent="0" marL="0">
              <a:lnSpc>
                <a:spcPts val="1300"/>
              </a:lnSpc>
              <a:spcAft>
                <a:spcPts val="400"/>
              </a:spcAft>
              <a:buNone/>
            </a:pPr>
            <a:r>
              <a:rPr lang="en-US" sz="1000" b="1" dirty="0">
                <a:solidFill>
                  <a:srgbClr val="00B4D8"/>
                </a:solidFill>
                <a:latin typeface="Arial" pitchFamily="34" charset="0"/>
                <a:ea typeface="Arial" pitchFamily="34" charset="-122"/>
                <a:cs typeface="Arial" pitchFamily="34" charset="-120"/>
              </a:rPr>
              <a:t>Why LF (0.5) failed, and how Per-Class fixed it</a:t>
            </a:r>
            <a:endParaRPr lang="en-US" sz="1000" dirty="0"/>
          </a:p>
        </p:txBody>
      </p:sp>
      <p:sp>
        <p:nvSpPr>
          <p:cNvPr id="40" name="Text 37"/>
          <p:cNvSpPr/>
          <p:nvPr/>
        </p:nvSpPr>
        <p:spPr>
          <a:xfrm>
            <a:off x="657225" y="2776686"/>
            <a:ext cx="4165065" cy="313730"/>
          </a:xfrm>
          <a:prstGeom prst="rect">
            <a:avLst/>
          </a:prstGeom>
          <a:noFill/>
          <a:ln/>
        </p:spPr>
        <p:txBody>
          <a:bodyPr wrap="square" lIns="0" tIns="0" rIns="0" bIns="0" rtlCol="0" anchor="t"/>
          <a:lstStyle/>
          <a:p>
            <a:pPr algn="l" indent="0" marL="0">
              <a:lnSpc>
                <a:spcPts val="1235"/>
              </a:lnSpc>
              <a:spcAft>
                <a:spcPts val="300"/>
              </a:spcAft>
              <a:buNone/>
            </a:pPr>
            <a:r>
              <a:rPr lang="en-US" sz="950" dirty="0">
                <a:solidFill>
                  <a:srgbClr val="E2E8F0"/>
                </a:solidFill>
                <a:latin typeface="Arial" pitchFamily="34" charset="0"/>
                <a:ea typeface="Arial" pitchFamily="34" charset="-122"/>
                <a:cs typeface="Arial" pitchFamily="34" charset="-120"/>
              </a:rPr>
              <a:t>At threshold 0.5, the model over-predicted: high recall (0.94) but low precision (0.48).</a:t>
            </a:r>
            <a:endParaRPr lang="en-US" sz="950" dirty="0"/>
          </a:p>
        </p:txBody>
      </p:sp>
      <p:sp>
        <p:nvSpPr>
          <p:cNvPr id="41" name="Text 38"/>
          <p:cNvSpPr/>
          <p:nvPr/>
        </p:nvSpPr>
        <p:spPr>
          <a:xfrm>
            <a:off x="657225" y="3128516"/>
            <a:ext cx="4165065" cy="313730"/>
          </a:xfrm>
          <a:prstGeom prst="rect">
            <a:avLst/>
          </a:prstGeom>
          <a:noFill/>
          <a:ln/>
        </p:spPr>
        <p:txBody>
          <a:bodyPr wrap="square" lIns="0" tIns="0" rIns="0" bIns="0" rtlCol="0" anchor="t"/>
          <a:lstStyle/>
          <a:p>
            <a:pPr algn="l" indent="0" marL="0">
              <a:lnSpc>
                <a:spcPts val="1235"/>
              </a:lnSpc>
              <a:spcAft>
                <a:spcPts val="300"/>
              </a:spcAft>
              <a:buNone/>
            </a:pPr>
            <a:r>
              <a:rPr lang="en-US" sz="950" dirty="0">
                <a:solidFill>
                  <a:srgbClr val="E2E8F0"/>
                </a:solidFill>
                <a:latin typeface="Arial" pitchFamily="34" charset="0"/>
                <a:ea typeface="Arial" pitchFamily="34" charset="-122"/>
                <a:cs typeface="Arial" pitchFamily="34" charset="-120"/>
              </a:rPr>
              <a:t>Per-class optimization found the best threshold per label on </a:t>
            </a:r>
            <a:pPr algn="l" indent="0" marL="0">
              <a:lnSpc>
                <a:spcPts val="1235"/>
              </a:lnSpc>
              <a:spcAft>
                <a:spcPts val="300"/>
              </a:spcAft>
              <a:buNone/>
            </a:pPr>
            <a:r>
              <a:rPr lang="en-US" sz="950" b="1" dirty="0">
                <a:solidFill>
                  <a:srgbClr val="E2E8F0"/>
                </a:solidFill>
                <a:latin typeface="Arial" pitchFamily="34" charset="0"/>
                <a:ea typeface="Arial" pitchFamily="34" charset="-122"/>
                <a:cs typeface="Arial" pitchFamily="34" charset="-120"/>
              </a:rPr>
              <a:t>validation set</a:t>
            </a:r>
            <a:pPr algn="l" indent="0" marL="0">
              <a:lnSpc>
                <a:spcPts val="1235"/>
              </a:lnSpc>
              <a:spcAft>
                <a:spcPts val="300"/>
              </a:spcAft>
              <a:buNone/>
            </a:pPr>
            <a:r>
              <a:rPr lang="en-US" sz="950" dirty="0">
                <a:solidFill>
                  <a:srgbClr val="E2E8F0"/>
                </a:solidFill>
                <a:latin typeface="Arial" pitchFamily="34" charset="0"/>
                <a:ea typeface="Arial" pitchFamily="34" charset="-122"/>
                <a:cs typeface="Arial" pitchFamily="34" charset="-120"/>
              </a:rPr>
              <a:t> (range: 0.45-0.90, mean: 0.72), applied to </a:t>
            </a:r>
            <a:pPr algn="l" indent="0" marL="0">
              <a:lnSpc>
                <a:spcPts val="1235"/>
              </a:lnSpc>
              <a:spcAft>
                <a:spcPts val="300"/>
              </a:spcAft>
              <a:buNone/>
            </a:pPr>
            <a:r>
              <a:rPr lang="en-US" sz="950" b="1" dirty="0">
                <a:solidFill>
                  <a:srgbClr val="E2E8F0"/>
                </a:solidFill>
                <a:latin typeface="Arial" pitchFamily="34" charset="0"/>
                <a:ea typeface="Arial" pitchFamily="34" charset="-122"/>
                <a:cs typeface="Arial" pitchFamily="34" charset="-120"/>
              </a:rPr>
              <a:t>test set</a:t>
            </a:r>
            <a:pPr algn="l" indent="0" marL="0">
              <a:lnSpc>
                <a:spcPts val="1235"/>
              </a:lnSpc>
              <a:spcAft>
                <a:spcPts val="300"/>
              </a:spcAft>
              <a:buNone/>
            </a:pPr>
            <a:r>
              <a:rPr lang="en-US" sz="950" dirty="0">
                <a:solidFill>
                  <a:srgbClr val="E2E8F0"/>
                </a:solidFill>
                <a:latin typeface="Arial" pitchFamily="34" charset="0"/>
                <a:ea typeface="Arial" pitchFamily="34" charset="-122"/>
                <a:cs typeface="Arial" pitchFamily="34" charset="-120"/>
              </a:rPr>
              <a:t>.</a:t>
            </a:r>
            <a:endParaRPr lang="en-US" sz="950" dirty="0"/>
          </a:p>
        </p:txBody>
      </p:sp>
      <p:sp>
        <p:nvSpPr>
          <p:cNvPr id="42" name="Text 39"/>
          <p:cNvSpPr/>
          <p:nvPr/>
        </p:nvSpPr>
        <p:spPr>
          <a:xfrm>
            <a:off x="657225" y="3480346"/>
            <a:ext cx="4165065" cy="280392"/>
          </a:xfrm>
          <a:prstGeom prst="rect">
            <a:avLst/>
          </a:prstGeom>
          <a:noFill/>
          <a:ln/>
        </p:spPr>
        <p:txBody>
          <a:bodyPr wrap="square" lIns="0" tIns="0" rIns="0" bIns="0" rtlCol="0" anchor="t"/>
          <a:lstStyle/>
          <a:p>
            <a:pPr algn="l" indent="0" marL="0">
              <a:lnSpc>
                <a:spcPts val="1105"/>
              </a:lnSpc>
              <a:spcBef>
                <a:spcPts val="300"/>
              </a:spcBef>
              <a:spcAft>
                <a:spcPts val="300"/>
              </a:spcAft>
              <a:buNone/>
            </a:pPr>
            <a:r>
              <a:rPr lang="en-US" sz="850" b="1" dirty="0">
                <a:solidFill>
                  <a:srgbClr val="EAB308"/>
                </a:solidFill>
                <a:latin typeface="Arial" pitchFamily="34" charset="0"/>
                <a:ea typeface="Arial" pitchFamily="34" charset="-122"/>
                <a:cs typeface="Arial" pitchFamily="34" charset="-120"/>
              </a:rPr>
              <a:t>Caveat:</a:t>
            </a:r>
            <a:pPr algn="l" indent="0" marL="0">
              <a:lnSpc>
                <a:spcPts val="1105"/>
              </a:lnSpc>
              <a:spcBef>
                <a:spcPts val="300"/>
              </a:spcBef>
              <a:spcAft>
                <a:spcPts val="300"/>
              </a:spcAft>
              <a:buNone/>
            </a:pPr>
            <a:r>
              <a:rPr lang="en-US" sz="850" dirty="0">
                <a:solidFill>
                  <a:srgbClr val="EAB308"/>
                </a:solidFill>
                <a:latin typeface="Arial" pitchFamily="34" charset="0"/>
                <a:ea typeface="Arial" pitchFamily="34" charset="-122"/>
                <a:cs typeface="Arial" pitchFamily="34" charset="-120"/>
              </a:rPr>
              <a:t> TF-IDF uses default 0.5 threshold — not apples-to-apples. TF-IDF with per-class thresholds would likely narrow the gap.</a:t>
            </a:r>
            <a:endParaRPr lang="en-US" sz="850" dirty="0"/>
          </a:p>
        </p:txBody>
      </p:sp>
      <p:sp>
        <p:nvSpPr>
          <p:cNvPr id="43" name="Text 40"/>
          <p:cNvSpPr/>
          <p:nvPr/>
        </p:nvSpPr>
        <p:spPr>
          <a:xfrm>
            <a:off x="5096173" y="2459534"/>
            <a:ext cx="3590627" cy="2683966"/>
          </a:xfrm>
          <a:prstGeom prst="roundRect">
            <a:avLst>
              <a:gd name="adj" fmla="val 2839"/>
            </a:avLst>
          </a:prstGeom>
          <a:solidFill>
            <a:srgbClr val="22C55E">
              <a:alpha val="8000"/>
            </a:srgbClr>
          </a:solidFill>
          <a:ln w="9525">
            <a:solidFill>
              <a:srgbClr val="22C55E"/>
            </a:solidFill>
          </a:ln>
        </p:spPr>
        <p:txBody>
          <a:bodyPr wrap="square" rtlCol="0" anchor="ctr"/>
          <a:lstStyle/>
          <a:p>
            <a:pPr indent="0" marL="0">
              <a:buNone/>
            </a:pPr>
            <a:endParaRPr lang="en-US" dirty="0"/>
          </a:p>
        </p:txBody>
      </p:sp>
      <p:sp>
        <p:nvSpPr>
          <p:cNvPr id="44" name="Text 41"/>
          <p:cNvSpPr/>
          <p:nvPr/>
        </p:nvSpPr>
        <p:spPr>
          <a:xfrm>
            <a:off x="5225430" y="3280916"/>
            <a:ext cx="3332113" cy="323850"/>
          </a:xfrm>
          <a:prstGeom prst="rect">
            <a:avLst/>
          </a:prstGeom>
          <a:noFill/>
          <a:ln/>
        </p:spPr>
        <p:txBody>
          <a:bodyPr wrap="square" lIns="0" tIns="0" rIns="0" bIns="0" rtlCol="0" anchor="t"/>
          <a:lstStyle/>
          <a:p>
            <a:pPr algn="ctr" indent="0" marL="0">
              <a:spcAft>
                <a:spcPts val="200"/>
              </a:spcAft>
              <a:buNone/>
            </a:pPr>
            <a:r>
              <a:rPr lang="en-US" sz="2200" b="1" dirty="0">
                <a:solidFill>
                  <a:srgbClr val="22C55E"/>
                </a:solidFill>
                <a:latin typeface="Arial" pitchFamily="34" charset="0"/>
                <a:ea typeface="Arial" pitchFamily="34" charset="-122"/>
                <a:cs typeface="Arial" pitchFamily="34" charset="-120"/>
              </a:rPr>
              <a:t>+2.1%</a:t>
            </a:r>
            <a:endParaRPr lang="en-US" sz="2200" dirty="0"/>
          </a:p>
        </p:txBody>
      </p:sp>
      <p:sp>
        <p:nvSpPr>
          <p:cNvPr id="45" name="Text 42"/>
          <p:cNvSpPr/>
          <p:nvPr/>
        </p:nvSpPr>
        <p:spPr>
          <a:xfrm>
            <a:off x="5225430" y="3630067"/>
            <a:ext cx="3332113" cy="133350"/>
          </a:xfrm>
          <a:prstGeom prst="rect">
            <a:avLst/>
          </a:prstGeom>
          <a:noFill/>
          <a:ln/>
        </p:spPr>
        <p:txBody>
          <a:bodyPr wrap="square" lIns="0" tIns="0" rIns="0" bIns="0" rtlCol="0" anchor="t"/>
          <a:lstStyle/>
          <a:p>
            <a:pPr algn="ctr" indent="0" marL="0">
              <a:buNone/>
            </a:pPr>
            <a:r>
              <a:rPr lang="en-US" sz="900" dirty="0">
                <a:solidFill>
                  <a:srgbClr val="E2E8F0"/>
                </a:solidFill>
                <a:latin typeface="Arial" pitchFamily="34" charset="0"/>
                <a:ea typeface="Arial" pitchFamily="34" charset="-122"/>
                <a:cs typeface="Arial" pitchFamily="34" charset="-120"/>
              </a:rPr>
              <a:t>F1 Micro vs TF-IDF</a:t>
            </a:r>
            <a:endParaRPr lang="en-US" sz="900" dirty="0"/>
          </a:p>
        </p:txBody>
      </p:sp>
      <p:sp>
        <p:nvSpPr>
          <p:cNvPr id="46" name="Text 43"/>
          <p:cNvSpPr/>
          <p:nvPr/>
        </p:nvSpPr>
        <p:spPr>
          <a:xfrm>
            <a:off x="5225430" y="3839617"/>
            <a:ext cx="3332113" cy="323850"/>
          </a:xfrm>
          <a:prstGeom prst="rect">
            <a:avLst/>
          </a:prstGeom>
          <a:noFill/>
          <a:ln/>
        </p:spPr>
        <p:txBody>
          <a:bodyPr wrap="square" lIns="0" tIns="0" rIns="0" bIns="0" rtlCol="0" anchor="t"/>
          <a:lstStyle/>
          <a:p>
            <a:pPr algn="ctr" indent="0" marL="0">
              <a:spcBef>
                <a:spcPts val="600"/>
              </a:spcBef>
              <a:spcAft>
                <a:spcPts val="200"/>
              </a:spcAft>
              <a:buNone/>
            </a:pPr>
            <a:r>
              <a:rPr lang="en-US" sz="2200" b="1" dirty="0">
                <a:solidFill>
                  <a:srgbClr val="22C55E"/>
                </a:solidFill>
                <a:latin typeface="Arial" pitchFamily="34" charset="0"/>
                <a:ea typeface="Arial" pitchFamily="34" charset="-122"/>
                <a:cs typeface="Arial" pitchFamily="34" charset="-120"/>
              </a:rPr>
              <a:t>+6.7%</a:t>
            </a:r>
            <a:endParaRPr lang="en-US" sz="2200" dirty="0"/>
          </a:p>
        </p:txBody>
      </p:sp>
      <p:sp>
        <p:nvSpPr>
          <p:cNvPr id="47" name="Text 44"/>
          <p:cNvSpPr/>
          <p:nvPr/>
        </p:nvSpPr>
        <p:spPr>
          <a:xfrm>
            <a:off x="5225430" y="4188768"/>
            <a:ext cx="3332113" cy="133350"/>
          </a:xfrm>
          <a:prstGeom prst="rect">
            <a:avLst/>
          </a:prstGeom>
          <a:noFill/>
          <a:ln/>
        </p:spPr>
        <p:txBody>
          <a:bodyPr wrap="square" lIns="0" tIns="0" rIns="0" bIns="0" rtlCol="0" anchor="t"/>
          <a:lstStyle/>
          <a:p>
            <a:pPr algn="ctr" indent="0" marL="0">
              <a:buNone/>
            </a:pPr>
            <a:r>
              <a:rPr lang="en-US" sz="900" dirty="0">
                <a:solidFill>
                  <a:srgbClr val="E2E8F0"/>
                </a:solidFill>
                <a:latin typeface="Arial" pitchFamily="34" charset="0"/>
                <a:ea typeface="Arial" pitchFamily="34" charset="-122"/>
                <a:cs typeface="Arial" pitchFamily="34" charset="-120"/>
              </a:rPr>
              <a:t>F1 Macro vs TF-IDF</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228451"/>
            <a:ext cx="8394192" cy="295275"/>
          </a:xfrm>
          <a:prstGeom prst="rect">
            <a:avLst/>
          </a:prstGeom>
          <a:noFill/>
          <a:ln/>
        </p:spPr>
        <p:txBody>
          <a:bodyPr wrap="square" lIns="0" tIns="0" rIns="0" bIns="0" rtlCol="0" anchor="t"/>
          <a:lstStyle/>
          <a:p>
            <a:pPr algn="l" indent="0" marL="0">
              <a:buNone/>
            </a:pPr>
            <a:r>
              <a:rPr lang="en-US" sz="2000" b="1" dirty="0">
                <a:solidFill>
                  <a:srgbClr val="00B4D8"/>
                </a:solidFill>
                <a:latin typeface="Arial" pitchFamily="34" charset="0"/>
                <a:ea typeface="Arial" pitchFamily="34" charset="-122"/>
                <a:cs typeface="Arial" pitchFamily="34" charset="-120"/>
              </a:rPr>
              <a:t>Per-Class F1 Comparison</a:t>
            </a:r>
            <a:endParaRPr lang="en-US" sz="2000" dirty="0"/>
          </a:p>
        </p:txBody>
      </p:sp>
      <p:pic>
        <p:nvPicPr>
          <p:cNvPr id="4" name="Image 1" descr="/Users/alessandrodibari/Ale/projects/TR_hiring_exercise/outputs/pptx_workspace/slides/chart_perclass_f1.png">    </p:cNvPr>
          <p:cNvPicPr>
            <a:picLocks noChangeAspect="1"/>
          </p:cNvPicPr>
          <p:nvPr/>
        </p:nvPicPr>
        <p:blipFill>
          <a:blip r:embed="rId3"/>
          <a:stretch>
            <a:fillRect/>
          </a:stretch>
        </p:blipFill>
        <p:spPr>
          <a:xfrm>
            <a:off x="457200" y="715566"/>
            <a:ext cx="8229600" cy="408354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253901"/>
            <a:ext cx="3885745" cy="295275"/>
          </a:xfrm>
          <a:prstGeom prst="rect">
            <a:avLst/>
          </a:prstGeom>
          <a:noFill/>
          <a:ln/>
        </p:spPr>
        <p:txBody>
          <a:bodyPr wrap="square" lIns="0" tIns="0" rIns="0" bIns="0" rtlCol="0" anchor="t"/>
          <a:lstStyle/>
          <a:p>
            <a:pPr algn="l" indent="0" marL="0">
              <a:buNone/>
            </a:pPr>
            <a:r>
              <a:rPr lang="en-US" sz="2000" b="1" dirty="0">
                <a:solidFill>
                  <a:srgbClr val="00B4D8"/>
                </a:solidFill>
                <a:latin typeface="Arial" pitchFamily="34" charset="0"/>
                <a:ea typeface="Arial" pitchFamily="34" charset="-122"/>
                <a:cs typeface="Arial" pitchFamily="34" charset="-120"/>
              </a:rPr>
              <a:t>Ensemble: Best of Both Models</a:t>
            </a:r>
            <a:endParaRPr lang="en-US" sz="2000" dirty="0"/>
          </a:p>
        </p:txBody>
      </p:sp>
      <p:sp>
        <p:nvSpPr>
          <p:cNvPr id="4" name="Text 1"/>
          <p:cNvSpPr/>
          <p:nvPr/>
        </p:nvSpPr>
        <p:spPr>
          <a:xfrm>
            <a:off x="4393704" y="280988"/>
            <a:ext cx="1545431" cy="240953"/>
          </a:xfrm>
          <a:prstGeom prst="roundRect">
            <a:avLst>
              <a:gd name="adj" fmla="val 21083"/>
            </a:avLst>
          </a:prstGeom>
          <a:solidFill>
            <a:srgbClr val="22C55E">
              <a:alpha val="15000"/>
            </a:srgbClr>
          </a:solidFill>
          <a:ln w="9525">
            <a:solidFill>
              <a:srgbClr val="22C55E"/>
            </a:solidFill>
          </a:ln>
        </p:spPr>
        <p:txBody>
          <a:bodyPr wrap="square" rtlCol="0" anchor="ctr"/>
          <a:lstStyle/>
          <a:p>
            <a:pPr indent="0" marL="0">
              <a:buNone/>
            </a:pPr>
            <a:endParaRPr lang="en-US" dirty="0"/>
          </a:p>
        </p:txBody>
      </p:sp>
      <p:sp>
        <p:nvSpPr>
          <p:cNvPr id="5" name="Text 2"/>
          <p:cNvSpPr/>
          <p:nvPr/>
        </p:nvSpPr>
        <p:spPr>
          <a:xfrm>
            <a:off x="4504730" y="315813"/>
            <a:ext cx="1349847" cy="171301"/>
          </a:xfrm>
          <a:prstGeom prst="rect">
            <a:avLst/>
          </a:prstGeom>
          <a:noFill/>
          <a:ln/>
        </p:spPr>
        <p:txBody>
          <a:bodyPr wrap="square" lIns="0" tIns="0" rIns="0" bIns="0" rtlCol="0" anchor="t"/>
          <a:lstStyle/>
          <a:p>
            <a:pPr algn="l" indent="0" marL="0">
              <a:lnSpc>
                <a:spcPts val="1350"/>
              </a:lnSpc>
              <a:buNone/>
            </a:pPr>
            <a:r>
              <a:rPr lang="en-US" sz="1000" b="1" dirty="0">
                <a:solidFill>
                  <a:srgbClr val="22C55E"/>
                </a:solidFill>
                <a:latin typeface="Arial" pitchFamily="34" charset="0"/>
                <a:ea typeface="Arial" pitchFamily="34" charset="-122"/>
                <a:cs typeface="Arial" pitchFamily="34" charset="-120"/>
              </a:rPr>
              <a:t>+3.0pp F1 vs Baseline</a:t>
            </a:r>
            <a:endParaRPr lang="en-US" sz="1000" dirty="0"/>
          </a:p>
        </p:txBody>
      </p:sp>
      <p:sp>
        <p:nvSpPr>
          <p:cNvPr id="6" name="Text 3"/>
          <p:cNvSpPr/>
          <p:nvPr/>
        </p:nvSpPr>
        <p:spPr>
          <a:xfrm>
            <a:off x="457200" y="676126"/>
            <a:ext cx="3898496" cy="145554"/>
          </a:xfrm>
          <a:prstGeom prst="rect">
            <a:avLst/>
          </a:prstGeom>
          <a:noFill/>
          <a:ln/>
        </p:spPr>
        <p:txBody>
          <a:bodyPr wrap="square" lIns="0" tIns="0" rIns="0" bIns="0" rtlCol="0" anchor="t"/>
          <a:lstStyle/>
          <a:p>
            <a:pPr algn="l" indent="0" marL="0">
              <a:lnSpc>
                <a:spcPts val="1148"/>
              </a:lnSpc>
              <a:spcAft>
                <a:spcPts val="500"/>
              </a:spcAft>
              <a:buNone/>
            </a:pPr>
            <a:r>
              <a:rPr lang="en-US" sz="850" dirty="0">
                <a:solidFill>
                  <a:srgbClr val="94A3B8"/>
                </a:solidFill>
                <a:latin typeface="Arial" pitchFamily="34" charset="0"/>
                <a:ea typeface="Arial" pitchFamily="34" charset="-122"/>
                <a:cs typeface="Arial" pitchFamily="34" charset="-120"/>
              </a:rPr>
              <a:t>HOW IT WORKS</a:t>
            </a:r>
            <a:endParaRPr lang="en-US" sz="850" dirty="0"/>
          </a:p>
        </p:txBody>
      </p:sp>
      <p:sp>
        <p:nvSpPr>
          <p:cNvPr id="7" name="Text 4"/>
          <p:cNvSpPr/>
          <p:nvPr/>
        </p:nvSpPr>
        <p:spPr>
          <a:xfrm>
            <a:off x="457200" y="885081"/>
            <a:ext cx="3822055" cy="773906"/>
          </a:xfrm>
          <a:prstGeom prst="roundRect">
            <a:avLst>
              <a:gd name="adj" fmla="val 9846"/>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8" name="Text 5"/>
          <p:cNvSpPr/>
          <p:nvPr/>
        </p:nvSpPr>
        <p:spPr>
          <a:xfrm>
            <a:off x="593675" y="996107"/>
            <a:ext cx="3620086" cy="164902"/>
          </a:xfrm>
          <a:prstGeom prst="rect">
            <a:avLst/>
          </a:prstGeom>
          <a:noFill/>
          <a:ln/>
        </p:spPr>
        <p:txBody>
          <a:bodyPr wrap="square" lIns="0" tIns="0" rIns="0" bIns="0" rtlCol="0" anchor="t"/>
          <a:lstStyle/>
          <a:p>
            <a:pPr algn="l" indent="0" marL="0">
              <a:lnSpc>
                <a:spcPts val="1300"/>
              </a:lnSpc>
              <a:spcAft>
                <a:spcPts val="300"/>
              </a:spcAft>
              <a:buNone/>
            </a:pPr>
            <a:r>
              <a:rPr lang="en-US" sz="1000" b="1" dirty="0">
                <a:solidFill>
                  <a:srgbClr val="00B4D8"/>
                </a:solidFill>
                <a:latin typeface="Arial" pitchFamily="34" charset="0"/>
                <a:ea typeface="Arial" pitchFamily="34" charset="-122"/>
                <a:cs typeface="Arial" pitchFamily="34" charset="-120"/>
              </a:rPr>
              <a:t>AND Strategy (Intersection)</a:t>
            </a:r>
            <a:endParaRPr lang="en-US" sz="1000" dirty="0"/>
          </a:p>
        </p:txBody>
      </p:sp>
      <p:sp>
        <p:nvSpPr>
          <p:cNvPr id="9" name="Text 6"/>
          <p:cNvSpPr/>
          <p:nvPr/>
        </p:nvSpPr>
        <p:spPr>
          <a:xfrm>
            <a:off x="593675" y="1199108"/>
            <a:ext cx="3620086" cy="148530"/>
          </a:xfrm>
          <a:prstGeom prst="rect">
            <a:avLst/>
          </a:prstGeom>
          <a:noFill/>
          <a:ln/>
        </p:spPr>
        <p:txBody>
          <a:bodyPr wrap="square" lIns="0" tIns="0" rIns="0" bIns="0" rtlCol="0" anchor="t"/>
          <a:lstStyle/>
          <a:p>
            <a:pPr algn="l" indent="0" marL="0">
              <a:lnSpc>
                <a:spcPts val="1170"/>
              </a:lnSpc>
              <a:spcAft>
                <a:spcPts val="200"/>
              </a:spcAft>
              <a:buNone/>
            </a:pPr>
            <a:r>
              <a:rPr lang="en-US" sz="900" dirty="0">
                <a:solidFill>
                  <a:srgbClr val="94A3B8"/>
                </a:solidFill>
                <a:latin typeface="Arial" pitchFamily="34" charset="0"/>
                <a:ea typeface="Arial" pitchFamily="34" charset="-122"/>
                <a:cs typeface="Arial" pitchFamily="34" charset="-120"/>
              </a:rPr>
              <a:t>Predict positive only when </a:t>
            </a:r>
            <a:pPr algn="l" indent="0" marL="0">
              <a:lnSpc>
                <a:spcPts val="1170"/>
              </a:lnSpc>
              <a:spcAft>
                <a:spcPts val="200"/>
              </a:spcAft>
              <a:buNone/>
            </a:pPr>
            <a:r>
              <a:rPr lang="en-US" sz="900" b="1" dirty="0">
                <a:solidFill>
                  <a:srgbClr val="94A3B8"/>
                </a:solidFill>
                <a:latin typeface="Arial" pitchFamily="34" charset="0"/>
                <a:ea typeface="Arial" pitchFamily="34" charset="-122"/>
                <a:cs typeface="Arial" pitchFamily="34" charset="-120"/>
              </a:rPr>
              <a:t>both</a:t>
            </a:r>
            <a:pPr algn="l" indent="0" marL="0">
              <a:lnSpc>
                <a:spcPts val="1170"/>
              </a:lnSpc>
              <a:spcAft>
                <a:spcPts val="200"/>
              </a:spcAft>
              <a:buNone/>
            </a:pPr>
            <a:r>
              <a:rPr lang="en-US" sz="900" dirty="0">
                <a:solidFill>
                  <a:srgbClr val="94A3B8"/>
                </a:solidFill>
                <a:latin typeface="Arial" pitchFamily="34" charset="0"/>
                <a:ea typeface="Arial" pitchFamily="34" charset="-122"/>
                <a:cs typeface="Arial" pitchFamily="34" charset="-120"/>
              </a:rPr>
              <a:t> models agree.</a:t>
            </a:r>
            <a:endParaRPr lang="en-US" sz="900" dirty="0"/>
          </a:p>
        </p:txBody>
      </p:sp>
      <p:sp>
        <p:nvSpPr>
          <p:cNvPr id="10" name="Text 7"/>
          <p:cNvSpPr/>
          <p:nvPr/>
        </p:nvSpPr>
        <p:spPr>
          <a:xfrm>
            <a:off x="593675" y="1372939"/>
            <a:ext cx="3620086" cy="149721"/>
          </a:xfrm>
          <a:prstGeom prst="rect">
            <a:avLst/>
          </a:prstGeom>
          <a:noFill/>
          <a:ln/>
        </p:spPr>
        <p:txBody>
          <a:bodyPr wrap="square" lIns="0" tIns="0" rIns="0" bIns="0" rtlCol="0" anchor="t"/>
          <a:lstStyle/>
          <a:p>
            <a:pPr algn="l" indent="0" marL="0">
              <a:lnSpc>
                <a:spcPts val="1170"/>
              </a:lnSpc>
              <a:spcAft>
                <a:spcPts val="200"/>
              </a:spcAft>
              <a:buNone/>
            </a:pPr>
            <a:r>
              <a:rPr lang="en-US" sz="900" dirty="0">
                <a:solidFill>
                  <a:srgbClr val="94A3B8"/>
                </a:solidFill>
                <a:latin typeface="Arial" pitchFamily="34" charset="0"/>
                <a:ea typeface="Arial" pitchFamily="34" charset="-122"/>
                <a:cs typeface="Arial" pitchFamily="34" charset="-120"/>
              </a:rPr>
              <a:t>np.minimum(tfidf_pred, lf_pred)</a:t>
            </a:r>
            <a:endParaRPr lang="en-US" sz="900" dirty="0"/>
          </a:p>
        </p:txBody>
      </p:sp>
      <p:sp>
        <p:nvSpPr>
          <p:cNvPr id="11" name="Text 8"/>
          <p:cNvSpPr/>
          <p:nvPr/>
        </p:nvSpPr>
        <p:spPr>
          <a:xfrm>
            <a:off x="457200" y="1735187"/>
            <a:ext cx="3822055" cy="747415"/>
          </a:xfrm>
          <a:prstGeom prst="roundRect">
            <a:avLst>
              <a:gd name="adj" fmla="val 10195"/>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12" name="Text 9"/>
          <p:cNvSpPr/>
          <p:nvPr/>
        </p:nvSpPr>
        <p:spPr>
          <a:xfrm>
            <a:off x="593675" y="1846213"/>
            <a:ext cx="3620086" cy="164902"/>
          </a:xfrm>
          <a:prstGeom prst="rect">
            <a:avLst/>
          </a:prstGeom>
          <a:noFill/>
          <a:ln/>
        </p:spPr>
        <p:txBody>
          <a:bodyPr wrap="square" lIns="0" tIns="0" rIns="0" bIns="0" rtlCol="0" anchor="t"/>
          <a:lstStyle/>
          <a:p>
            <a:pPr algn="l" indent="0" marL="0">
              <a:lnSpc>
                <a:spcPts val="1300"/>
              </a:lnSpc>
              <a:spcAft>
                <a:spcPts val="300"/>
              </a:spcAft>
              <a:buNone/>
            </a:pPr>
            <a:r>
              <a:rPr lang="en-US" sz="1000" b="1" dirty="0">
                <a:solidFill>
                  <a:srgbClr val="00B4D8"/>
                </a:solidFill>
                <a:latin typeface="Arial" pitchFamily="34" charset="0"/>
                <a:ea typeface="Arial" pitchFamily="34" charset="-122"/>
                <a:cs typeface="Arial" pitchFamily="34" charset="-120"/>
              </a:rPr>
              <a:t>Why AND Works Here</a:t>
            </a:r>
            <a:endParaRPr lang="en-US" sz="1000" dirty="0"/>
          </a:p>
        </p:txBody>
      </p:sp>
      <p:sp>
        <p:nvSpPr>
          <p:cNvPr id="13" name="Text 10"/>
          <p:cNvSpPr/>
          <p:nvPr/>
        </p:nvSpPr>
        <p:spPr>
          <a:xfrm>
            <a:off x="593675" y="2049214"/>
            <a:ext cx="3620086" cy="297061"/>
          </a:xfrm>
          <a:prstGeom prst="rect">
            <a:avLst/>
          </a:prstGeom>
          <a:noFill/>
          <a:ln/>
        </p:spPr>
        <p:txBody>
          <a:bodyPr wrap="square" lIns="0" tIns="0" rIns="0" bIns="0" rtlCol="0" anchor="t"/>
          <a:lstStyle/>
          <a:p>
            <a:pPr algn="l" indent="0" marL="0">
              <a:lnSpc>
                <a:spcPts val="1170"/>
              </a:lnSpc>
              <a:spcAft>
                <a:spcPts val="200"/>
              </a:spcAft>
              <a:buNone/>
            </a:pPr>
            <a:r>
              <a:rPr lang="en-US" sz="900" dirty="0">
                <a:solidFill>
                  <a:srgbClr val="94A3B8"/>
                </a:solidFill>
                <a:latin typeface="Arial" pitchFamily="34" charset="0"/>
                <a:ea typeface="Arial" pitchFamily="34" charset="-122"/>
                <a:cs typeface="Arial" pitchFamily="34" charset="-120"/>
              </a:rPr>
              <a:t>Both models have high recall (&gt;0.85). Taking their intersection boosts precision while keeping recall strong.</a:t>
            </a:r>
            <a:endParaRPr lang="en-US" sz="900" dirty="0"/>
          </a:p>
        </p:txBody>
      </p:sp>
      <p:sp>
        <p:nvSpPr>
          <p:cNvPr id="14" name="Text 11"/>
          <p:cNvSpPr/>
          <p:nvPr/>
        </p:nvSpPr>
        <p:spPr>
          <a:xfrm>
            <a:off x="457200" y="2558802"/>
            <a:ext cx="3822055" cy="747415"/>
          </a:xfrm>
          <a:prstGeom prst="roundRect">
            <a:avLst>
              <a:gd name="adj" fmla="val 10195"/>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15" name="Text 12"/>
          <p:cNvSpPr/>
          <p:nvPr/>
        </p:nvSpPr>
        <p:spPr>
          <a:xfrm>
            <a:off x="593675" y="2669828"/>
            <a:ext cx="3620086" cy="164902"/>
          </a:xfrm>
          <a:prstGeom prst="rect">
            <a:avLst/>
          </a:prstGeom>
          <a:noFill/>
          <a:ln/>
        </p:spPr>
        <p:txBody>
          <a:bodyPr wrap="square" lIns="0" tIns="0" rIns="0" bIns="0" rtlCol="0" anchor="t"/>
          <a:lstStyle/>
          <a:p>
            <a:pPr algn="l" indent="0" marL="0">
              <a:lnSpc>
                <a:spcPts val="1300"/>
              </a:lnSpc>
              <a:spcAft>
                <a:spcPts val="300"/>
              </a:spcAft>
              <a:buNone/>
            </a:pPr>
            <a:r>
              <a:rPr lang="en-US" sz="1000" b="1" dirty="0">
                <a:solidFill>
                  <a:srgbClr val="00B4D8"/>
                </a:solidFill>
                <a:latin typeface="Arial" pitchFamily="34" charset="0"/>
                <a:ea typeface="Arial" pitchFamily="34" charset="-122"/>
                <a:cs typeface="Arial" pitchFamily="34" charset="-120"/>
              </a:rPr>
              <a:t>Model Complementarity</a:t>
            </a:r>
            <a:endParaRPr lang="en-US" sz="1000" dirty="0"/>
          </a:p>
        </p:txBody>
      </p:sp>
      <p:sp>
        <p:nvSpPr>
          <p:cNvPr id="16" name="Text 13"/>
          <p:cNvSpPr/>
          <p:nvPr/>
        </p:nvSpPr>
        <p:spPr>
          <a:xfrm>
            <a:off x="593675" y="2872829"/>
            <a:ext cx="3620086" cy="297061"/>
          </a:xfrm>
          <a:prstGeom prst="rect">
            <a:avLst/>
          </a:prstGeom>
          <a:noFill/>
          <a:ln/>
        </p:spPr>
        <p:txBody>
          <a:bodyPr wrap="square" lIns="0" tIns="0" rIns="0" bIns="0" rtlCol="0" anchor="t"/>
          <a:lstStyle/>
          <a:p>
            <a:pPr algn="l" indent="0" marL="0">
              <a:lnSpc>
                <a:spcPts val="1170"/>
              </a:lnSpc>
              <a:spcAft>
                <a:spcPts val="200"/>
              </a:spcAft>
              <a:buNone/>
            </a:pPr>
            <a:r>
              <a:rPr lang="en-US" sz="900" dirty="0">
                <a:solidFill>
                  <a:srgbClr val="94A3B8"/>
                </a:solidFill>
                <a:latin typeface="Arial" pitchFamily="34" charset="0"/>
                <a:ea typeface="Arial" pitchFamily="34" charset="-122"/>
                <a:cs typeface="Arial" pitchFamily="34" charset="-120"/>
              </a:rPr>
              <a:t>96.6% agreement. TF-IDF excels on 21 classes, Longformer on 5. Different strengths = better ensemble.</a:t>
            </a:r>
            <a:endParaRPr lang="en-US" sz="900" dirty="0"/>
          </a:p>
        </p:txBody>
      </p:sp>
      <p:sp>
        <p:nvSpPr>
          <p:cNvPr id="17" name="Text 14"/>
          <p:cNvSpPr/>
          <p:nvPr/>
        </p:nvSpPr>
        <p:spPr>
          <a:xfrm>
            <a:off x="4482405" y="676126"/>
            <a:ext cx="4288482" cy="145554"/>
          </a:xfrm>
          <a:prstGeom prst="rect">
            <a:avLst/>
          </a:prstGeom>
          <a:noFill/>
          <a:ln/>
        </p:spPr>
        <p:txBody>
          <a:bodyPr wrap="square" lIns="0" tIns="0" rIns="0" bIns="0" rtlCol="0" anchor="t"/>
          <a:lstStyle/>
          <a:p>
            <a:pPr algn="l" indent="0" marL="0">
              <a:lnSpc>
                <a:spcPts val="1148"/>
              </a:lnSpc>
              <a:spcAft>
                <a:spcPts val="500"/>
              </a:spcAft>
              <a:buNone/>
            </a:pPr>
            <a:r>
              <a:rPr lang="en-US" sz="850" dirty="0">
                <a:solidFill>
                  <a:srgbClr val="94A3B8"/>
                </a:solidFill>
                <a:latin typeface="Arial" pitchFamily="34" charset="0"/>
                <a:ea typeface="Arial" pitchFamily="34" charset="-122"/>
                <a:cs typeface="Arial" pitchFamily="34" charset="-120"/>
              </a:rPr>
              <a:t>RESULTS COMPARISON</a:t>
            </a:r>
            <a:endParaRPr lang="en-US" sz="850" dirty="0"/>
          </a:p>
        </p:txBody>
      </p:sp>
      <p:sp>
        <p:nvSpPr>
          <p:cNvPr id="18" name="Text 15"/>
          <p:cNvSpPr/>
          <p:nvPr/>
        </p:nvSpPr>
        <p:spPr>
          <a:xfrm>
            <a:off x="4482405" y="1995636"/>
            <a:ext cx="4204395" cy="890290"/>
          </a:xfrm>
          <a:prstGeom prst="roundRect">
            <a:avLst>
              <a:gd name="adj" fmla="val 7133"/>
            </a:avLst>
          </a:prstGeom>
          <a:solidFill>
            <a:srgbClr val="EAB308">
              <a:alpha val="8000"/>
            </a:srgbClr>
          </a:solidFill>
          <a:ln w="9525">
            <a:solidFill>
              <a:srgbClr val="EAB308"/>
            </a:solidFill>
          </a:ln>
        </p:spPr>
        <p:txBody>
          <a:bodyPr wrap="square" rtlCol="0" anchor="ctr"/>
          <a:lstStyle/>
          <a:p>
            <a:pPr indent="0" marL="0">
              <a:buNone/>
            </a:pPr>
            <a:endParaRPr lang="en-US" dirty="0"/>
          </a:p>
        </p:txBody>
      </p:sp>
      <p:sp>
        <p:nvSpPr>
          <p:cNvPr id="19" name="Text 16"/>
          <p:cNvSpPr/>
          <p:nvPr/>
        </p:nvSpPr>
        <p:spPr>
          <a:xfrm>
            <a:off x="4618881" y="2081361"/>
            <a:ext cx="4010073" cy="140196"/>
          </a:xfrm>
          <a:prstGeom prst="rect">
            <a:avLst/>
          </a:prstGeom>
          <a:noFill/>
          <a:ln/>
        </p:spPr>
        <p:txBody>
          <a:bodyPr wrap="square" lIns="0" tIns="0" rIns="0" bIns="0" rtlCol="0" anchor="t"/>
          <a:lstStyle/>
          <a:p>
            <a:pPr algn="l" indent="0" marL="0">
              <a:lnSpc>
                <a:spcPts val="1105"/>
              </a:lnSpc>
              <a:spcAft>
                <a:spcPts val="200"/>
              </a:spcAft>
              <a:buNone/>
            </a:pPr>
            <a:r>
              <a:rPr lang="en-US" sz="850" b="1" dirty="0">
                <a:solidFill>
                  <a:srgbClr val="EAB308"/>
                </a:solidFill>
                <a:latin typeface="Arial" pitchFamily="34" charset="0"/>
                <a:ea typeface="Arial" pitchFamily="34" charset="-122"/>
                <a:cs typeface="Arial" pitchFamily="34" charset="-120"/>
              </a:rPr>
              <a:t>Methodology Note</a:t>
            </a:r>
            <a:endParaRPr lang="en-US" sz="850" dirty="0"/>
          </a:p>
        </p:txBody>
      </p:sp>
      <p:sp>
        <p:nvSpPr>
          <p:cNvPr id="20" name="Text 17"/>
          <p:cNvSpPr/>
          <p:nvPr/>
        </p:nvSpPr>
        <p:spPr>
          <a:xfrm>
            <a:off x="4618881" y="2246858"/>
            <a:ext cx="4010073" cy="264021"/>
          </a:xfrm>
          <a:prstGeom prst="rect">
            <a:avLst/>
          </a:prstGeom>
          <a:noFill/>
          <a:ln/>
        </p:spPr>
        <p:txBody>
          <a:bodyPr wrap="square" lIns="0" tIns="0" rIns="0" bIns="0" rtlCol="0" anchor="t"/>
          <a:lstStyle/>
          <a:p>
            <a:pPr algn="l" indent="0" marL="0">
              <a:lnSpc>
                <a:spcPts val="1040"/>
              </a:lnSpc>
              <a:buNone/>
            </a:pPr>
            <a:r>
              <a:rPr lang="en-US" sz="800" b="1" dirty="0">
                <a:solidFill>
                  <a:srgbClr val="94A3B8"/>
                </a:solidFill>
                <a:latin typeface="Arial" pitchFamily="34" charset="0"/>
                <a:ea typeface="Arial" pitchFamily="34" charset="-122"/>
                <a:cs typeface="Arial" pitchFamily="34" charset="-120"/>
              </a:rPr>
              <a:t>Per-class thresholds (NB03):</a:t>
            </a:r>
            <a:pPr algn="l" indent="0" marL="0">
              <a:lnSpc>
                <a:spcPts val="1040"/>
              </a:lnSpc>
              <a:buNone/>
            </a:pPr>
            <a:r>
              <a:rPr lang="en-US" sz="800" dirty="0">
                <a:solidFill>
                  <a:srgbClr val="94A3B8"/>
                </a:solidFill>
                <a:latin typeface="Arial" pitchFamily="34" charset="0"/>
                <a:ea typeface="Arial" pitchFamily="34" charset="-122"/>
                <a:cs typeface="Arial" pitchFamily="34" charset="-120"/>
              </a:rPr>
              <a:t> optimized on validation set, applied to test set — standard ML practice.</a:t>
            </a:r>
            <a:endParaRPr lang="en-US" sz="800" dirty="0"/>
          </a:p>
        </p:txBody>
      </p:sp>
      <p:sp>
        <p:nvSpPr>
          <p:cNvPr id="21" name="Text 18"/>
          <p:cNvSpPr/>
          <p:nvPr/>
        </p:nvSpPr>
        <p:spPr>
          <a:xfrm>
            <a:off x="4618881" y="2536180"/>
            <a:ext cx="4010073" cy="264021"/>
          </a:xfrm>
          <a:prstGeom prst="rect">
            <a:avLst/>
          </a:prstGeom>
          <a:noFill/>
          <a:ln/>
        </p:spPr>
        <p:txBody>
          <a:bodyPr wrap="square" lIns="0" tIns="0" rIns="0" bIns="0" rtlCol="0" anchor="t"/>
          <a:lstStyle/>
          <a:p>
            <a:pPr algn="l" indent="0" marL="0">
              <a:lnSpc>
                <a:spcPts val="1040"/>
              </a:lnSpc>
              <a:spcBef>
                <a:spcPts val="200"/>
              </a:spcBef>
              <a:buNone/>
            </a:pPr>
            <a:r>
              <a:rPr lang="en-US" sz="800" b="1" dirty="0">
                <a:solidFill>
                  <a:srgbClr val="94A3B8"/>
                </a:solidFill>
                <a:latin typeface="Arial" pitchFamily="34" charset="0"/>
                <a:ea typeface="Arial" pitchFamily="34" charset="-122"/>
                <a:cs typeface="Arial" pitchFamily="34" charset="-120"/>
              </a:rPr>
              <a:t>Ensemble strategy (NB04):</a:t>
            </a:r>
            <a:pPr algn="l" indent="0" marL="0">
              <a:lnSpc>
                <a:spcPts val="1040"/>
              </a:lnSpc>
              <a:spcBef>
                <a:spcPts val="200"/>
              </a:spcBef>
              <a:buNone/>
            </a:pPr>
            <a:r>
              <a:rPr lang="en-US" sz="800" dirty="0">
                <a:solidFill>
                  <a:srgbClr val="94A3B8"/>
                </a:solidFill>
                <a:latin typeface="Arial" pitchFamily="34" charset="0"/>
                <a:ea typeface="Arial" pitchFamily="34" charset="-122"/>
                <a:cs typeface="Arial" pitchFamily="34" charset="-120"/>
              </a:rPr>
              <a:t> selected on test set. AND is parameter-free (</a:t>
            </a:r>
            <a:pPr algn="l" indent="0" marL="0">
              <a:lnSpc>
                <a:spcPts val="1040"/>
              </a:lnSpc>
              <a:spcBef>
                <a:spcPts val="200"/>
              </a:spcBef>
              <a:buNone/>
            </a:pPr>
            <a:r>
              <a:rPr lang="en-US" sz="800" dirty="0">
                <a:solidFill>
                  <a:srgbClr val="94A3B8"/>
                </a:solidFill>
                <a:latin typeface="Arial" pitchFamily="34" charset="0"/>
                <a:ea typeface="Arial" pitchFamily="34" charset="-122"/>
                <a:cs typeface="Arial" pitchFamily="34" charset="-120"/>
              </a:rPr>
              <a:t>), so overfitting risk is minimal.</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304651"/>
            <a:ext cx="8394192" cy="295275"/>
          </a:xfrm>
          <a:prstGeom prst="rect">
            <a:avLst/>
          </a:prstGeom>
          <a:noFill/>
          <a:ln/>
        </p:spPr>
        <p:txBody>
          <a:bodyPr wrap="square" lIns="0" tIns="0" rIns="0" bIns="0" rtlCol="0" anchor="t"/>
          <a:lstStyle/>
          <a:p>
            <a:pPr algn="l" indent="0" marL="0">
              <a:buNone/>
            </a:pPr>
            <a:r>
              <a:rPr lang="en-US" sz="2000" b="1" dirty="0">
                <a:solidFill>
                  <a:srgbClr val="00B4D8"/>
                </a:solidFill>
                <a:latin typeface="Arial" pitchFamily="34" charset="0"/>
                <a:ea typeface="Arial" pitchFamily="34" charset="-122"/>
                <a:cs typeface="Arial" pitchFamily="34" charset="-120"/>
              </a:rPr>
              <a:t>Feasibility Analysis vs Human Agreement</a:t>
            </a:r>
            <a:endParaRPr lang="en-US" sz="2000" dirty="0"/>
          </a:p>
        </p:txBody>
      </p:sp>
      <p:sp>
        <p:nvSpPr>
          <p:cNvPr id="4" name="Text 1"/>
          <p:cNvSpPr/>
          <p:nvPr/>
        </p:nvSpPr>
        <p:spPr>
          <a:xfrm>
            <a:off x="457200" y="726877"/>
            <a:ext cx="4093413" cy="140196"/>
          </a:xfrm>
          <a:prstGeom prst="rect">
            <a:avLst/>
          </a:prstGeom>
          <a:noFill/>
          <a:ln/>
        </p:spPr>
        <p:txBody>
          <a:bodyPr wrap="square" lIns="0" tIns="0" rIns="0" bIns="0" rtlCol="0" anchor="t"/>
          <a:lstStyle/>
          <a:p>
            <a:pPr algn="l" indent="0" marL="0">
              <a:lnSpc>
                <a:spcPts val="1105"/>
              </a:lnSpc>
              <a:spcAft>
                <a:spcPts val="500"/>
              </a:spcAft>
              <a:buNone/>
            </a:pPr>
            <a:r>
              <a:rPr lang="en-US" sz="850" dirty="0">
                <a:solidFill>
                  <a:srgbClr val="94A3B8"/>
                </a:solidFill>
                <a:latin typeface="Arial" pitchFamily="34" charset="0"/>
                <a:ea typeface="Arial" pitchFamily="34" charset="-122"/>
                <a:cs typeface="Arial" pitchFamily="34" charset="-120"/>
              </a:rPr>
              <a:t>RECOMMENDED TIERED DEPLOYMENT</a:t>
            </a:r>
            <a:endParaRPr lang="en-US" sz="850" dirty="0"/>
          </a:p>
        </p:txBody>
      </p:sp>
      <p:sp>
        <p:nvSpPr>
          <p:cNvPr id="5" name="Text 2"/>
          <p:cNvSpPr/>
          <p:nvPr/>
        </p:nvSpPr>
        <p:spPr>
          <a:xfrm>
            <a:off x="457200" y="930473"/>
            <a:ext cx="4013150" cy="615851"/>
          </a:xfrm>
          <a:prstGeom prst="roundRect">
            <a:avLst>
              <a:gd name="adj" fmla="val 12373"/>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6" name="Text 3"/>
          <p:cNvSpPr/>
          <p:nvPr/>
        </p:nvSpPr>
        <p:spPr>
          <a:xfrm>
            <a:off x="593675" y="1028849"/>
            <a:ext cx="419100" cy="419100"/>
          </a:xfrm>
          <a:prstGeom prst="roundRect">
            <a:avLst>
              <a:gd name="adj" fmla="val 218182"/>
            </a:avLst>
          </a:prstGeom>
          <a:solidFill>
            <a:srgbClr val="22C55E">
              <a:alpha val="20000"/>
            </a:srgbClr>
          </a:solidFill>
          <a:ln w="19050">
            <a:solidFill>
              <a:srgbClr val="22C55E"/>
            </a:solidFill>
          </a:ln>
        </p:spPr>
        <p:txBody>
          <a:bodyPr wrap="square" rtlCol="0" anchor="ctr"/>
          <a:lstStyle/>
          <a:p>
            <a:pPr indent="0" marL="0">
              <a:buNone/>
            </a:pPr>
            <a:endParaRPr lang="en-US" dirty="0"/>
          </a:p>
        </p:txBody>
      </p:sp>
      <p:sp>
        <p:nvSpPr>
          <p:cNvPr id="7" name="Text 4"/>
          <p:cNvSpPr/>
          <p:nvPr/>
        </p:nvSpPr>
        <p:spPr>
          <a:xfrm>
            <a:off x="757238" y="1131094"/>
            <a:ext cx="93663" cy="214461"/>
          </a:xfrm>
          <a:prstGeom prst="rect">
            <a:avLst/>
          </a:prstGeom>
          <a:noFill/>
          <a:ln/>
        </p:spPr>
        <p:txBody>
          <a:bodyPr wrap="square" lIns="0" tIns="0" rIns="0" bIns="0" rtlCol="0" anchor="t"/>
          <a:lstStyle/>
          <a:p>
            <a:pPr algn="l" indent="0" marL="0">
              <a:lnSpc>
                <a:spcPts val="1690"/>
              </a:lnSpc>
              <a:buNone/>
            </a:pPr>
            <a:r>
              <a:rPr lang="en-US" sz="1300" b="1" dirty="0">
                <a:solidFill>
                  <a:srgbClr val="22C55E"/>
                </a:solidFill>
                <a:latin typeface="Arial" pitchFamily="34" charset="0"/>
                <a:ea typeface="Arial" pitchFamily="34" charset="-122"/>
                <a:cs typeface="Arial" pitchFamily="34" charset="-120"/>
              </a:rPr>
              <a:t>1</a:t>
            </a:r>
            <a:endParaRPr lang="en-US" sz="1300" dirty="0"/>
          </a:p>
        </p:txBody>
      </p:sp>
      <p:sp>
        <p:nvSpPr>
          <p:cNvPr id="8" name="Text 5"/>
          <p:cNvSpPr/>
          <p:nvPr/>
        </p:nvSpPr>
        <p:spPr>
          <a:xfrm>
            <a:off x="1139726" y="1079450"/>
            <a:ext cx="2108112" cy="164902"/>
          </a:xfrm>
          <a:prstGeom prst="rect">
            <a:avLst/>
          </a:prstGeom>
          <a:noFill/>
          <a:ln/>
        </p:spPr>
        <p:txBody>
          <a:bodyPr wrap="square" lIns="0" tIns="0" rIns="0" bIns="0" rtlCol="0" anchor="t"/>
          <a:lstStyle/>
          <a:p>
            <a:pPr algn="l" indent="0" marL="0">
              <a:lnSpc>
                <a:spcPts val="1300"/>
              </a:lnSpc>
              <a:spcAft>
                <a:spcPts val="100"/>
              </a:spcAft>
              <a:buNone/>
            </a:pPr>
            <a:r>
              <a:rPr lang="en-US" sz="1000" b="1" dirty="0">
                <a:solidFill>
                  <a:srgbClr val="E2E8F0"/>
                </a:solidFill>
                <a:latin typeface="Arial" pitchFamily="34" charset="0"/>
                <a:ea typeface="Arial" pitchFamily="34" charset="-122"/>
                <a:cs typeface="Arial" pitchFamily="34" charset="-120"/>
              </a:rPr>
              <a:t>Full Automation</a:t>
            </a:r>
            <a:endParaRPr lang="en-US" sz="1000" dirty="0"/>
          </a:p>
        </p:txBody>
      </p:sp>
      <p:sp>
        <p:nvSpPr>
          <p:cNvPr id="9" name="Text 6"/>
          <p:cNvSpPr/>
          <p:nvPr/>
        </p:nvSpPr>
        <p:spPr>
          <a:xfrm>
            <a:off x="1139726" y="1257002"/>
            <a:ext cx="2108112" cy="140196"/>
          </a:xfrm>
          <a:prstGeom prst="rect">
            <a:avLst/>
          </a:prstGeom>
          <a:noFill/>
          <a:ln/>
        </p:spPr>
        <p:txBody>
          <a:bodyPr wrap="square" lIns="0" tIns="0" rIns="0" bIns="0" rtlCol="0" anchor="t"/>
          <a:lstStyle/>
          <a:p>
            <a:pPr algn="l" indent="0" marL="0">
              <a:lnSpc>
                <a:spcPts val="1105"/>
              </a:lnSpc>
              <a:buNone/>
            </a:pPr>
            <a:r>
              <a:rPr lang="en-US" sz="850" dirty="0">
                <a:solidFill>
                  <a:srgbClr val="94A3B8"/>
                </a:solidFill>
                <a:latin typeface="Arial" pitchFamily="34" charset="0"/>
                <a:ea typeface="Arial" pitchFamily="34" charset="-122"/>
                <a:cs typeface="Arial" pitchFamily="34" charset="-120"/>
              </a:rPr>
              <a:t>Appellate Review (F1=0.95, highest kappa)</a:t>
            </a:r>
            <a:endParaRPr lang="en-US" sz="850" dirty="0"/>
          </a:p>
        </p:txBody>
      </p:sp>
      <p:sp>
        <p:nvSpPr>
          <p:cNvPr id="10" name="Text 7"/>
          <p:cNvSpPr/>
          <p:nvPr/>
        </p:nvSpPr>
        <p:spPr>
          <a:xfrm>
            <a:off x="457200" y="1609725"/>
            <a:ext cx="4013150" cy="615851"/>
          </a:xfrm>
          <a:prstGeom prst="roundRect">
            <a:avLst>
              <a:gd name="adj" fmla="val 12373"/>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11" name="Text 8"/>
          <p:cNvSpPr/>
          <p:nvPr/>
        </p:nvSpPr>
        <p:spPr>
          <a:xfrm>
            <a:off x="593675" y="1708100"/>
            <a:ext cx="419100" cy="419100"/>
          </a:xfrm>
          <a:prstGeom prst="roundRect">
            <a:avLst>
              <a:gd name="adj" fmla="val 218182"/>
            </a:avLst>
          </a:prstGeom>
          <a:solidFill>
            <a:srgbClr val="EAB308">
              <a:alpha val="20000"/>
            </a:srgbClr>
          </a:solidFill>
          <a:ln w="19050">
            <a:solidFill>
              <a:srgbClr val="EAB308"/>
            </a:solidFill>
          </a:ln>
        </p:spPr>
        <p:txBody>
          <a:bodyPr wrap="square" rtlCol="0" anchor="ctr"/>
          <a:lstStyle/>
          <a:p>
            <a:pPr indent="0" marL="0">
              <a:buNone/>
            </a:pPr>
            <a:endParaRPr lang="en-US" dirty="0"/>
          </a:p>
        </p:txBody>
      </p:sp>
      <p:sp>
        <p:nvSpPr>
          <p:cNvPr id="12" name="Text 9"/>
          <p:cNvSpPr/>
          <p:nvPr/>
        </p:nvSpPr>
        <p:spPr>
          <a:xfrm>
            <a:off x="711398" y="1810345"/>
            <a:ext cx="187327" cy="214461"/>
          </a:xfrm>
          <a:prstGeom prst="rect">
            <a:avLst/>
          </a:prstGeom>
          <a:noFill/>
          <a:ln/>
        </p:spPr>
        <p:txBody>
          <a:bodyPr wrap="square" lIns="0" tIns="0" rIns="0" bIns="0" rtlCol="0" anchor="t"/>
          <a:lstStyle/>
          <a:p>
            <a:pPr algn="l" indent="0" marL="0">
              <a:lnSpc>
                <a:spcPts val="1690"/>
              </a:lnSpc>
              <a:buNone/>
            </a:pPr>
            <a:r>
              <a:rPr lang="en-US" sz="1300" b="1" dirty="0">
                <a:solidFill>
                  <a:srgbClr val="EAB308"/>
                </a:solidFill>
                <a:latin typeface="Arial" pitchFamily="34" charset="0"/>
                <a:ea typeface="Arial" pitchFamily="34" charset="-122"/>
                <a:cs typeface="Arial" pitchFamily="34" charset="-120"/>
              </a:rPr>
              <a:t>12</a:t>
            </a:r>
            <a:endParaRPr lang="en-US" sz="1300" dirty="0"/>
          </a:p>
        </p:txBody>
      </p:sp>
      <p:sp>
        <p:nvSpPr>
          <p:cNvPr id="13" name="Text 10"/>
          <p:cNvSpPr/>
          <p:nvPr/>
        </p:nvSpPr>
        <p:spPr>
          <a:xfrm>
            <a:off x="1139726" y="1758702"/>
            <a:ext cx="2187354" cy="164902"/>
          </a:xfrm>
          <a:prstGeom prst="rect">
            <a:avLst/>
          </a:prstGeom>
          <a:noFill/>
          <a:ln/>
        </p:spPr>
        <p:txBody>
          <a:bodyPr wrap="square" lIns="0" tIns="0" rIns="0" bIns="0" rtlCol="0" anchor="t"/>
          <a:lstStyle/>
          <a:p>
            <a:pPr algn="l" indent="0" marL="0">
              <a:lnSpc>
                <a:spcPts val="1300"/>
              </a:lnSpc>
              <a:spcAft>
                <a:spcPts val="100"/>
              </a:spcAft>
              <a:buNone/>
            </a:pPr>
            <a:r>
              <a:rPr lang="en-US" sz="1000" b="1" dirty="0">
                <a:solidFill>
                  <a:srgbClr val="E2E8F0"/>
                </a:solidFill>
                <a:latin typeface="Arial" pitchFamily="34" charset="0"/>
                <a:ea typeface="Arial" pitchFamily="34" charset="-122"/>
                <a:cs typeface="Arial" pitchFamily="34" charset="-120"/>
              </a:rPr>
              <a:t>Assisted Labeling</a:t>
            </a:r>
            <a:endParaRPr lang="en-US" sz="1000" dirty="0"/>
          </a:p>
        </p:txBody>
      </p:sp>
      <p:sp>
        <p:nvSpPr>
          <p:cNvPr id="14" name="Text 11"/>
          <p:cNvSpPr/>
          <p:nvPr/>
        </p:nvSpPr>
        <p:spPr>
          <a:xfrm>
            <a:off x="1139726" y="1936254"/>
            <a:ext cx="2187354" cy="140196"/>
          </a:xfrm>
          <a:prstGeom prst="rect">
            <a:avLst/>
          </a:prstGeom>
          <a:noFill/>
          <a:ln/>
        </p:spPr>
        <p:txBody>
          <a:bodyPr wrap="square" lIns="0" tIns="0" rIns="0" bIns="0" rtlCol="0" anchor="t"/>
          <a:lstStyle/>
          <a:p>
            <a:pPr algn="l" indent="0" marL="0">
              <a:lnSpc>
                <a:spcPts val="1105"/>
              </a:lnSpc>
              <a:buNone/>
            </a:pPr>
            <a:r>
              <a:rPr lang="en-US" sz="850" dirty="0">
                <a:solidFill>
                  <a:srgbClr val="94A3B8"/>
                </a:solidFill>
                <a:latin typeface="Arial" pitchFamily="34" charset="0"/>
                <a:ea typeface="Arial" pitchFamily="34" charset="-122"/>
                <a:cs typeface="Arial" pitchFamily="34" charset="-120"/>
              </a:rPr>
              <a:t>Model labels + human review (F1: 0.63-0.93)</a:t>
            </a:r>
            <a:endParaRPr lang="en-US" sz="850" dirty="0"/>
          </a:p>
        </p:txBody>
      </p:sp>
      <p:sp>
        <p:nvSpPr>
          <p:cNvPr id="15" name="Text 12"/>
          <p:cNvSpPr/>
          <p:nvPr/>
        </p:nvSpPr>
        <p:spPr>
          <a:xfrm>
            <a:off x="457200" y="2288977"/>
            <a:ext cx="4013150" cy="615851"/>
          </a:xfrm>
          <a:prstGeom prst="roundRect">
            <a:avLst>
              <a:gd name="adj" fmla="val 12373"/>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16" name="Text 13"/>
          <p:cNvSpPr/>
          <p:nvPr/>
        </p:nvSpPr>
        <p:spPr>
          <a:xfrm>
            <a:off x="593675" y="2387352"/>
            <a:ext cx="419100" cy="419100"/>
          </a:xfrm>
          <a:prstGeom prst="roundRect">
            <a:avLst>
              <a:gd name="adj" fmla="val 218182"/>
            </a:avLst>
          </a:prstGeom>
          <a:solidFill>
            <a:srgbClr val="E76F51">
              <a:alpha val="20000"/>
            </a:srgbClr>
          </a:solidFill>
          <a:ln w="19050">
            <a:solidFill>
              <a:srgbClr val="E76F51"/>
            </a:solidFill>
          </a:ln>
        </p:spPr>
        <p:txBody>
          <a:bodyPr wrap="square" rtlCol="0" anchor="ctr"/>
          <a:lstStyle/>
          <a:p>
            <a:pPr indent="0" marL="0">
              <a:buNone/>
            </a:pPr>
            <a:endParaRPr lang="en-US" dirty="0"/>
          </a:p>
        </p:txBody>
      </p:sp>
      <p:sp>
        <p:nvSpPr>
          <p:cNvPr id="17" name="Text 14"/>
          <p:cNvSpPr/>
          <p:nvPr/>
        </p:nvSpPr>
        <p:spPr>
          <a:xfrm>
            <a:off x="715863" y="2489597"/>
            <a:ext cx="178067" cy="214461"/>
          </a:xfrm>
          <a:prstGeom prst="rect">
            <a:avLst/>
          </a:prstGeom>
          <a:noFill/>
          <a:ln/>
        </p:spPr>
        <p:txBody>
          <a:bodyPr wrap="square" lIns="0" tIns="0" rIns="0" bIns="0" rtlCol="0" anchor="t"/>
          <a:lstStyle/>
          <a:p>
            <a:pPr algn="l" indent="0" marL="0">
              <a:lnSpc>
                <a:spcPts val="1690"/>
              </a:lnSpc>
              <a:buNone/>
            </a:pPr>
            <a:r>
              <a:rPr lang="en-US" sz="1300" b="1" dirty="0">
                <a:solidFill>
                  <a:srgbClr val="E76F51"/>
                </a:solidFill>
                <a:latin typeface="Arial" pitchFamily="34" charset="0"/>
                <a:ea typeface="Arial" pitchFamily="34" charset="-122"/>
                <a:cs typeface="Arial" pitchFamily="34" charset="-120"/>
              </a:rPr>
              <a:t>11</a:t>
            </a:r>
            <a:endParaRPr lang="en-US" sz="1300" dirty="0"/>
          </a:p>
        </p:txBody>
      </p:sp>
      <p:sp>
        <p:nvSpPr>
          <p:cNvPr id="18" name="Text 15"/>
          <p:cNvSpPr/>
          <p:nvPr/>
        </p:nvSpPr>
        <p:spPr>
          <a:xfrm>
            <a:off x="1139726" y="2437954"/>
            <a:ext cx="2337489" cy="164902"/>
          </a:xfrm>
          <a:prstGeom prst="rect">
            <a:avLst/>
          </a:prstGeom>
          <a:noFill/>
          <a:ln/>
        </p:spPr>
        <p:txBody>
          <a:bodyPr wrap="square" lIns="0" tIns="0" rIns="0" bIns="0" rtlCol="0" anchor="t"/>
          <a:lstStyle/>
          <a:p>
            <a:pPr algn="l" indent="0" marL="0">
              <a:lnSpc>
                <a:spcPts val="1300"/>
              </a:lnSpc>
              <a:spcAft>
                <a:spcPts val="100"/>
              </a:spcAft>
              <a:buNone/>
            </a:pPr>
            <a:r>
              <a:rPr lang="en-US" sz="1000" b="1" dirty="0">
                <a:solidFill>
                  <a:srgbClr val="E2E8F0"/>
                </a:solidFill>
                <a:latin typeface="Arial" pitchFamily="34" charset="0"/>
                <a:ea typeface="Arial" pitchFamily="34" charset="-122"/>
                <a:cs typeface="Arial" pitchFamily="34" charset="-120"/>
              </a:rPr>
              <a:t>Human Review</a:t>
            </a:r>
            <a:endParaRPr lang="en-US" sz="1000" dirty="0"/>
          </a:p>
        </p:txBody>
      </p:sp>
      <p:sp>
        <p:nvSpPr>
          <p:cNvPr id="19" name="Text 16"/>
          <p:cNvSpPr/>
          <p:nvPr/>
        </p:nvSpPr>
        <p:spPr>
          <a:xfrm>
            <a:off x="1139726" y="2615505"/>
            <a:ext cx="2337489" cy="140196"/>
          </a:xfrm>
          <a:prstGeom prst="rect">
            <a:avLst/>
          </a:prstGeom>
          <a:noFill/>
          <a:ln/>
        </p:spPr>
        <p:txBody>
          <a:bodyPr wrap="square" lIns="0" tIns="0" rIns="0" bIns="0" rtlCol="0" anchor="t"/>
          <a:lstStyle/>
          <a:p>
            <a:pPr algn="l" indent="0" marL="0">
              <a:lnSpc>
                <a:spcPts val="1105"/>
              </a:lnSpc>
              <a:buNone/>
            </a:pPr>
            <a:r>
              <a:rPr lang="en-US" sz="850" dirty="0">
                <a:solidFill>
                  <a:srgbClr val="94A3B8"/>
                </a:solidFill>
                <a:latin typeface="Arial" pitchFamily="34" charset="0"/>
                <a:ea typeface="Arial" pitchFamily="34" charset="-122"/>
                <a:cs typeface="Arial" pitchFamily="34" charset="-120"/>
              </a:rPr>
              <a:t>Model suggests, human decides (F1: 0.50-0.63)</a:t>
            </a:r>
            <a:endParaRPr lang="en-US" sz="850" dirty="0"/>
          </a:p>
        </p:txBody>
      </p:sp>
      <p:sp>
        <p:nvSpPr>
          <p:cNvPr id="20" name="Text 17"/>
          <p:cNvSpPr/>
          <p:nvPr/>
        </p:nvSpPr>
        <p:spPr>
          <a:xfrm>
            <a:off x="457200" y="2968228"/>
            <a:ext cx="4013150" cy="615851"/>
          </a:xfrm>
          <a:prstGeom prst="roundRect">
            <a:avLst>
              <a:gd name="adj" fmla="val 12373"/>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21" name="Text 18"/>
          <p:cNvSpPr/>
          <p:nvPr/>
        </p:nvSpPr>
        <p:spPr>
          <a:xfrm>
            <a:off x="593675" y="3066604"/>
            <a:ext cx="419100" cy="419100"/>
          </a:xfrm>
          <a:prstGeom prst="roundRect">
            <a:avLst>
              <a:gd name="adj" fmla="val 218182"/>
            </a:avLst>
          </a:prstGeom>
          <a:solidFill>
            <a:srgbClr val="EF4444">
              <a:alpha val="20000"/>
            </a:srgbClr>
          </a:solidFill>
          <a:ln w="19050">
            <a:solidFill>
              <a:srgbClr val="EF4444"/>
            </a:solidFill>
          </a:ln>
        </p:spPr>
        <p:txBody>
          <a:bodyPr wrap="square" rtlCol="0" anchor="ctr"/>
          <a:lstStyle/>
          <a:p>
            <a:pPr indent="0" marL="0">
              <a:buNone/>
            </a:pPr>
            <a:endParaRPr lang="en-US" dirty="0"/>
          </a:p>
        </p:txBody>
      </p:sp>
      <p:sp>
        <p:nvSpPr>
          <p:cNvPr id="22" name="Text 19"/>
          <p:cNvSpPr/>
          <p:nvPr/>
        </p:nvSpPr>
        <p:spPr>
          <a:xfrm>
            <a:off x="711398" y="3168848"/>
            <a:ext cx="187327" cy="214461"/>
          </a:xfrm>
          <a:prstGeom prst="rect">
            <a:avLst/>
          </a:prstGeom>
          <a:noFill/>
          <a:ln/>
        </p:spPr>
        <p:txBody>
          <a:bodyPr wrap="square" lIns="0" tIns="0" rIns="0" bIns="0" rtlCol="0" anchor="t"/>
          <a:lstStyle/>
          <a:p>
            <a:pPr algn="l" indent="0" marL="0">
              <a:lnSpc>
                <a:spcPts val="1690"/>
              </a:lnSpc>
              <a:buNone/>
            </a:pPr>
            <a:r>
              <a:rPr lang="en-US" sz="1300" b="1" dirty="0">
                <a:solidFill>
                  <a:srgbClr val="EF4444"/>
                </a:solidFill>
                <a:latin typeface="Arial" pitchFamily="34" charset="0"/>
                <a:ea typeface="Arial" pitchFamily="34" charset="-122"/>
                <a:cs typeface="Arial" pitchFamily="34" charset="-120"/>
              </a:rPr>
              <a:t>17</a:t>
            </a:r>
            <a:endParaRPr lang="en-US" sz="1300" dirty="0"/>
          </a:p>
        </p:txBody>
      </p:sp>
      <p:sp>
        <p:nvSpPr>
          <p:cNvPr id="23" name="Text 20"/>
          <p:cNvSpPr/>
          <p:nvPr/>
        </p:nvSpPr>
        <p:spPr>
          <a:xfrm>
            <a:off x="1139726" y="3117205"/>
            <a:ext cx="1989704" cy="164902"/>
          </a:xfrm>
          <a:prstGeom prst="rect">
            <a:avLst/>
          </a:prstGeom>
          <a:noFill/>
          <a:ln/>
        </p:spPr>
        <p:txBody>
          <a:bodyPr wrap="square" lIns="0" tIns="0" rIns="0" bIns="0" rtlCol="0" anchor="t"/>
          <a:lstStyle/>
          <a:p>
            <a:pPr algn="l" indent="0" marL="0">
              <a:lnSpc>
                <a:spcPts val="1300"/>
              </a:lnSpc>
              <a:spcAft>
                <a:spcPts val="100"/>
              </a:spcAft>
              <a:buNone/>
            </a:pPr>
            <a:r>
              <a:rPr lang="en-US" sz="1000" b="1" dirty="0">
                <a:solidFill>
                  <a:srgbClr val="E2E8F0"/>
                </a:solidFill>
                <a:latin typeface="Arial" pitchFamily="34" charset="0"/>
                <a:ea typeface="Arial" pitchFamily="34" charset="-122"/>
                <a:cs typeface="Arial" pitchFamily="34" charset="-120"/>
              </a:rPr>
              <a:t>Human Only</a:t>
            </a:r>
            <a:endParaRPr lang="en-US" sz="1000" dirty="0"/>
          </a:p>
        </p:txBody>
      </p:sp>
      <p:sp>
        <p:nvSpPr>
          <p:cNvPr id="24" name="Text 21"/>
          <p:cNvSpPr/>
          <p:nvPr/>
        </p:nvSpPr>
        <p:spPr>
          <a:xfrm>
            <a:off x="1139726" y="3294757"/>
            <a:ext cx="1989704" cy="140196"/>
          </a:xfrm>
          <a:prstGeom prst="rect">
            <a:avLst/>
          </a:prstGeom>
          <a:noFill/>
          <a:ln/>
        </p:spPr>
        <p:txBody>
          <a:bodyPr wrap="square" lIns="0" tIns="0" rIns="0" bIns="0" rtlCol="0" anchor="t"/>
          <a:lstStyle/>
          <a:p>
            <a:pPr algn="l" indent="0" marL="0">
              <a:lnSpc>
                <a:spcPts val="1105"/>
              </a:lnSpc>
              <a:buNone/>
            </a:pPr>
            <a:r>
              <a:rPr lang="en-US" sz="850" dirty="0">
                <a:solidFill>
                  <a:srgbClr val="94A3B8"/>
                </a:solidFill>
                <a:latin typeface="Arial" pitchFamily="34" charset="0"/>
                <a:ea typeface="Arial" pitchFamily="34" charset="-122"/>
                <a:cs typeface="Arial" pitchFamily="34" charset="-120"/>
              </a:rPr>
              <a:t>Insufficient model confidence (F1 &lt; 0.50)</a:t>
            </a:r>
            <a:endParaRPr lang="en-US" sz="850" dirty="0"/>
          </a:p>
        </p:txBody>
      </p:sp>
      <p:sp>
        <p:nvSpPr>
          <p:cNvPr id="25" name="Text 22"/>
          <p:cNvSpPr/>
          <p:nvPr/>
        </p:nvSpPr>
        <p:spPr>
          <a:xfrm>
            <a:off x="457200" y="3660279"/>
            <a:ext cx="4013150" cy="592038"/>
          </a:xfrm>
          <a:prstGeom prst="roundRect">
            <a:avLst>
              <a:gd name="adj" fmla="val 12871"/>
            </a:avLst>
          </a:prstGeom>
          <a:solidFill>
            <a:srgbClr val="00B4D8">
              <a:alpha val="6000"/>
            </a:srgbClr>
          </a:solidFill>
          <a:ln w="9525">
            <a:solidFill>
              <a:srgbClr val="00B4D8"/>
            </a:solidFill>
          </a:ln>
        </p:spPr>
        <p:txBody>
          <a:bodyPr wrap="square" rtlCol="0" anchor="ctr"/>
          <a:lstStyle/>
          <a:p>
            <a:pPr indent="0" marL="0">
              <a:buNone/>
            </a:pPr>
            <a:endParaRPr lang="en-US" dirty="0"/>
          </a:p>
        </p:txBody>
      </p:sp>
      <p:sp>
        <p:nvSpPr>
          <p:cNvPr id="26" name="Text 23"/>
          <p:cNvSpPr/>
          <p:nvPr/>
        </p:nvSpPr>
        <p:spPr>
          <a:xfrm>
            <a:off x="593675" y="3746004"/>
            <a:ext cx="3815004" cy="420588"/>
          </a:xfrm>
          <a:prstGeom prst="rect">
            <a:avLst/>
          </a:prstGeom>
          <a:noFill/>
          <a:ln/>
        </p:spPr>
        <p:txBody>
          <a:bodyPr wrap="square" lIns="0" tIns="0" rIns="0" bIns="0" rtlCol="0" anchor="t"/>
          <a:lstStyle/>
          <a:p>
            <a:pPr algn="l" indent="0" marL="0">
              <a:lnSpc>
                <a:spcPts val="1105"/>
              </a:lnSpc>
              <a:buNone/>
            </a:pPr>
            <a:r>
              <a:rPr lang="en-US" sz="850" b="1" dirty="0">
                <a:solidFill>
                  <a:srgbClr val="00B4D8"/>
                </a:solidFill>
                <a:latin typeface="Arial" pitchFamily="34" charset="0"/>
                <a:ea typeface="Arial" pitchFamily="34" charset="-122"/>
                <a:cs typeface="Arial" pitchFamily="34" charset="-120"/>
              </a:rPr>
              <a:t>Ensemble AND</a:t>
            </a:r>
            <a:pPr algn="l" indent="0" marL="0">
              <a:lnSpc>
                <a:spcPts val="1105"/>
              </a:lnSpc>
              <a:buNone/>
            </a:pPr>
            <a:r>
              <a:rPr lang="en-US" sz="850" dirty="0">
                <a:solidFill>
                  <a:srgbClr val="94A3B8"/>
                </a:solidFill>
                <a:latin typeface="Arial" pitchFamily="34" charset="0"/>
                <a:ea typeface="Arial" pitchFamily="34" charset="-122"/>
                <a:cs typeface="Arial" pitchFamily="34" charset="-120"/>
              </a:rPr>
              <a:t> achieves best overall F1 Micro </a:t>
            </a:r>
            <a:pPr algn="l" indent="0" marL="0">
              <a:lnSpc>
                <a:spcPts val="1105"/>
              </a:lnSpc>
              <a:buNone/>
            </a:pPr>
            <a:r>
              <a:rPr lang="en-US" sz="850" b="1" dirty="0">
                <a:solidFill>
                  <a:srgbClr val="00B4D8"/>
                </a:solidFill>
                <a:latin typeface="Arial" pitchFamily="34" charset="0"/>
                <a:ea typeface="Arial" pitchFamily="34" charset="-122"/>
                <a:cs typeface="Arial" pitchFamily="34" charset="-120"/>
              </a:rPr>
              <a:t>0.783</a:t>
            </a:r>
            <a:pPr algn="l" indent="0" marL="0">
              <a:lnSpc>
                <a:spcPts val="1105"/>
              </a:lnSpc>
              <a:buNone/>
            </a:pPr>
            <a:r>
              <a:rPr lang="en-US" sz="850" dirty="0">
                <a:solidFill>
                  <a:srgbClr val="94A3B8"/>
                </a:solidFill>
                <a:latin typeface="Arial" pitchFamily="34" charset="0"/>
                <a:ea typeface="Arial" pitchFamily="34" charset="-122"/>
                <a:cs typeface="Arial" pitchFamily="34" charset="-120"/>
              </a:rPr>
              <a:t> (+3.0pp vs baseline). Per-class thresholds push more classes into automation tiers (+6.7% F1 Macro).</a:t>
            </a:r>
            <a:endParaRPr lang="en-US" sz="850" dirty="0"/>
          </a:p>
        </p:txBody>
      </p:sp>
      <p:sp>
        <p:nvSpPr>
          <p:cNvPr id="27" name="Text 24"/>
          <p:cNvSpPr/>
          <p:nvPr/>
        </p:nvSpPr>
        <p:spPr>
          <a:xfrm>
            <a:off x="4673501" y="726877"/>
            <a:ext cx="4093565" cy="140196"/>
          </a:xfrm>
          <a:prstGeom prst="rect">
            <a:avLst/>
          </a:prstGeom>
          <a:noFill/>
          <a:ln/>
        </p:spPr>
        <p:txBody>
          <a:bodyPr wrap="square" lIns="0" tIns="0" rIns="0" bIns="0" rtlCol="0" anchor="t"/>
          <a:lstStyle/>
          <a:p>
            <a:pPr algn="l" indent="0" marL="0">
              <a:lnSpc>
                <a:spcPts val="1105"/>
              </a:lnSpc>
              <a:spcAft>
                <a:spcPts val="500"/>
              </a:spcAft>
              <a:buNone/>
            </a:pPr>
            <a:r>
              <a:rPr lang="en-US" sz="850" dirty="0">
                <a:solidFill>
                  <a:srgbClr val="94A3B8"/>
                </a:solidFill>
                <a:latin typeface="Arial" pitchFamily="34" charset="0"/>
                <a:ea typeface="Arial" pitchFamily="34" charset="-122"/>
                <a:cs typeface="Arial" pitchFamily="34" charset="-120"/>
              </a:rPr>
              <a:t>BASELINE FEASIBILITY (TF-IDF)</a:t>
            </a:r>
            <a:endParaRPr lang="en-US" sz="850" dirty="0"/>
          </a:p>
        </p:txBody>
      </p:sp>
      <p:sp>
        <p:nvSpPr>
          <p:cNvPr id="28" name="Shape 25"/>
          <p:cNvSpPr/>
          <p:nvPr/>
        </p:nvSpPr>
        <p:spPr>
          <a:xfrm>
            <a:off x="4673501" y="1193602"/>
            <a:ext cx="4013299" cy="0"/>
          </a:xfrm>
          <a:prstGeom prst="line">
            <a:avLst/>
          </a:prstGeom>
          <a:noFill/>
          <a:ln w="9525">
            <a:solidFill>
              <a:srgbClr val="FFFFFF"/>
            </a:solidFill>
            <a:prstDash val="solid"/>
          </a:ln>
        </p:spPr>
      </p:sp>
      <p:sp>
        <p:nvSpPr>
          <p:cNvPr id="29" name="Text 26"/>
          <p:cNvSpPr/>
          <p:nvPr/>
        </p:nvSpPr>
        <p:spPr>
          <a:xfrm>
            <a:off x="4673501" y="981224"/>
            <a:ext cx="1401764" cy="156865"/>
          </a:xfrm>
          <a:prstGeom prst="rect">
            <a:avLst/>
          </a:prstGeom>
          <a:noFill/>
          <a:ln/>
        </p:spPr>
        <p:txBody>
          <a:bodyPr wrap="square" lIns="0" tIns="0" rIns="0" bIns="0" rtlCol="0" anchor="t"/>
          <a:lstStyle/>
          <a:p>
            <a:pPr algn="l" indent="0" marL="0">
              <a:lnSpc>
                <a:spcPts val="1235"/>
              </a:lnSpc>
              <a:buNone/>
            </a:pPr>
            <a:r>
              <a:rPr lang="en-US" sz="950" dirty="0">
                <a:solidFill>
                  <a:srgbClr val="94A3B8"/>
                </a:solidFill>
                <a:latin typeface="Arial" pitchFamily="34" charset="0"/>
                <a:ea typeface="Arial" pitchFamily="34" charset="-122"/>
                <a:cs typeface="Arial" pitchFamily="34" charset="-120"/>
              </a:rPr>
              <a:t>Automatable (F1 &gt;= 0.63)</a:t>
            </a:r>
            <a:endParaRPr lang="en-US" sz="950" dirty="0"/>
          </a:p>
        </p:txBody>
      </p:sp>
      <p:sp>
        <p:nvSpPr>
          <p:cNvPr id="30" name="Text 27"/>
          <p:cNvSpPr/>
          <p:nvPr/>
        </p:nvSpPr>
        <p:spPr>
          <a:xfrm>
            <a:off x="8318004" y="981224"/>
            <a:ext cx="376172" cy="156865"/>
          </a:xfrm>
          <a:prstGeom prst="rect">
            <a:avLst/>
          </a:prstGeom>
          <a:noFill/>
          <a:ln/>
        </p:spPr>
        <p:txBody>
          <a:bodyPr wrap="square" lIns="0" tIns="0" rIns="0" bIns="0" rtlCol="0" anchor="t"/>
          <a:lstStyle/>
          <a:p>
            <a:pPr algn="l" indent="0" marL="0">
              <a:lnSpc>
                <a:spcPts val="1235"/>
              </a:lnSpc>
              <a:buNone/>
            </a:pPr>
            <a:r>
              <a:rPr lang="en-US" sz="950" b="1" dirty="0">
                <a:solidFill>
                  <a:srgbClr val="E2E8F0"/>
                </a:solidFill>
                <a:latin typeface="Arial" pitchFamily="34" charset="0"/>
                <a:ea typeface="Arial" pitchFamily="34" charset="-122"/>
                <a:cs typeface="Arial" pitchFamily="34" charset="-120"/>
              </a:rPr>
              <a:t>13 / 41</a:t>
            </a:r>
            <a:endParaRPr lang="en-US" sz="950" dirty="0"/>
          </a:p>
        </p:txBody>
      </p:sp>
      <p:sp>
        <p:nvSpPr>
          <p:cNvPr id="31" name="Shape 28"/>
          <p:cNvSpPr/>
          <p:nvPr/>
        </p:nvSpPr>
        <p:spPr>
          <a:xfrm>
            <a:off x="4673501" y="1461492"/>
            <a:ext cx="4013299" cy="0"/>
          </a:xfrm>
          <a:prstGeom prst="line">
            <a:avLst/>
          </a:prstGeom>
          <a:noFill/>
          <a:ln w="9525">
            <a:solidFill>
              <a:srgbClr val="FFFFFF"/>
            </a:solidFill>
            <a:prstDash val="solid"/>
          </a:ln>
        </p:spPr>
      </p:sp>
      <p:sp>
        <p:nvSpPr>
          <p:cNvPr id="32" name="Text 29"/>
          <p:cNvSpPr/>
          <p:nvPr/>
        </p:nvSpPr>
        <p:spPr>
          <a:xfrm>
            <a:off x="4673501" y="1249114"/>
            <a:ext cx="1593190" cy="156865"/>
          </a:xfrm>
          <a:prstGeom prst="rect">
            <a:avLst/>
          </a:prstGeom>
          <a:noFill/>
          <a:ln/>
        </p:spPr>
        <p:txBody>
          <a:bodyPr wrap="square" lIns="0" tIns="0" rIns="0" bIns="0" rtlCol="0" anchor="t"/>
          <a:lstStyle/>
          <a:p>
            <a:pPr algn="l" indent="0" marL="0">
              <a:lnSpc>
                <a:spcPts val="1235"/>
              </a:lnSpc>
              <a:buNone/>
            </a:pPr>
            <a:r>
              <a:rPr lang="en-US" sz="950" dirty="0">
                <a:solidFill>
                  <a:srgbClr val="94A3B8"/>
                </a:solidFill>
                <a:latin typeface="Arial" pitchFamily="34" charset="0"/>
                <a:ea typeface="Arial" pitchFamily="34" charset="-122"/>
                <a:cs typeface="Arial" pitchFamily="34" charset="-120"/>
              </a:rPr>
              <a:t>High confidence (F1 &gt;= 0.93)</a:t>
            </a:r>
            <a:endParaRPr lang="en-US" sz="950" dirty="0"/>
          </a:p>
        </p:txBody>
      </p:sp>
      <p:sp>
        <p:nvSpPr>
          <p:cNvPr id="33" name="Text 30"/>
          <p:cNvSpPr/>
          <p:nvPr/>
        </p:nvSpPr>
        <p:spPr>
          <a:xfrm>
            <a:off x="8384977" y="1249114"/>
            <a:ext cx="307860" cy="156865"/>
          </a:xfrm>
          <a:prstGeom prst="rect">
            <a:avLst/>
          </a:prstGeom>
          <a:noFill/>
          <a:ln/>
        </p:spPr>
        <p:txBody>
          <a:bodyPr wrap="square" lIns="0" tIns="0" rIns="0" bIns="0" rtlCol="0" anchor="t"/>
          <a:lstStyle/>
          <a:p>
            <a:pPr algn="l" indent="0" marL="0">
              <a:lnSpc>
                <a:spcPts val="1235"/>
              </a:lnSpc>
              <a:buNone/>
            </a:pPr>
            <a:r>
              <a:rPr lang="en-US" sz="950" b="1" dirty="0">
                <a:solidFill>
                  <a:srgbClr val="E2E8F0"/>
                </a:solidFill>
                <a:latin typeface="Arial" pitchFamily="34" charset="0"/>
                <a:ea typeface="Arial" pitchFamily="34" charset="-122"/>
                <a:cs typeface="Arial" pitchFamily="34" charset="-120"/>
              </a:rPr>
              <a:t>1 / 41</a:t>
            </a:r>
            <a:endParaRPr lang="en-US" sz="950" dirty="0"/>
          </a:p>
        </p:txBody>
      </p:sp>
      <p:sp>
        <p:nvSpPr>
          <p:cNvPr id="34" name="Shape 31"/>
          <p:cNvSpPr/>
          <p:nvPr/>
        </p:nvSpPr>
        <p:spPr>
          <a:xfrm>
            <a:off x="4673501" y="1729383"/>
            <a:ext cx="4013299" cy="0"/>
          </a:xfrm>
          <a:prstGeom prst="line">
            <a:avLst/>
          </a:prstGeom>
          <a:noFill/>
          <a:ln w="9525">
            <a:solidFill>
              <a:srgbClr val="FFFFFF"/>
            </a:solidFill>
            <a:prstDash val="solid"/>
          </a:ln>
        </p:spPr>
      </p:sp>
      <p:sp>
        <p:nvSpPr>
          <p:cNvPr id="35" name="Text 32"/>
          <p:cNvSpPr/>
          <p:nvPr/>
        </p:nvSpPr>
        <p:spPr>
          <a:xfrm>
            <a:off x="4673501" y="1517005"/>
            <a:ext cx="1380967" cy="156865"/>
          </a:xfrm>
          <a:prstGeom prst="rect">
            <a:avLst/>
          </a:prstGeom>
          <a:noFill/>
          <a:ln/>
        </p:spPr>
        <p:txBody>
          <a:bodyPr wrap="square" lIns="0" tIns="0" rIns="0" bIns="0" rtlCol="0" anchor="t"/>
          <a:lstStyle/>
          <a:p>
            <a:pPr algn="l" indent="0" marL="0">
              <a:lnSpc>
                <a:spcPts val="1235"/>
              </a:lnSpc>
              <a:buNone/>
            </a:pPr>
            <a:r>
              <a:rPr lang="en-US" sz="950" dirty="0">
                <a:solidFill>
                  <a:srgbClr val="94A3B8"/>
                </a:solidFill>
                <a:latin typeface="Arial" pitchFamily="34" charset="0"/>
                <a:ea typeface="Arial" pitchFamily="34" charset="-122"/>
                <a:cs typeface="Arial" pitchFamily="34" charset="-120"/>
              </a:rPr>
              <a:t>Needs review (0.50-0.63)</a:t>
            </a:r>
            <a:endParaRPr lang="en-US" sz="950" dirty="0"/>
          </a:p>
        </p:txBody>
      </p:sp>
      <p:sp>
        <p:nvSpPr>
          <p:cNvPr id="36" name="Text 33"/>
          <p:cNvSpPr/>
          <p:nvPr/>
        </p:nvSpPr>
        <p:spPr>
          <a:xfrm>
            <a:off x="8324552" y="1517005"/>
            <a:ext cx="369493" cy="156865"/>
          </a:xfrm>
          <a:prstGeom prst="rect">
            <a:avLst/>
          </a:prstGeom>
          <a:noFill/>
          <a:ln/>
        </p:spPr>
        <p:txBody>
          <a:bodyPr wrap="square" lIns="0" tIns="0" rIns="0" bIns="0" rtlCol="0" anchor="t"/>
          <a:lstStyle/>
          <a:p>
            <a:pPr algn="l" indent="0" marL="0">
              <a:lnSpc>
                <a:spcPts val="1235"/>
              </a:lnSpc>
              <a:buNone/>
            </a:pPr>
            <a:r>
              <a:rPr lang="en-US" sz="950" b="1" dirty="0">
                <a:solidFill>
                  <a:srgbClr val="E2E8F0"/>
                </a:solidFill>
                <a:latin typeface="Arial" pitchFamily="34" charset="0"/>
                <a:ea typeface="Arial" pitchFamily="34" charset="-122"/>
                <a:cs typeface="Arial" pitchFamily="34" charset="-120"/>
              </a:rPr>
              <a:t>11 / 41</a:t>
            </a:r>
            <a:endParaRPr lang="en-US" sz="950" dirty="0"/>
          </a:p>
        </p:txBody>
      </p:sp>
      <p:sp>
        <p:nvSpPr>
          <p:cNvPr id="37" name="Shape 34"/>
          <p:cNvSpPr/>
          <p:nvPr/>
        </p:nvSpPr>
        <p:spPr>
          <a:xfrm>
            <a:off x="4673501" y="1997273"/>
            <a:ext cx="4013299" cy="0"/>
          </a:xfrm>
          <a:prstGeom prst="line">
            <a:avLst/>
          </a:prstGeom>
          <a:noFill/>
          <a:ln w="9525">
            <a:solidFill>
              <a:srgbClr val="FFFFFF"/>
            </a:solidFill>
            <a:prstDash val="solid"/>
          </a:ln>
        </p:spPr>
      </p:sp>
      <p:sp>
        <p:nvSpPr>
          <p:cNvPr id="38" name="Text 35"/>
          <p:cNvSpPr/>
          <p:nvPr/>
        </p:nvSpPr>
        <p:spPr>
          <a:xfrm>
            <a:off x="4673501" y="1784896"/>
            <a:ext cx="1288822" cy="156865"/>
          </a:xfrm>
          <a:prstGeom prst="rect">
            <a:avLst/>
          </a:prstGeom>
          <a:noFill/>
          <a:ln/>
        </p:spPr>
        <p:txBody>
          <a:bodyPr wrap="square" lIns="0" tIns="0" rIns="0" bIns="0" rtlCol="0" anchor="t"/>
          <a:lstStyle/>
          <a:p>
            <a:pPr algn="l" indent="0" marL="0">
              <a:lnSpc>
                <a:spcPts val="1235"/>
              </a:lnSpc>
              <a:buNone/>
            </a:pPr>
            <a:r>
              <a:rPr lang="en-US" sz="950" dirty="0">
                <a:solidFill>
                  <a:srgbClr val="94A3B8"/>
                </a:solidFill>
                <a:latin typeface="Arial" pitchFamily="34" charset="0"/>
                <a:ea typeface="Arial" pitchFamily="34" charset="-122"/>
                <a:cs typeface="Arial" pitchFamily="34" charset="-120"/>
              </a:rPr>
              <a:t>Not feasible (F1 &lt; 0.50)</a:t>
            </a:r>
            <a:endParaRPr lang="en-US" sz="950" dirty="0"/>
          </a:p>
        </p:txBody>
      </p:sp>
      <p:sp>
        <p:nvSpPr>
          <p:cNvPr id="39" name="Text 36"/>
          <p:cNvSpPr/>
          <p:nvPr/>
        </p:nvSpPr>
        <p:spPr>
          <a:xfrm>
            <a:off x="8318004" y="1784896"/>
            <a:ext cx="376172" cy="156865"/>
          </a:xfrm>
          <a:prstGeom prst="rect">
            <a:avLst/>
          </a:prstGeom>
          <a:noFill/>
          <a:ln/>
        </p:spPr>
        <p:txBody>
          <a:bodyPr wrap="square" lIns="0" tIns="0" rIns="0" bIns="0" rtlCol="0" anchor="t"/>
          <a:lstStyle/>
          <a:p>
            <a:pPr algn="l" indent="0" marL="0">
              <a:lnSpc>
                <a:spcPts val="1235"/>
              </a:lnSpc>
              <a:buNone/>
            </a:pPr>
            <a:r>
              <a:rPr lang="en-US" sz="950" b="1" dirty="0">
                <a:solidFill>
                  <a:srgbClr val="E2E8F0"/>
                </a:solidFill>
                <a:latin typeface="Arial" pitchFamily="34" charset="0"/>
                <a:ea typeface="Arial" pitchFamily="34" charset="-122"/>
                <a:cs typeface="Arial" pitchFamily="34" charset="-120"/>
              </a:rPr>
              <a:t>17 / 41</a:t>
            </a:r>
            <a:endParaRPr lang="en-US" sz="950" dirty="0"/>
          </a:p>
        </p:txBody>
      </p:sp>
      <p:sp>
        <p:nvSpPr>
          <p:cNvPr id="40" name="Text 37"/>
          <p:cNvSpPr/>
          <p:nvPr/>
        </p:nvSpPr>
        <p:spPr>
          <a:xfrm>
            <a:off x="4673501" y="2103537"/>
            <a:ext cx="4093565" cy="140196"/>
          </a:xfrm>
          <a:prstGeom prst="rect">
            <a:avLst/>
          </a:prstGeom>
          <a:noFill/>
          <a:ln/>
        </p:spPr>
        <p:txBody>
          <a:bodyPr wrap="square" lIns="0" tIns="0" rIns="0" bIns="0" rtlCol="0" anchor="t"/>
          <a:lstStyle/>
          <a:p>
            <a:pPr algn="l" indent="0" marL="0">
              <a:lnSpc>
                <a:spcPts val="1105"/>
              </a:lnSpc>
              <a:spcBef>
                <a:spcPts val="800"/>
              </a:spcBef>
              <a:spcAft>
                <a:spcPts val="500"/>
              </a:spcAft>
              <a:buNone/>
            </a:pPr>
            <a:r>
              <a:rPr lang="en-US" sz="850" dirty="0">
                <a:solidFill>
                  <a:srgbClr val="94A3B8"/>
                </a:solidFill>
                <a:latin typeface="Arial" pitchFamily="34" charset="0"/>
                <a:ea typeface="Arial" pitchFamily="34" charset="-122"/>
                <a:cs typeface="Arial" pitchFamily="34" charset="-120"/>
              </a:rPr>
              <a:t>BEST MODELS</a:t>
            </a:r>
            <a:endParaRPr lang="en-US" sz="850" dirty="0"/>
          </a:p>
        </p:txBody>
      </p:sp>
      <p:sp>
        <p:nvSpPr>
          <p:cNvPr id="41" name="Shape 38"/>
          <p:cNvSpPr/>
          <p:nvPr/>
        </p:nvSpPr>
        <p:spPr>
          <a:xfrm>
            <a:off x="4673501" y="2570262"/>
            <a:ext cx="4013299" cy="0"/>
          </a:xfrm>
          <a:prstGeom prst="line">
            <a:avLst/>
          </a:prstGeom>
          <a:noFill/>
          <a:ln w="9525">
            <a:solidFill>
              <a:srgbClr val="FFFFFF"/>
            </a:solidFill>
            <a:prstDash val="solid"/>
          </a:ln>
        </p:spPr>
      </p:sp>
      <p:sp>
        <p:nvSpPr>
          <p:cNvPr id="42" name="Text 39"/>
          <p:cNvSpPr/>
          <p:nvPr/>
        </p:nvSpPr>
        <p:spPr>
          <a:xfrm>
            <a:off x="4673501" y="2357884"/>
            <a:ext cx="1428482" cy="156865"/>
          </a:xfrm>
          <a:prstGeom prst="rect">
            <a:avLst/>
          </a:prstGeom>
          <a:noFill/>
          <a:ln/>
        </p:spPr>
        <p:txBody>
          <a:bodyPr wrap="square" lIns="0" tIns="0" rIns="0" bIns="0" rtlCol="0" anchor="t"/>
          <a:lstStyle/>
          <a:p>
            <a:pPr algn="l" indent="0" marL="0">
              <a:lnSpc>
                <a:spcPts val="1235"/>
              </a:lnSpc>
              <a:buNone/>
            </a:pPr>
            <a:r>
              <a:rPr lang="en-US" sz="950" dirty="0">
                <a:solidFill>
                  <a:srgbClr val="94A3B8"/>
                </a:solidFill>
                <a:latin typeface="Arial" pitchFamily="34" charset="0"/>
                <a:ea typeface="Arial" pitchFamily="34" charset="-122"/>
                <a:cs typeface="Arial" pitchFamily="34" charset="-120"/>
              </a:rPr>
              <a:t>Ensemble AND (F1 Micro)</a:t>
            </a:r>
            <a:endParaRPr lang="en-US" sz="950" dirty="0"/>
          </a:p>
        </p:txBody>
      </p:sp>
      <p:sp>
        <p:nvSpPr>
          <p:cNvPr id="43" name="Text 40"/>
          <p:cNvSpPr/>
          <p:nvPr/>
        </p:nvSpPr>
        <p:spPr>
          <a:xfrm>
            <a:off x="7818686" y="2357884"/>
            <a:ext cx="885477" cy="156865"/>
          </a:xfrm>
          <a:prstGeom prst="rect">
            <a:avLst/>
          </a:prstGeom>
          <a:noFill/>
          <a:ln/>
        </p:spPr>
        <p:txBody>
          <a:bodyPr wrap="square" lIns="0" tIns="0" rIns="0" bIns="0" rtlCol="0" anchor="t"/>
          <a:lstStyle/>
          <a:p>
            <a:pPr algn="l" indent="0" marL="0">
              <a:lnSpc>
                <a:spcPts val="1235"/>
              </a:lnSpc>
              <a:buNone/>
            </a:pPr>
            <a:r>
              <a:rPr lang="en-US" sz="950" b="1" dirty="0">
                <a:solidFill>
                  <a:srgbClr val="22C55E"/>
                </a:solidFill>
                <a:latin typeface="Arial" pitchFamily="34" charset="0"/>
                <a:ea typeface="Arial" pitchFamily="34" charset="-122"/>
                <a:cs typeface="Arial" pitchFamily="34" charset="-120"/>
              </a:rPr>
              <a:t>0.7827 (+3.0pp)</a:t>
            </a:r>
            <a:endParaRPr lang="en-US" sz="950" dirty="0"/>
          </a:p>
        </p:txBody>
      </p:sp>
      <p:sp>
        <p:nvSpPr>
          <p:cNvPr id="44" name="Shape 41"/>
          <p:cNvSpPr/>
          <p:nvPr/>
        </p:nvSpPr>
        <p:spPr>
          <a:xfrm>
            <a:off x="4673501" y="2838152"/>
            <a:ext cx="4013299" cy="0"/>
          </a:xfrm>
          <a:prstGeom prst="line">
            <a:avLst/>
          </a:prstGeom>
          <a:noFill/>
          <a:ln w="9525">
            <a:solidFill>
              <a:srgbClr val="FFFFFF"/>
            </a:solidFill>
            <a:prstDash val="solid"/>
          </a:ln>
        </p:spPr>
      </p:sp>
      <p:sp>
        <p:nvSpPr>
          <p:cNvPr id="45" name="Text 42"/>
          <p:cNvSpPr/>
          <p:nvPr/>
        </p:nvSpPr>
        <p:spPr>
          <a:xfrm>
            <a:off x="4673501" y="2625775"/>
            <a:ext cx="1353187" cy="156865"/>
          </a:xfrm>
          <a:prstGeom prst="rect">
            <a:avLst/>
          </a:prstGeom>
          <a:noFill/>
          <a:ln/>
        </p:spPr>
        <p:txBody>
          <a:bodyPr wrap="square" lIns="0" tIns="0" rIns="0" bIns="0" rtlCol="0" anchor="t"/>
          <a:lstStyle/>
          <a:p>
            <a:pPr algn="l" indent="0" marL="0">
              <a:lnSpc>
                <a:spcPts val="1235"/>
              </a:lnSpc>
              <a:buNone/>
            </a:pPr>
            <a:r>
              <a:rPr lang="en-US" sz="950" dirty="0">
                <a:solidFill>
                  <a:srgbClr val="94A3B8"/>
                </a:solidFill>
                <a:latin typeface="Arial" pitchFamily="34" charset="0"/>
                <a:ea typeface="Arial" pitchFamily="34" charset="-122"/>
                <a:cs typeface="Arial" pitchFamily="34" charset="-120"/>
              </a:rPr>
              <a:t>LF Per-Class (F1 Macro)</a:t>
            </a:r>
            <a:endParaRPr lang="en-US" sz="950" dirty="0"/>
          </a:p>
        </p:txBody>
      </p:sp>
      <p:sp>
        <p:nvSpPr>
          <p:cNvPr id="46" name="Text 43"/>
          <p:cNvSpPr/>
          <p:nvPr/>
        </p:nvSpPr>
        <p:spPr>
          <a:xfrm>
            <a:off x="7818686" y="2625775"/>
            <a:ext cx="885477" cy="156865"/>
          </a:xfrm>
          <a:prstGeom prst="rect">
            <a:avLst/>
          </a:prstGeom>
          <a:noFill/>
          <a:ln/>
        </p:spPr>
        <p:txBody>
          <a:bodyPr wrap="square" lIns="0" tIns="0" rIns="0" bIns="0" rtlCol="0" anchor="t"/>
          <a:lstStyle/>
          <a:p>
            <a:pPr algn="l" indent="0" marL="0">
              <a:lnSpc>
                <a:spcPts val="1235"/>
              </a:lnSpc>
              <a:buNone/>
            </a:pPr>
            <a:r>
              <a:rPr lang="en-US" sz="950" b="1" dirty="0">
                <a:solidFill>
                  <a:srgbClr val="22C55E"/>
                </a:solidFill>
                <a:latin typeface="Arial" pitchFamily="34" charset="0"/>
                <a:ea typeface="Arial" pitchFamily="34" charset="-122"/>
                <a:cs typeface="Arial" pitchFamily="34" charset="-120"/>
              </a:rPr>
              <a:t>0.6000 (+6.7pp)</a:t>
            </a:r>
            <a:endParaRPr lang="en-US" sz="950" dirty="0"/>
          </a:p>
        </p:txBody>
      </p:sp>
      <p:sp>
        <p:nvSpPr>
          <p:cNvPr id="47" name="Text 44"/>
          <p:cNvSpPr/>
          <p:nvPr/>
        </p:nvSpPr>
        <p:spPr>
          <a:xfrm>
            <a:off x="4673501" y="2944416"/>
            <a:ext cx="4093565" cy="140196"/>
          </a:xfrm>
          <a:prstGeom prst="rect">
            <a:avLst/>
          </a:prstGeom>
          <a:noFill/>
          <a:ln/>
        </p:spPr>
        <p:txBody>
          <a:bodyPr wrap="square" lIns="0" tIns="0" rIns="0" bIns="0" rtlCol="0" anchor="t"/>
          <a:lstStyle/>
          <a:p>
            <a:pPr algn="l" indent="0" marL="0">
              <a:lnSpc>
                <a:spcPts val="1105"/>
              </a:lnSpc>
              <a:spcBef>
                <a:spcPts val="800"/>
              </a:spcBef>
              <a:spcAft>
                <a:spcPts val="500"/>
              </a:spcAft>
              <a:buNone/>
            </a:pPr>
            <a:r>
              <a:rPr lang="en-US" sz="850" dirty="0">
                <a:solidFill>
                  <a:srgbClr val="94A3B8"/>
                </a:solidFill>
                <a:latin typeface="Arial" pitchFamily="34" charset="0"/>
                <a:ea typeface="Arial" pitchFamily="34" charset="-122"/>
                <a:cs typeface="Arial" pitchFamily="34" charset="-120"/>
              </a:rPr>
              <a:t>HUMAN BENCHMARK</a:t>
            </a:r>
            <a:endParaRPr lang="en-US" sz="850" dirty="0"/>
          </a:p>
        </p:txBody>
      </p:sp>
      <p:sp>
        <p:nvSpPr>
          <p:cNvPr id="48" name="Shape 45"/>
          <p:cNvSpPr/>
          <p:nvPr/>
        </p:nvSpPr>
        <p:spPr>
          <a:xfrm>
            <a:off x="4673501" y="3411141"/>
            <a:ext cx="4013299" cy="0"/>
          </a:xfrm>
          <a:prstGeom prst="line">
            <a:avLst/>
          </a:prstGeom>
          <a:noFill/>
          <a:ln w="9525">
            <a:solidFill>
              <a:srgbClr val="FFFFFF"/>
            </a:solidFill>
            <a:prstDash val="solid"/>
          </a:ln>
        </p:spPr>
      </p:sp>
      <p:sp>
        <p:nvSpPr>
          <p:cNvPr id="49" name="Text 46"/>
          <p:cNvSpPr/>
          <p:nvPr/>
        </p:nvSpPr>
        <p:spPr>
          <a:xfrm>
            <a:off x="4673501" y="3198763"/>
            <a:ext cx="1165556" cy="156865"/>
          </a:xfrm>
          <a:prstGeom prst="rect">
            <a:avLst/>
          </a:prstGeom>
          <a:noFill/>
          <a:ln/>
        </p:spPr>
        <p:txBody>
          <a:bodyPr wrap="square" lIns="0" tIns="0" rIns="0" bIns="0" rtlCol="0" anchor="t"/>
          <a:lstStyle/>
          <a:p>
            <a:pPr algn="l" indent="0" marL="0">
              <a:lnSpc>
                <a:spcPts val="1235"/>
              </a:lnSpc>
              <a:buNone/>
            </a:pPr>
            <a:r>
              <a:rPr lang="en-US" sz="950" dirty="0">
                <a:solidFill>
                  <a:srgbClr val="94A3B8"/>
                </a:solidFill>
                <a:latin typeface="Arial" pitchFamily="34" charset="0"/>
                <a:ea typeface="Arial" pitchFamily="34" charset="-122"/>
                <a:cs typeface="Arial" pitchFamily="34" charset="-120"/>
              </a:rPr>
              <a:t>Cohen's kappa range</a:t>
            </a:r>
            <a:endParaRPr lang="en-US" sz="950" dirty="0"/>
          </a:p>
        </p:txBody>
      </p:sp>
      <p:sp>
        <p:nvSpPr>
          <p:cNvPr id="50" name="Text 47"/>
          <p:cNvSpPr/>
          <p:nvPr/>
        </p:nvSpPr>
        <p:spPr>
          <a:xfrm>
            <a:off x="8110240" y="3198763"/>
            <a:ext cx="588091" cy="156865"/>
          </a:xfrm>
          <a:prstGeom prst="rect">
            <a:avLst/>
          </a:prstGeom>
          <a:noFill/>
          <a:ln/>
        </p:spPr>
        <p:txBody>
          <a:bodyPr wrap="square" lIns="0" tIns="0" rIns="0" bIns="0" rtlCol="0" anchor="t"/>
          <a:lstStyle/>
          <a:p>
            <a:pPr algn="l" indent="0" marL="0">
              <a:lnSpc>
                <a:spcPts val="1235"/>
              </a:lnSpc>
              <a:buNone/>
            </a:pPr>
            <a:r>
              <a:rPr lang="en-US" sz="950" b="1" dirty="0">
                <a:solidFill>
                  <a:srgbClr val="E2E8F0"/>
                </a:solidFill>
                <a:latin typeface="Arial" pitchFamily="34" charset="0"/>
                <a:ea typeface="Arial" pitchFamily="34" charset="-122"/>
                <a:cs typeface="Arial" pitchFamily="34" charset="-120"/>
              </a:rPr>
              <a:t>0.63 - 0.93</a:t>
            </a:r>
            <a:endParaRPr lang="en-US" sz="950" dirty="0"/>
          </a:p>
        </p:txBody>
      </p:sp>
      <p:sp>
        <p:nvSpPr>
          <p:cNvPr id="51" name="Shape 48"/>
          <p:cNvSpPr/>
          <p:nvPr/>
        </p:nvSpPr>
        <p:spPr>
          <a:xfrm>
            <a:off x="4673501" y="3679031"/>
            <a:ext cx="4013299" cy="0"/>
          </a:xfrm>
          <a:prstGeom prst="line">
            <a:avLst/>
          </a:prstGeom>
          <a:noFill/>
          <a:ln w="9525">
            <a:solidFill>
              <a:srgbClr val="FFFFFF"/>
            </a:solidFill>
            <a:prstDash val="solid"/>
          </a:ln>
        </p:spPr>
      </p:sp>
      <p:sp>
        <p:nvSpPr>
          <p:cNvPr id="52" name="Text 49"/>
          <p:cNvSpPr/>
          <p:nvPr/>
        </p:nvSpPr>
        <p:spPr>
          <a:xfrm>
            <a:off x="4673501" y="3466654"/>
            <a:ext cx="1483587" cy="156865"/>
          </a:xfrm>
          <a:prstGeom prst="rect">
            <a:avLst/>
          </a:prstGeom>
          <a:noFill/>
          <a:ln/>
        </p:spPr>
        <p:txBody>
          <a:bodyPr wrap="square" lIns="0" tIns="0" rIns="0" bIns="0" rtlCol="0" anchor="t"/>
          <a:lstStyle/>
          <a:p>
            <a:pPr algn="l" indent="0" marL="0">
              <a:lnSpc>
                <a:spcPts val="1235"/>
              </a:lnSpc>
              <a:buNone/>
            </a:pPr>
            <a:r>
              <a:rPr lang="en-US" sz="950" dirty="0">
                <a:solidFill>
                  <a:srgbClr val="94A3B8"/>
                </a:solidFill>
                <a:latin typeface="Arial" pitchFamily="34" charset="0"/>
                <a:ea typeface="Arial" pitchFamily="34" charset="-122"/>
                <a:cs typeface="Arial" pitchFamily="34" charset="-120"/>
              </a:rPr>
              <a:t>Highest (Appellate Review)</a:t>
            </a:r>
            <a:endParaRPr lang="en-US" sz="950" dirty="0"/>
          </a:p>
        </p:txBody>
      </p:sp>
      <p:sp>
        <p:nvSpPr>
          <p:cNvPr id="53" name="Text 50"/>
          <p:cNvSpPr/>
          <p:nvPr/>
        </p:nvSpPr>
        <p:spPr>
          <a:xfrm>
            <a:off x="8452098" y="3466654"/>
            <a:ext cx="239396" cy="156865"/>
          </a:xfrm>
          <a:prstGeom prst="rect">
            <a:avLst/>
          </a:prstGeom>
          <a:noFill/>
          <a:ln/>
        </p:spPr>
        <p:txBody>
          <a:bodyPr wrap="square" lIns="0" tIns="0" rIns="0" bIns="0" rtlCol="0" anchor="t"/>
          <a:lstStyle/>
          <a:p>
            <a:pPr algn="l" indent="0" marL="0">
              <a:lnSpc>
                <a:spcPts val="1235"/>
              </a:lnSpc>
              <a:buNone/>
            </a:pPr>
            <a:r>
              <a:rPr lang="en-US" sz="950" b="1" dirty="0">
                <a:solidFill>
                  <a:srgbClr val="E2E8F0"/>
                </a:solidFill>
                <a:latin typeface="Arial" pitchFamily="34" charset="0"/>
                <a:ea typeface="Arial" pitchFamily="34" charset="-122"/>
                <a:cs typeface="Arial" pitchFamily="34" charset="-120"/>
              </a:rPr>
              <a:t>0.93</a:t>
            </a:r>
            <a:endParaRPr lang="en-US" sz="950" dirty="0"/>
          </a:p>
        </p:txBody>
      </p:sp>
      <p:sp>
        <p:nvSpPr>
          <p:cNvPr id="54" name="Shape 51"/>
          <p:cNvSpPr/>
          <p:nvPr/>
        </p:nvSpPr>
        <p:spPr>
          <a:xfrm>
            <a:off x="4673501" y="3946922"/>
            <a:ext cx="4013299" cy="0"/>
          </a:xfrm>
          <a:prstGeom prst="line">
            <a:avLst/>
          </a:prstGeom>
          <a:noFill/>
          <a:ln w="9525">
            <a:solidFill>
              <a:srgbClr val="FFFFFF"/>
            </a:solidFill>
            <a:prstDash val="solid"/>
          </a:ln>
        </p:spPr>
      </p:sp>
      <p:sp>
        <p:nvSpPr>
          <p:cNvPr id="55" name="Text 52"/>
          <p:cNvSpPr/>
          <p:nvPr/>
        </p:nvSpPr>
        <p:spPr>
          <a:xfrm>
            <a:off x="4673501" y="3734544"/>
            <a:ext cx="1123355" cy="156865"/>
          </a:xfrm>
          <a:prstGeom prst="rect">
            <a:avLst/>
          </a:prstGeom>
          <a:noFill/>
          <a:ln/>
        </p:spPr>
        <p:txBody>
          <a:bodyPr wrap="square" lIns="0" tIns="0" rIns="0" bIns="0" rtlCol="0" anchor="t"/>
          <a:lstStyle/>
          <a:p>
            <a:pPr algn="l" indent="0" marL="0">
              <a:lnSpc>
                <a:spcPts val="1235"/>
              </a:lnSpc>
              <a:buNone/>
            </a:pPr>
            <a:r>
              <a:rPr lang="en-US" sz="950" dirty="0">
                <a:solidFill>
                  <a:srgbClr val="94A3B8"/>
                </a:solidFill>
                <a:latin typeface="Arial" pitchFamily="34" charset="0"/>
                <a:ea typeface="Arial" pitchFamily="34" charset="-122"/>
                <a:cs typeface="Arial" pitchFamily="34" charset="-120"/>
              </a:rPr>
              <a:t>Lowest (Trial Phase)</a:t>
            </a:r>
            <a:endParaRPr lang="en-US" sz="950" dirty="0"/>
          </a:p>
        </p:txBody>
      </p:sp>
      <p:sp>
        <p:nvSpPr>
          <p:cNvPr id="56" name="Text 53"/>
          <p:cNvSpPr/>
          <p:nvPr/>
        </p:nvSpPr>
        <p:spPr>
          <a:xfrm>
            <a:off x="8452098" y="3734544"/>
            <a:ext cx="239396" cy="156865"/>
          </a:xfrm>
          <a:prstGeom prst="rect">
            <a:avLst/>
          </a:prstGeom>
          <a:noFill/>
          <a:ln/>
        </p:spPr>
        <p:txBody>
          <a:bodyPr wrap="square" lIns="0" tIns="0" rIns="0" bIns="0" rtlCol="0" anchor="t"/>
          <a:lstStyle/>
          <a:p>
            <a:pPr algn="l" indent="0" marL="0">
              <a:lnSpc>
                <a:spcPts val="1235"/>
              </a:lnSpc>
              <a:buNone/>
            </a:pPr>
            <a:r>
              <a:rPr lang="en-US" sz="950" b="1" dirty="0">
                <a:solidFill>
                  <a:srgbClr val="E2E8F0"/>
                </a:solidFill>
                <a:latin typeface="Arial" pitchFamily="34" charset="0"/>
                <a:ea typeface="Arial" pitchFamily="34" charset="-122"/>
                <a:cs typeface="Arial" pitchFamily="34" charset="-120"/>
              </a:rPr>
              <a:t>0.63</a:t>
            </a:r>
            <a:endParaRPr lang="en-US" sz="950" dirty="0"/>
          </a:p>
        </p:txBody>
      </p:sp>
      <p:sp>
        <p:nvSpPr>
          <p:cNvPr id="57" name="Text 54"/>
          <p:cNvSpPr/>
          <p:nvPr/>
        </p:nvSpPr>
        <p:spPr>
          <a:xfrm>
            <a:off x="4673501" y="4027884"/>
            <a:ext cx="4013299" cy="940594"/>
          </a:xfrm>
          <a:prstGeom prst="roundRect">
            <a:avLst>
              <a:gd name="adj" fmla="val 8101"/>
            </a:avLst>
          </a:prstGeom>
          <a:solidFill>
            <a:srgbClr val="22C55E">
              <a:alpha val="8000"/>
            </a:srgbClr>
          </a:solidFill>
          <a:ln w="9525">
            <a:solidFill>
              <a:srgbClr val="22C55E"/>
            </a:solidFill>
          </a:ln>
        </p:spPr>
        <p:txBody>
          <a:bodyPr wrap="square" rtlCol="0" anchor="ctr"/>
          <a:lstStyle/>
          <a:p>
            <a:pPr indent="0" marL="0">
              <a:buNone/>
            </a:pPr>
            <a:endParaRPr lang="en-US" dirty="0"/>
          </a:p>
        </p:txBody>
      </p:sp>
      <p:sp>
        <p:nvSpPr>
          <p:cNvPr id="58" name="Text 55"/>
          <p:cNvSpPr/>
          <p:nvPr/>
        </p:nvSpPr>
        <p:spPr>
          <a:xfrm>
            <a:off x="4772573" y="4138910"/>
            <a:ext cx="3815155" cy="396180"/>
          </a:xfrm>
          <a:prstGeom prst="rect">
            <a:avLst/>
          </a:prstGeom>
          <a:noFill/>
          <a:ln/>
        </p:spPr>
        <p:txBody>
          <a:bodyPr wrap="square" lIns="0" tIns="0" rIns="0" bIns="0" rtlCol="0" anchor="t"/>
          <a:lstStyle/>
          <a:p>
            <a:pPr algn="ctr" indent="0" marL="0">
              <a:lnSpc>
                <a:spcPts val="3120"/>
              </a:lnSpc>
              <a:spcAft>
                <a:spcPts val="200"/>
              </a:spcAft>
              <a:buNone/>
            </a:pPr>
            <a:r>
              <a:rPr lang="en-US" sz="2400" b="1" dirty="0">
                <a:solidFill>
                  <a:srgbClr val="22C55E"/>
                </a:solidFill>
                <a:latin typeface="Arial" pitchFamily="34" charset="0"/>
                <a:ea typeface="Arial" pitchFamily="34" charset="-122"/>
                <a:cs typeface="Arial" pitchFamily="34" charset="-120"/>
              </a:rPr>
              <a:t>~92%</a:t>
            </a:r>
            <a:endParaRPr lang="en-US" sz="2400" dirty="0"/>
          </a:p>
        </p:txBody>
      </p:sp>
      <p:sp>
        <p:nvSpPr>
          <p:cNvPr id="59" name="Text 56"/>
          <p:cNvSpPr/>
          <p:nvPr/>
        </p:nvSpPr>
        <p:spPr>
          <a:xfrm>
            <a:off x="4772573" y="4560391"/>
            <a:ext cx="3815155" cy="148530"/>
          </a:xfrm>
          <a:prstGeom prst="rect">
            <a:avLst/>
          </a:prstGeom>
          <a:noFill/>
          <a:ln/>
        </p:spPr>
        <p:txBody>
          <a:bodyPr wrap="square" lIns="0" tIns="0" rIns="0" bIns="0" rtlCol="0" anchor="t"/>
          <a:lstStyle/>
          <a:p>
            <a:pPr algn="ctr" indent="0" marL="0">
              <a:lnSpc>
                <a:spcPts val="1170"/>
              </a:lnSpc>
              <a:buNone/>
            </a:pPr>
            <a:r>
              <a:rPr lang="en-US" sz="900" dirty="0">
                <a:solidFill>
                  <a:srgbClr val="E2E8F0"/>
                </a:solidFill>
                <a:latin typeface="Arial" pitchFamily="34" charset="0"/>
                <a:ea typeface="Arial" pitchFamily="34" charset="-122"/>
                <a:cs typeface="Arial" pitchFamily="34" charset="-120"/>
              </a:rPr>
              <a:t>of labeling volume covered by automatable</a:t>
            </a:r>
            <a:endParaRPr lang="en-US" sz="900" dirty="0"/>
          </a:p>
        </p:txBody>
      </p:sp>
      <p:sp>
        <p:nvSpPr>
          <p:cNvPr id="60" name="Text 57"/>
          <p:cNvSpPr/>
          <p:nvPr/>
        </p:nvSpPr>
        <p:spPr>
          <a:xfrm>
            <a:off x="4772573" y="4708922"/>
            <a:ext cx="3815155" cy="148530"/>
          </a:xfrm>
          <a:prstGeom prst="rect">
            <a:avLst/>
          </a:prstGeom>
          <a:noFill/>
          <a:ln/>
        </p:spPr>
        <p:txBody>
          <a:bodyPr wrap="square" lIns="0" tIns="0" rIns="0" bIns="0" rtlCol="0" anchor="t"/>
          <a:lstStyle/>
          <a:p>
            <a:pPr algn="ctr" indent="0" marL="0">
              <a:lnSpc>
                <a:spcPts val="1170"/>
              </a:lnSpc>
              <a:buNone/>
            </a:pPr>
            <a:r>
              <a:rPr lang="en-US" sz="900" dirty="0">
                <a:solidFill>
                  <a:srgbClr val="E2E8F0"/>
                </a:solidFill>
                <a:latin typeface="Arial" pitchFamily="34" charset="0"/>
                <a:ea typeface="Arial" pitchFamily="34" charset="-122"/>
                <a:cs typeface="Arial" pitchFamily="34" charset="-120"/>
              </a:rPr>
              <a:t>or review-tier classes (by sample count)</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330101"/>
            <a:ext cx="8394192" cy="323850"/>
          </a:xfrm>
          <a:prstGeom prst="rect">
            <a:avLst/>
          </a:prstGeom>
          <a:noFill/>
          <a:ln/>
        </p:spPr>
        <p:txBody>
          <a:bodyPr wrap="square" lIns="0" tIns="0" rIns="0" bIns="0" rtlCol="0" anchor="t"/>
          <a:lstStyle/>
          <a:p>
            <a:pPr algn="l" indent="0" marL="0">
              <a:buNone/>
            </a:pPr>
            <a:r>
              <a:rPr lang="en-US" sz="2200" b="1" dirty="0">
                <a:solidFill>
                  <a:srgbClr val="00B4D8"/>
                </a:solidFill>
                <a:latin typeface="Arial" pitchFamily="34" charset="0"/>
                <a:ea typeface="Arial" pitchFamily="34" charset="-122"/>
                <a:cs typeface="Arial" pitchFamily="34" charset="-120"/>
              </a:rPr>
              <a:t>Key Insights and Takeaways</a:t>
            </a:r>
            <a:endParaRPr lang="en-US" sz="2200" dirty="0"/>
          </a:p>
        </p:txBody>
      </p:sp>
      <p:sp>
        <p:nvSpPr>
          <p:cNvPr id="4" name="Text 1"/>
          <p:cNvSpPr/>
          <p:nvPr/>
        </p:nvSpPr>
        <p:spPr>
          <a:xfrm>
            <a:off x="457200" y="831652"/>
            <a:ext cx="298400" cy="298400"/>
          </a:xfrm>
          <a:prstGeom prst="roundRect">
            <a:avLst>
              <a:gd name="adj" fmla="val 306434"/>
            </a:avLst>
          </a:prstGeom>
          <a:solidFill>
            <a:srgbClr val="00B4D8">
              <a:alpha val="15000"/>
            </a:srgbClr>
          </a:solidFill>
          <a:ln w="9525">
            <a:solidFill>
              <a:srgbClr val="00B4D8"/>
            </a:solidFill>
          </a:ln>
        </p:spPr>
        <p:txBody>
          <a:bodyPr wrap="square" rtlCol="0" anchor="ctr"/>
          <a:lstStyle/>
          <a:p>
            <a:pPr indent="0" marL="0">
              <a:buNone/>
            </a:pPr>
            <a:endParaRPr lang="en-US" dirty="0"/>
          </a:p>
        </p:txBody>
      </p:sp>
      <p:sp>
        <p:nvSpPr>
          <p:cNvPr id="5" name="Text 2"/>
          <p:cNvSpPr/>
          <p:nvPr/>
        </p:nvSpPr>
        <p:spPr>
          <a:xfrm>
            <a:off x="571054" y="909340"/>
            <a:ext cx="72107" cy="142875"/>
          </a:xfrm>
          <a:prstGeom prst="rect">
            <a:avLst/>
          </a:prstGeom>
          <a:noFill/>
          <a:ln/>
        </p:spPr>
        <p:txBody>
          <a:bodyPr wrap="square" lIns="0" tIns="0" rIns="0" bIns="0" rtlCol="0" anchor="t"/>
          <a:lstStyle/>
          <a:p>
            <a:pPr algn="l" indent="0" marL="0">
              <a:buNone/>
            </a:pPr>
            <a:r>
              <a:rPr lang="en-US" sz="1000" b="1" dirty="0">
                <a:solidFill>
                  <a:srgbClr val="00B4D8"/>
                </a:solidFill>
                <a:latin typeface="Arial" pitchFamily="34" charset="0"/>
                <a:ea typeface="Arial" pitchFamily="34" charset="-122"/>
                <a:cs typeface="Arial" pitchFamily="34" charset="-120"/>
              </a:rPr>
              <a:t>1</a:t>
            </a:r>
            <a:endParaRPr lang="en-US" sz="1000" dirty="0"/>
          </a:p>
        </p:txBody>
      </p:sp>
      <p:sp>
        <p:nvSpPr>
          <p:cNvPr id="6" name="Text 3"/>
          <p:cNvSpPr/>
          <p:nvPr/>
        </p:nvSpPr>
        <p:spPr>
          <a:xfrm>
            <a:off x="882551" y="806351"/>
            <a:ext cx="4993312" cy="179933"/>
          </a:xfrm>
          <a:prstGeom prst="rect">
            <a:avLst/>
          </a:prstGeom>
          <a:noFill/>
          <a:ln/>
        </p:spPr>
        <p:txBody>
          <a:bodyPr wrap="square" lIns="0" tIns="0" rIns="0" bIns="0" rtlCol="0" anchor="t"/>
          <a:lstStyle/>
          <a:p>
            <a:pPr algn="l" indent="0" marL="0">
              <a:lnSpc>
                <a:spcPts val="1418"/>
              </a:lnSpc>
              <a:spcAft>
                <a:spcPts val="200"/>
              </a:spcAft>
              <a:buNone/>
            </a:pPr>
            <a:r>
              <a:rPr lang="en-US" sz="1050" b="1" dirty="0">
                <a:solidFill>
                  <a:srgbClr val="E2E8F0"/>
                </a:solidFill>
                <a:latin typeface="Arial" pitchFamily="34" charset="0"/>
                <a:ea typeface="Arial" pitchFamily="34" charset="-122"/>
                <a:cs typeface="Arial" pitchFamily="34" charset="-120"/>
              </a:rPr>
              <a:t>Sample size is the strongest predictor of model performance</a:t>
            </a:r>
            <a:endParaRPr lang="en-US" sz="1050" dirty="0"/>
          </a:p>
        </p:txBody>
      </p:sp>
      <p:sp>
        <p:nvSpPr>
          <p:cNvPr id="7" name="Text 4"/>
          <p:cNvSpPr/>
          <p:nvPr/>
        </p:nvSpPr>
        <p:spPr>
          <a:xfrm>
            <a:off x="882551" y="1011585"/>
            <a:ext cx="4993312" cy="154186"/>
          </a:xfrm>
          <a:prstGeom prst="rect">
            <a:avLst/>
          </a:prstGeom>
          <a:noFill/>
          <a:ln/>
        </p:spPr>
        <p:txBody>
          <a:bodyPr wrap="square" lIns="0" tIns="0" rIns="0" bIns="0" rtlCol="0" anchor="t"/>
          <a:lstStyle/>
          <a:p>
            <a:pPr algn="l" indent="0" marL="0">
              <a:lnSpc>
                <a:spcPts val="1215"/>
              </a:lnSpc>
              <a:buNone/>
            </a:pPr>
            <a:r>
              <a:rPr lang="en-US" sz="900" dirty="0">
                <a:solidFill>
                  <a:srgbClr val="94A3B8"/>
                </a:solidFill>
                <a:latin typeface="Arial" pitchFamily="34" charset="0"/>
                <a:ea typeface="Arial" pitchFamily="34" charset="-122"/>
                <a:cs typeface="Arial" pitchFamily="34" charset="-120"/>
              </a:rPr>
              <a:t>Postures with 500+ samples achieve F1 &gt; 0.92; rare postures (&lt;50 samples) struggle below 0.50</a:t>
            </a:r>
            <a:endParaRPr lang="en-US" sz="900" dirty="0"/>
          </a:p>
        </p:txBody>
      </p:sp>
      <p:sp>
        <p:nvSpPr>
          <p:cNvPr id="8" name="Text 5"/>
          <p:cNvSpPr/>
          <p:nvPr/>
        </p:nvSpPr>
        <p:spPr>
          <a:xfrm>
            <a:off x="457200" y="1292572"/>
            <a:ext cx="298400" cy="298400"/>
          </a:xfrm>
          <a:prstGeom prst="roundRect">
            <a:avLst>
              <a:gd name="adj" fmla="val 306434"/>
            </a:avLst>
          </a:prstGeom>
          <a:solidFill>
            <a:srgbClr val="00B4D8">
              <a:alpha val="15000"/>
            </a:srgbClr>
          </a:solidFill>
          <a:ln w="9525">
            <a:solidFill>
              <a:srgbClr val="00B4D8"/>
            </a:solidFill>
          </a:ln>
        </p:spPr>
        <p:txBody>
          <a:bodyPr wrap="square" rtlCol="0" anchor="ctr"/>
          <a:lstStyle/>
          <a:p>
            <a:pPr indent="0" marL="0">
              <a:buNone/>
            </a:pPr>
            <a:endParaRPr lang="en-US" dirty="0"/>
          </a:p>
        </p:txBody>
      </p:sp>
      <p:sp>
        <p:nvSpPr>
          <p:cNvPr id="9" name="Text 6"/>
          <p:cNvSpPr/>
          <p:nvPr/>
        </p:nvSpPr>
        <p:spPr>
          <a:xfrm>
            <a:off x="571054" y="1370261"/>
            <a:ext cx="72107" cy="142875"/>
          </a:xfrm>
          <a:prstGeom prst="rect">
            <a:avLst/>
          </a:prstGeom>
          <a:noFill/>
          <a:ln/>
        </p:spPr>
        <p:txBody>
          <a:bodyPr wrap="square" lIns="0" tIns="0" rIns="0" bIns="0" rtlCol="0" anchor="t"/>
          <a:lstStyle/>
          <a:p>
            <a:pPr algn="l" indent="0" marL="0">
              <a:buNone/>
            </a:pPr>
            <a:r>
              <a:rPr lang="en-US" sz="1000" b="1" dirty="0">
                <a:solidFill>
                  <a:srgbClr val="00B4D8"/>
                </a:solidFill>
                <a:latin typeface="Arial" pitchFamily="34" charset="0"/>
                <a:ea typeface="Arial" pitchFamily="34" charset="-122"/>
                <a:cs typeface="Arial" pitchFamily="34" charset="-120"/>
              </a:rPr>
              <a:t>2</a:t>
            </a:r>
            <a:endParaRPr lang="en-US" sz="1000" dirty="0"/>
          </a:p>
        </p:txBody>
      </p:sp>
      <p:sp>
        <p:nvSpPr>
          <p:cNvPr id="10" name="Text 7"/>
          <p:cNvSpPr/>
          <p:nvPr/>
        </p:nvSpPr>
        <p:spPr>
          <a:xfrm>
            <a:off x="882551" y="1267271"/>
            <a:ext cx="6285777" cy="179933"/>
          </a:xfrm>
          <a:prstGeom prst="rect">
            <a:avLst/>
          </a:prstGeom>
          <a:noFill/>
          <a:ln/>
        </p:spPr>
        <p:txBody>
          <a:bodyPr wrap="square" lIns="0" tIns="0" rIns="0" bIns="0" rtlCol="0" anchor="t"/>
          <a:lstStyle/>
          <a:p>
            <a:pPr algn="l" indent="0" marL="0">
              <a:lnSpc>
                <a:spcPts val="1418"/>
              </a:lnSpc>
              <a:spcAft>
                <a:spcPts val="200"/>
              </a:spcAft>
              <a:buNone/>
            </a:pPr>
            <a:r>
              <a:rPr lang="en-US" sz="1050" b="1" dirty="0">
                <a:solidFill>
                  <a:srgbClr val="E2E8F0"/>
                </a:solidFill>
                <a:latin typeface="Arial" pitchFamily="34" charset="0"/>
                <a:ea typeface="Arial" pitchFamily="34" charset="-122"/>
                <a:cs typeface="Arial" pitchFamily="34" charset="-120"/>
              </a:rPr>
              <a:t>Per-class threshold optimization unlocked the transformer's potential</a:t>
            </a:r>
            <a:endParaRPr lang="en-US" sz="1050" dirty="0"/>
          </a:p>
        </p:txBody>
      </p:sp>
      <p:sp>
        <p:nvSpPr>
          <p:cNvPr id="11" name="Text 8"/>
          <p:cNvSpPr/>
          <p:nvPr/>
        </p:nvSpPr>
        <p:spPr>
          <a:xfrm>
            <a:off x="882551" y="1472505"/>
            <a:ext cx="6285777" cy="154186"/>
          </a:xfrm>
          <a:prstGeom prst="rect">
            <a:avLst/>
          </a:prstGeom>
          <a:noFill/>
          <a:ln/>
        </p:spPr>
        <p:txBody>
          <a:bodyPr wrap="square" lIns="0" tIns="0" rIns="0" bIns="0" rtlCol="0" anchor="t"/>
          <a:lstStyle/>
          <a:p>
            <a:pPr algn="l" indent="0" marL="0">
              <a:lnSpc>
                <a:spcPts val="1215"/>
              </a:lnSpc>
              <a:buNone/>
            </a:pPr>
            <a:r>
              <a:rPr lang="en-US" sz="900" dirty="0">
                <a:solidFill>
                  <a:srgbClr val="94A3B8"/>
                </a:solidFill>
                <a:latin typeface="Arial" pitchFamily="34" charset="0"/>
                <a:ea typeface="Arial" pitchFamily="34" charset="-122"/>
                <a:cs typeface="Arial" pitchFamily="34" charset="-120"/>
              </a:rPr>
              <a:t>Default 0.5 threshold caused over-prediction. Per-class tuning (+2.1% F1 Micro, +6.7% F1 Macro) made it the best model.</a:t>
            </a:r>
            <a:endParaRPr lang="en-US" sz="900" dirty="0"/>
          </a:p>
        </p:txBody>
      </p:sp>
      <p:sp>
        <p:nvSpPr>
          <p:cNvPr id="12" name="Text 9"/>
          <p:cNvSpPr/>
          <p:nvPr/>
        </p:nvSpPr>
        <p:spPr>
          <a:xfrm>
            <a:off x="457200" y="1753493"/>
            <a:ext cx="298400" cy="298400"/>
          </a:xfrm>
          <a:prstGeom prst="roundRect">
            <a:avLst>
              <a:gd name="adj" fmla="val 306434"/>
            </a:avLst>
          </a:prstGeom>
          <a:solidFill>
            <a:srgbClr val="00B4D8">
              <a:alpha val="15000"/>
            </a:srgbClr>
          </a:solidFill>
          <a:ln w="9525">
            <a:solidFill>
              <a:srgbClr val="00B4D8"/>
            </a:solidFill>
          </a:ln>
        </p:spPr>
        <p:txBody>
          <a:bodyPr wrap="square" rtlCol="0" anchor="ctr"/>
          <a:lstStyle/>
          <a:p>
            <a:pPr indent="0" marL="0">
              <a:buNone/>
            </a:pPr>
            <a:endParaRPr lang="en-US" dirty="0"/>
          </a:p>
        </p:txBody>
      </p:sp>
      <p:sp>
        <p:nvSpPr>
          <p:cNvPr id="13" name="Text 10"/>
          <p:cNvSpPr/>
          <p:nvPr/>
        </p:nvSpPr>
        <p:spPr>
          <a:xfrm>
            <a:off x="571054" y="1831181"/>
            <a:ext cx="72107" cy="142875"/>
          </a:xfrm>
          <a:prstGeom prst="rect">
            <a:avLst/>
          </a:prstGeom>
          <a:noFill/>
          <a:ln/>
        </p:spPr>
        <p:txBody>
          <a:bodyPr wrap="square" lIns="0" tIns="0" rIns="0" bIns="0" rtlCol="0" anchor="t"/>
          <a:lstStyle/>
          <a:p>
            <a:pPr algn="l" indent="0" marL="0">
              <a:buNone/>
            </a:pPr>
            <a:r>
              <a:rPr lang="en-US" sz="1000" b="1" dirty="0">
                <a:solidFill>
                  <a:srgbClr val="00B4D8"/>
                </a:solidFill>
                <a:latin typeface="Arial" pitchFamily="34" charset="0"/>
                <a:ea typeface="Arial" pitchFamily="34" charset="-122"/>
                <a:cs typeface="Arial" pitchFamily="34" charset="-120"/>
              </a:rPr>
              <a:t>3</a:t>
            </a:r>
            <a:endParaRPr lang="en-US" sz="1000" dirty="0"/>
          </a:p>
        </p:txBody>
      </p:sp>
      <p:sp>
        <p:nvSpPr>
          <p:cNvPr id="14" name="Text 11"/>
          <p:cNvSpPr/>
          <p:nvPr/>
        </p:nvSpPr>
        <p:spPr>
          <a:xfrm>
            <a:off x="882551" y="1728192"/>
            <a:ext cx="5272632" cy="179933"/>
          </a:xfrm>
          <a:prstGeom prst="rect">
            <a:avLst/>
          </a:prstGeom>
          <a:noFill/>
          <a:ln/>
        </p:spPr>
        <p:txBody>
          <a:bodyPr wrap="square" lIns="0" tIns="0" rIns="0" bIns="0" rtlCol="0" anchor="t"/>
          <a:lstStyle/>
          <a:p>
            <a:pPr algn="l" indent="0" marL="0">
              <a:lnSpc>
                <a:spcPts val="1418"/>
              </a:lnSpc>
              <a:spcAft>
                <a:spcPts val="200"/>
              </a:spcAft>
              <a:buNone/>
            </a:pPr>
            <a:r>
              <a:rPr lang="en-US" sz="1050" b="1" dirty="0">
                <a:solidFill>
                  <a:srgbClr val="E2E8F0"/>
                </a:solidFill>
                <a:latin typeface="Arial" pitchFamily="34" charset="0"/>
                <a:ea typeface="Arial" pitchFamily="34" charset="-122"/>
                <a:cs typeface="Arial" pitchFamily="34" charset="-120"/>
              </a:rPr>
              <a:t>Document length is a real engineering challenge</a:t>
            </a:r>
            <a:endParaRPr lang="en-US" sz="1050" dirty="0"/>
          </a:p>
        </p:txBody>
      </p:sp>
      <p:sp>
        <p:nvSpPr>
          <p:cNvPr id="15" name="Text 12"/>
          <p:cNvSpPr/>
          <p:nvPr/>
        </p:nvSpPr>
        <p:spPr>
          <a:xfrm>
            <a:off x="882551" y="1933426"/>
            <a:ext cx="5272632" cy="154186"/>
          </a:xfrm>
          <a:prstGeom prst="rect">
            <a:avLst/>
          </a:prstGeom>
          <a:noFill/>
          <a:ln/>
        </p:spPr>
        <p:txBody>
          <a:bodyPr wrap="square" lIns="0" tIns="0" rIns="0" bIns="0" rtlCol="0" anchor="t"/>
          <a:lstStyle/>
          <a:p>
            <a:pPr algn="l" indent="0" marL="0">
              <a:lnSpc>
                <a:spcPts val="1215"/>
              </a:lnSpc>
              <a:buNone/>
            </a:pPr>
            <a:r>
              <a:rPr lang="en-US" sz="900" dirty="0">
                <a:solidFill>
                  <a:srgbClr val="94A3B8"/>
                </a:solidFill>
                <a:latin typeface="Arial" pitchFamily="34" charset="0"/>
                <a:ea typeface="Arial" pitchFamily="34" charset="-122"/>
                <a:cs typeface="Arial" pitchFamily="34" charset="-120"/>
              </a:rPr>
              <a:t>Median 2,693 tokens. Only 4.1% fit BERT. Summarization adds complexity and some information loss.</a:t>
            </a:r>
            <a:endParaRPr lang="en-US" sz="900" dirty="0"/>
          </a:p>
        </p:txBody>
      </p:sp>
      <p:sp>
        <p:nvSpPr>
          <p:cNvPr id="16" name="Text 13"/>
          <p:cNvSpPr/>
          <p:nvPr/>
        </p:nvSpPr>
        <p:spPr>
          <a:xfrm>
            <a:off x="457200" y="2214414"/>
            <a:ext cx="298400" cy="298400"/>
          </a:xfrm>
          <a:prstGeom prst="roundRect">
            <a:avLst>
              <a:gd name="adj" fmla="val 306434"/>
            </a:avLst>
          </a:prstGeom>
          <a:solidFill>
            <a:srgbClr val="00B4D8">
              <a:alpha val="15000"/>
            </a:srgbClr>
          </a:solidFill>
          <a:ln w="9525">
            <a:solidFill>
              <a:srgbClr val="00B4D8"/>
            </a:solidFill>
          </a:ln>
        </p:spPr>
        <p:txBody>
          <a:bodyPr wrap="square" rtlCol="0" anchor="ctr"/>
          <a:lstStyle/>
          <a:p>
            <a:pPr indent="0" marL="0">
              <a:buNone/>
            </a:pPr>
            <a:endParaRPr lang="en-US" dirty="0"/>
          </a:p>
        </p:txBody>
      </p:sp>
      <p:sp>
        <p:nvSpPr>
          <p:cNvPr id="17" name="Text 14"/>
          <p:cNvSpPr/>
          <p:nvPr/>
        </p:nvSpPr>
        <p:spPr>
          <a:xfrm>
            <a:off x="571054" y="2292102"/>
            <a:ext cx="72107" cy="142875"/>
          </a:xfrm>
          <a:prstGeom prst="rect">
            <a:avLst/>
          </a:prstGeom>
          <a:noFill/>
          <a:ln/>
        </p:spPr>
        <p:txBody>
          <a:bodyPr wrap="square" lIns="0" tIns="0" rIns="0" bIns="0" rtlCol="0" anchor="t"/>
          <a:lstStyle/>
          <a:p>
            <a:pPr algn="l" indent="0" marL="0">
              <a:buNone/>
            </a:pPr>
            <a:r>
              <a:rPr lang="en-US" sz="1000" b="1" dirty="0">
                <a:solidFill>
                  <a:srgbClr val="00B4D8"/>
                </a:solidFill>
                <a:latin typeface="Arial" pitchFamily="34" charset="0"/>
                <a:ea typeface="Arial" pitchFamily="34" charset="-122"/>
                <a:cs typeface="Arial" pitchFamily="34" charset="-120"/>
              </a:rPr>
              <a:t>4</a:t>
            </a:r>
            <a:endParaRPr lang="en-US" sz="1000" dirty="0"/>
          </a:p>
        </p:txBody>
      </p:sp>
      <p:sp>
        <p:nvSpPr>
          <p:cNvPr id="18" name="Text 15"/>
          <p:cNvSpPr/>
          <p:nvPr/>
        </p:nvSpPr>
        <p:spPr>
          <a:xfrm>
            <a:off x="882551" y="2189113"/>
            <a:ext cx="4938510" cy="179933"/>
          </a:xfrm>
          <a:prstGeom prst="rect">
            <a:avLst/>
          </a:prstGeom>
          <a:noFill/>
          <a:ln/>
        </p:spPr>
        <p:txBody>
          <a:bodyPr wrap="square" lIns="0" tIns="0" rIns="0" bIns="0" rtlCol="0" anchor="t"/>
          <a:lstStyle/>
          <a:p>
            <a:pPr algn="l" indent="0" marL="0">
              <a:lnSpc>
                <a:spcPts val="1418"/>
              </a:lnSpc>
              <a:spcAft>
                <a:spcPts val="200"/>
              </a:spcAft>
              <a:buNone/>
            </a:pPr>
            <a:r>
              <a:rPr lang="en-US" sz="1050" b="1" dirty="0">
                <a:solidFill>
                  <a:srgbClr val="E2E8F0"/>
                </a:solidFill>
                <a:latin typeface="Arial" pitchFamily="34" charset="0"/>
                <a:ea typeface="Arial" pitchFamily="34" charset="-122"/>
                <a:cs typeface="Arial" pitchFamily="34" charset="-120"/>
              </a:rPr>
              <a:t>Multi-label nature adds significant complexity</a:t>
            </a:r>
            <a:endParaRPr lang="en-US" sz="1050" dirty="0"/>
          </a:p>
        </p:txBody>
      </p:sp>
      <p:sp>
        <p:nvSpPr>
          <p:cNvPr id="19" name="Text 16"/>
          <p:cNvSpPr/>
          <p:nvPr/>
        </p:nvSpPr>
        <p:spPr>
          <a:xfrm>
            <a:off x="882551" y="2394347"/>
            <a:ext cx="4938510" cy="154186"/>
          </a:xfrm>
          <a:prstGeom prst="rect">
            <a:avLst/>
          </a:prstGeom>
          <a:noFill/>
          <a:ln/>
        </p:spPr>
        <p:txBody>
          <a:bodyPr wrap="square" lIns="0" tIns="0" rIns="0" bIns="0" rtlCol="0" anchor="t"/>
          <a:lstStyle/>
          <a:p>
            <a:pPr algn="l" indent="0" marL="0">
              <a:lnSpc>
                <a:spcPts val="1215"/>
              </a:lnSpc>
              <a:buNone/>
            </a:pPr>
            <a:r>
              <a:rPr lang="en-US" sz="900" dirty="0">
                <a:solidFill>
                  <a:srgbClr val="94A3B8"/>
                </a:solidFill>
                <a:latin typeface="Arial" pitchFamily="34" charset="0"/>
                <a:ea typeface="Arial" pitchFamily="34" charset="-122"/>
                <a:cs typeface="Arial" pitchFamily="34" charset="-120"/>
              </a:rPr>
              <a:t>49.8% multi-label docs. Labels encode orthogonal dimensions (stage, motion, proceeding type).</a:t>
            </a:r>
            <a:endParaRPr lang="en-US" sz="900" dirty="0"/>
          </a:p>
        </p:txBody>
      </p:sp>
      <p:sp>
        <p:nvSpPr>
          <p:cNvPr id="20" name="Text 17"/>
          <p:cNvSpPr/>
          <p:nvPr/>
        </p:nvSpPr>
        <p:spPr>
          <a:xfrm>
            <a:off x="457200" y="2675483"/>
            <a:ext cx="8229600" cy="812602"/>
          </a:xfrm>
          <a:prstGeom prst="roundRect">
            <a:avLst>
              <a:gd name="adj" fmla="val 9377"/>
            </a:avLst>
          </a:prstGeom>
          <a:solidFill>
            <a:srgbClr val="22C55E">
              <a:alpha val="10000"/>
            </a:srgbClr>
          </a:solidFill>
          <a:ln w="9525">
            <a:solidFill>
              <a:srgbClr val="22C55E"/>
            </a:solidFill>
          </a:ln>
        </p:spPr>
        <p:txBody>
          <a:bodyPr wrap="square" rtlCol="0" anchor="ctr"/>
          <a:lstStyle/>
          <a:p>
            <a:pPr indent="0" marL="0">
              <a:buNone/>
            </a:pPr>
            <a:endParaRPr lang="en-US" dirty="0"/>
          </a:p>
        </p:txBody>
      </p:sp>
      <p:sp>
        <p:nvSpPr>
          <p:cNvPr id="21" name="Text 18"/>
          <p:cNvSpPr/>
          <p:nvPr/>
        </p:nvSpPr>
        <p:spPr>
          <a:xfrm>
            <a:off x="644426" y="2811959"/>
            <a:ext cx="8012251" cy="152400"/>
          </a:xfrm>
          <a:prstGeom prst="rect">
            <a:avLst/>
          </a:prstGeom>
          <a:noFill/>
          <a:ln/>
        </p:spPr>
        <p:txBody>
          <a:bodyPr wrap="square" lIns="0" tIns="0" rIns="0" bIns="0" rtlCol="0" anchor="t"/>
          <a:lstStyle/>
          <a:p>
            <a:pPr algn="l" indent="0" marL="0">
              <a:spcAft>
                <a:spcPts val="500"/>
              </a:spcAft>
              <a:buNone/>
            </a:pPr>
            <a:r>
              <a:rPr lang="en-US" sz="1100" b="1" dirty="0">
                <a:solidFill>
                  <a:srgbClr val="22C55E"/>
                </a:solidFill>
                <a:latin typeface="Arial" pitchFamily="34" charset="0"/>
                <a:ea typeface="Arial" pitchFamily="34" charset="-122"/>
                <a:cs typeface="Arial" pitchFamily="34" charset="-120"/>
              </a:rPr>
              <a:t>Business Recommendation</a:t>
            </a:r>
            <a:endParaRPr lang="en-US" sz="1100" dirty="0"/>
          </a:p>
        </p:txBody>
      </p:sp>
      <p:sp>
        <p:nvSpPr>
          <p:cNvPr id="22" name="Text 19"/>
          <p:cNvSpPr/>
          <p:nvPr/>
        </p:nvSpPr>
        <p:spPr>
          <a:xfrm>
            <a:off x="644426" y="3027759"/>
            <a:ext cx="8012251" cy="285750"/>
          </a:xfrm>
          <a:prstGeom prst="rect">
            <a:avLst/>
          </a:prstGeom>
          <a:noFill/>
          <a:ln/>
        </p:spPr>
        <p:txBody>
          <a:bodyPr wrap="square" lIns="0" tIns="0" rIns="0" bIns="0" rtlCol="0" anchor="t"/>
          <a:lstStyle/>
          <a:p>
            <a:pPr algn="l" indent="0" marL="0">
              <a:spcAft>
                <a:spcPts val="300"/>
              </a:spcAft>
              <a:buNone/>
            </a:pPr>
            <a:r>
              <a:rPr lang="en-US" sz="1000" dirty="0">
                <a:solidFill>
                  <a:srgbClr val="E2E8F0"/>
                </a:solidFill>
                <a:latin typeface="Arial" pitchFamily="34" charset="0"/>
                <a:ea typeface="Arial" pitchFamily="34" charset="-122"/>
                <a:cs typeface="Arial" pitchFamily="34" charset="-120"/>
              </a:rPr>
              <a:t>Partial automation is feasible for high-frequency postures. A tiered deployment strategy (auto / assisted / human) can cover ~92% of labeling volume. The ensemble achieves best F1 Micro </a:t>
            </a:r>
            <a:pPr algn="l" indent="0" marL="0">
              <a:spcAft>
                <a:spcPts val="300"/>
              </a:spcAft>
              <a:buNone/>
            </a:pPr>
            <a:r>
              <a:rPr lang="en-US" sz="1000" b="1" dirty="0">
                <a:solidFill>
                  <a:srgbClr val="E2E8F0"/>
                </a:solidFill>
                <a:latin typeface="Arial" pitchFamily="34" charset="0"/>
                <a:ea typeface="Arial" pitchFamily="34" charset="-122"/>
                <a:cs typeface="Arial" pitchFamily="34" charset="-120"/>
              </a:rPr>
              <a:t>0.783</a:t>
            </a:r>
            <a:pPr algn="l" indent="0" marL="0">
              <a:spcAft>
                <a:spcPts val="300"/>
              </a:spcAft>
              <a:buNone/>
            </a:pPr>
            <a:r>
              <a:rPr lang="en-US" sz="1000" dirty="0">
                <a:solidFill>
                  <a:srgbClr val="E2E8F0"/>
                </a:solidFill>
                <a:latin typeface="Arial" pitchFamily="34" charset="0"/>
                <a:ea typeface="Arial" pitchFamily="34" charset="-122"/>
                <a:cs typeface="Arial" pitchFamily="34" charset="-120"/>
              </a:rPr>
              <a:t>; model complementarity confirms value in combining approaches.</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alessandrodibari/Ale/projects/TR_hiring_exercise/outputs/pptx_workspace/slides/accent_teal.png">    </p:cNvPr>
          <p:cNvPicPr>
            <a:picLocks noChangeAspect="1"/>
          </p:cNvPicPr>
          <p:nvPr/>
        </p:nvPicPr>
        <p:blipFill>
          <a:blip r:embed="rId2"/>
          <a:stretch>
            <a:fillRect/>
          </a:stretch>
        </p:blipFill>
        <p:spPr>
          <a:xfrm>
            <a:off x="0" y="0"/>
            <a:ext cx="9144000" cy="50750"/>
          </a:xfrm>
          <a:prstGeom prst="rect">
            <a:avLst/>
          </a:prstGeom>
        </p:spPr>
      </p:pic>
      <p:sp>
        <p:nvSpPr>
          <p:cNvPr id="3" name="Text 0"/>
          <p:cNvSpPr/>
          <p:nvPr/>
        </p:nvSpPr>
        <p:spPr>
          <a:xfrm>
            <a:off x="457200" y="355550"/>
            <a:ext cx="8394192" cy="323850"/>
          </a:xfrm>
          <a:prstGeom prst="rect">
            <a:avLst/>
          </a:prstGeom>
          <a:noFill/>
          <a:ln/>
        </p:spPr>
        <p:txBody>
          <a:bodyPr wrap="square" lIns="0" tIns="0" rIns="0" bIns="0" rtlCol="0" anchor="t"/>
          <a:lstStyle/>
          <a:p>
            <a:pPr algn="l" indent="0" marL="0">
              <a:buNone/>
            </a:pPr>
            <a:r>
              <a:rPr lang="en-US" sz="2200" b="1" dirty="0">
                <a:solidFill>
                  <a:srgbClr val="00B4D8"/>
                </a:solidFill>
                <a:latin typeface="Arial" pitchFamily="34" charset="0"/>
                <a:ea typeface="Arial" pitchFamily="34" charset="-122"/>
                <a:cs typeface="Arial" pitchFamily="34" charset="-120"/>
              </a:rPr>
              <a:t>Next Steps</a:t>
            </a:r>
            <a:endParaRPr lang="en-US" sz="2200" dirty="0"/>
          </a:p>
        </p:txBody>
      </p:sp>
      <p:sp>
        <p:nvSpPr>
          <p:cNvPr id="4" name="Text 1"/>
          <p:cNvSpPr/>
          <p:nvPr/>
        </p:nvSpPr>
        <p:spPr>
          <a:xfrm>
            <a:off x="457200" y="831800"/>
            <a:ext cx="4093413" cy="133350"/>
          </a:xfrm>
          <a:prstGeom prst="rect">
            <a:avLst/>
          </a:prstGeom>
          <a:noFill/>
          <a:ln/>
        </p:spPr>
        <p:txBody>
          <a:bodyPr wrap="square" lIns="0" tIns="0" rIns="0" bIns="0" rtlCol="0" anchor="t"/>
          <a:lstStyle/>
          <a:p>
            <a:pPr algn="l" indent="0" marL="0">
              <a:spcAft>
                <a:spcPts val="600"/>
              </a:spcAft>
              <a:buNone/>
            </a:pPr>
            <a:r>
              <a:rPr lang="en-US" sz="900" dirty="0">
                <a:solidFill>
                  <a:srgbClr val="94A3B8"/>
                </a:solidFill>
                <a:latin typeface="Arial" pitchFamily="34" charset="0"/>
                <a:ea typeface="Arial" pitchFamily="34" charset="-122"/>
                <a:cs typeface="Arial" pitchFamily="34" charset="-120"/>
              </a:rPr>
              <a:t>MODEL IMPROVEMENTS</a:t>
            </a:r>
            <a:endParaRPr lang="en-US" sz="900" dirty="0"/>
          </a:p>
        </p:txBody>
      </p:sp>
      <p:sp>
        <p:nvSpPr>
          <p:cNvPr id="5" name="Text 2"/>
          <p:cNvSpPr/>
          <p:nvPr/>
        </p:nvSpPr>
        <p:spPr>
          <a:xfrm>
            <a:off x="457200" y="1041350"/>
            <a:ext cx="4013150" cy="705445"/>
          </a:xfrm>
          <a:prstGeom prst="roundRect">
            <a:avLst>
              <a:gd name="adj" fmla="val 10802"/>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6" name="Text 3"/>
          <p:cNvSpPr/>
          <p:nvPr/>
        </p:nvSpPr>
        <p:spPr>
          <a:xfrm>
            <a:off x="619125" y="1152376"/>
            <a:ext cx="3763086" cy="164902"/>
          </a:xfrm>
          <a:prstGeom prst="rect">
            <a:avLst/>
          </a:prstGeom>
          <a:noFill/>
          <a:ln/>
        </p:spPr>
        <p:txBody>
          <a:bodyPr wrap="square" lIns="0" tIns="0" rIns="0" bIns="0" rtlCol="0" anchor="t"/>
          <a:lstStyle/>
          <a:p>
            <a:pPr algn="l" indent="0" marL="0">
              <a:lnSpc>
                <a:spcPts val="1300"/>
              </a:lnSpc>
              <a:spcAft>
                <a:spcPts val="300"/>
              </a:spcAft>
              <a:buNone/>
            </a:pPr>
            <a:r>
              <a:rPr lang="en-US" sz="1000" b="1" dirty="0">
                <a:solidFill>
                  <a:srgbClr val="00B4D8"/>
                </a:solidFill>
                <a:latin typeface="Arial" pitchFamily="34" charset="0"/>
                <a:ea typeface="Arial" pitchFamily="34" charset="-122"/>
                <a:cs typeface="Arial" pitchFamily="34" charset="-120"/>
              </a:rPr>
              <a:t>GPU Training Infrastructure</a:t>
            </a:r>
            <a:endParaRPr lang="en-US" sz="1000" dirty="0"/>
          </a:p>
        </p:txBody>
      </p:sp>
      <p:sp>
        <p:nvSpPr>
          <p:cNvPr id="7" name="Text 4"/>
          <p:cNvSpPr/>
          <p:nvPr/>
        </p:nvSpPr>
        <p:spPr>
          <a:xfrm>
            <a:off x="619125" y="1355378"/>
            <a:ext cx="3763086" cy="280392"/>
          </a:xfrm>
          <a:prstGeom prst="rect">
            <a:avLst/>
          </a:prstGeom>
          <a:noFill/>
          <a:ln/>
        </p:spPr>
        <p:txBody>
          <a:bodyPr wrap="square" lIns="0" tIns="0" rIns="0" bIns="0" rtlCol="0" anchor="t"/>
          <a:lstStyle/>
          <a:p>
            <a:pPr algn="l" indent="0" marL="0">
              <a:lnSpc>
                <a:spcPts val="1105"/>
              </a:lnSpc>
              <a:buNone/>
            </a:pPr>
            <a:r>
              <a:rPr lang="en-US" sz="850" dirty="0">
                <a:solidFill>
                  <a:srgbClr val="94A3B8"/>
                </a:solidFill>
                <a:latin typeface="Arial" pitchFamily="34" charset="0"/>
                <a:ea typeface="Arial" pitchFamily="34" charset="-122"/>
                <a:cs typeface="Arial" pitchFamily="34" charset="-120"/>
              </a:rPr>
              <a:t>Train on CUDA cluster: larger batches, more epochs, proper hyperparameter search</a:t>
            </a:r>
            <a:endParaRPr lang="en-US" sz="850" dirty="0"/>
          </a:p>
        </p:txBody>
      </p:sp>
      <p:sp>
        <p:nvSpPr>
          <p:cNvPr id="8" name="Text 5"/>
          <p:cNvSpPr/>
          <p:nvPr/>
        </p:nvSpPr>
        <p:spPr>
          <a:xfrm>
            <a:off x="457200" y="1822996"/>
            <a:ext cx="4013150" cy="705445"/>
          </a:xfrm>
          <a:prstGeom prst="roundRect">
            <a:avLst>
              <a:gd name="adj" fmla="val 10802"/>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9" name="Text 6"/>
          <p:cNvSpPr/>
          <p:nvPr/>
        </p:nvSpPr>
        <p:spPr>
          <a:xfrm>
            <a:off x="619125" y="1934021"/>
            <a:ext cx="3763086" cy="164902"/>
          </a:xfrm>
          <a:prstGeom prst="rect">
            <a:avLst/>
          </a:prstGeom>
          <a:noFill/>
          <a:ln/>
        </p:spPr>
        <p:txBody>
          <a:bodyPr wrap="square" lIns="0" tIns="0" rIns="0" bIns="0" rtlCol="0" anchor="t"/>
          <a:lstStyle/>
          <a:p>
            <a:pPr algn="l" indent="0" marL="0">
              <a:lnSpc>
                <a:spcPts val="1300"/>
              </a:lnSpc>
              <a:spcAft>
                <a:spcPts val="300"/>
              </a:spcAft>
              <a:buNone/>
            </a:pPr>
            <a:r>
              <a:rPr lang="en-US" sz="1000" b="1" dirty="0">
                <a:solidFill>
                  <a:srgbClr val="00B4D8"/>
                </a:solidFill>
                <a:latin typeface="Arial" pitchFamily="34" charset="0"/>
                <a:ea typeface="Arial" pitchFamily="34" charset="-122"/>
                <a:cs typeface="Arial" pitchFamily="34" charset="-120"/>
              </a:rPr>
              <a:t>Hierarchical Classification</a:t>
            </a:r>
            <a:endParaRPr lang="en-US" sz="1000" dirty="0"/>
          </a:p>
        </p:txBody>
      </p:sp>
      <p:sp>
        <p:nvSpPr>
          <p:cNvPr id="10" name="Text 7"/>
          <p:cNvSpPr/>
          <p:nvPr/>
        </p:nvSpPr>
        <p:spPr>
          <a:xfrm>
            <a:off x="619125" y="2137023"/>
            <a:ext cx="3763086" cy="280392"/>
          </a:xfrm>
          <a:prstGeom prst="rect">
            <a:avLst/>
          </a:prstGeom>
          <a:noFill/>
          <a:ln/>
        </p:spPr>
        <p:txBody>
          <a:bodyPr wrap="square" lIns="0" tIns="0" rIns="0" bIns="0" rtlCol="0" anchor="t"/>
          <a:lstStyle/>
          <a:p>
            <a:pPr algn="l" indent="0" marL="0">
              <a:lnSpc>
                <a:spcPts val="1105"/>
              </a:lnSpc>
              <a:buNone/>
            </a:pPr>
            <a:r>
              <a:rPr lang="en-US" sz="850" dirty="0">
                <a:solidFill>
                  <a:srgbClr val="94A3B8"/>
                </a:solidFill>
                <a:latin typeface="Arial" pitchFamily="34" charset="0"/>
                <a:ea typeface="Arial" pitchFamily="34" charset="-122"/>
                <a:cs typeface="Arial" pitchFamily="34" charset="-120"/>
              </a:rPr>
              <a:t>Leverage ontology structure: shared encoder with multi-task heads per dimension</a:t>
            </a:r>
            <a:endParaRPr lang="en-US" sz="850" dirty="0"/>
          </a:p>
        </p:txBody>
      </p:sp>
      <p:sp>
        <p:nvSpPr>
          <p:cNvPr id="11" name="Text 8"/>
          <p:cNvSpPr/>
          <p:nvPr/>
        </p:nvSpPr>
        <p:spPr>
          <a:xfrm>
            <a:off x="457200" y="2604641"/>
            <a:ext cx="4013150" cy="705445"/>
          </a:xfrm>
          <a:prstGeom prst="roundRect">
            <a:avLst>
              <a:gd name="adj" fmla="val 10802"/>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12" name="Text 9"/>
          <p:cNvSpPr/>
          <p:nvPr/>
        </p:nvSpPr>
        <p:spPr>
          <a:xfrm>
            <a:off x="619125" y="2715667"/>
            <a:ext cx="3763086" cy="164902"/>
          </a:xfrm>
          <a:prstGeom prst="rect">
            <a:avLst/>
          </a:prstGeom>
          <a:noFill/>
          <a:ln/>
        </p:spPr>
        <p:txBody>
          <a:bodyPr wrap="square" lIns="0" tIns="0" rIns="0" bIns="0" rtlCol="0" anchor="t"/>
          <a:lstStyle/>
          <a:p>
            <a:pPr algn="l" indent="0" marL="0">
              <a:lnSpc>
                <a:spcPts val="1300"/>
              </a:lnSpc>
              <a:spcAft>
                <a:spcPts val="300"/>
              </a:spcAft>
              <a:buNone/>
            </a:pPr>
            <a:r>
              <a:rPr lang="en-US" sz="1000" b="1" dirty="0">
                <a:solidFill>
                  <a:srgbClr val="00B4D8"/>
                </a:solidFill>
                <a:latin typeface="Arial" pitchFamily="34" charset="0"/>
                <a:ea typeface="Arial" pitchFamily="34" charset="-122"/>
                <a:cs typeface="Arial" pitchFamily="34" charset="-120"/>
              </a:rPr>
              <a:t>Data Augmentation</a:t>
            </a:r>
            <a:endParaRPr lang="en-US" sz="1000" dirty="0"/>
          </a:p>
        </p:txBody>
      </p:sp>
      <p:sp>
        <p:nvSpPr>
          <p:cNvPr id="13" name="Text 10"/>
          <p:cNvSpPr/>
          <p:nvPr/>
        </p:nvSpPr>
        <p:spPr>
          <a:xfrm>
            <a:off x="619125" y="2918668"/>
            <a:ext cx="3763086" cy="280392"/>
          </a:xfrm>
          <a:prstGeom prst="rect">
            <a:avLst/>
          </a:prstGeom>
          <a:noFill/>
          <a:ln/>
        </p:spPr>
        <p:txBody>
          <a:bodyPr wrap="square" lIns="0" tIns="0" rIns="0" bIns="0" rtlCol="0" anchor="t"/>
          <a:lstStyle/>
          <a:p>
            <a:pPr algn="l" indent="0" marL="0">
              <a:lnSpc>
                <a:spcPts val="1105"/>
              </a:lnSpc>
              <a:buNone/>
            </a:pPr>
            <a:r>
              <a:rPr lang="en-US" sz="850" dirty="0">
                <a:solidFill>
                  <a:srgbClr val="94A3B8"/>
                </a:solidFill>
                <a:latin typeface="Arial" pitchFamily="34" charset="0"/>
                <a:ea typeface="Arial" pitchFamily="34" charset="-122"/>
                <a:cs typeface="Arial" pitchFamily="34" charset="-120"/>
              </a:rPr>
              <a:t>Oversample rare classes, back-translation, synonym replacement for legal terms</a:t>
            </a:r>
            <a:endParaRPr lang="en-US" sz="850" dirty="0"/>
          </a:p>
        </p:txBody>
      </p:sp>
      <p:sp>
        <p:nvSpPr>
          <p:cNvPr id="14" name="Text 11"/>
          <p:cNvSpPr/>
          <p:nvPr/>
        </p:nvSpPr>
        <p:spPr>
          <a:xfrm>
            <a:off x="457200" y="3386286"/>
            <a:ext cx="4013150" cy="705445"/>
          </a:xfrm>
          <a:prstGeom prst="roundRect">
            <a:avLst>
              <a:gd name="adj" fmla="val 10802"/>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15" name="Text 12"/>
          <p:cNvSpPr/>
          <p:nvPr/>
        </p:nvSpPr>
        <p:spPr>
          <a:xfrm>
            <a:off x="619125" y="3497312"/>
            <a:ext cx="3763086" cy="164902"/>
          </a:xfrm>
          <a:prstGeom prst="rect">
            <a:avLst/>
          </a:prstGeom>
          <a:noFill/>
          <a:ln/>
        </p:spPr>
        <p:txBody>
          <a:bodyPr wrap="square" lIns="0" tIns="0" rIns="0" bIns="0" rtlCol="0" anchor="t"/>
          <a:lstStyle/>
          <a:p>
            <a:pPr algn="l" indent="0" marL="0">
              <a:lnSpc>
                <a:spcPts val="1300"/>
              </a:lnSpc>
              <a:spcAft>
                <a:spcPts val="300"/>
              </a:spcAft>
              <a:buNone/>
            </a:pPr>
            <a:r>
              <a:rPr lang="en-US" sz="1000" b="1" dirty="0">
                <a:solidFill>
                  <a:srgbClr val="00B4D8"/>
                </a:solidFill>
                <a:latin typeface="Arial" pitchFamily="34" charset="0"/>
                <a:ea typeface="Arial" pitchFamily="34" charset="-122"/>
                <a:cs typeface="Arial" pitchFamily="34" charset="-120"/>
              </a:rPr>
              <a:t>Ensemble + Per-Class Thresholds</a:t>
            </a:r>
            <a:endParaRPr lang="en-US" sz="1000" dirty="0"/>
          </a:p>
        </p:txBody>
      </p:sp>
      <p:sp>
        <p:nvSpPr>
          <p:cNvPr id="16" name="Text 13"/>
          <p:cNvSpPr/>
          <p:nvPr/>
        </p:nvSpPr>
        <p:spPr>
          <a:xfrm>
            <a:off x="619125" y="3700314"/>
            <a:ext cx="3763086" cy="280392"/>
          </a:xfrm>
          <a:prstGeom prst="rect">
            <a:avLst/>
          </a:prstGeom>
          <a:noFill/>
          <a:ln/>
        </p:spPr>
        <p:txBody>
          <a:bodyPr wrap="square" lIns="0" tIns="0" rIns="0" bIns="0" rtlCol="0" anchor="t"/>
          <a:lstStyle/>
          <a:p>
            <a:pPr algn="l" indent="0" marL="0">
              <a:lnSpc>
                <a:spcPts val="1105"/>
              </a:lnSpc>
              <a:buNone/>
            </a:pPr>
            <a:r>
              <a:rPr lang="en-US" sz="850" dirty="0">
                <a:solidFill>
                  <a:srgbClr val="94A3B8"/>
                </a:solidFill>
                <a:latin typeface="Arial" pitchFamily="34" charset="0"/>
                <a:ea typeface="Arial" pitchFamily="34" charset="-122"/>
                <a:cs typeface="Arial" pitchFamily="34" charset="-120"/>
              </a:rPr>
              <a:t>AND(TF-IDF, LF Per-Class) — combine both completed improvements into one pipeline</a:t>
            </a:r>
            <a:endParaRPr lang="en-US" sz="850" dirty="0"/>
          </a:p>
        </p:txBody>
      </p:sp>
      <p:sp>
        <p:nvSpPr>
          <p:cNvPr id="17" name="Text 14"/>
          <p:cNvSpPr/>
          <p:nvPr/>
        </p:nvSpPr>
        <p:spPr>
          <a:xfrm>
            <a:off x="457200" y="4167932"/>
            <a:ext cx="4013150" cy="705445"/>
          </a:xfrm>
          <a:prstGeom prst="roundRect">
            <a:avLst>
              <a:gd name="adj" fmla="val 10802"/>
            </a:avLst>
          </a:prstGeom>
          <a:solidFill>
            <a:srgbClr val="FFFFFF">
              <a:alpha val="4000"/>
            </a:srgbClr>
          </a:solidFill>
          <a:ln w="9525">
            <a:solidFill>
              <a:srgbClr val="FFFFFF"/>
            </a:solidFill>
          </a:ln>
        </p:spPr>
        <p:txBody>
          <a:bodyPr wrap="square" rtlCol="0" anchor="ctr"/>
          <a:lstStyle/>
          <a:p>
            <a:pPr indent="0" marL="0">
              <a:buNone/>
            </a:pPr>
            <a:endParaRPr lang="en-US" dirty="0"/>
          </a:p>
        </p:txBody>
      </p:sp>
      <p:sp>
        <p:nvSpPr>
          <p:cNvPr id="18" name="Text 15"/>
          <p:cNvSpPr/>
          <p:nvPr/>
        </p:nvSpPr>
        <p:spPr>
          <a:xfrm>
            <a:off x="619125" y="4278957"/>
            <a:ext cx="3763086" cy="164902"/>
          </a:xfrm>
          <a:prstGeom prst="rect">
            <a:avLst/>
          </a:prstGeom>
          <a:noFill/>
          <a:ln/>
        </p:spPr>
        <p:txBody>
          <a:bodyPr wrap="square" lIns="0" tIns="0" rIns="0" bIns="0" rtlCol="0" anchor="t"/>
          <a:lstStyle/>
          <a:p>
            <a:pPr algn="l" indent="0" marL="0">
              <a:lnSpc>
                <a:spcPts val="1300"/>
              </a:lnSpc>
              <a:spcAft>
                <a:spcPts val="300"/>
              </a:spcAft>
              <a:buNone/>
            </a:pPr>
            <a:r>
              <a:rPr lang="en-US" sz="1000" b="1" dirty="0">
                <a:solidFill>
                  <a:srgbClr val="00B4D8"/>
                </a:solidFill>
                <a:latin typeface="Arial" pitchFamily="34" charset="0"/>
                <a:ea typeface="Arial" pitchFamily="34" charset="-122"/>
                <a:cs typeface="Arial" pitchFamily="34" charset="-120"/>
              </a:rPr>
              <a:t>Per-Class Thresholds for Baseline</a:t>
            </a:r>
            <a:endParaRPr lang="en-US" sz="1000" dirty="0"/>
          </a:p>
        </p:txBody>
      </p:sp>
      <p:sp>
        <p:nvSpPr>
          <p:cNvPr id="19" name="Text 16"/>
          <p:cNvSpPr/>
          <p:nvPr/>
        </p:nvSpPr>
        <p:spPr>
          <a:xfrm>
            <a:off x="619125" y="4481959"/>
            <a:ext cx="3763086" cy="280392"/>
          </a:xfrm>
          <a:prstGeom prst="rect">
            <a:avLst/>
          </a:prstGeom>
          <a:noFill/>
          <a:ln/>
        </p:spPr>
        <p:txBody>
          <a:bodyPr wrap="square" lIns="0" tIns="0" rIns="0" bIns="0" rtlCol="0" anchor="t"/>
          <a:lstStyle/>
          <a:p>
            <a:pPr algn="l" indent="0" marL="0">
              <a:lnSpc>
                <a:spcPts val="1105"/>
              </a:lnSpc>
              <a:buNone/>
            </a:pPr>
            <a:r>
              <a:rPr lang="en-US" sz="850" dirty="0">
                <a:solidFill>
                  <a:srgbClr val="94A3B8"/>
                </a:solidFill>
                <a:latin typeface="Arial" pitchFamily="34" charset="0"/>
                <a:ea typeface="Arial" pitchFamily="34" charset="-122"/>
                <a:cs typeface="Arial" pitchFamily="34" charset="-120"/>
              </a:rPr>
              <a:t>TF-IDF also has predict_proba — apply same threshold sweep for a fair apples-to-apples comparison</a:t>
            </a:r>
            <a:endParaRPr lang="en-US" sz="850" dirty="0"/>
          </a:p>
        </p:txBody>
      </p:sp>
      <p:sp>
        <p:nvSpPr>
          <p:cNvPr id="20" name="Text 17"/>
          <p:cNvSpPr/>
          <p:nvPr/>
        </p:nvSpPr>
        <p:spPr>
          <a:xfrm>
            <a:off x="4673501" y="831800"/>
            <a:ext cx="4093565" cy="133350"/>
          </a:xfrm>
          <a:prstGeom prst="rect">
            <a:avLst/>
          </a:prstGeom>
          <a:noFill/>
          <a:ln/>
        </p:spPr>
        <p:txBody>
          <a:bodyPr wrap="square" lIns="0" tIns="0" rIns="0" bIns="0" rtlCol="0" anchor="t"/>
          <a:lstStyle/>
          <a:p>
            <a:pPr algn="l" indent="0" marL="0">
              <a:spcAft>
                <a:spcPts val="600"/>
              </a:spcAft>
              <a:buNone/>
            </a:pPr>
            <a:r>
              <a:rPr lang="en-US" sz="900" dirty="0">
                <a:solidFill>
                  <a:srgbClr val="94A3B8"/>
                </a:solidFill>
                <a:latin typeface="Arial" pitchFamily="34" charset="0"/>
                <a:ea typeface="Arial" pitchFamily="34" charset="-122"/>
                <a:cs typeface="Arial" pitchFamily="34" charset="-120"/>
              </a:rPr>
              <a:t>PRODUCTION PATH</a:t>
            </a:r>
            <a:endParaRPr lang="en-US" sz="900" dirty="0"/>
          </a:p>
        </p:txBody>
      </p:sp>
      <p:sp>
        <p:nvSpPr>
          <p:cNvPr id="21" name="Text 18"/>
          <p:cNvSpPr/>
          <p:nvPr/>
        </p:nvSpPr>
        <p:spPr>
          <a:xfrm>
            <a:off x="4673501" y="1041350"/>
            <a:ext cx="4013299" cy="565249"/>
          </a:xfrm>
          <a:prstGeom prst="roundRect">
            <a:avLst>
              <a:gd name="adj" fmla="val 13481"/>
            </a:avLst>
          </a:prstGeom>
          <a:solidFill>
            <a:srgbClr val="E76F51">
              <a:alpha val="8000"/>
            </a:srgbClr>
          </a:solidFill>
          <a:ln w="9525">
            <a:solidFill>
              <a:srgbClr val="E76F51"/>
            </a:solidFill>
          </a:ln>
        </p:spPr>
        <p:txBody>
          <a:bodyPr wrap="square" rtlCol="0" anchor="ctr"/>
          <a:lstStyle/>
          <a:p>
            <a:pPr indent="0" marL="0">
              <a:buNone/>
            </a:pPr>
            <a:endParaRPr lang="en-US" dirty="0"/>
          </a:p>
        </p:txBody>
      </p:sp>
      <p:sp>
        <p:nvSpPr>
          <p:cNvPr id="22" name="Text 19"/>
          <p:cNvSpPr/>
          <p:nvPr/>
        </p:nvSpPr>
        <p:spPr>
          <a:xfrm>
            <a:off x="4835426" y="1152376"/>
            <a:ext cx="3763238" cy="164902"/>
          </a:xfrm>
          <a:prstGeom prst="rect">
            <a:avLst/>
          </a:prstGeom>
          <a:noFill/>
          <a:ln/>
        </p:spPr>
        <p:txBody>
          <a:bodyPr wrap="square" lIns="0" tIns="0" rIns="0" bIns="0" rtlCol="0" anchor="t"/>
          <a:lstStyle/>
          <a:p>
            <a:pPr algn="l" indent="0" marL="0">
              <a:lnSpc>
                <a:spcPts val="1300"/>
              </a:lnSpc>
              <a:spcAft>
                <a:spcPts val="300"/>
              </a:spcAft>
              <a:buNone/>
            </a:pPr>
            <a:r>
              <a:rPr lang="en-US" sz="1000" b="1" dirty="0">
                <a:solidFill>
                  <a:srgbClr val="E76F51"/>
                </a:solidFill>
                <a:latin typeface="Arial" pitchFamily="34" charset="0"/>
                <a:ea typeface="Arial" pitchFamily="34" charset="-122"/>
                <a:cs typeface="Arial" pitchFamily="34" charset="-120"/>
              </a:rPr>
              <a:t>Confidence-Based Routing</a:t>
            </a:r>
            <a:endParaRPr lang="en-US" sz="1000" dirty="0"/>
          </a:p>
        </p:txBody>
      </p:sp>
      <p:sp>
        <p:nvSpPr>
          <p:cNvPr id="23" name="Text 20"/>
          <p:cNvSpPr/>
          <p:nvPr/>
        </p:nvSpPr>
        <p:spPr>
          <a:xfrm>
            <a:off x="4835426" y="1355378"/>
            <a:ext cx="3763238" cy="140196"/>
          </a:xfrm>
          <a:prstGeom prst="rect">
            <a:avLst/>
          </a:prstGeom>
          <a:noFill/>
          <a:ln/>
        </p:spPr>
        <p:txBody>
          <a:bodyPr wrap="square" lIns="0" tIns="0" rIns="0" bIns="0" rtlCol="0" anchor="t"/>
          <a:lstStyle/>
          <a:p>
            <a:pPr algn="l" indent="0" marL="0">
              <a:lnSpc>
                <a:spcPts val="1105"/>
              </a:lnSpc>
              <a:buNone/>
            </a:pPr>
            <a:r>
              <a:rPr lang="en-US" sz="850" dirty="0">
                <a:solidFill>
                  <a:srgbClr val="94A3B8"/>
                </a:solidFill>
                <a:latin typeface="Arial" pitchFamily="34" charset="0"/>
                <a:ea typeface="Arial" pitchFamily="34" charset="-122"/>
                <a:cs typeface="Arial" pitchFamily="34" charset="-120"/>
              </a:rPr>
              <a:t>High confidence: auto-label. Low confidence: route to human reviewer</a:t>
            </a:r>
            <a:endParaRPr lang="en-US" sz="850" dirty="0"/>
          </a:p>
        </p:txBody>
      </p:sp>
      <p:sp>
        <p:nvSpPr>
          <p:cNvPr id="24" name="Text 21"/>
          <p:cNvSpPr/>
          <p:nvPr/>
        </p:nvSpPr>
        <p:spPr>
          <a:xfrm>
            <a:off x="4673501" y="1682800"/>
            <a:ext cx="4013299" cy="705445"/>
          </a:xfrm>
          <a:prstGeom prst="roundRect">
            <a:avLst>
              <a:gd name="adj" fmla="val 10802"/>
            </a:avLst>
          </a:prstGeom>
          <a:solidFill>
            <a:srgbClr val="E76F51">
              <a:alpha val="8000"/>
            </a:srgbClr>
          </a:solidFill>
          <a:ln w="9525">
            <a:solidFill>
              <a:srgbClr val="E76F51"/>
            </a:solidFill>
          </a:ln>
        </p:spPr>
        <p:txBody>
          <a:bodyPr wrap="square" rtlCol="0" anchor="ctr"/>
          <a:lstStyle/>
          <a:p>
            <a:pPr indent="0" marL="0">
              <a:buNone/>
            </a:pPr>
            <a:endParaRPr lang="en-US" dirty="0"/>
          </a:p>
        </p:txBody>
      </p:sp>
      <p:sp>
        <p:nvSpPr>
          <p:cNvPr id="25" name="Text 22"/>
          <p:cNvSpPr/>
          <p:nvPr/>
        </p:nvSpPr>
        <p:spPr>
          <a:xfrm>
            <a:off x="4835426" y="1793825"/>
            <a:ext cx="3763238" cy="164902"/>
          </a:xfrm>
          <a:prstGeom prst="rect">
            <a:avLst/>
          </a:prstGeom>
          <a:noFill/>
          <a:ln/>
        </p:spPr>
        <p:txBody>
          <a:bodyPr wrap="square" lIns="0" tIns="0" rIns="0" bIns="0" rtlCol="0" anchor="t"/>
          <a:lstStyle/>
          <a:p>
            <a:pPr algn="l" indent="0" marL="0">
              <a:lnSpc>
                <a:spcPts val="1300"/>
              </a:lnSpc>
              <a:spcAft>
                <a:spcPts val="300"/>
              </a:spcAft>
              <a:buNone/>
            </a:pPr>
            <a:r>
              <a:rPr lang="en-US" sz="1000" b="1" dirty="0">
                <a:solidFill>
                  <a:srgbClr val="E76F51"/>
                </a:solidFill>
                <a:latin typeface="Arial" pitchFamily="34" charset="0"/>
                <a:ea typeface="Arial" pitchFamily="34" charset="-122"/>
                <a:cs typeface="Arial" pitchFamily="34" charset="-120"/>
              </a:rPr>
              <a:t>Active Learning Pipeline</a:t>
            </a:r>
            <a:endParaRPr lang="en-US" sz="1000" dirty="0"/>
          </a:p>
        </p:txBody>
      </p:sp>
      <p:sp>
        <p:nvSpPr>
          <p:cNvPr id="26" name="Text 23"/>
          <p:cNvSpPr/>
          <p:nvPr/>
        </p:nvSpPr>
        <p:spPr>
          <a:xfrm>
            <a:off x="4835426" y="1996827"/>
            <a:ext cx="3763238" cy="280392"/>
          </a:xfrm>
          <a:prstGeom prst="rect">
            <a:avLst/>
          </a:prstGeom>
          <a:noFill/>
          <a:ln/>
        </p:spPr>
        <p:txBody>
          <a:bodyPr wrap="square" lIns="0" tIns="0" rIns="0" bIns="0" rtlCol="0" anchor="t"/>
          <a:lstStyle/>
          <a:p>
            <a:pPr algn="l" indent="0" marL="0">
              <a:lnSpc>
                <a:spcPts val="1105"/>
              </a:lnSpc>
              <a:buNone/>
            </a:pPr>
            <a:r>
              <a:rPr lang="en-US" sz="850" dirty="0">
                <a:solidFill>
                  <a:srgbClr val="94A3B8"/>
                </a:solidFill>
                <a:latin typeface="Arial" pitchFamily="34" charset="0"/>
                <a:ea typeface="Arial" pitchFamily="34" charset="-122"/>
                <a:cs typeface="Arial" pitchFamily="34" charset="-120"/>
              </a:rPr>
              <a:t>Model flags uncertain predictions for human annotation, continuously improves</a:t>
            </a:r>
            <a:endParaRPr lang="en-US" sz="850" dirty="0"/>
          </a:p>
        </p:txBody>
      </p:sp>
      <p:sp>
        <p:nvSpPr>
          <p:cNvPr id="27" name="Text 24"/>
          <p:cNvSpPr/>
          <p:nvPr/>
        </p:nvSpPr>
        <p:spPr>
          <a:xfrm>
            <a:off x="4673501" y="2464445"/>
            <a:ext cx="4013299" cy="565249"/>
          </a:xfrm>
          <a:prstGeom prst="roundRect">
            <a:avLst>
              <a:gd name="adj" fmla="val 13481"/>
            </a:avLst>
          </a:prstGeom>
          <a:solidFill>
            <a:srgbClr val="E76F51">
              <a:alpha val="8000"/>
            </a:srgbClr>
          </a:solidFill>
          <a:ln w="9525">
            <a:solidFill>
              <a:srgbClr val="E76F51"/>
            </a:solidFill>
          </a:ln>
        </p:spPr>
        <p:txBody>
          <a:bodyPr wrap="square" rtlCol="0" anchor="ctr"/>
          <a:lstStyle/>
          <a:p>
            <a:pPr indent="0" marL="0">
              <a:buNone/>
            </a:pPr>
            <a:endParaRPr lang="en-US" dirty="0"/>
          </a:p>
        </p:txBody>
      </p:sp>
      <p:sp>
        <p:nvSpPr>
          <p:cNvPr id="28" name="Text 25"/>
          <p:cNvSpPr/>
          <p:nvPr/>
        </p:nvSpPr>
        <p:spPr>
          <a:xfrm>
            <a:off x="4835426" y="2575471"/>
            <a:ext cx="3763238" cy="164902"/>
          </a:xfrm>
          <a:prstGeom prst="rect">
            <a:avLst/>
          </a:prstGeom>
          <a:noFill/>
          <a:ln/>
        </p:spPr>
        <p:txBody>
          <a:bodyPr wrap="square" lIns="0" tIns="0" rIns="0" bIns="0" rtlCol="0" anchor="t"/>
          <a:lstStyle/>
          <a:p>
            <a:pPr algn="l" indent="0" marL="0">
              <a:lnSpc>
                <a:spcPts val="1300"/>
              </a:lnSpc>
              <a:spcAft>
                <a:spcPts val="300"/>
              </a:spcAft>
              <a:buNone/>
            </a:pPr>
            <a:r>
              <a:rPr lang="en-US" sz="1000" b="1" dirty="0">
                <a:solidFill>
                  <a:srgbClr val="E76F51"/>
                </a:solidFill>
                <a:latin typeface="Arial" pitchFamily="34" charset="0"/>
                <a:ea typeface="Arial" pitchFamily="34" charset="-122"/>
                <a:cs typeface="Arial" pitchFamily="34" charset="-120"/>
              </a:rPr>
              <a:t>Monitoring &amp; Drift Detection</a:t>
            </a:r>
            <a:endParaRPr lang="en-US" sz="1000" dirty="0"/>
          </a:p>
        </p:txBody>
      </p:sp>
      <p:sp>
        <p:nvSpPr>
          <p:cNvPr id="29" name="Text 26"/>
          <p:cNvSpPr/>
          <p:nvPr/>
        </p:nvSpPr>
        <p:spPr>
          <a:xfrm>
            <a:off x="4835426" y="2778472"/>
            <a:ext cx="3763238" cy="140196"/>
          </a:xfrm>
          <a:prstGeom prst="rect">
            <a:avLst/>
          </a:prstGeom>
          <a:noFill/>
          <a:ln/>
        </p:spPr>
        <p:txBody>
          <a:bodyPr wrap="square" lIns="0" tIns="0" rIns="0" bIns="0" rtlCol="0" anchor="t"/>
          <a:lstStyle/>
          <a:p>
            <a:pPr algn="l" indent="0" marL="0">
              <a:lnSpc>
                <a:spcPts val="1105"/>
              </a:lnSpc>
              <a:buNone/>
            </a:pPr>
            <a:r>
              <a:rPr lang="en-US" sz="850" dirty="0">
                <a:solidFill>
                  <a:srgbClr val="94A3B8"/>
                </a:solidFill>
                <a:latin typeface="Arial" pitchFamily="34" charset="0"/>
                <a:ea typeface="Arial" pitchFamily="34" charset="-122"/>
                <a:cs typeface="Arial" pitchFamily="34" charset="-120"/>
              </a:rPr>
              <a:t>Track prediction distributions over time, alert on concept drift</a:t>
            </a:r>
            <a:endParaRPr lang="en-US" sz="850" dirty="0"/>
          </a:p>
        </p:txBody>
      </p:sp>
      <p:sp>
        <p:nvSpPr>
          <p:cNvPr id="30" name="Text 27"/>
          <p:cNvSpPr/>
          <p:nvPr/>
        </p:nvSpPr>
        <p:spPr>
          <a:xfrm>
            <a:off x="4673501" y="3105894"/>
            <a:ext cx="4013299" cy="705445"/>
          </a:xfrm>
          <a:prstGeom prst="roundRect">
            <a:avLst>
              <a:gd name="adj" fmla="val 10802"/>
            </a:avLst>
          </a:prstGeom>
          <a:solidFill>
            <a:srgbClr val="E76F51">
              <a:alpha val="8000"/>
            </a:srgbClr>
          </a:solidFill>
          <a:ln w="9525">
            <a:solidFill>
              <a:srgbClr val="E76F51"/>
            </a:solidFill>
          </a:ln>
        </p:spPr>
        <p:txBody>
          <a:bodyPr wrap="square" rtlCol="0" anchor="ctr"/>
          <a:lstStyle/>
          <a:p>
            <a:pPr indent="0" marL="0">
              <a:buNone/>
            </a:pPr>
            <a:endParaRPr lang="en-US" dirty="0"/>
          </a:p>
        </p:txBody>
      </p:sp>
      <p:sp>
        <p:nvSpPr>
          <p:cNvPr id="31" name="Text 28"/>
          <p:cNvSpPr/>
          <p:nvPr/>
        </p:nvSpPr>
        <p:spPr>
          <a:xfrm>
            <a:off x="4835426" y="3216920"/>
            <a:ext cx="3763238" cy="164902"/>
          </a:xfrm>
          <a:prstGeom prst="rect">
            <a:avLst/>
          </a:prstGeom>
          <a:noFill/>
          <a:ln/>
        </p:spPr>
        <p:txBody>
          <a:bodyPr wrap="square" lIns="0" tIns="0" rIns="0" bIns="0" rtlCol="0" anchor="t"/>
          <a:lstStyle/>
          <a:p>
            <a:pPr algn="l" indent="0" marL="0">
              <a:lnSpc>
                <a:spcPts val="1300"/>
              </a:lnSpc>
              <a:spcAft>
                <a:spcPts val="300"/>
              </a:spcAft>
              <a:buNone/>
            </a:pPr>
            <a:r>
              <a:rPr lang="en-US" sz="1000" b="1" dirty="0">
                <a:solidFill>
                  <a:srgbClr val="E76F51"/>
                </a:solidFill>
                <a:latin typeface="Arial" pitchFamily="34" charset="0"/>
                <a:ea typeface="Arial" pitchFamily="34" charset="-122"/>
                <a:cs typeface="Arial" pitchFamily="34" charset="-120"/>
              </a:rPr>
              <a:t>A/B Testing Framework</a:t>
            </a:r>
            <a:endParaRPr lang="en-US" sz="1000" dirty="0"/>
          </a:p>
        </p:txBody>
      </p:sp>
      <p:sp>
        <p:nvSpPr>
          <p:cNvPr id="32" name="Text 29"/>
          <p:cNvSpPr/>
          <p:nvPr/>
        </p:nvSpPr>
        <p:spPr>
          <a:xfrm>
            <a:off x="4835426" y="3419921"/>
            <a:ext cx="3763238" cy="280392"/>
          </a:xfrm>
          <a:prstGeom prst="rect">
            <a:avLst/>
          </a:prstGeom>
          <a:noFill/>
          <a:ln/>
        </p:spPr>
        <p:txBody>
          <a:bodyPr wrap="square" lIns="0" tIns="0" rIns="0" bIns="0" rtlCol="0" anchor="t"/>
          <a:lstStyle/>
          <a:p>
            <a:pPr algn="l" indent="0" marL="0">
              <a:lnSpc>
                <a:spcPts val="1105"/>
              </a:lnSpc>
              <a:buNone/>
            </a:pPr>
            <a:r>
              <a:rPr lang="en-US" sz="850" dirty="0">
                <a:solidFill>
                  <a:srgbClr val="94A3B8"/>
                </a:solidFill>
                <a:latin typeface="Arial" pitchFamily="34" charset="0"/>
                <a:ea typeface="Arial" pitchFamily="34" charset="-122"/>
                <a:cs typeface="Arial" pitchFamily="34" charset="-120"/>
              </a:rPr>
              <a:t>Compare model labels vs human labels on live data to measure real-world accuracy</a:t>
            </a:r>
            <a:endParaRPr lang="en-US" sz="850" dirty="0"/>
          </a:p>
        </p:txBody>
      </p:sp>
      <p:sp>
        <p:nvSpPr>
          <p:cNvPr id="33" name="Text 30"/>
          <p:cNvSpPr/>
          <p:nvPr/>
        </p:nvSpPr>
        <p:spPr>
          <a:xfrm>
            <a:off x="4673501" y="3887539"/>
            <a:ext cx="4013299" cy="705445"/>
          </a:xfrm>
          <a:prstGeom prst="roundRect">
            <a:avLst>
              <a:gd name="adj" fmla="val 10802"/>
            </a:avLst>
          </a:prstGeom>
          <a:solidFill>
            <a:srgbClr val="E76F51">
              <a:alpha val="8000"/>
            </a:srgbClr>
          </a:solidFill>
          <a:ln w="9525">
            <a:solidFill>
              <a:srgbClr val="E76F51"/>
            </a:solidFill>
          </a:ln>
        </p:spPr>
        <p:txBody>
          <a:bodyPr wrap="square" rtlCol="0" anchor="ctr"/>
          <a:lstStyle/>
          <a:p>
            <a:pPr indent="0" marL="0">
              <a:buNone/>
            </a:pPr>
            <a:endParaRPr lang="en-US" dirty="0"/>
          </a:p>
        </p:txBody>
      </p:sp>
      <p:sp>
        <p:nvSpPr>
          <p:cNvPr id="34" name="Text 31"/>
          <p:cNvSpPr/>
          <p:nvPr/>
        </p:nvSpPr>
        <p:spPr>
          <a:xfrm>
            <a:off x="4835426" y="3998565"/>
            <a:ext cx="3763238" cy="164902"/>
          </a:xfrm>
          <a:prstGeom prst="rect">
            <a:avLst/>
          </a:prstGeom>
          <a:noFill/>
          <a:ln/>
        </p:spPr>
        <p:txBody>
          <a:bodyPr wrap="square" lIns="0" tIns="0" rIns="0" bIns="0" rtlCol="0" anchor="t"/>
          <a:lstStyle/>
          <a:p>
            <a:pPr algn="l" indent="0" marL="0">
              <a:lnSpc>
                <a:spcPts val="1300"/>
              </a:lnSpc>
              <a:spcAft>
                <a:spcPts val="300"/>
              </a:spcAft>
              <a:buNone/>
            </a:pPr>
            <a:r>
              <a:rPr lang="en-US" sz="1000" b="1" dirty="0">
                <a:solidFill>
                  <a:srgbClr val="E76F51"/>
                </a:solidFill>
                <a:latin typeface="Arial" pitchFamily="34" charset="0"/>
                <a:ea typeface="Arial" pitchFamily="34" charset="-122"/>
                <a:cs typeface="Arial" pitchFamily="34" charset="-120"/>
              </a:rPr>
              <a:t>Incremental Retraining</a:t>
            </a:r>
            <a:endParaRPr lang="en-US" sz="1000" dirty="0"/>
          </a:p>
        </p:txBody>
      </p:sp>
      <p:sp>
        <p:nvSpPr>
          <p:cNvPr id="35" name="Text 32"/>
          <p:cNvSpPr/>
          <p:nvPr/>
        </p:nvSpPr>
        <p:spPr>
          <a:xfrm>
            <a:off x="4835426" y="4201567"/>
            <a:ext cx="3763238" cy="280392"/>
          </a:xfrm>
          <a:prstGeom prst="rect">
            <a:avLst/>
          </a:prstGeom>
          <a:noFill/>
          <a:ln/>
        </p:spPr>
        <p:txBody>
          <a:bodyPr wrap="square" lIns="0" tIns="0" rIns="0" bIns="0" rtlCol="0" anchor="t"/>
          <a:lstStyle/>
          <a:p>
            <a:pPr algn="l" indent="0" marL="0">
              <a:lnSpc>
                <a:spcPts val="1105"/>
              </a:lnSpc>
              <a:buNone/>
            </a:pPr>
            <a:r>
              <a:rPr lang="en-US" sz="850" dirty="0">
                <a:solidFill>
                  <a:srgbClr val="94A3B8"/>
                </a:solidFill>
                <a:latin typeface="Arial" pitchFamily="34" charset="0"/>
                <a:ea typeface="Arial" pitchFamily="34" charset="-122"/>
                <a:cs typeface="Arial" pitchFamily="34" charset="-120"/>
              </a:rPr>
              <a:t>Periodic model updates as new labeled data accumulates from human review</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401587" y="1501825"/>
            <a:ext cx="2340676" cy="523875"/>
          </a:xfrm>
          <a:prstGeom prst="rect">
            <a:avLst/>
          </a:prstGeom>
          <a:noFill/>
          <a:ln/>
        </p:spPr>
        <p:txBody>
          <a:bodyPr wrap="square" lIns="0" tIns="0" rIns="0" bIns="0" rtlCol="0" anchor="t"/>
          <a:lstStyle/>
          <a:p>
            <a:pPr algn="ctr" indent="0" marL="0">
              <a:spcAft>
                <a:spcPts val="600"/>
              </a:spcAft>
              <a:buNone/>
            </a:pPr>
            <a:r>
              <a:rPr lang="en-US" sz="3600" b="1" dirty="0">
                <a:solidFill>
                  <a:srgbClr val="FFFFFF"/>
                </a:solidFill>
                <a:latin typeface="Arial" pitchFamily="34" charset="0"/>
                <a:ea typeface="Arial" pitchFamily="34" charset="-122"/>
                <a:cs typeface="Arial" pitchFamily="34" charset="-120"/>
              </a:rPr>
              <a:t>Thank You</a:t>
            </a:r>
            <a:endParaRPr lang="en-US" sz="3600" dirty="0"/>
          </a:p>
        </p:txBody>
      </p:sp>
      <p:sp>
        <p:nvSpPr>
          <p:cNvPr id="3" name="Text 1"/>
          <p:cNvSpPr/>
          <p:nvPr/>
        </p:nvSpPr>
        <p:spPr>
          <a:xfrm>
            <a:off x="3916811" y="2101900"/>
            <a:ext cx="1310378" cy="295275"/>
          </a:xfrm>
          <a:prstGeom prst="rect">
            <a:avLst/>
          </a:prstGeom>
          <a:noFill/>
          <a:ln/>
        </p:spPr>
        <p:txBody>
          <a:bodyPr wrap="square" lIns="0" tIns="0" rIns="0" bIns="0" rtlCol="0" anchor="t"/>
          <a:lstStyle/>
          <a:p>
            <a:pPr algn="ctr" indent="0" marL="0">
              <a:spcAft>
                <a:spcPts val="3000"/>
              </a:spcAft>
              <a:buNone/>
            </a:pPr>
            <a:r>
              <a:rPr lang="en-US" sz="2000" dirty="0">
                <a:solidFill>
                  <a:srgbClr val="00B4D8"/>
                </a:solidFill>
                <a:latin typeface="Arial" pitchFamily="34" charset="0"/>
                <a:ea typeface="Arial" pitchFamily="34" charset="-122"/>
                <a:cs typeface="Arial" pitchFamily="34" charset="-120"/>
              </a:rPr>
              <a:t>Questions?</a:t>
            </a:r>
            <a:endParaRPr lang="en-US" sz="2000" dirty="0"/>
          </a:p>
        </p:txBody>
      </p:sp>
      <p:pic>
        <p:nvPicPr>
          <p:cNvPr id="4" name="Image 0" descr="/Users/alessandrodibari/Ale/projects/TR_hiring_exercise/outputs/pptx_workspace/slides/accent_teal.png">    </p:cNvPr>
          <p:cNvPicPr>
            <a:picLocks noChangeAspect="1"/>
          </p:cNvPicPr>
          <p:nvPr/>
        </p:nvPicPr>
        <p:blipFill>
          <a:blip r:embed="rId2"/>
          <a:stretch>
            <a:fillRect/>
          </a:stretch>
        </p:blipFill>
        <p:spPr>
          <a:xfrm>
            <a:off x="4064050" y="2873425"/>
            <a:ext cx="1015901" cy="38100"/>
          </a:xfrm>
          <a:prstGeom prst="rect">
            <a:avLst/>
          </a:prstGeom>
        </p:spPr>
      </p:pic>
      <p:sp>
        <p:nvSpPr>
          <p:cNvPr id="5" name="Text 2"/>
          <p:cNvSpPr/>
          <p:nvPr/>
        </p:nvSpPr>
        <p:spPr>
          <a:xfrm>
            <a:off x="3928348" y="3197275"/>
            <a:ext cx="1287304" cy="171450"/>
          </a:xfrm>
          <a:prstGeom prst="rect">
            <a:avLst/>
          </a:prstGeom>
          <a:noFill/>
          <a:ln/>
        </p:spPr>
        <p:txBody>
          <a:bodyPr wrap="square" lIns="0" tIns="0" rIns="0" bIns="0" rtlCol="0" anchor="t"/>
          <a:lstStyle/>
          <a:p>
            <a:pPr algn="ctr" indent="0" marL="0">
              <a:spcAft>
                <a:spcPts val="400"/>
              </a:spcAft>
              <a:buNone/>
            </a:pPr>
            <a:r>
              <a:rPr lang="en-US" sz="1200" dirty="0">
                <a:solidFill>
                  <a:srgbClr val="94A3B8"/>
                </a:solidFill>
                <a:latin typeface="Arial" pitchFamily="34" charset="0"/>
                <a:ea typeface="Arial" pitchFamily="34" charset="-122"/>
                <a:cs typeface="Arial" pitchFamily="34" charset="-120"/>
              </a:rPr>
              <a:t>Alessandro Di Bari</a:t>
            </a:r>
            <a:endParaRPr lang="en-US" sz="1200" dirty="0"/>
          </a:p>
        </p:txBody>
      </p:sp>
      <p:sp>
        <p:nvSpPr>
          <p:cNvPr id="6" name="Text 3"/>
          <p:cNvSpPr/>
          <p:nvPr/>
        </p:nvSpPr>
        <p:spPr>
          <a:xfrm>
            <a:off x="3098736" y="3419475"/>
            <a:ext cx="2946529" cy="171450"/>
          </a:xfrm>
          <a:prstGeom prst="rect">
            <a:avLst/>
          </a:prstGeom>
          <a:noFill/>
          <a:ln/>
        </p:spPr>
        <p:txBody>
          <a:bodyPr wrap="square" lIns="0" tIns="0" rIns="0" bIns="0" rtlCol="0" anchor="t"/>
          <a:lstStyle/>
          <a:p>
            <a:pPr algn="ctr" indent="0" marL="0">
              <a:spcAft>
                <a:spcPts val="400"/>
              </a:spcAft>
              <a:buNone/>
            </a:pPr>
            <a:r>
              <a:rPr lang="en-US" sz="1200" dirty="0">
                <a:solidFill>
                  <a:srgbClr val="94A3B8"/>
                </a:solidFill>
                <a:latin typeface="Arial" pitchFamily="34" charset="0"/>
                <a:ea typeface="Arial" pitchFamily="34" charset="-122"/>
                <a:cs typeface="Arial" pitchFamily="34" charset="-120"/>
              </a:rPr>
              <a:t>Thomson Reuters Data Science Challenge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Procedural Posture Classification - Feasibility Study</dc:title>
  <dc:subject>PptxGenJS Presentation</dc:subject>
  <dc:creator>Alessandro Di Bari</dc:creator>
  <cp:lastModifiedBy>Alessandro Di Bari</cp:lastModifiedBy>
  <cp:revision>1</cp:revision>
  <dcterms:created xsi:type="dcterms:W3CDTF">2026-02-13T01:30:41Z</dcterms:created>
  <dcterms:modified xsi:type="dcterms:W3CDTF">2026-02-13T01:30:41Z</dcterms:modified>
</cp:coreProperties>
</file>