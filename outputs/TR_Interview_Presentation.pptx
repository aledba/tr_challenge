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96326" y="1316087"/>
            <a:ext cx="595119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6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THOMSON REUTERS DATA SCIENCE CHALLENGE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248238" y="1935212"/>
            <a:ext cx="66473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 Posture Classification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917784" y="2465338"/>
            <a:ext cx="330843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Study</a:t>
            </a:r>
            <a:endParaRPr lang="en-US" sz="3000" dirty="0"/>
          </a:p>
        </p:txBody>
      </p:sp>
      <p:pic>
        <p:nvPicPr>
          <p:cNvPr id="5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50" y="3090714"/>
            <a:ext cx="1015901" cy="38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21326" y="3414564"/>
            <a:ext cx="15013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Alessandro Di Bari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108694" y="3674864"/>
            <a:ext cx="9264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Procedural Posture?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907852"/>
            <a:ext cx="3987850" cy="114300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481012" y="907852"/>
            <a:ext cx="0" cy="114300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07975" y="1060252"/>
            <a:ext cx="3604602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 posture</a:t>
            </a:r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 case is a summary of how the case arrived before the court. It describes the procedural history including any prior decisions under appeal.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2228552"/>
            <a:ext cx="40676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posture labels: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590502"/>
            <a:ext cx="3987850" cy="838200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38200" y="2590502"/>
            <a:ext cx="36789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Appeal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8200" y="2800052"/>
            <a:ext cx="36789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to Dismiss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38200" y="3009602"/>
            <a:ext cx="36789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Sentencing Phase Motion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8200" y="3219152"/>
            <a:ext cx="36789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of Administrative Decision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698950" y="907852"/>
            <a:ext cx="406760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NEED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698950" y="1130052"/>
            <a:ext cx="406760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partners want to </a:t>
            </a:r>
            <a:pPr algn="l" indent="0" marL="0">
              <a:lnSpc>
                <a:spcPts val="1650"/>
              </a:lnSpc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the labeling</a:t>
            </a:r>
            <a:pPr algn="l" indent="0" marL="0">
              <a:lnSpc>
                <a:spcPts val="165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judicial opinions with procedural postures for Westlaw.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698950" y="1676102"/>
            <a:ext cx="406760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TASK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698950" y="1898303"/>
            <a:ext cx="406760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 an </a:t>
            </a:r>
            <a:pPr algn="l" indent="0" marL="0">
              <a:lnSpc>
                <a:spcPts val="1650"/>
              </a:lnSpc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exploration</a:t>
            </a:r>
            <a:pPr algn="l" indent="0" marL="0">
              <a:lnSpc>
                <a:spcPts val="165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inform feasibility. State-of-the-art results are not expected.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98950" y="2444353"/>
            <a:ext cx="3987850" cy="933450"/>
          </a:xfrm>
          <a:prstGeom prst="rect">
            <a:avLst/>
          </a:prstGeom>
          <a:solidFill>
            <a:srgbClr val="E76F51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4722763" y="2444353"/>
            <a:ext cx="0" cy="933450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49726" y="2596753"/>
            <a:ext cx="360460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constraint:</a:t>
            </a:r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Characterizing how the model performs is more important than achieving the highest possible performance.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at a Glance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933301"/>
            <a:ext cx="2624733" cy="980926"/>
          </a:xfrm>
          <a:prstGeom prst="roundRect">
            <a:avLst>
              <a:gd name="adj" fmla="val 1035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47882" y="1145977"/>
            <a:ext cx="224337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18,000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7882" y="1568202"/>
            <a:ext cx="22433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259634" y="933301"/>
            <a:ext cx="2624733" cy="980926"/>
          </a:xfrm>
          <a:prstGeom prst="roundRect">
            <a:avLst>
              <a:gd name="adj" fmla="val 1035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3450315" y="1145977"/>
            <a:ext cx="224337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3450315" y="1568202"/>
            <a:ext cx="22433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POSTURES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062067" y="933301"/>
            <a:ext cx="2624733" cy="980926"/>
          </a:xfrm>
          <a:prstGeom prst="roundRect">
            <a:avLst>
              <a:gd name="adj" fmla="val 1035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252749" y="1145977"/>
            <a:ext cx="224337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542,172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252749" y="1568202"/>
            <a:ext cx="22433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PARAGRAPHS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142827"/>
            <a:ext cx="2624733" cy="3000673"/>
          </a:xfrm>
          <a:prstGeom prst="roundRect">
            <a:avLst>
              <a:gd name="adj" fmla="val 387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44426" y="2330053"/>
            <a:ext cx="229528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Multi-Label Problem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4426" y="2627114"/>
            <a:ext cx="2295287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49.8% of documents have multiple postures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4426" y="3045916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labels per doc: 1.54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4426" y="3287018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labels per doc: 7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59634" y="2142827"/>
            <a:ext cx="2624733" cy="3000673"/>
          </a:xfrm>
          <a:prstGeom prst="roundRect">
            <a:avLst>
              <a:gd name="adj" fmla="val 387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3446859" y="2330053"/>
            <a:ext cx="229528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Length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446859" y="2627114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Mean: 2,892 words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446859" y="2868216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Median: 2,062 words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446859" y="3109317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Max: 124,134 words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062067" y="2142827"/>
            <a:ext cx="2624733" cy="3000673"/>
          </a:xfrm>
          <a:prstGeom prst="roundRect">
            <a:avLst>
              <a:gd name="adj" fmla="val 387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249293" y="2330053"/>
            <a:ext cx="2295287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249293" y="2627114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5.1% docs have zero labels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49293" y="2868216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empty-text duplicates (filtered)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249293" y="3109317"/>
            <a:ext cx="2295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18,000 unique document IDs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Distribution Challenge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82551"/>
            <a:ext cx="4386709" cy="694432"/>
          </a:xfrm>
          <a:prstGeom prst="roundRect">
            <a:avLst>
              <a:gd name="adj" fmla="val 1097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44426" y="116621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898327" y="1043136"/>
            <a:ext cx="334137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(&gt;=100 samples)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98327" y="1238696"/>
            <a:ext cx="334137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 label coverage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268063" y="1019026"/>
            <a:ext cx="3886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52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57200" y="1703933"/>
            <a:ext cx="4386709" cy="694432"/>
          </a:xfrm>
          <a:prstGeom prst="roundRect">
            <a:avLst>
              <a:gd name="adj" fmla="val 1097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44426" y="198760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EAB30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898327" y="1864519"/>
            <a:ext cx="334137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(10-99 samples)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98327" y="2060079"/>
            <a:ext cx="334137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3.3% coverage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268063" y="1840409"/>
            <a:ext cx="38862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52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" y="2525316"/>
            <a:ext cx="4386709" cy="694432"/>
          </a:xfrm>
          <a:prstGeom prst="roundRect">
            <a:avLst>
              <a:gd name="adj" fmla="val 1097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44426" y="2808982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98327" y="2685901"/>
            <a:ext cx="334091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(&lt;10 samples)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98327" y="2881461"/>
            <a:ext cx="334091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singletons, long tail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267608" y="2661791"/>
            <a:ext cx="38907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520"/>
              </a:lnSpc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57200" y="3346698"/>
            <a:ext cx="4386709" cy="729853"/>
          </a:xfrm>
          <a:prstGeom prst="roundRect">
            <a:avLst>
              <a:gd name="adj" fmla="val 10440"/>
            </a:avLst>
          </a:prstGeom>
          <a:solidFill>
            <a:srgbClr val="00B4D8">
              <a:alpha val="8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4426" y="3483173"/>
            <a:ext cx="40925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Modeling decision: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Filter to 41 labels with &gt;=50 samples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4426" y="3711625"/>
            <a:ext cx="40925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94.8%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all label assignments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97810" y="882551"/>
            <a:ext cx="3588990" cy="609302"/>
          </a:xfrm>
          <a:prstGeom prst="rect">
            <a:avLst/>
          </a:prstGeom>
          <a:solidFill>
            <a:srgbClr val="E76F51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5121622" y="882551"/>
            <a:ext cx="0" cy="609302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23136" y="1009501"/>
            <a:ext cx="324968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imbalance ratio: 9,197x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323136" y="1187202"/>
            <a:ext cx="324968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 Appeal" (9,197) vs singletons (1)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097810" y="1618804"/>
            <a:ext cx="36607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POSTURES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097810" y="1829544"/>
            <a:ext cx="36607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Appeal</a:t>
            </a:r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- 9,197 (51.1%)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097810" y="2108746"/>
            <a:ext cx="36607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Appellate Review</a:t>
            </a:r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- 4,652 (25.8%)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097810" y="2387947"/>
            <a:ext cx="36607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of Admin Decision</a:t>
            </a:r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- 2,773 (15.4%)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097810" y="2667149"/>
            <a:ext cx="36607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to Dismiss</a:t>
            </a:r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- 1,679 (9.3%)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097810" y="2946350"/>
            <a:ext cx="36607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Sentencing Phase Motion</a:t>
            </a:r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- 1,342 (7.5%)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097810" y="3251002"/>
            <a:ext cx="36607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POSTURES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097810" y="3461742"/>
            <a:ext cx="36607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labels appear exactly once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097810" y="3740944"/>
            <a:ext cx="36607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labels appear fewer than 10 times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Complexity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ENCODE 4 ORTHOGONAL DIMENSIONS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093291"/>
            <a:ext cx="3987850" cy="722412"/>
          </a:xfrm>
          <a:prstGeom prst="roundRect">
            <a:avLst>
              <a:gd name="adj" fmla="val 1054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44426" y="1229767"/>
            <a:ext cx="368566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4426" y="1463427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in litigation lifecycle (On Appeal, Trial...)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1917204"/>
            <a:ext cx="3987850" cy="722412"/>
          </a:xfrm>
          <a:prstGeom prst="roundRect">
            <a:avLst>
              <a:gd name="adj" fmla="val 1054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44426" y="2053679"/>
            <a:ext cx="368566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Type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4426" y="2287339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action is requested (Motion to Dismiss...)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2741116"/>
            <a:ext cx="3987850" cy="722412"/>
          </a:xfrm>
          <a:prstGeom prst="roundRect">
            <a:avLst>
              <a:gd name="adj" fmla="val 1054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4426" y="2877592"/>
            <a:ext cx="368566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Proceeding Type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4426" y="3111252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domain (Family Law, Bankruptcy, Criminal)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3565029"/>
            <a:ext cx="3987850" cy="722412"/>
          </a:xfrm>
          <a:prstGeom prst="roundRect">
            <a:avLst>
              <a:gd name="adj" fmla="val 1054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44426" y="3701504"/>
            <a:ext cx="368566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 Event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4426" y="3935164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procedurally (Post-Trial Hearing)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69895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BENCHMARK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698950" y="1093291"/>
            <a:ext cx="3987850" cy="1151632"/>
          </a:xfrm>
          <a:prstGeom prst="roundRect">
            <a:avLst>
              <a:gd name="adj" fmla="val 6617"/>
            </a:avLst>
          </a:prstGeom>
          <a:solidFill>
            <a:srgbClr val="E76F51">
              <a:alpha val="10000"/>
            </a:srgbClr>
          </a:solidFill>
          <a:ln w="9525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886176" y="1255216"/>
            <a:ext cx="368566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Cohen's kappa: 0.63 - 0.93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886176" y="1651397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Inter-annotator agreement varies by posture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86176" y="1867198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our target for automation feasibility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698950" y="2371874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HIERARCHICAL RELATIONSHIPS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698950" y="2608064"/>
            <a:ext cx="3987850" cy="1079004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1"/>
          <p:cNvSpPr/>
          <p:nvPr/>
        </p:nvSpPr>
        <p:spPr>
          <a:xfrm>
            <a:off x="4722763" y="2608064"/>
            <a:ext cx="0" cy="1079004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24276" y="2735014"/>
            <a:ext cx="365652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IS-A: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"MTD for Lack of SMJ" IS-A "Motion to Dismiss"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24276" y="2950815"/>
            <a:ext cx="365652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DEPENDS-ON: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"Motion to Post Bond" requires "On Appeal"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924276" y="3166616"/>
            <a:ext cx="365652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Implication:</a:t>
            </a:r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Confusing related postures is less severe than unrelated errors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881336"/>
            <a:ext cx="777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2154287"/>
            <a:ext cx="77724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3200" dirty="0"/>
          </a:p>
        </p:txBody>
      </p:sp>
      <p:pic>
        <p:nvPicPr>
          <p:cNvPr id="4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68662"/>
            <a:ext cx="762000" cy="381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2000" y="3014663"/>
            <a:ext cx="7772400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Two-model approach to characterize feasibility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Modeling Strategy Overview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933301"/>
            <a:ext cx="3987850" cy="3372296"/>
          </a:xfrm>
          <a:prstGeom prst="roundRect">
            <a:avLst>
              <a:gd name="adj" fmla="val 301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95325" y="1171426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95325" y="1425327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+ Logistic Regression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95325" y="1679228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Strong, interpretable baseline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5325" y="1933129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OneVsRest multi-label strategy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5325" y="2187029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features (unigrams + bigrams)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95325" y="2440930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to train and evaluate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95325" y="2694831"/>
            <a:ext cx="3511600" cy="229642"/>
          </a:xfrm>
          <a:prstGeom prst="roundRect">
            <a:avLst>
              <a:gd name="adj" fmla="val 22121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06351" y="2729657"/>
            <a:ext cx="335533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698950" y="933301"/>
            <a:ext cx="3987850" cy="3372296"/>
          </a:xfrm>
          <a:prstGeom prst="roundRect">
            <a:avLst>
              <a:gd name="adj" fmla="val 301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937075" y="1171426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37075" y="1425327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Legal-Longformer Hybrid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937075" y="1679228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Domain-specific transformer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937075" y="1933129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4,096 token context window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937075" y="2187029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summarize + classify strategy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937075" y="2440930"/>
            <a:ext cx="35818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Pre-trained on legal corpora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937075" y="2694831"/>
            <a:ext cx="3511600" cy="229642"/>
          </a:xfrm>
          <a:prstGeom prst="roundRect">
            <a:avLst>
              <a:gd name="adj" fmla="val 22121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5048101" y="2729657"/>
            <a:ext cx="335533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4483298"/>
            <a:ext cx="8229600" cy="406301"/>
          </a:xfrm>
          <a:prstGeom prst="rect">
            <a:avLst/>
          </a:prstGeom>
          <a:solidFill>
            <a:srgbClr val="E76F51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481012" y="4483298"/>
            <a:ext cx="0" cy="406301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2526" y="4610249"/>
            <a:ext cx="79831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</a:t>
            </a:r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Characterize performance and feasibility, not maximize SOTA results.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TF-IDF + Logistic Regression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8255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1453604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194941"/>
            <a:ext cx="57594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Vectorizer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043065" y="1194941"/>
            <a:ext cx="41002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793230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534567"/>
            <a:ext cx="74870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features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056608" y="1534567"/>
            <a:ext cx="39621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132856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874193"/>
            <a:ext cx="49655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N-grams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6651" y="1874193"/>
            <a:ext cx="126316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Unigrams + Bigrams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472482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2213818"/>
            <a:ext cx="53253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231505" y="2213818"/>
            <a:ext cx="123781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2812107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2553444"/>
            <a:ext cx="48243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767584" y="2553444"/>
            <a:ext cx="69101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OneVsRest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3151733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893070"/>
            <a:ext cx="8712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label count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647480" y="2893070"/>
            <a:ext cx="81352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(41 labels)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3491359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3232696"/>
            <a:ext cx="95743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Regularization C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268539" y="3232696"/>
            <a:ext cx="18004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57200" y="3623072"/>
            <a:ext cx="3987850" cy="552301"/>
          </a:xfrm>
          <a:prstGeom prst="roundRect">
            <a:avLst>
              <a:gd name="adj" fmla="val 13797"/>
            </a:avLst>
          </a:prstGeom>
          <a:solidFill>
            <a:srgbClr val="00B4D8">
              <a:alpha val="8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44426" y="3784997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 -&gt; TF-IDF -&gt; LogReg (x41) -&gt; Predict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698950" y="88255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SPLIT (70 / 15 / 15)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698950" y="1169491"/>
            <a:ext cx="3987850" cy="1009204"/>
          </a:xfrm>
          <a:prstGeom prst="roundRect">
            <a:avLst>
              <a:gd name="adj" fmla="val 755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4886176" y="1331416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Train: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11,706 documents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886176" y="1559868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2,509 documents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886176" y="1788319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Test:</a:t>
            </a:r>
            <a:pPr algn="l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2,509 documents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698950" y="2356396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400"/>
              </a:spcBef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BASELINE?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698950" y="2592586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captures domain-specific legal terminology effectively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698950" y="2846487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provides interpretable coefficients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698950" y="3100388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iteration for feasibility analysis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698950" y="3354288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baseline for legal text classification tasks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698950" y="3608189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OneVsRest handles multi-label naturally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Long Document Challenge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COVERAGE BY MODEL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093291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10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doc: 2,693 tokens | Max: 72,080 tokens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400473"/>
            <a:ext cx="90672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 (512)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346150" y="1397943"/>
            <a:ext cx="3098899" cy="228600"/>
          </a:xfrm>
          <a:prstGeom prst="roundRect">
            <a:avLst>
              <a:gd name="adj" fmla="val 16667"/>
            </a:avLst>
          </a:prstGeom>
          <a:solidFill>
            <a:srgbClr val="FFFFFF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346150" y="1397943"/>
            <a:ext cx="203150" cy="228600"/>
          </a:xfrm>
          <a:prstGeom prst="roundRect">
            <a:avLst>
              <a:gd name="adj" fmla="val 18755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241524" y="1441103"/>
            <a:ext cx="236208" cy="14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4.1%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457200" y="1730573"/>
            <a:ext cx="90672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Longformer (4K)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346150" y="1728043"/>
            <a:ext cx="3098899" cy="228600"/>
          </a:xfrm>
          <a:prstGeom prst="roundRect">
            <a:avLst>
              <a:gd name="adj" fmla="val 16667"/>
            </a:avLst>
          </a:prstGeom>
          <a:solidFill>
            <a:srgbClr val="FFFFFF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346150" y="1728043"/>
            <a:ext cx="2093565" cy="228600"/>
          </a:xfrm>
          <a:prstGeom prst="roundRect">
            <a:avLst>
              <a:gd name="adj" fmla="val 16667"/>
            </a:avLst>
          </a:prstGeom>
          <a:solidFill>
            <a:srgbClr val="EAB30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075533" y="1771204"/>
            <a:ext cx="293742" cy="14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65.1%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57200" y="2060674"/>
            <a:ext cx="90672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(16K)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46150" y="2058144"/>
            <a:ext cx="3098899" cy="228600"/>
          </a:xfrm>
          <a:prstGeom prst="roundRect">
            <a:avLst>
              <a:gd name="adj" fmla="val 16667"/>
            </a:avLst>
          </a:prstGeom>
          <a:solidFill>
            <a:srgbClr val="FFFFFF">
              <a:alpha val="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346150" y="2058144"/>
            <a:ext cx="3020020" cy="22860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4027438" y="2101304"/>
            <a:ext cx="267783" cy="14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57200" y="2413695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4.1% of docs fit in BERT's 512-token limit.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2654796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transformers are unsuitable for this dataset.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9895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ROUTING STRATEGY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698950" y="1093291"/>
            <a:ext cx="3987850" cy="1306413"/>
          </a:xfrm>
          <a:prstGeom prst="roundRect">
            <a:avLst>
              <a:gd name="adj" fmla="val 583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886176" y="1255216"/>
            <a:ext cx="368566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66.9%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4886176" y="1590377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Classification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886176" y="1806178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&lt;= 4,096 tokens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886176" y="2021979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Processed by Legal-Longformer directly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698950" y="2501205"/>
            <a:ext cx="3987850" cy="1306413"/>
          </a:xfrm>
          <a:prstGeom prst="roundRect">
            <a:avLst>
              <a:gd name="adj" fmla="val 583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4886176" y="2663130"/>
            <a:ext cx="3685666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33.1%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4886176" y="2998291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Summarize, then Classify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886176" y="3214092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&gt; 4,096 tokens (5,530 docs)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886176" y="3429893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Legal-LED (16K) summarizes first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698950" y="3909120"/>
            <a:ext cx="3987850" cy="488752"/>
          </a:xfrm>
          <a:prstGeom prst="roundRect">
            <a:avLst>
              <a:gd name="adj" fmla="val 15591"/>
            </a:avLst>
          </a:prstGeom>
          <a:solidFill>
            <a:srgbClr val="00B4D8">
              <a:alpha val="8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4886176" y="4045595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semantic content better than truncation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Legal-Longformer Architecture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093291"/>
            <a:ext cx="3987850" cy="1140321"/>
          </a:xfrm>
          <a:prstGeom prst="roundRect">
            <a:avLst>
              <a:gd name="adj" fmla="val 668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44426" y="1229767"/>
            <a:ext cx="368566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Classifier: Legal-Longformer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4426" y="1476077"/>
            <a:ext cx="368566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lexlms/legal-longformer-base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4426" y="1683097"/>
            <a:ext cx="368566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4,096 token context window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44426" y="1890117"/>
            <a:ext cx="368566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Pre-trained on legal corpora (same authors as Legal-BERT)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2335113"/>
            <a:ext cx="3987850" cy="1140321"/>
          </a:xfrm>
          <a:prstGeom prst="roundRect">
            <a:avLst>
              <a:gd name="adj" fmla="val 668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471589"/>
            <a:ext cx="368566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Summarizer: Legal-LED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4426" y="2717899"/>
            <a:ext cx="368566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nsi319/legal-led-base-16384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44426" y="2924919"/>
            <a:ext cx="368566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16,384 token context window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44426" y="3131939"/>
            <a:ext cx="368566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semantic summaries of long docs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57200" y="3576935"/>
            <a:ext cx="3987850" cy="591443"/>
          </a:xfrm>
          <a:prstGeom prst="rect">
            <a:avLst/>
          </a:prstGeom>
          <a:solidFill>
            <a:srgbClr val="E76F51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481012" y="3576935"/>
            <a:ext cx="0" cy="591443"/>
          </a:xfrm>
          <a:prstGeom prst="line">
            <a:avLst/>
          </a:prstGeom>
          <a:noFill/>
          <a:ln w="47625">
            <a:solidFill>
              <a:srgbClr val="E76F5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2526" y="3678436"/>
            <a:ext cx="365652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5,530 summaries</a:t>
            </a:r>
            <a:pPr algn="l" indent="0" marL="0">
              <a:lnSpc>
                <a:spcPts val="133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cached to disk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82526" y="3872657"/>
            <a:ext cx="365652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reproducible results across runs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69895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CONFIGURATION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98950" y="139377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98950" y="1156692"/>
            <a:ext cx="56744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size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619679" y="1156692"/>
            <a:ext cx="68464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98950" y="1699022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98950" y="1461939"/>
            <a:ext cx="1230681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accumulation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271123" y="1461939"/>
            <a:ext cx="42399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steps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98950" y="2004268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698950" y="1767185"/>
            <a:ext cx="80456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batch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552557" y="1767185"/>
            <a:ext cx="13692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98950" y="230951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98950" y="2072432"/>
            <a:ext cx="72486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445401" y="2072432"/>
            <a:ext cx="24622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1e-5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698950" y="2614761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698950" y="2377678"/>
            <a:ext cx="41032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619679" y="2377678"/>
            <a:ext cx="68464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698950" y="2920008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98950" y="2682925"/>
            <a:ext cx="733672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 ratio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519071" y="2682925"/>
            <a:ext cx="171084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698950" y="3225254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698950" y="2988171"/>
            <a:ext cx="77951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stopping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8059936" y="2988171"/>
            <a:ext cx="639401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patience=2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698950" y="3530501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698950" y="3293418"/>
            <a:ext cx="902479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imbalance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7433518" y="3293418"/>
            <a:ext cx="127834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pos_weight (max 50x)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698950" y="3835747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698950" y="3598664"/>
            <a:ext cx="37602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056959" y="3598664"/>
            <a:ext cx="642437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MPS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698950" y="3967460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EPOCH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4698950" y="4203650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4: val_f1_micro = 0.628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4698950" y="4444752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converged, F1 plateaued at ~0.62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881336"/>
            <a:ext cx="777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2154287"/>
            <a:ext cx="77724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Structure</a:t>
            </a:r>
            <a:endParaRPr lang="en-US" sz="3200" dirty="0"/>
          </a:p>
        </p:txBody>
      </p:sp>
      <p:pic>
        <p:nvPicPr>
          <p:cNvPr id="4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68662"/>
            <a:ext cx="762000" cy="381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2000" y="3014663"/>
            <a:ext cx="7772400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Modular, reproducible, clean code organization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9350"/>
            <a:ext cx="839419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Organization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57200" y="676126"/>
            <a:ext cx="4965650" cy="4467374"/>
          </a:xfrm>
          <a:prstGeom prst="roundRect">
            <a:avLst>
              <a:gd name="adj" fmla="val 1706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44426" y="787152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TR_hiring_exercise/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44426" y="948928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44426" y="1110704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01_data_exploration.ipynb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44426" y="1272480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02_modeling.ipynb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44426" y="1434257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ontology_verification.ipynb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44426" y="1596033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44426" y="1757809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data_loader.py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44426" y="1919585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data_analyzer.py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44426" y="2081361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model_trainer.py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4426" y="2243138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model_evaluator.py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44426" y="2404914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bert_trainer.py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44426" y="2566690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visualization.py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4426" y="2728466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44426" y="2890242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legal_posture_ontology.md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44426" y="3052018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challenge_description.txt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44426" y="3213795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44426" y="3375571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TRDataChallenge2023.txt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44426" y="3537347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label_distribution.json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4426" y="3699123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outputs/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44426" y="3860899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summaries/  (5,530 cached)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44426" y="4022675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legal_longformer_best.pt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4426" y="4184452"/>
            <a:ext cx="4683023" cy="161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*.history.json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626001" y="676126"/>
            <a:ext cx="3060799" cy="453926"/>
          </a:xfrm>
          <a:prstGeom prst="roundRect">
            <a:avLst>
              <a:gd name="adj" fmla="val 1678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762476" y="761851"/>
            <a:ext cx="28436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data_loader.py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762476" y="930027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JSON Lines parser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626001" y="1180802"/>
            <a:ext cx="3060799" cy="453926"/>
          </a:xfrm>
          <a:prstGeom prst="roundRect">
            <a:avLst>
              <a:gd name="adj" fmla="val 1678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5762476" y="1266527"/>
            <a:ext cx="28436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data_analyzer.py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762476" y="1434703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DatasetAnalyzer, PostureTaxonomy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626001" y="1685479"/>
            <a:ext cx="3060799" cy="453926"/>
          </a:xfrm>
          <a:prstGeom prst="roundRect">
            <a:avLst>
              <a:gd name="adj" fmla="val 1678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5762476" y="1771204"/>
            <a:ext cx="28436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model_trainer.py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762476" y="1939379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DataPreparer, BaselineTrainer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626001" y="2190155"/>
            <a:ext cx="3060799" cy="453926"/>
          </a:xfrm>
          <a:prstGeom prst="roundRect">
            <a:avLst>
              <a:gd name="adj" fmla="val 1678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5762476" y="2275880"/>
            <a:ext cx="28436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model_evaluator.py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5762476" y="2444055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MultiLabelEvaluator, Feasibility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626001" y="2694831"/>
            <a:ext cx="3060799" cy="453926"/>
          </a:xfrm>
          <a:prstGeom prst="roundRect">
            <a:avLst>
              <a:gd name="adj" fmla="val 1678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7"/>
          <p:cNvSpPr/>
          <p:nvPr/>
        </p:nvSpPr>
        <p:spPr>
          <a:xfrm>
            <a:off x="5762476" y="2780556"/>
            <a:ext cx="28436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bert_trainer.py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5762476" y="2948732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HybridLegalClassifier (7 classes)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5626001" y="3199507"/>
            <a:ext cx="3060799" cy="453926"/>
          </a:xfrm>
          <a:prstGeom prst="roundRect">
            <a:avLst>
              <a:gd name="adj" fmla="val 1678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5762476" y="3285232"/>
            <a:ext cx="28436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visualization.py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762476" y="3453408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and distribution plots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5626001" y="3704183"/>
            <a:ext cx="3060799" cy="41910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3"/>
          <p:cNvSpPr/>
          <p:nvPr/>
        </p:nvSpPr>
        <p:spPr>
          <a:xfrm>
            <a:off x="5649813" y="3704183"/>
            <a:ext cx="0" cy="419100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800576" y="3780383"/>
            <a:ext cx="28144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Principle:</a:t>
            </a:r>
            <a:pPr algn="l"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logic in src/ modules. Notebooks are clean, concise wrappers.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Decisions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57101"/>
            <a:ext cx="839419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PIPELINE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066651"/>
            <a:ext cx="1022449" cy="364927"/>
          </a:xfrm>
          <a:prstGeom prst="roundRect">
            <a:avLst>
              <a:gd name="adj" fmla="val 20881"/>
            </a:avLst>
          </a:prstGeom>
          <a:solidFill>
            <a:srgbClr val="00B4D8">
              <a:alpha val="12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12139" y="1177677"/>
            <a:ext cx="7125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DataLoader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555849" y="1144339"/>
            <a:ext cx="1663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795165" y="1066651"/>
            <a:ext cx="1121420" cy="364927"/>
          </a:xfrm>
          <a:prstGeom prst="roundRect">
            <a:avLst>
              <a:gd name="adj" fmla="val 20881"/>
            </a:avLst>
          </a:prstGeom>
          <a:solidFill>
            <a:srgbClr val="00B4D8">
              <a:alpha val="12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949114" y="1177677"/>
            <a:ext cx="8135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DataPreparer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992785" y="1144339"/>
            <a:ext cx="1663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32100" y="1066651"/>
            <a:ext cx="747415" cy="364927"/>
          </a:xfrm>
          <a:prstGeom prst="roundRect">
            <a:avLst>
              <a:gd name="adj" fmla="val 20881"/>
            </a:avLst>
          </a:prstGeom>
          <a:solidFill>
            <a:srgbClr val="00B4D8">
              <a:alpha val="12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389790" y="1177677"/>
            <a:ext cx="4320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055715" y="1144339"/>
            <a:ext cx="1663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295031" y="1066651"/>
            <a:ext cx="902494" cy="364927"/>
          </a:xfrm>
          <a:prstGeom prst="roundRect">
            <a:avLst>
              <a:gd name="adj" fmla="val 20881"/>
            </a:avLst>
          </a:prstGeom>
          <a:solidFill>
            <a:srgbClr val="00B4D8">
              <a:alpha val="12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451169" y="1177677"/>
            <a:ext cx="5902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73725" y="1144339"/>
            <a:ext cx="1663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513040" y="1066651"/>
            <a:ext cx="944910" cy="364927"/>
          </a:xfrm>
          <a:prstGeom prst="roundRect">
            <a:avLst>
              <a:gd name="adj" fmla="val 20881"/>
            </a:avLst>
          </a:prstGeom>
          <a:solidFill>
            <a:srgbClr val="00B4D8">
              <a:alpha val="12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5668755" y="1177677"/>
            <a:ext cx="6334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1634728"/>
            <a:ext cx="839419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COMPONENTS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1869579"/>
            <a:ext cx="1943100" cy="1441103"/>
          </a:xfrm>
          <a:prstGeom prst="roundRect">
            <a:avLst>
              <a:gd name="adj" fmla="val 528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19125" y="2006054"/>
            <a:ext cx="165163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HybridLegalClassifier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9125" y="2259955"/>
            <a:ext cx="165163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Orchestrates summarize + classify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9125" y="2618036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docs by token length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9125" y="2816126"/>
            <a:ext cx="165163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preprocessing transparently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2552700" y="1869579"/>
            <a:ext cx="1943100" cy="1441103"/>
          </a:xfrm>
          <a:prstGeom prst="roundRect">
            <a:avLst>
              <a:gd name="adj" fmla="val 528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2714625" y="2006054"/>
            <a:ext cx="165163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SummaryCache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2714625" y="2259955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 cache for LED summaries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714625" y="2458045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Hash-based deduplication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2714625" y="2656136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5,530 cached summaries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648200" y="1869579"/>
            <a:ext cx="1943100" cy="1441103"/>
          </a:xfrm>
          <a:prstGeom prst="roundRect">
            <a:avLst>
              <a:gd name="adj" fmla="val 528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810125" y="2006054"/>
            <a:ext cx="165163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DeviceManager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810125" y="2259955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Auto-detect CUDA / MPS / CPU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810125" y="2458045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device handling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810125" y="2656136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MPS batch size optimization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743700" y="1869579"/>
            <a:ext cx="1943100" cy="1441103"/>
          </a:xfrm>
          <a:prstGeom prst="roundRect">
            <a:avLst>
              <a:gd name="adj" fmla="val 5288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6905625" y="2006054"/>
            <a:ext cx="165163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MultiLabelEvaluator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05625" y="2259955"/>
            <a:ext cx="165163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Per-class and aggregate metrics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905625" y="2618036"/>
            <a:ext cx="165163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 vs human kappa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905625" y="2976116"/>
            <a:ext cx="1651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optimization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1881336"/>
            <a:ext cx="777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2154287"/>
            <a:ext cx="77724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 Results</a:t>
            </a:r>
            <a:endParaRPr lang="en-US" sz="3200" dirty="0"/>
          </a:p>
        </p:txBody>
      </p:sp>
      <p:pic>
        <p:nvPicPr>
          <p:cNvPr id="4" name="Image 0" descr="/Users/alessandrodibari/Ale/projects/TR_hiring_exercise/outputs/pptx_workspace/slides/accent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68662"/>
            <a:ext cx="762000" cy="381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2000" y="3014663"/>
            <a:ext cx="7772400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characterization of model performance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Results (TF-IDF)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METRICS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093291"/>
            <a:ext cx="777999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21445" y="1283791"/>
            <a:ext cx="50368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Micro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1621482"/>
            <a:ext cx="777999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321445" y="1811982"/>
            <a:ext cx="54695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Macro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149673"/>
            <a:ext cx="777999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0.798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321445" y="2340173"/>
            <a:ext cx="73200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Weighted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2677864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Bef>
                <a:spcPts val="600"/>
              </a:spcBef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(micro): 0.647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2918966"/>
            <a:ext cx="406760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(micro): 0.895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3223617"/>
            <a:ext cx="3987850" cy="558403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81012" y="3223617"/>
            <a:ext cx="0" cy="55840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2526" y="3325118"/>
            <a:ext cx="365652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finding: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Performance strongly correlates with sample size. Postures with 500+ samples achieve F1 &gt; 0.92.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9895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PERFORMERS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98950" y="139377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98950" y="1156692"/>
            <a:ext cx="950449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Appellate Review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384977" y="1156692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0.940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698950" y="1699022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98950" y="1461939"/>
            <a:ext cx="574581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Appeal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84977" y="1461939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0.915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98950" y="2004268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98950" y="1767185"/>
            <a:ext cx="142195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of Admin Decision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84977" y="1767185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0.908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98950" y="230951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698950" y="2072432"/>
            <a:ext cx="101193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Compel Arbitration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84977" y="2072432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0.848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98950" y="2614761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98950" y="2377678"/>
            <a:ext cx="836444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Venue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84977" y="2377678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0.824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698950" y="2746474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PERFORMERS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98950" y="3283148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698950" y="3046065"/>
            <a:ext cx="116236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Injunction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84977" y="3046065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0.143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698950" y="358839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698950" y="3351312"/>
            <a:ext cx="107128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Aside or Vacate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8384977" y="3351312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0.179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4698950" y="3893641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98950" y="3656558"/>
            <a:ext cx="88896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Reconsideration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384977" y="3656558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0.195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4698950" y="4198888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698950" y="3961805"/>
            <a:ext cx="82733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 Pleading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8384977" y="3961805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0.216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698950" y="4504134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698950" y="4267051"/>
            <a:ext cx="89549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for Costs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8384977" y="4267051"/>
            <a:ext cx="307860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0.247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Model Results: An Honest Assessment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142815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169491"/>
            <a:ext cx="35264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643360" y="1169491"/>
            <a:ext cx="49685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970758" y="1169491"/>
            <a:ext cx="37435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178201" y="1169491"/>
            <a:ext cx="27218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1767780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509117"/>
            <a:ext cx="50368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Micro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795760" y="1509117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58405" y="1509117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0.622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20902" y="1509117"/>
            <a:ext cx="33063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-0.129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" y="2107406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1848743"/>
            <a:ext cx="54695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Macro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824038" y="1848743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972544" y="1848743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0.436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120902" y="1848743"/>
            <a:ext cx="33063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-0.085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2447032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188369"/>
            <a:ext cx="73200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Weighted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945035" y="2188369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0.798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032968" y="2188369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0.713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20902" y="2188369"/>
            <a:ext cx="33063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-0.085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2786658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527995"/>
            <a:ext cx="53268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814810" y="2527995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0.647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967782" y="2527995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0.471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120902" y="2527995"/>
            <a:ext cx="33063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-0.176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57200" y="3126284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2867620"/>
            <a:ext cx="35992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692325" y="2867620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0.895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892177" y="2867620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0.916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092178" y="2867620"/>
            <a:ext cx="35992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+0.021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57200" y="3232547"/>
            <a:ext cx="3987850" cy="787003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3"/>
          <p:cNvSpPr/>
          <p:nvPr/>
        </p:nvSpPr>
        <p:spPr>
          <a:xfrm>
            <a:off x="481012" y="3232547"/>
            <a:ext cx="0" cy="787003"/>
          </a:xfrm>
          <a:prstGeom prst="line">
            <a:avLst/>
          </a:prstGeom>
          <a:noFill/>
          <a:ln w="47625">
            <a:solidFill>
              <a:srgbClr val="00B4D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2526" y="3359497"/>
            <a:ext cx="3656520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transformer underperformed the baseline.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Characterizing this honestly is as valuable as reporting success.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698950" y="857101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ANALYSIS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698950" y="1093291"/>
            <a:ext cx="3987850" cy="559891"/>
          </a:xfrm>
          <a:prstGeom prst="roundRect">
            <a:avLst>
              <a:gd name="adj" fmla="val 1361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7"/>
          <p:cNvSpPr/>
          <p:nvPr/>
        </p:nvSpPr>
        <p:spPr>
          <a:xfrm>
            <a:off x="4860875" y="1204317"/>
            <a:ext cx="3737280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Limited compute: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Apple MPS, not GPU cluster. Batch size=8 was necessary.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698950" y="1729383"/>
            <a:ext cx="3987850" cy="559891"/>
          </a:xfrm>
          <a:prstGeom prst="roundRect">
            <a:avLst>
              <a:gd name="adj" fmla="val 1361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9"/>
          <p:cNvSpPr/>
          <p:nvPr/>
        </p:nvSpPr>
        <p:spPr>
          <a:xfrm>
            <a:off x="4860875" y="1840409"/>
            <a:ext cx="3737280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pos_weight overcompensation: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Max weight 50x pushed model toward rare classes, hurting precision.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698950" y="2365474"/>
            <a:ext cx="3987850" cy="559891"/>
          </a:xfrm>
          <a:prstGeom prst="roundRect">
            <a:avLst>
              <a:gd name="adj" fmla="val 1361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1"/>
          <p:cNvSpPr/>
          <p:nvPr/>
        </p:nvSpPr>
        <p:spPr>
          <a:xfrm>
            <a:off x="4860875" y="2476500"/>
            <a:ext cx="3737280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Only 5 epochs: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Best at epoch 4 but F1 still climbing. Needed more training time.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4698950" y="3001566"/>
            <a:ext cx="3987850" cy="559891"/>
          </a:xfrm>
          <a:prstGeom prst="roundRect">
            <a:avLst>
              <a:gd name="adj" fmla="val 1361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4860875" y="3112591"/>
            <a:ext cx="3737280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Summarization loss: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33% of docs lost information through LED compression.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698950" y="3637657"/>
            <a:ext cx="3987850" cy="559891"/>
          </a:xfrm>
          <a:prstGeom prst="roundRect">
            <a:avLst>
              <a:gd name="adj" fmla="val 1361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5"/>
          <p:cNvSpPr/>
          <p:nvPr/>
        </p:nvSpPr>
        <p:spPr>
          <a:xfrm>
            <a:off x="4860875" y="3748683"/>
            <a:ext cx="3737280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No hyperparameter tuning:</a:t>
            </a:r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Single configuration run, no grid search.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 vs Human Agreement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31800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TIERED DEPLOYMENT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067991"/>
            <a:ext cx="3987850" cy="768251"/>
          </a:xfrm>
          <a:prstGeom prst="roundRect">
            <a:avLst>
              <a:gd name="adj" fmla="val 991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44426" y="120446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22C55E">
              <a:alpha val="20000"/>
            </a:srgbClr>
          </a:solidFill>
          <a:ln w="19050">
            <a:solidFill>
              <a:srgbClr val="22C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42516" y="1327547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92126" y="1261616"/>
            <a:ext cx="1986364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Automation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92126" y="1482477"/>
            <a:ext cx="198636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posture (Appellate Review, F1=0.94)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" y="1937742"/>
            <a:ext cx="3987850" cy="768251"/>
          </a:xfrm>
          <a:prstGeom prst="roundRect">
            <a:avLst>
              <a:gd name="adj" fmla="val 991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07421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EAB308">
              <a:alpha val="20000"/>
            </a:srgbClr>
          </a:solidFill>
          <a:ln w="19050">
            <a:solidFill>
              <a:srgbClr val="EAB30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93105" y="2197298"/>
            <a:ext cx="20174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92126" y="2131368"/>
            <a:ext cx="2187202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Assisted Labeling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292126" y="2352229"/>
            <a:ext cx="218720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labels + human review (F1 &gt;= 0.63)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07494"/>
            <a:ext cx="3987850" cy="768251"/>
          </a:xfrm>
          <a:prstGeom prst="roundRect">
            <a:avLst>
              <a:gd name="adj" fmla="val 991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4426" y="294396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E76F51">
              <a:alpha val="20000"/>
            </a:srgbClr>
          </a:solidFill>
          <a:ln w="19050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842516" y="3067050"/>
            <a:ext cx="100950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92126" y="3001119"/>
            <a:ext cx="247563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292126" y="3221980"/>
            <a:ext cx="24756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suggests, human decides (F1: 0.50-0.63)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57200" y="3677245"/>
            <a:ext cx="3987850" cy="768251"/>
          </a:xfrm>
          <a:prstGeom prst="roundRect">
            <a:avLst>
              <a:gd name="adj" fmla="val 991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44426" y="381372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EF4444">
              <a:alpha val="20000"/>
            </a:srgbClr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793105" y="3936802"/>
            <a:ext cx="201748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292126" y="3870871"/>
            <a:ext cx="210735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Only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92126" y="4091732"/>
            <a:ext cx="210735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Insufficient model confidence (F1 &lt; 0.50)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698950" y="831800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FEASIBILITY (BEST MODEL)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698950" y="137725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698950" y="1131391"/>
            <a:ext cx="147584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Automatable (F1 &gt;= 0.63)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298507" y="1131391"/>
            <a:ext cx="39605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41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98950" y="1691283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98950" y="1445419"/>
            <a:ext cx="167744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confidence (F1 &gt;= 0.93)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369052" y="1445419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41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698950" y="2005310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698950" y="1759446"/>
            <a:ext cx="145413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review (0.50-0.63)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369052" y="1759446"/>
            <a:ext cx="3241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41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698950" y="2319337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98950" y="2073473"/>
            <a:ext cx="135698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feasible (F1 &lt; 0.50)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98507" y="2073473"/>
            <a:ext cx="39605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41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698950" y="2451050"/>
            <a:ext cx="40676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BENCHMARK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698950" y="2996505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98950" y="2750641"/>
            <a:ext cx="1227189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Cohen's kappa range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8079730" y="2750641"/>
            <a:ext cx="61921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0.63 - 0.93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698950" y="3310533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698950" y="3064669"/>
            <a:ext cx="1562070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(Appellate Review)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8439596" y="3064669"/>
            <a:ext cx="25214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4698950" y="3624560"/>
            <a:ext cx="39878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698950" y="3378696"/>
            <a:ext cx="1182862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(Trial Phase)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8439596" y="3378696"/>
            <a:ext cx="25214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0.63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698950" y="3730823"/>
            <a:ext cx="3987850" cy="1049982"/>
          </a:xfrm>
          <a:prstGeom prst="roundRect">
            <a:avLst>
              <a:gd name="adj" fmla="val 7257"/>
            </a:avLst>
          </a:prstGeom>
          <a:solidFill>
            <a:srgbClr val="00B4D8">
              <a:alpha val="8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6"/>
          <p:cNvSpPr/>
          <p:nvPr/>
        </p:nvSpPr>
        <p:spPr>
          <a:xfrm>
            <a:off x="4850042" y="3892748"/>
            <a:ext cx="3685666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20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~34%</a:t>
            </a:r>
            <a:endParaRPr lang="en-US" sz="2800" dirty="0"/>
          </a:p>
        </p:txBody>
      </p:sp>
      <p:sp>
        <p:nvSpPr>
          <p:cNvPr id="50" name="Text 47"/>
          <p:cNvSpPr/>
          <p:nvPr/>
        </p:nvSpPr>
        <p:spPr>
          <a:xfrm>
            <a:off x="4850042" y="4441180"/>
            <a:ext cx="36856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labeling can be automated or assisted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 &amp; Takeaways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82402"/>
            <a:ext cx="323850" cy="323850"/>
          </a:xfrm>
          <a:prstGeom prst="roundRect">
            <a:avLst>
              <a:gd name="adj" fmla="val 282353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80281" y="968127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933450" y="857101"/>
            <a:ext cx="526792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size is the strongest predictor of model performance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33450" y="1077962"/>
            <a:ext cx="5267926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Postures with 500+ samples achieve F1 &gt; 0.92; rare postures (&lt;50 samples) struggle below 0.50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1399133"/>
            <a:ext cx="323850" cy="323850"/>
          </a:xfrm>
          <a:prstGeom prst="roundRect">
            <a:avLst>
              <a:gd name="adj" fmla="val 282353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80281" y="1484858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33450" y="1373832"/>
            <a:ext cx="5469219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baseline is competitive - simple models should not be dismissed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3450" y="1594693"/>
            <a:ext cx="5469219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Outperformed the transformer on all metrics except recall. Legal domain has strong keyword signals.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57200" y="1915864"/>
            <a:ext cx="323850" cy="323850"/>
          </a:xfrm>
          <a:prstGeom prst="roundRect">
            <a:avLst>
              <a:gd name="adj" fmla="val 282353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0281" y="2001589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33450" y="1890564"/>
            <a:ext cx="522769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length is a real engineering challenge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33450" y="2111425"/>
            <a:ext cx="522769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2,693 tokens. Only 4.1% fit BERT. Summarization adds complexity and information loss.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2432596"/>
            <a:ext cx="323850" cy="323850"/>
          </a:xfrm>
          <a:prstGeom prst="roundRect">
            <a:avLst>
              <a:gd name="adj" fmla="val 282353"/>
            </a:avLst>
          </a:prstGeom>
          <a:solidFill>
            <a:srgbClr val="00B4D8">
              <a:alpha val="15000"/>
            </a:srgbClr>
          </a:solidFill>
          <a:ln w="9525">
            <a:solidFill>
              <a:srgbClr val="00B4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580281" y="2518321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33450" y="2407295"/>
            <a:ext cx="494336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Multi-label nature adds significant complexity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33450" y="2628156"/>
            <a:ext cx="4943368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49.8% multi-label docs. Labels encode orthogonal dimensions (stage, motion, proceeding).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2974777"/>
            <a:ext cx="8229600" cy="927050"/>
          </a:xfrm>
          <a:prstGeom prst="roundRect">
            <a:avLst>
              <a:gd name="adj" fmla="val 8220"/>
            </a:avLst>
          </a:prstGeom>
          <a:solidFill>
            <a:srgbClr val="E76F51">
              <a:alpha val="10000"/>
            </a:srgbClr>
          </a:solidFill>
          <a:ln w="9525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9875" y="3136702"/>
            <a:ext cx="79603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Recommendation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69875" y="3384352"/>
            <a:ext cx="79603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automation is feasible for high-frequency postures. A tiered deployment strategy (auto / assisted / human) can yield ~34% efficiency gains while maintaining quality.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55550"/>
            <a:ext cx="839419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457200" y="831800"/>
            <a:ext cx="40934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IMPROVEMENTS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1041350"/>
            <a:ext cx="4013150" cy="705445"/>
          </a:xfrm>
          <a:prstGeom prst="roundRect">
            <a:avLst>
              <a:gd name="adj" fmla="val 1080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619125" y="1152376"/>
            <a:ext cx="37630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Training Infrastructure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19125" y="1355378"/>
            <a:ext cx="3763086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on CUDA cluster: larger batches, more epochs, proper hyperparameter search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1822996"/>
            <a:ext cx="4013150" cy="705445"/>
          </a:xfrm>
          <a:prstGeom prst="roundRect">
            <a:avLst>
              <a:gd name="adj" fmla="val 1080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9125" y="1934021"/>
            <a:ext cx="37630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Hierarchical Classification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9125" y="2137023"/>
            <a:ext cx="3763086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ontology structure: shared encoder with multi-task heads per dimension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57200" y="2604641"/>
            <a:ext cx="4013150" cy="705445"/>
          </a:xfrm>
          <a:prstGeom prst="roundRect">
            <a:avLst>
              <a:gd name="adj" fmla="val 1080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19125" y="2715667"/>
            <a:ext cx="37630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Augmentation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9125" y="2918668"/>
            <a:ext cx="3763086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Oversample rare classes, back-translation, synonym replacement for legal terms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57200" y="3386286"/>
            <a:ext cx="4013150" cy="705445"/>
          </a:xfrm>
          <a:prstGeom prst="roundRect">
            <a:avLst>
              <a:gd name="adj" fmla="val 1080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19125" y="3497312"/>
            <a:ext cx="37630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 Strategy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9125" y="3700314"/>
            <a:ext cx="3763086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TF-IDF + Transformer predictions (weighted by per-class confidence)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57200" y="4167932"/>
            <a:ext cx="4013150" cy="565249"/>
          </a:xfrm>
          <a:prstGeom prst="roundRect">
            <a:avLst>
              <a:gd name="adj" fmla="val 1348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19125" y="4278957"/>
            <a:ext cx="3763086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Optimization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19125" y="4481959"/>
            <a:ext cx="3763086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Per-class threshold tuning instead of global 0.5 cutoff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673501" y="831800"/>
            <a:ext cx="40935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PATH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673501" y="1041350"/>
            <a:ext cx="4013299" cy="565249"/>
          </a:xfrm>
          <a:prstGeom prst="roundRect">
            <a:avLst>
              <a:gd name="adj" fmla="val 13481"/>
            </a:avLst>
          </a:prstGeom>
          <a:solidFill>
            <a:srgbClr val="E76F51">
              <a:alpha val="8000"/>
            </a:srgbClr>
          </a:solidFill>
          <a:ln w="9525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835426" y="1152376"/>
            <a:ext cx="376323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Confidence-Based Routing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835426" y="1355378"/>
            <a:ext cx="3763238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confidence: auto-label. Low confidence: route to human reviewer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673501" y="1682800"/>
            <a:ext cx="4013299" cy="705445"/>
          </a:xfrm>
          <a:prstGeom prst="roundRect">
            <a:avLst>
              <a:gd name="adj" fmla="val 10802"/>
            </a:avLst>
          </a:prstGeom>
          <a:solidFill>
            <a:srgbClr val="E76F51">
              <a:alpha val="8000"/>
            </a:srgbClr>
          </a:solidFill>
          <a:ln w="9525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35426" y="1793825"/>
            <a:ext cx="376323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Learning Pipeline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35426" y="1996827"/>
            <a:ext cx="3763238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flags uncertain predictions for human annotation, continuously improves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4673501" y="2464445"/>
            <a:ext cx="4013299" cy="565249"/>
          </a:xfrm>
          <a:prstGeom prst="roundRect">
            <a:avLst>
              <a:gd name="adj" fmla="val 13481"/>
            </a:avLst>
          </a:prstGeom>
          <a:solidFill>
            <a:srgbClr val="E76F51">
              <a:alpha val="8000"/>
            </a:srgbClr>
          </a:solidFill>
          <a:ln w="9525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835426" y="2575471"/>
            <a:ext cx="376323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&amp; Drift Detection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835426" y="2778472"/>
            <a:ext cx="3763238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prediction distributions over time, alert on concept drift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4673501" y="3105894"/>
            <a:ext cx="4013299" cy="705445"/>
          </a:xfrm>
          <a:prstGeom prst="roundRect">
            <a:avLst>
              <a:gd name="adj" fmla="val 10802"/>
            </a:avLst>
          </a:prstGeom>
          <a:solidFill>
            <a:srgbClr val="E76F51">
              <a:alpha val="8000"/>
            </a:srgbClr>
          </a:solidFill>
          <a:ln w="9525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835426" y="3216920"/>
            <a:ext cx="376323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Testing Framework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835426" y="3419921"/>
            <a:ext cx="3763238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model labels vs human labels on live data to measure real-world accuracy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673501" y="3887539"/>
            <a:ext cx="4013299" cy="705445"/>
          </a:xfrm>
          <a:prstGeom prst="roundRect">
            <a:avLst>
              <a:gd name="adj" fmla="val 10802"/>
            </a:avLst>
          </a:prstGeom>
          <a:solidFill>
            <a:srgbClr val="E76F51">
              <a:alpha val="8000"/>
            </a:srgbClr>
          </a:solidFill>
          <a:ln w="9525">
            <a:solidFill>
              <a:srgbClr val="E76F5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4835426" y="3998565"/>
            <a:ext cx="3763238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Retraining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835426" y="4201567"/>
            <a:ext cx="3763238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Periodic model updates as new labeled data accumulates from human review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01587" y="1501825"/>
            <a:ext cx="2340676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916811" y="2101900"/>
            <a:ext cx="131037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20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000" dirty="0"/>
          </a:p>
        </p:txBody>
      </p:sp>
      <p:pic>
        <p:nvPicPr>
          <p:cNvPr id="4" name="Image 0" descr="/Users/alessandrodibari/Ale/projects/TR_hiring_exercise/outputs/pptx_workspace/slides/accent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50" y="2873425"/>
            <a:ext cx="1015901" cy="381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928348" y="3197275"/>
            <a:ext cx="12873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Alessandro Di Bari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098736" y="3419475"/>
            <a:ext cx="294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Thomson Reuters Data Science Challenge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Procedural Posture Classification - Feasibility Study</dc:title>
  <dc:subject>PptxGenJS Presentation</dc:subject>
  <dc:creator>Alessandro Di Bari</dc:creator>
  <cp:lastModifiedBy>Alessandro Di Bari</cp:lastModifiedBy>
  <cp:revision>1</cp:revision>
  <dcterms:created xsi:type="dcterms:W3CDTF">2026-02-10T18:05:24Z</dcterms:created>
  <dcterms:modified xsi:type="dcterms:W3CDTF">2026-02-10T18:05:24Z</dcterms:modified>
</cp:coreProperties>
</file>